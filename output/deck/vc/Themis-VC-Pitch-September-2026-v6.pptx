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82bea8c80b4d91" /><Relationship Type="http://schemas.openxmlformats.org/officeDocument/2006/relationships/extended-properties" Target="/docProps/app.xml" Id="R9867921054a3404d" /><Relationship Type="http://schemas.openxmlformats.org/officeDocument/2006/relationships/officeDocument" Target="/ppt/presentation.xml" Id="Rdf216b4b6199445b" /></Relationships>
</file>

<file path=ppt/presentation.xml><?xml version="1.0" encoding="utf-8"?>
<p:presentation xmlns:p="http://schemas.openxmlformats.org/presentationml/2006/main">
  <p:sldMasterIdLst>
    <p:sldMasterId xmlns:r="http://schemas.openxmlformats.org/officeDocument/2006/relationships" id="2147483648" r:id="Reb44e0e7dfe8495f"/>
  </p:sldMasterIdLst>
  <p:notesMasterIdLst>
    <p:notesMasterId xmlns:r="http://schemas.openxmlformats.org/officeDocument/2006/relationships" r:id="Rd1b7f998a1c1444d"/>
  </p:notesMasterIdLst>
  <p:sldIdLst>
    <p:sldId xmlns:r="http://schemas.openxmlformats.org/officeDocument/2006/relationships" id="256" r:id="R441bd4880968430f"/>
    <p:sldId xmlns:r="http://schemas.openxmlformats.org/officeDocument/2006/relationships" id="257" r:id="R932d8bbb12d94bf9"/>
    <p:sldId xmlns:r="http://schemas.openxmlformats.org/officeDocument/2006/relationships" id="258" r:id="Red3b5762e4c14e42"/>
    <p:sldId xmlns:r="http://schemas.openxmlformats.org/officeDocument/2006/relationships" id="259" r:id="R22742545c1ba4687"/>
    <p:sldId xmlns:r="http://schemas.openxmlformats.org/officeDocument/2006/relationships" id="260" r:id="Rc6f011cfc6d74603"/>
    <p:sldId xmlns:r="http://schemas.openxmlformats.org/officeDocument/2006/relationships" id="261" r:id="Rb9adaf377b5f44cf"/>
    <p:sldId xmlns:r="http://schemas.openxmlformats.org/officeDocument/2006/relationships" id="262" r:id="Rd3efc2afc9c14b8c"/>
    <p:sldId xmlns:r="http://schemas.openxmlformats.org/officeDocument/2006/relationships" id="263" r:id="Rd81dbdba8fd4491c"/>
    <p:sldId xmlns:r="http://schemas.openxmlformats.org/officeDocument/2006/relationships" id="264" r:id="Re60e8afbb3524c42"/>
    <p:sldId xmlns:r="http://schemas.openxmlformats.org/officeDocument/2006/relationships" id="265" r:id="R17e0dd8cf6934cac"/>
    <p:sldId xmlns:r="http://schemas.openxmlformats.org/officeDocument/2006/relationships" id="266" r:id="R9603a54bb50240c8"/>
    <p:sldId xmlns:r="http://schemas.openxmlformats.org/officeDocument/2006/relationships" id="267" r:id="Rdd03208c445d4962"/>
    <p:sldId xmlns:r="http://schemas.openxmlformats.org/officeDocument/2006/relationships" id="268" r:id="R9f074e32874d40ec"/>
    <p:sldId xmlns:r="http://schemas.openxmlformats.org/officeDocument/2006/relationships" id="269" r:id="R3320d2eb0ae14134"/>
    <p:sldId xmlns:r="http://schemas.openxmlformats.org/officeDocument/2006/relationships" id="270" r:id="Re8f6fd852f2745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99bc0c76bd4e51" /><Relationship Type="http://schemas.openxmlformats.org/officeDocument/2006/relationships/slideMaster" Target="/ppt/slideMasters/slideMaster1.xml" Id="Reb44e0e7dfe8495f" /><Relationship Type="http://schemas.openxmlformats.org/officeDocument/2006/relationships/notesMaster" Target="/ppt/notesMasters/notesMaster1.xml" Id="Rd1b7f998a1c1444d" /><Relationship Type="http://schemas.openxmlformats.org/officeDocument/2006/relationships/presProps" Target="/ppt/presProps.xml" Id="Rc1672e0928854a0e" /><Relationship Type="http://schemas.openxmlformats.org/officeDocument/2006/relationships/tableStyles" Target="/ppt/tableStyles.xml" Id="Rce5809e1fd584b42" /><Relationship Type="http://schemas.openxmlformats.org/officeDocument/2006/relationships/slide" Target="/ppt/slides/slide1.xml" Id="R441bd4880968430f" /><Relationship Type="http://schemas.openxmlformats.org/officeDocument/2006/relationships/slide" Target="/ppt/slides/slide2.xml" Id="R932d8bbb12d94bf9" /><Relationship Type="http://schemas.openxmlformats.org/officeDocument/2006/relationships/slide" Target="/ppt/slides/slide3.xml" Id="Red3b5762e4c14e42" /><Relationship Type="http://schemas.openxmlformats.org/officeDocument/2006/relationships/slide" Target="/ppt/slides/slide4.xml" Id="R22742545c1ba4687" /><Relationship Type="http://schemas.openxmlformats.org/officeDocument/2006/relationships/slide" Target="/ppt/slides/slide5.xml" Id="Rc6f011cfc6d74603" /><Relationship Type="http://schemas.openxmlformats.org/officeDocument/2006/relationships/slide" Target="/ppt/slides/slide6.xml" Id="Rb9adaf377b5f44cf" /><Relationship Type="http://schemas.openxmlformats.org/officeDocument/2006/relationships/slide" Target="/ppt/slides/slide7.xml" Id="Rd3efc2afc9c14b8c" /><Relationship Type="http://schemas.openxmlformats.org/officeDocument/2006/relationships/slide" Target="/ppt/slides/slide8.xml" Id="Rd81dbdba8fd4491c" /><Relationship Type="http://schemas.openxmlformats.org/officeDocument/2006/relationships/slide" Target="/ppt/slides/slide9.xml" Id="Re60e8afbb3524c42" /><Relationship Type="http://schemas.openxmlformats.org/officeDocument/2006/relationships/slide" Target="/ppt/slides/slide10.xml" Id="R17e0dd8cf6934cac" /><Relationship Type="http://schemas.openxmlformats.org/officeDocument/2006/relationships/slide" Target="/ppt/slides/slide11.xml" Id="R9603a54bb50240c8" /><Relationship Type="http://schemas.openxmlformats.org/officeDocument/2006/relationships/slide" Target="/ppt/slides/slide12.xml" Id="Rdd03208c445d4962" /><Relationship Type="http://schemas.openxmlformats.org/officeDocument/2006/relationships/slide" Target="/ppt/slides/slide13.xml" Id="R9f074e32874d40ec" /><Relationship Type="http://schemas.openxmlformats.org/officeDocument/2006/relationships/slide" Target="/ppt/slides/slide14.xml" Id="R3320d2eb0ae14134" /><Relationship Type="http://schemas.openxmlformats.org/officeDocument/2006/relationships/slide" Target="/ppt/slides/slide15.xml" Id="Re8f6fd852f2745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cc139214e846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ac754d02124ac6" /><Relationship Type="http://schemas.openxmlformats.org/officeDocument/2006/relationships/notesMaster" Target="/ppt/notesMasters/notesMaster1.xml" Id="R028b560aec344d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0b4078608d4f78" /><Relationship Type="http://schemas.openxmlformats.org/officeDocument/2006/relationships/notesMaster" Target="/ppt/notesMasters/notesMaster1.xml" Id="R07544aafaa2b45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6ccfe6477641b8" /><Relationship Type="http://schemas.openxmlformats.org/officeDocument/2006/relationships/notesMaster" Target="/ppt/notesMasters/notesMaster1.xml" Id="Rb95fd598d3a74e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ad61e2a92c4c13" /><Relationship Type="http://schemas.openxmlformats.org/officeDocument/2006/relationships/notesMaster" Target="/ppt/notesMasters/notesMaster1.xml" Id="R0e722390a33d4d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3ef427f6304aaa" /><Relationship Type="http://schemas.openxmlformats.org/officeDocument/2006/relationships/notesMaster" Target="/ppt/notesMasters/notesMaster1.xml" Id="Ra7f5cf65db914a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e22fa0ffc34793" /><Relationship Type="http://schemas.openxmlformats.org/officeDocument/2006/relationships/notesMaster" Target="/ppt/notesMasters/notesMaster1.xml" Id="R9f33f74daaa241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fe9e6f82f343a5" /><Relationship Type="http://schemas.openxmlformats.org/officeDocument/2006/relationships/notesMaster" Target="/ppt/notesMasters/notesMaster1.xml" Id="Rd0f66773c51046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eedec644f54366" /><Relationship Type="http://schemas.openxmlformats.org/officeDocument/2006/relationships/notesMaster" Target="/ppt/notesMasters/notesMaster1.xml" Id="R91638fab56d948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0435954f324bd2" /><Relationship Type="http://schemas.openxmlformats.org/officeDocument/2006/relationships/notesMaster" Target="/ppt/notesMasters/notesMaster1.xml" Id="Rfa5711f4c4cd4e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0b0b76ad424bb8" /><Relationship Type="http://schemas.openxmlformats.org/officeDocument/2006/relationships/notesMaster" Target="/ppt/notesMasters/notesMaster1.xml" Id="R3a2bf7d0678f44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f3a9a7d2c04526" /><Relationship Type="http://schemas.openxmlformats.org/officeDocument/2006/relationships/notesMaster" Target="/ppt/notesMasters/notesMaster1.xml" Id="R3d6091cc68da48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fd6c9132454187" /><Relationship Type="http://schemas.openxmlformats.org/officeDocument/2006/relationships/notesMaster" Target="/ppt/notesMasters/notesMaster1.xml" Id="R6b5369b6b94444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fb16d87f2140d4" /><Relationship Type="http://schemas.openxmlformats.org/officeDocument/2006/relationships/notesMaster" Target="/ppt/notesMasters/notesMaster1.xml" Id="Rdafa73426f334c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26483c48fcd4218" /><Relationship Type="http://schemas.openxmlformats.org/officeDocument/2006/relationships/notesMaster" Target="/ppt/notesMasters/notesMaster1.xml" Id="Ra3a70e89f5da46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f97ff6663a478d" /><Relationship Type="http://schemas.openxmlformats.org/officeDocument/2006/relationships/notesMaster" Target="/ppt/notesMasters/notesMaster1.xml" Id="Rbba8d5eba05149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Artwork: existing project asset cover-flashlight-bw.png. Conceptual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Founder observation from 17 years of legal work and direct use of AI tools. The time, question, and product request are illustrative. They are not a measured customer incident or time study. The slide makes the actor explicit: the in-house lawyer reconstructs the business and legal context and reviews the generic AI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Intended complete experience. The local prototype already supports matter records, research, drafting, and decisions. The efficiency statement is a product promise, not a measured time-savings claim. Brand Essence follows the user’s exact supplied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User-approved headline and all five comparison rows preserved. Scale is a capacity thesis, not measured throughput. The lawyer also brings intelligence. Themis uses the context the lawyer supplies.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user-supplied THEMIS THESIS / 08 slide. All six principle headings are verbatim. Descriptions on this slide are short summaries. The complete original slide appears in the appendix. These are behavioral requirements, not a guarantee of legal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Business hypothesis. Stored files alone are not a moat. Pricing, willingness to pay, market size, and acquisition economics remain unvalidated. No claim that alternatives lack these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founder interview in this task and Brian Resume 01_21_26.docx (1).pdf, supplied January 2026 résumé. Seventeen years is founder-reported; résumé states 15+. Roles describe experience, not employer endorsement. Current employment is not inferred from the résumé. The capacity statement summarizes the founder’s motivation.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September 2, 2026 project screenshot output/deck/screenshots/matter.png, repository implementation, and brand_pitch.md. Screenshot is historical prototype evidence, not a live customer. Current review could not reach the local backend. Pilot participation, dates, access setup, and performance are not confirmed. Pilot measures: total lawyer effort, source correctness, useful issue discovery, and return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brand_pitch.md and founder interview in this task. Strategic claims are hypotheses. No customer traction or measured time savings is claimed.</a:t>
            </a:r>
          </a:p>
          <a:p xmlns:a="http://schemas.openxmlformats.org/drawingml/2006/main">
            <a:r>
              <a:t>Investment amount, instrument, runway, founder salary budget, hiring sequence, and dates remain open. Founder salary is included in intended founder runway. CTO and business leadership roles are open, not appointed. This is an early investment discussion, not a representation of committed financing.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Original user-supplied brand slide retained unchanged, including all wording and the investor implication. Its text is source material, not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User-approved alternative headlines from brand_pitch.md. Appendix discussion options. Slide 6 retains the accepted current headline.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2c516863d74a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4d0eba4e7343d8" /><Relationship Type="http://schemas.openxmlformats.org/officeDocument/2006/relationships/slideLayout" Target="/ppt/slideLayouts/slideLayout1.xml" Id="R9e668013255848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668013255848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8be93492404cc5" /><Relationship Type="http://schemas.openxmlformats.org/officeDocument/2006/relationships/image" Target="/ppt/media/image.png" Id="R1ad3a473fa334678" /><Relationship Type="http://schemas.openxmlformats.org/officeDocument/2006/relationships/notesSlide" Target="/ppt/notesSlides/notesSlide1.xml" Id="R035f8a5594db48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cac01dae4b442e" /><Relationship Type="http://schemas.openxmlformats.org/officeDocument/2006/relationships/notesSlide" Target="/ppt/notesSlides/notesSlide2.xml" Id="Re14a4a29aa3647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c2e6e075c14623" /><Relationship Type="http://schemas.openxmlformats.org/officeDocument/2006/relationships/notesSlide" Target="/ppt/notesSlides/notesSlide3.xml" Id="Ra38845b2fb4844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57db17ca3b4c6a" /><Relationship Type="http://schemas.openxmlformats.org/officeDocument/2006/relationships/notesSlide" Target="/ppt/notesSlides/notesSlide4.xml" Id="Rbdae81d80a024e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a0f7de43f54f46" /><Relationship Type="http://schemas.openxmlformats.org/officeDocument/2006/relationships/notesSlide" Target="/ppt/notesSlides/notesSlide5.xml" Id="R0c06c433004e47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2e41dcf7174afa" /><Relationship Type="http://schemas.openxmlformats.org/officeDocument/2006/relationships/notesSlide" Target="/ppt/notesSlides/notesSlide6.xml" Id="R60da8ed4240b4e8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858ba7d3e44ac4" /><Relationship Type="http://schemas.openxmlformats.org/officeDocument/2006/relationships/notesSlide" Target="/ppt/notesSlides/notesSlide7.xml" Id="R969151a94fdb49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505201070c4462" /><Relationship Type="http://schemas.openxmlformats.org/officeDocument/2006/relationships/notesSlide" Target="/ppt/notesSlides/notesSlide8.xml" Id="R50d0d687547d49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1d6b68274f4af9" /><Relationship Type="http://schemas.openxmlformats.org/officeDocument/2006/relationships/notesSlide" Target="/ppt/notesSlides/notesSlide9.xml" Id="R6045836dd46945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c25610a4ff4f56" /><Relationship Type="http://schemas.openxmlformats.org/officeDocument/2006/relationships/notesSlide" Target="/ppt/notesSlides/notesSlide10.xml" Id="R29327adbf80c4d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742bb2b8684a02" /><Relationship Type="http://schemas.openxmlformats.org/officeDocument/2006/relationships/notesSlide" Target="/ppt/notesSlides/notesSlide11.xml" Id="Rc0484e49f7c74f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979501818894477" /><Relationship Type="http://schemas.openxmlformats.org/officeDocument/2006/relationships/image" Target="/ppt/media/image2.png" Id="R026bb22d8fbf4d6a" /><Relationship Type="http://schemas.openxmlformats.org/officeDocument/2006/relationships/notesSlide" Target="/ppt/notesSlides/notesSlide12.xml" Id="R8a2df69d12d5424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c96eed4429e4960" /><Relationship Type="http://schemas.openxmlformats.org/officeDocument/2006/relationships/notesSlide" Target="/ppt/notesSlides/notesSlide13.xml" Id="R8fea2f9fa2b04ac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2205425c47d4e9a" /><Relationship Type="http://schemas.openxmlformats.org/officeDocument/2006/relationships/image" Target="/ppt/media/image3.png" Id="R15ffa97b8d3145fe" /><Relationship Type="http://schemas.openxmlformats.org/officeDocument/2006/relationships/notesSlide" Target="/ppt/notesSlides/notesSlide14.xml" Id="R4f49348d270944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56f0888d2184d0c" /><Relationship Type="http://schemas.openxmlformats.org/officeDocument/2006/relationships/notesSlide" Target="/ppt/notesSlides/notesSlide15.xml" Id="Rb0609a040a484f49"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ad3a473fa33467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77557E-ACC8-4E45-A98C-DDB139A52BAF}"/>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FD47CDDA-EE23-42C4-B74B-56B9438C0581}"/>
              </a:ext>
            </a:extLst>
          </p:cNvPr>
          <p:cNvSpPr>
            <a:spLocks xmlns:a="http://schemas.openxmlformats.org/drawingml/2006/main" noGrp="1"/>
          </p:cNvSpPr>
          <p:nvPr/>
        </p:nvSpPr>
        <p:spPr>
          <a:xfrm xmlns:a="http://schemas.openxmlformats.org/drawingml/2006/main">
            <a:off x="609600" y="5238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1">
                <a:solidFill>
                  <a:srgbClr val="FAF8F2"/>
                </a:solidFill>
                <a:latin typeface="Arial"/>
                <a:ea typeface="Arial"/>
                <a:cs typeface="Arial"/>
              </a:defRPr>
            </a:pPr>
            <a:r>
              <a:rPr sz="2325"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F0D48AF-0D86-46CB-965C-A62D2F5DED04}"/>
              </a:ext>
            </a:extLst>
          </p:cNvPr>
          <p:cNvSpPr>
            <a:spLocks xmlns:a="http://schemas.openxmlformats.org/drawingml/2006/main" noGrp="1"/>
          </p:cNvSpPr>
          <p:nvPr/>
        </p:nvSpPr>
        <p:spPr>
          <a:xfrm xmlns:a="http://schemas.openxmlformats.org/drawingml/2006/main">
            <a:off x="609600" y="1809750"/>
            <a:ext cx="6381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More capacity for</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the work only the</a:t>
            </a:r>
          </a:p>
          <a:p xmlns:a="http://schemas.openxmlformats.org/drawingml/2006/main">
            <a:pPr>
              <a:lnSpc>
                <a:spcPct val="110000"/>
              </a:lnSpc>
              <a:buNone/>
              <a:defRPr sz="4575" b="1">
                <a:solidFill>
                  <a:srgbClr val="FAF8F2"/>
                </a:solidFill>
                <a:latin typeface="Georgia"/>
                <a:ea typeface="Georgia"/>
                <a:cs typeface="Georgia"/>
              </a:defRPr>
            </a:pPr>
            <a:r>
              <a:rPr sz="4575" b="1">
                <a:solidFill>
                  <a:srgbClr val="FAF8F2"/>
                </a:solidFill>
                <a:latin typeface="Georgia"/>
                <a:ea typeface="Georgia"/>
                <a:cs typeface="Georgia"/>
              </a:rPr>
              <a:t>lawyer can do.</a:t>
            </a:r>
          </a:p>
        </p:txBody>
      </p:sp>
      <p:sp>
        <p:nvSpPr>
          <p:cNvPr id="5" name="">
            <a:extLst xmlns:a="http://schemas.openxmlformats.org/drawingml/2006/main">
              <a:ext uri="{FF2B5EF4-FFF2-40B4-BE49-F238E27FC236}">
                <a16:creationId xmlns:a16="http://schemas.microsoft.com/office/drawing/2014/main" id="{6CC96947-CB10-4C55-B27B-CDB6BCD5837C}"/>
              </a:ext>
            </a:extLst>
          </p:cNvPr>
          <p:cNvSpPr>
            <a:spLocks xmlns:a="http://schemas.openxmlformats.org/drawingml/2006/main" noGrp="1"/>
          </p:cNvSpPr>
          <p:nvPr/>
        </p:nvSpPr>
        <p:spPr>
          <a:xfrm xmlns:a="http://schemas.openxmlformats.org/drawingml/2006/main">
            <a:off x="647700" y="4762500"/>
            <a:ext cx="5810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DBE1EB"/>
                </a:solidFill>
                <a:latin typeface="Arial"/>
                <a:ea typeface="Arial"/>
                <a:cs typeface="Arial"/>
              </a:defRPr>
            </a:pPr>
            <a:r>
              <a:rPr sz="1875" b="0">
                <a:solidFill>
                  <a:srgbClr val="DBE1EB"/>
                </a:solidFill>
                <a:latin typeface="Arial"/>
                <a:ea typeface="Arial"/>
                <a:cs typeface="Arial"/>
              </a:rPr>
              <a:t>An AI workspace that helps small legal teams turn incomplete business requests into organized analysis, usable work, and lawyer-owned decisions.</a:t>
            </a:r>
          </a:p>
        </p:txBody>
      </p:sp>
      <p:sp>
        <p:nvSpPr>
          <p:cNvPr id="6" name="">
            <a:extLst xmlns:a="http://schemas.openxmlformats.org/drawingml/2006/main">
              <a:ext uri="{FF2B5EF4-FFF2-40B4-BE49-F238E27FC236}">
                <a16:creationId xmlns:a16="http://schemas.microsoft.com/office/drawing/2014/main" id="{815B98E9-D1CA-4828-87AB-43E8326FA463}"/>
              </a:ext>
            </a:extLst>
          </p:cNvPr>
          <p:cNvSpPr>
            <a:spLocks xmlns:a="http://schemas.openxmlformats.org/drawingml/2006/main" noGrp="1"/>
          </p:cNvSpPr>
          <p:nvPr/>
        </p:nvSpPr>
        <p:spPr>
          <a:xfrm xmlns:a="http://schemas.openxmlformats.org/drawingml/2006/main">
            <a:off x="647700" y="615315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0">
                <a:solidFill>
                  <a:srgbClr val="DBE1EB"/>
                </a:solidFill>
                <a:latin typeface="Arial"/>
                <a:ea typeface="Arial"/>
                <a:cs typeface="Arial"/>
              </a:defRPr>
            </a:pPr>
            <a:r>
              <a:rPr sz="1350" b="0">
                <a:solidFill>
                  <a:srgbClr val="DBE1EB"/>
                </a:solidFill>
                <a:latin typeface="Arial"/>
                <a:ea typeface="Arial"/>
                <a:cs typeface="Arial"/>
              </a:rPr>
              <a:t>Brian Harris, Founder</a:t>
            </a:r>
          </a:p>
        </p:txBody>
      </p:sp>
    </p:spTree>
    <p:extLst>
      <p:ext uri="{BB962C8B-B14F-4D97-AF65-F5344CB8AC3E}">
        <p14:creationId xmlns:p14="http://schemas.microsoft.com/office/powerpoint/2010/main" val="833051744"/>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45ACD39-5B8A-4B36-95E3-9F8651806BFC}"/>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CAPACITY PROBLEM</a:t>
            </a:r>
          </a:p>
        </p:txBody>
      </p:sp>
      <p:sp>
        <p:nvSpPr>
          <p:cNvPr id="2" name="">
            <a:extLst xmlns:a="http://schemas.openxmlformats.org/drawingml/2006/main">
              <a:ext uri="{FF2B5EF4-FFF2-40B4-BE49-F238E27FC236}">
                <a16:creationId xmlns:a16="http://schemas.microsoft.com/office/drawing/2014/main" id="{FDB47602-51C2-48AD-9A8B-E10572A31FDD}"/>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Judgment is scarce. Preparation consumes it.</a:t>
            </a:r>
          </a:p>
        </p:txBody>
      </p:sp>
      <p:sp>
        <p:nvSpPr>
          <p:cNvPr id="3" name="">
            <a:extLst xmlns:a="http://schemas.openxmlformats.org/drawingml/2006/main">
              <a:ext uri="{FF2B5EF4-FFF2-40B4-BE49-F238E27FC236}">
                <a16:creationId xmlns:a16="http://schemas.microsoft.com/office/drawing/2014/main" id="{29BC5840-4A54-4CDB-B7DC-52B40E33A123}"/>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CEE1376-7E7F-4BF3-895C-897A0D56574E}"/>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8CD0CA1-36FF-4329-936B-23929C05D2EE}"/>
              </a:ext>
            </a:extLst>
          </p:cNvPr>
          <p:cNvSpPr>
            <a:spLocks xmlns:a="http://schemas.openxmlformats.org/drawingml/2006/main" noGrp="1"/>
          </p:cNvSpPr>
          <p:nvPr/>
        </p:nvSpPr>
        <p:spPr>
          <a:xfrm xmlns:a="http://schemas.openxmlformats.org/drawingml/2006/main">
            <a:off x="609600" y="2257425"/>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THE REQUEST · 4:12 P.M.</a:t>
            </a:r>
          </a:p>
        </p:txBody>
      </p:sp>
      <p:sp>
        <p:nvSpPr>
          <p:cNvPr id="6" name="">
            <a:extLst xmlns:a="http://schemas.openxmlformats.org/drawingml/2006/main">
              <a:ext uri="{FF2B5EF4-FFF2-40B4-BE49-F238E27FC236}">
                <a16:creationId xmlns:a16="http://schemas.microsoft.com/office/drawing/2014/main" id="{47C5DDB0-DA04-453F-B9CF-C5762BEADDCF}"/>
              </a:ext>
            </a:extLst>
          </p:cNvPr>
          <p:cNvSpPr>
            <a:spLocks xmlns:a="http://schemas.openxmlformats.org/drawingml/2006/main" noGrp="1"/>
          </p:cNvSpPr>
          <p:nvPr/>
        </p:nvSpPr>
        <p:spPr>
          <a:xfrm xmlns:a="http://schemas.openxmlformats.org/drawingml/2006/main">
            <a:off x="609600" y="269557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“Can we ship Friday?”</a:t>
            </a:r>
          </a:p>
        </p:txBody>
      </p:sp>
      <p:sp>
        <p:nvSpPr>
          <p:cNvPr id="7" name="">
            <a:extLst xmlns:a="http://schemas.openxmlformats.org/drawingml/2006/main">
              <a:ext uri="{FF2B5EF4-FFF2-40B4-BE49-F238E27FC236}">
                <a16:creationId xmlns:a16="http://schemas.microsoft.com/office/drawing/2014/main" id="{F7A29991-5AE6-46FE-B4E9-022183C2CFCE}"/>
              </a:ext>
            </a:extLst>
          </p:cNvPr>
          <p:cNvSpPr>
            <a:spLocks xmlns:a="http://schemas.openxmlformats.org/drawingml/2006/main" noGrp="1"/>
          </p:cNvSpPr>
          <p:nvPr/>
        </p:nvSpPr>
        <p:spPr>
          <a:xfrm xmlns:a="http://schemas.openxmlformats.org/drawingml/2006/main">
            <a:off x="609600" y="3609975"/>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That short message leaves out facts the legal answer may depend on: how the product works, which company does what, when each step happens, and what the company decided before.</a:t>
            </a:r>
          </a:p>
        </p:txBody>
      </p:sp>
      <p:sp>
        <p:nvSpPr>
          <p:cNvPr id="8" name="">
            <a:extLst xmlns:a="http://schemas.openxmlformats.org/drawingml/2006/main">
              <a:ext uri="{FF2B5EF4-FFF2-40B4-BE49-F238E27FC236}">
                <a16:creationId xmlns:a16="http://schemas.microsoft.com/office/drawing/2014/main" id="{7AFC15E3-770A-40C1-A67E-4B0BA5561CD3}"/>
              </a:ext>
            </a:extLst>
          </p:cNvPr>
          <p:cNvSpPr>
            <a:spLocks xmlns:a="http://schemas.openxmlformats.org/drawingml/2006/main" noGrp="1"/>
          </p:cNvSpPr>
          <p:nvPr/>
        </p:nvSpPr>
        <p:spPr>
          <a:xfrm xmlns:a="http://schemas.openxmlformats.org/drawingml/2006/main">
            <a:off x="6191250" y="2257425"/>
            <a:ext cx="528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THE LAWYER’S WORK BEFORE ANSWERING</a:t>
            </a:r>
          </a:p>
        </p:txBody>
      </p:sp>
      <p:sp>
        <p:nvSpPr>
          <p:cNvPr id="9" name="">
            <a:extLst xmlns:a="http://schemas.openxmlformats.org/drawingml/2006/main">
              <a:ext uri="{FF2B5EF4-FFF2-40B4-BE49-F238E27FC236}">
                <a16:creationId xmlns:a16="http://schemas.microsoft.com/office/drawing/2014/main" id="{6967F9B0-6348-4AFB-ADAB-92212D2B3CBD}"/>
              </a:ext>
            </a:extLst>
          </p:cNvPr>
          <p:cNvSpPr>
            <a:spLocks xmlns:a="http://schemas.openxmlformats.org/drawingml/2006/main" noGrp="1"/>
          </p:cNvSpPr>
          <p:nvPr/>
        </p:nvSpPr>
        <p:spPr>
          <a:xfrm xmlns:a="http://schemas.openxmlformats.org/drawingml/2006/main">
            <a:off x="6191250" y="2686050"/>
            <a:ext cx="53816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Gather the product documents and history.</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Verify what the business is actually doing.</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Find the governing law and recent developments.</a:t>
            </a:r>
          </a:p>
          <a:p xmlns:a="http://schemas.openxmlformats.org/drawingml/2006/main">
            <a:pPr>
              <a:lnSpc>
                <a:spcPct val="110000"/>
              </a:lnSpc>
              <a:buNone/>
              <a:defRPr sz="1725" b="0">
                <a:solidFill>
                  <a:srgbClr val="17243E"/>
                </a:solidFill>
                <a:latin typeface="Arial"/>
                <a:ea typeface="Arial"/>
                <a:cs typeface="Arial"/>
              </a:defRPr>
            </a:pPr>
            <a:r>
              <a:rPr sz="1725" b="0">
                <a:solidFill>
                  <a:srgbClr val="17243E"/>
                </a:solidFill>
                <a:latin typeface="Arial"/>
                <a:ea typeface="Arial"/>
                <a:cs typeface="Arial"/>
              </a:rPr>
              <a:t>Explain the options and what could change the answer.</a:t>
            </a:r>
          </a:p>
        </p:txBody>
      </p:sp>
      <p:sp>
        <p:nvSpPr>
          <p:cNvPr id="10" name="">
            <a:extLst xmlns:a="http://schemas.openxmlformats.org/drawingml/2006/main">
              <a:ext uri="{FF2B5EF4-FFF2-40B4-BE49-F238E27FC236}">
                <a16:creationId xmlns:a16="http://schemas.microsoft.com/office/drawing/2014/main" id="{FB1F8502-35E0-40BF-B825-4A7177CF9BE5}"/>
              </a:ext>
            </a:extLst>
          </p:cNvPr>
          <p:cNvSpPr>
            <a:spLocks xmlns:a="http://schemas.openxmlformats.org/drawingml/2006/main" noGrp="1"/>
          </p:cNvSpPr>
          <p:nvPr/>
        </p:nvSpPr>
        <p:spPr>
          <a:xfrm xmlns:a="http://schemas.openxmlformats.org/drawingml/2006/main">
            <a:off x="6191250" y="4610100"/>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GENERIC AI DOES NOT REMOVE THIS PREPARATION</a:t>
            </a:r>
          </a:p>
        </p:txBody>
      </p:sp>
      <p:sp>
        <p:nvSpPr>
          <p:cNvPr id="11" name="">
            <a:extLst xmlns:a="http://schemas.openxmlformats.org/drawingml/2006/main">
              <a:ext uri="{FF2B5EF4-FFF2-40B4-BE49-F238E27FC236}">
                <a16:creationId xmlns:a16="http://schemas.microsoft.com/office/drawing/2014/main" id="{45DE812F-52A0-462B-A594-D1846FE16112}"/>
              </a:ext>
            </a:extLst>
          </p:cNvPr>
          <p:cNvSpPr>
            <a:spLocks xmlns:a="http://schemas.openxmlformats.org/drawingml/2006/main" noGrp="1"/>
          </p:cNvSpPr>
          <p:nvPr/>
        </p:nvSpPr>
        <p:spPr>
          <a:xfrm xmlns:a="http://schemas.openxmlformats.org/drawingml/2006/main">
            <a:off x="6191250" y="5019675"/>
            <a:ext cx="5381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0">
                <a:solidFill>
                  <a:srgbClr val="596273"/>
                </a:solidFill>
                <a:latin typeface="Arial"/>
                <a:ea typeface="Arial"/>
                <a:cs typeface="Arial"/>
              </a:defRPr>
            </a:pPr>
            <a:r>
              <a:rPr sz="1650" b="0">
                <a:solidFill>
                  <a:srgbClr val="596273"/>
                </a:solidFill>
                <a:latin typeface="Arial"/>
                <a:ea typeface="Arial"/>
                <a:cs typeface="Arial"/>
              </a:rPr>
              <a:t>The lawyer must still load the context, point the model toward the right issues, challenge confident assumptions, and check the sources.</a:t>
            </a:r>
          </a:p>
        </p:txBody>
      </p:sp>
      <p:sp>
        <p:nvSpPr>
          <p:cNvPr id="12" name="">
            <a:extLst xmlns:a="http://schemas.openxmlformats.org/drawingml/2006/main">
              <a:ext uri="{FF2B5EF4-FFF2-40B4-BE49-F238E27FC236}">
                <a16:creationId xmlns:a16="http://schemas.microsoft.com/office/drawing/2014/main" id="{32A90047-A87A-4A29-A6F3-1ADFB1191235}"/>
              </a:ext>
            </a:extLst>
          </p:cNvPr>
          <p:cNvSpPr>
            <a:spLocks xmlns:a="http://schemas.openxmlformats.org/drawingml/2006/main" noGrp="1"/>
          </p:cNvSpPr>
          <p:nvPr/>
        </p:nvSpPr>
        <p:spPr>
          <a:xfrm xmlns:a="http://schemas.openxmlformats.org/drawingml/2006/main">
            <a:off x="609600" y="58578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17243E"/>
                </a:solidFill>
                <a:latin typeface="Georgia"/>
                <a:ea typeface="Georgia"/>
                <a:cs typeface="Georgia"/>
              </a:defRPr>
            </a:pPr>
            <a:r>
              <a:rPr sz="2100" b="1">
                <a:solidFill>
                  <a:srgbClr val="17243E"/>
                </a:solidFill>
                <a:latin typeface="Georgia"/>
                <a:ea typeface="Georgia"/>
                <a:cs typeface="Georgia"/>
              </a:rPr>
              <a:t>The business asked for an answer. The lawyer first has to build the question.</a:t>
            </a:r>
          </a:p>
        </p:txBody>
      </p:sp>
    </p:spTree>
    <p:extLst>
      <p:ext uri="{BB962C8B-B14F-4D97-AF65-F5344CB8AC3E}">
        <p14:creationId xmlns:p14="http://schemas.microsoft.com/office/powerpoint/2010/main" val="1713569487"/>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AD65B7-2EEE-45F2-9D22-B5884F40C74A}"/>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THE INSIGHT</a:t>
            </a:r>
          </a:p>
        </p:txBody>
      </p:sp>
      <p:sp>
        <p:nvSpPr>
          <p:cNvPr id="2" name="">
            <a:extLst xmlns:a="http://schemas.openxmlformats.org/drawingml/2006/main">
              <a:ext uri="{FF2B5EF4-FFF2-40B4-BE49-F238E27FC236}">
                <a16:creationId xmlns:a16="http://schemas.microsoft.com/office/drawing/2014/main" id="{8DF0E22B-9623-4C71-972E-6C19151FDD9A}"/>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FAF8F2"/>
                </a:solidFill>
                <a:latin typeface="Georgia"/>
                <a:ea typeface="Georgia"/>
                <a:cs typeface="Georgia"/>
              </a:defRPr>
            </a:pPr>
            <a:r>
              <a:rPr sz="3375" b="1">
                <a:solidFill>
                  <a:srgbClr val="FAF8F2"/>
                </a:solidFill>
                <a:latin typeface="Georgia"/>
                <a:ea typeface="Georgia"/>
                <a:cs typeface="Georgia"/>
              </a:rPr>
              <a:t>The business asks for a yes or no.</a:t>
            </a:r>
          </a:p>
          <a:p xmlns:a="http://schemas.openxmlformats.org/drawingml/2006/main">
            <a:pPr>
              <a:lnSpc>
                <a:spcPct val="110000"/>
              </a:lnSpc>
              <a:buNone/>
              <a:defRPr sz="3375" b="1">
                <a:solidFill>
                  <a:srgbClr val="FAF8F2"/>
                </a:solidFill>
                <a:latin typeface="Georgia"/>
                <a:ea typeface="Georgia"/>
                <a:cs typeface="Georgia"/>
              </a:defRPr>
            </a:pPr>
            <a:r>
              <a:rPr sz="3375" b="1">
                <a:solidFill>
                  <a:srgbClr val="FAF8F2"/>
                </a:solidFill>
                <a:latin typeface="Georgia"/>
                <a:ea typeface="Georgia"/>
                <a:cs typeface="Georgia"/>
              </a:rPr>
              <a:t>The lawyer needs the conditions behind it.</a:t>
            </a:r>
          </a:p>
        </p:txBody>
      </p:sp>
      <p:sp>
        <p:nvSpPr>
          <p:cNvPr id="3" name="">
            <a:extLst xmlns:a="http://schemas.openxmlformats.org/drawingml/2006/main">
              <a:ext uri="{FF2B5EF4-FFF2-40B4-BE49-F238E27FC236}">
                <a16:creationId xmlns:a16="http://schemas.microsoft.com/office/drawing/2014/main" id="{9D7F2CFC-4528-4B8C-A776-D230E905BCC8}"/>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5FF2AA6-1D5D-47E5-903E-17FF6624EB63}"/>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75EFA8B3-8951-4969-B6BF-ABF56DD7990A}"/>
              </a:ext>
            </a:extLst>
          </p:cNvPr>
          <p:cNvSpPr>
            <a:spLocks xmlns:a="http://schemas.openxmlformats.org/drawingml/2006/main" noGrp="1"/>
          </p:cNvSpPr>
          <p:nvPr/>
        </p:nvSpPr>
        <p:spPr>
          <a:xfrm xmlns:a="http://schemas.openxmlformats.org/drawingml/2006/main">
            <a:off x="609600" y="2466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BUSINESS QUESTION</a:t>
            </a:r>
          </a:p>
        </p:txBody>
      </p:sp>
      <p:sp>
        <p:nvSpPr>
          <p:cNvPr id="6" name="">
            <a:extLst xmlns:a="http://schemas.openxmlformats.org/drawingml/2006/main">
              <a:ext uri="{FF2B5EF4-FFF2-40B4-BE49-F238E27FC236}">
                <a16:creationId xmlns:a16="http://schemas.microsoft.com/office/drawing/2014/main" id="{9FA3855F-0F46-4C5C-85B4-F4A7409A25EA}"/>
              </a:ext>
            </a:extLst>
          </p:cNvPr>
          <p:cNvSpPr>
            <a:spLocks xmlns:a="http://schemas.openxmlformats.org/drawingml/2006/main" noGrp="1"/>
          </p:cNvSpPr>
          <p:nvPr/>
        </p:nvSpPr>
        <p:spPr>
          <a:xfrm xmlns:a="http://schemas.openxmlformats.org/drawingml/2006/main">
            <a:off x="609600" y="2981325"/>
            <a:ext cx="4381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0">
                <a:solidFill>
                  <a:srgbClr val="FAF8F2"/>
                </a:solidFill>
                <a:latin typeface="Georgia"/>
                <a:ea typeface="Georgia"/>
                <a:cs typeface="Georgia"/>
              </a:defRPr>
            </a:pPr>
            <a:r>
              <a:rPr sz="3225" b="0">
                <a:solidFill>
                  <a:srgbClr val="FAF8F2"/>
                </a:solidFill>
                <a:latin typeface="Georgia"/>
                <a:ea typeface="Georgia"/>
                <a:cs typeface="Georgia"/>
              </a:rPr>
              <a:t>“Can we launch Friday?”</a:t>
            </a:r>
          </a:p>
        </p:txBody>
      </p:sp>
      <p:sp>
        <p:nvSpPr>
          <p:cNvPr id="7" name="">
            <a:extLst xmlns:a="http://schemas.openxmlformats.org/drawingml/2006/main">
              <a:ext uri="{FF2B5EF4-FFF2-40B4-BE49-F238E27FC236}">
                <a16:creationId xmlns:a16="http://schemas.microsoft.com/office/drawing/2014/main" id="{E066E2E0-65C3-43A5-B756-C68FED16CBBB}"/>
              </a:ext>
            </a:extLst>
          </p:cNvPr>
          <p:cNvSpPr>
            <a:spLocks xmlns:a="http://schemas.openxmlformats.org/drawingml/2006/main" noGrp="1"/>
          </p:cNvSpPr>
          <p:nvPr/>
        </p:nvSpPr>
        <p:spPr>
          <a:xfrm xmlns:a="http://schemas.openxmlformats.org/drawingml/2006/main">
            <a:off x="5810250" y="246697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THE ANSWER MAY CHANGE BASED ON</a:t>
            </a:r>
          </a:p>
        </p:txBody>
      </p:sp>
      <p:sp>
        <p:nvSpPr>
          <p:cNvPr id="8" name="">
            <a:extLst xmlns:a="http://schemas.openxmlformats.org/drawingml/2006/main">
              <a:ext uri="{FF2B5EF4-FFF2-40B4-BE49-F238E27FC236}">
                <a16:creationId xmlns:a16="http://schemas.microsoft.com/office/drawing/2014/main" id="{67037E48-7878-4C5E-9ADB-53B4DFBB7B77}"/>
              </a:ext>
            </a:extLst>
          </p:cNvPr>
          <p:cNvSpPr>
            <a:spLocks xmlns:a="http://schemas.openxmlformats.org/drawingml/2006/main" noGrp="1"/>
          </p:cNvSpPr>
          <p:nvPr/>
        </p:nvSpPr>
        <p:spPr>
          <a:xfrm xmlns:a="http://schemas.openxmlformats.org/drawingml/2006/main">
            <a:off x="5810250" y="2971800"/>
            <a:ext cx="5715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What the product actually does</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Which company handles the money or data</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When each step happens</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Where the product and users are located</a:t>
            </a:r>
          </a:p>
          <a:p xmlns:a="http://schemas.openxmlformats.org/drawingml/2006/main">
            <a:pPr>
              <a:lnSpc>
                <a:spcPct val="110000"/>
              </a:lnSpc>
              <a:buNone/>
              <a:defRPr sz="1950" b="0">
                <a:solidFill>
                  <a:srgbClr val="FAF8F2"/>
                </a:solidFill>
                <a:latin typeface="Arial"/>
                <a:ea typeface="Arial"/>
                <a:cs typeface="Arial"/>
              </a:defRPr>
            </a:pPr>
            <a:r>
              <a:rPr sz="1950" b="0">
                <a:solidFill>
                  <a:srgbClr val="FAF8F2"/>
                </a:solidFill>
                <a:latin typeface="Arial"/>
                <a:ea typeface="Arial"/>
                <a:cs typeface="Arial"/>
              </a:rPr>
              <a:t>Which laws and earlier company decisions apply</a:t>
            </a:r>
          </a:p>
        </p:txBody>
      </p:sp>
      <p:sp>
        <p:nvSpPr>
          <p:cNvPr id="9" name="">
            <a:extLst xmlns:a="http://schemas.openxmlformats.org/drawingml/2006/main">
              <a:ext uri="{FF2B5EF4-FFF2-40B4-BE49-F238E27FC236}">
                <a16:creationId xmlns:a16="http://schemas.microsoft.com/office/drawing/2014/main" id="{AB42B102-B671-4027-980A-6237C48E3979}"/>
              </a:ext>
            </a:extLst>
          </p:cNvPr>
          <p:cNvSpPr>
            <a:spLocks xmlns:a="http://schemas.openxmlformats.org/drawingml/2006/main" noGrp="1"/>
          </p:cNvSpPr>
          <p:nvPr/>
        </p:nvSpPr>
        <p:spPr>
          <a:xfrm xmlns:a="http://schemas.openxmlformats.org/drawingml/2006/main">
            <a:off x="609600" y="572452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DCE1EA"/>
                </a:solidFill>
                <a:latin typeface="Arial"/>
                <a:ea typeface="Arial"/>
                <a:cs typeface="Arial"/>
              </a:defRPr>
            </a:pPr>
            <a:r>
              <a:rPr sz="1725" b="0">
                <a:solidFill>
                  <a:srgbClr val="DCE1EA"/>
                </a:solidFill>
                <a:latin typeface="Arial"/>
                <a:ea typeface="Arial"/>
                <a:cs typeface="Arial"/>
              </a:rPr>
              <a:t>Generic AI often answers from the facts it receives. A lawyer must prepare for facts that are missing, disputed, or wrong.</a:t>
            </a:r>
          </a:p>
        </p:txBody>
      </p:sp>
    </p:spTree>
    <p:extLst>
      <p:ext uri="{BB962C8B-B14F-4D97-AF65-F5344CB8AC3E}">
        <p14:creationId xmlns:p14="http://schemas.microsoft.com/office/powerpoint/2010/main" val="1767910780"/>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585340-452F-4018-B8CA-BBD255C87AD4}"/>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95A7FDC0-600D-4AA9-A828-52BABE924E42}"/>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AI can now do useful legal work.</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It still needs a lawyer to make it useful.</a:t>
            </a:r>
          </a:p>
        </p:txBody>
      </p:sp>
      <p:sp>
        <p:nvSpPr>
          <p:cNvPr id="3" name="">
            <a:extLst xmlns:a="http://schemas.openxmlformats.org/drawingml/2006/main">
              <a:ext uri="{FF2B5EF4-FFF2-40B4-BE49-F238E27FC236}">
                <a16:creationId xmlns:a16="http://schemas.microsoft.com/office/drawing/2014/main" id="{D4F6F3F7-7B30-4761-A7BE-2CF93769DF70}"/>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1D402C5-C5E4-4A72-B288-0997E3224321}"/>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7F82FC8-E683-4D6E-90EF-5FA6312325BE}"/>
              </a:ext>
            </a:extLst>
          </p:cNvPr>
          <p:cNvSpPr>
            <a:spLocks xmlns:a="http://schemas.openxmlformats.org/drawingml/2006/main" noGrp="1"/>
          </p:cNvSpPr>
          <p:nvPr/>
        </p:nvSpPr>
        <p:spPr>
          <a:xfrm xmlns:a="http://schemas.openxmlformats.org/drawingml/2006/main">
            <a:off x="609600" y="2457450"/>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17243E"/>
                </a:solidFill>
                <a:latin typeface="Georgia"/>
                <a:ea typeface="Georgia"/>
                <a:cs typeface="Georgia"/>
              </a:defRPr>
            </a:pPr>
            <a:r>
              <a:rPr sz="2175" b="0">
                <a:solidFill>
                  <a:srgbClr val="17243E"/>
                </a:solidFill>
                <a:latin typeface="Georgia"/>
                <a:ea typeface="Georgia"/>
                <a:cs typeface="Georgia"/>
              </a:rPr>
              <a:t>Brian began building Themis after using newer AI models for legal research, synthesis, and drafting in his own work.</a:t>
            </a:r>
          </a:p>
        </p:txBody>
      </p:sp>
      <p:sp>
        <p:nvSpPr>
          <p:cNvPr id="6" name="">
            <a:extLst xmlns:a="http://schemas.openxmlformats.org/drawingml/2006/main">
              <a:ext uri="{FF2B5EF4-FFF2-40B4-BE49-F238E27FC236}">
                <a16:creationId xmlns:a16="http://schemas.microsoft.com/office/drawing/2014/main" id="{8DD58AFF-1B78-49FA-9AC5-912A25A3722C}"/>
              </a:ext>
            </a:extLst>
          </p:cNvPr>
          <p:cNvSpPr>
            <a:spLocks xmlns:a="http://schemas.openxmlformats.org/drawingml/2006/main" noGrp="1"/>
          </p:cNvSpPr>
          <p:nvPr/>
        </p:nvSpPr>
        <p:spPr>
          <a:xfrm xmlns:a="http://schemas.openxmlformats.org/drawingml/2006/main">
            <a:off x="6667500" y="24574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WITHOUT A LEGAL WORKSPACE, THE LAWYER MUST REPEAT</a:t>
            </a:r>
          </a:p>
        </p:txBody>
      </p:sp>
      <p:sp>
        <p:nvSpPr>
          <p:cNvPr id="7" name="">
            <a:extLst xmlns:a="http://schemas.openxmlformats.org/drawingml/2006/main">
              <a:ext uri="{FF2B5EF4-FFF2-40B4-BE49-F238E27FC236}">
                <a16:creationId xmlns:a16="http://schemas.microsoft.com/office/drawing/2014/main" id="{79FED48E-C48F-4AD0-B331-F51BF5980C9D}"/>
              </a:ext>
            </a:extLst>
          </p:cNvPr>
          <p:cNvSpPr>
            <a:spLocks xmlns:a="http://schemas.openxmlformats.org/drawingml/2006/main" noGrp="1"/>
          </p:cNvSpPr>
          <p:nvPr/>
        </p:nvSpPr>
        <p:spPr>
          <a:xfrm xmlns:a="http://schemas.openxmlformats.org/drawingml/2006/main">
            <a:off x="6667500" y="3076575"/>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Explain the company and product</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Upload the matter documents</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Guide the model toward the relevant law</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Challenge its assumptions</a:t>
            </a:r>
          </a:p>
          <a:p xmlns:a="http://schemas.openxmlformats.org/drawingml/2006/main">
            <a:pPr>
              <a:lnSpc>
                <a:spcPct val="110000"/>
              </a:lnSpc>
              <a:buNone/>
              <a:defRPr sz="1950" b="0">
                <a:solidFill>
                  <a:srgbClr val="596273"/>
                </a:solidFill>
                <a:latin typeface="Arial"/>
                <a:ea typeface="Arial"/>
                <a:cs typeface="Arial"/>
              </a:defRPr>
            </a:pPr>
            <a:r>
              <a:rPr sz="1950" b="0">
                <a:solidFill>
                  <a:srgbClr val="596273"/>
                </a:solidFill>
                <a:latin typeface="Arial"/>
                <a:ea typeface="Arial"/>
                <a:cs typeface="Arial"/>
              </a:rPr>
              <a:t>Turn the result into usable legal work</a:t>
            </a:r>
          </a:p>
        </p:txBody>
      </p:sp>
      <p:sp>
        <p:nvSpPr>
          <p:cNvPr id="8" name="">
            <a:extLst xmlns:a="http://schemas.openxmlformats.org/drawingml/2006/main">
              <a:ext uri="{FF2B5EF4-FFF2-40B4-BE49-F238E27FC236}">
                <a16:creationId xmlns:a16="http://schemas.microsoft.com/office/drawing/2014/main" id="{49D9DD11-EA6A-4703-90A1-947AB48F5FC8}"/>
              </a:ext>
            </a:extLst>
          </p:cNvPr>
          <p:cNvSpPr>
            <a:spLocks xmlns:a="http://schemas.openxmlformats.org/drawingml/2006/main" noGrp="1"/>
          </p:cNvSpPr>
          <p:nvPr/>
        </p:nvSpPr>
        <p:spPr>
          <a:xfrm xmlns:a="http://schemas.openxmlformats.org/drawingml/2006/main">
            <a:off x="609600" y="57245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17243E"/>
                </a:solidFill>
                <a:latin typeface="Arial"/>
                <a:ea typeface="Arial"/>
                <a:cs typeface="Arial"/>
              </a:defRPr>
            </a:pPr>
            <a:r>
              <a:rPr sz="1800" b="0">
                <a:solidFill>
                  <a:srgbClr val="17243E"/>
                </a:solidFill>
                <a:latin typeface="Arial"/>
                <a:ea typeface="Arial"/>
                <a:cs typeface="Arial"/>
              </a:rPr>
              <a:t>The opportunity is to design the product around how lawyers examine questions and reach decisions.</a:t>
            </a:r>
          </a:p>
        </p:txBody>
      </p:sp>
    </p:spTree>
    <p:extLst>
      <p:ext uri="{BB962C8B-B14F-4D97-AF65-F5344CB8AC3E}">
        <p14:creationId xmlns:p14="http://schemas.microsoft.com/office/powerpoint/2010/main" val="1491559342"/>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42206E1-1747-4F23-96DD-2720D65A138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5C8A510D-56D1-4431-9609-F2A132D3FF5B}"/>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Themis turns an incomplete request into</a:t>
            </a:r>
          </a:p>
          <a:p xmlns:a="http://schemas.openxmlformats.org/drawingml/2006/main">
            <a:pPr>
              <a:lnSpc>
                <a:spcPct val="110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a legal matter the lawyer can work from.</a:t>
            </a:r>
          </a:p>
        </p:txBody>
      </p:sp>
      <p:sp>
        <p:nvSpPr>
          <p:cNvPr id="3" name="">
            <a:extLst xmlns:a="http://schemas.openxmlformats.org/drawingml/2006/main">
              <a:ext uri="{FF2B5EF4-FFF2-40B4-BE49-F238E27FC236}">
                <a16:creationId xmlns:a16="http://schemas.microsoft.com/office/drawing/2014/main" id="{314D1CBC-C053-4493-A77A-B2AB6DEF8C49}"/>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34553B0-9DE9-40A4-9574-E074CB947D77}"/>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B73C9D8-FEF3-4C09-88F1-3AB6B938BC07}"/>
              </a:ext>
            </a:extLst>
          </p:cNvPr>
          <p:cNvSpPr>
            <a:spLocks xmlns:a="http://schemas.openxmlformats.org/drawingml/2006/main" noGrp="1"/>
          </p:cNvSpPr>
          <p:nvPr/>
        </p:nvSpPr>
        <p:spPr>
          <a:xfrm xmlns:a="http://schemas.openxmlformats.org/drawingml/2006/main">
            <a:off x="609600" y="239077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Themis is a matter-centered AI workspace for in-house lawyers. It keeps the work around a business question together as the facts and law change.</a:t>
            </a:r>
          </a:p>
        </p:txBody>
      </p:sp>
      <p:sp>
        <p:nvSpPr>
          <p:cNvPr id="6" name="">
            <a:extLst xmlns:a="http://schemas.openxmlformats.org/drawingml/2006/main">
              <a:ext uri="{FF2B5EF4-FFF2-40B4-BE49-F238E27FC236}">
                <a16:creationId xmlns:a16="http://schemas.microsoft.com/office/drawing/2014/main" id="{4F4B0CCA-2E26-40F6-AEC8-B6E16D16C1CB}"/>
              </a:ext>
            </a:extLst>
          </p:cNvPr>
          <p:cNvSpPr>
            <a:spLocks xmlns:a="http://schemas.openxmlformats.org/drawingml/2006/main" noGrp="1"/>
          </p:cNvSpPr>
          <p:nvPr/>
        </p:nvSpPr>
        <p:spPr>
          <a:xfrm xmlns:a="http://schemas.openxmlformats.org/drawingml/2006/main">
            <a:off x="609600" y="4105275"/>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THE EFFICIENCY GAIN</a:t>
            </a:r>
          </a:p>
        </p:txBody>
      </p:sp>
      <p:sp>
        <p:nvSpPr>
          <p:cNvPr id="7" name="">
            <a:extLst xmlns:a="http://schemas.openxmlformats.org/drawingml/2006/main">
              <a:ext uri="{FF2B5EF4-FFF2-40B4-BE49-F238E27FC236}">
                <a16:creationId xmlns:a16="http://schemas.microsoft.com/office/drawing/2014/main" id="{458C4EB0-74C5-467B-B69B-3E67D1BF050B}"/>
              </a:ext>
            </a:extLst>
          </p:cNvPr>
          <p:cNvSpPr>
            <a:spLocks xmlns:a="http://schemas.openxmlformats.org/drawingml/2006/main" noGrp="1"/>
          </p:cNvSpPr>
          <p:nvPr/>
        </p:nvSpPr>
        <p:spPr>
          <a:xfrm xmlns:a="http://schemas.openxmlformats.org/drawingml/2006/main">
            <a:off x="609600" y="453390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1">
                <a:solidFill>
                  <a:srgbClr val="17243E"/>
                </a:solidFill>
                <a:latin typeface="Georgia"/>
                <a:ea typeface="Georgia"/>
                <a:cs typeface="Georgia"/>
              </a:defRPr>
            </a:pPr>
            <a:r>
              <a:rPr sz="1875" b="1">
                <a:solidFill>
                  <a:srgbClr val="17243E"/>
                </a:solidFill>
                <a:latin typeface="Georgia"/>
                <a:ea typeface="Georgia"/>
                <a:cs typeface="Georgia"/>
              </a:rPr>
              <a:t>The lawyer stops rebuilding the matter before every prompt and reaches a usable legal picture faster.</a:t>
            </a:r>
          </a:p>
        </p:txBody>
      </p:sp>
      <p:sp>
        <p:nvSpPr>
          <p:cNvPr id="8" name="">
            <a:extLst xmlns:a="http://schemas.openxmlformats.org/drawingml/2006/main">
              <a:ext uri="{FF2B5EF4-FFF2-40B4-BE49-F238E27FC236}">
                <a16:creationId xmlns:a16="http://schemas.microsoft.com/office/drawing/2014/main" id="{7E60D4A0-D265-400E-8A28-2549B2BD35A3}"/>
              </a:ext>
            </a:extLst>
          </p:cNvPr>
          <p:cNvSpPr>
            <a:spLocks xmlns:a="http://schemas.openxmlformats.org/drawingml/2006/main" noGrp="1"/>
          </p:cNvSpPr>
          <p:nvPr/>
        </p:nvSpPr>
        <p:spPr>
          <a:xfrm xmlns:a="http://schemas.openxmlformats.org/drawingml/2006/main">
            <a:off x="6667500" y="23907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EACH MATTER CONNECTS</a:t>
            </a:r>
          </a:p>
        </p:txBody>
      </p:sp>
      <p:sp>
        <p:nvSpPr>
          <p:cNvPr id="9" name="">
            <a:extLst xmlns:a="http://schemas.openxmlformats.org/drawingml/2006/main">
              <a:ext uri="{FF2B5EF4-FFF2-40B4-BE49-F238E27FC236}">
                <a16:creationId xmlns:a16="http://schemas.microsoft.com/office/drawing/2014/main" id="{FECA90E9-9AAB-41BF-81DF-8063D5A01D09}"/>
              </a:ext>
            </a:extLst>
          </p:cNvPr>
          <p:cNvSpPr>
            <a:spLocks xmlns:a="http://schemas.openxmlformats.org/drawingml/2006/main" noGrp="1"/>
          </p:cNvSpPr>
          <p:nvPr/>
        </p:nvSpPr>
        <p:spPr>
          <a:xfrm xmlns:a="http://schemas.openxmlformats.org/drawingml/2006/main">
            <a:off x="6667500" y="2943225"/>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Original business request</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Company context and source documents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Facts, assumptions, and open questions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Research and supported analysis</a:t>
            </a:r>
          </a:p>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Draft work and lawyer-recorded decisions</a:t>
            </a:r>
          </a:p>
        </p:txBody>
      </p:sp>
      <p:sp>
        <p:nvSpPr>
          <p:cNvPr id="10" name="">
            <a:extLst xmlns:a="http://schemas.openxmlformats.org/drawingml/2006/main">
              <a:ext uri="{FF2B5EF4-FFF2-40B4-BE49-F238E27FC236}">
                <a16:creationId xmlns:a16="http://schemas.microsoft.com/office/drawing/2014/main" id="{64F2CF04-B5CB-4981-9752-6EB2F0EFDE3B}"/>
              </a:ext>
            </a:extLst>
          </p:cNvPr>
          <p:cNvSpPr>
            <a:spLocks xmlns:a="http://schemas.openxmlformats.org/drawingml/2006/main" noGrp="1"/>
          </p:cNvSpPr>
          <p:nvPr/>
        </p:nvSpPr>
        <p:spPr>
          <a:xfrm xmlns:a="http://schemas.openxmlformats.org/drawingml/2006/main">
            <a:off x="609600" y="541020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325" b="0">
                <a:solidFill>
                  <a:srgbClr val="4169A4"/>
                </a:solidFill>
                <a:latin typeface="Georgia"/>
                <a:ea typeface="Georgia"/>
                <a:cs typeface="Georgia"/>
              </a:defRPr>
            </a:pPr>
            <a:r>
              <a:rPr sz="2325" b="0">
                <a:solidFill>
                  <a:srgbClr val="4169A4"/>
                </a:solidFill>
                <a:latin typeface="Georgia"/>
                <a:ea typeface="Georgia"/>
                <a:cs typeface="Georgia"/>
              </a:rPr>
              <a:t>Themis helps lawyers feel clear, capable, and supported when the judgment matters most.</a:t>
            </a:r>
          </a:p>
        </p:txBody>
      </p:sp>
    </p:spTree>
    <p:extLst>
      <p:ext uri="{BB962C8B-B14F-4D97-AF65-F5344CB8AC3E}">
        <p14:creationId xmlns:p14="http://schemas.microsoft.com/office/powerpoint/2010/main" val="1028589593"/>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A916C9-D53F-4236-BDA5-62D64781A6E6}"/>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DIVISION OF LABOR</a:t>
            </a:r>
          </a:p>
        </p:txBody>
      </p:sp>
      <p:sp>
        <p:nvSpPr>
          <p:cNvPr id="2" name="">
            <a:extLst xmlns:a="http://schemas.openxmlformats.org/drawingml/2006/main">
              <a:ext uri="{FF2B5EF4-FFF2-40B4-BE49-F238E27FC236}">
                <a16:creationId xmlns:a16="http://schemas.microsoft.com/office/drawing/2014/main" id="{15077BCD-C9EE-4307-9F59-A96C52ACA75D}"/>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10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4ADA5660-5C40-4020-875E-59BA3B6E53DD}"/>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9D5A0E0-17A3-4E39-8117-B88E6E3C8DD0}"/>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67A6CCB-E558-4923-822D-748AA5A9F2BA}"/>
              </a:ext>
            </a:extLst>
          </p:cNvPr>
          <p:cNvSpPr>
            <a:spLocks xmlns:a="http://schemas.openxmlformats.org/drawingml/2006/main" noGrp="1"/>
          </p:cNvSpPr>
          <p:nvPr/>
        </p:nvSpPr>
        <p:spPr>
          <a:xfrm xmlns:a="http://schemas.openxmlformats.org/drawingml/2006/main">
            <a:off x="609600" y="20288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596273"/>
                </a:solidFill>
                <a:latin typeface="Arial"/>
                <a:ea typeface="Arial"/>
                <a:cs typeface="Arial"/>
              </a:defRPr>
            </a:pPr>
            <a:r>
              <a:rPr sz="1500" b="0">
                <a:solidFill>
                  <a:srgbClr val="596273"/>
                </a:solidFill>
                <a:latin typeface="Arial"/>
                <a:ea typeface="Arial"/>
                <a:cs typeface="Arial"/>
              </a:rPr>
              <a:t>Themis prepares and preserves the work around the decision. The lawyer applies context, risk tolerance, and authority.</a:t>
            </a:r>
          </a:p>
        </p:txBody>
      </p:sp>
      <p:graphicFrame>
        <p:nvGraphicFramePr>
          <p:cNvPr id="13" name=""/>
          <p:cNvGraphicFramePr/>
          <p:nvPr/>
        </p:nvGraphicFramePr>
        <p:xfrm>
          <a:off xmlns:a="http://schemas.openxmlformats.org/drawingml/2006/main" x="609600" y="2505075"/>
          <a:ext xmlns:a="http://schemas.openxmlformats.org/drawingml/2006/main" cx="10972800" cy="2847975"/>
        </p:xfrm>
        <a:graphic xmlns:a="http://schemas.openxmlformats.org/drawingml/2006/main">
          <a:graphicData uri="http://schemas.openxmlformats.org/drawingml/2006/table">
            <a:tbl>
              <a:tblPr/>
              <a:tblGrid>
                <a:gridCol w="5486400"/>
                <a:gridCol w="5486400"/>
              </a:tblGrid>
              <a:tr h="523875">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7625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7625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7" name="">
            <a:extLst xmlns:a="http://schemas.openxmlformats.org/drawingml/2006/main">
              <a:ext uri="{FF2B5EF4-FFF2-40B4-BE49-F238E27FC236}">
                <a16:creationId xmlns:a16="http://schemas.microsoft.com/office/drawing/2014/main" id="{0C33D58D-6436-46C0-804E-CF95459AE631}"/>
              </a:ext>
            </a:extLst>
          </p:cNvPr>
          <p:cNvSpPr>
            <a:spLocks xmlns:a="http://schemas.openxmlformats.org/drawingml/2006/main" noGrp="1"/>
          </p:cNvSpPr>
          <p:nvPr/>
        </p:nvSpPr>
        <p:spPr>
          <a:xfrm xmlns:a="http://schemas.openxmlformats.org/drawingml/2006/main">
            <a:off x="609600" y="5743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475" b="1">
                <a:solidFill>
                  <a:srgbClr val="4169A4"/>
                </a:solidFill>
                <a:latin typeface="Georgia"/>
                <a:ea typeface="Georgia"/>
                <a:cs typeface="Georgia"/>
              </a:defRPr>
            </a:pPr>
            <a:r>
              <a:rPr sz="247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903170720"/>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E18468B-EFB0-40DE-9FC8-C50DB8E7C87E}"/>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PROPOSED PRODUCT INTERACTION</a:t>
            </a:r>
          </a:p>
        </p:txBody>
      </p:sp>
      <p:sp>
        <p:nvSpPr>
          <p:cNvPr id="2" name="">
            <a:extLst xmlns:a="http://schemas.openxmlformats.org/drawingml/2006/main">
              <a:ext uri="{FF2B5EF4-FFF2-40B4-BE49-F238E27FC236}">
                <a16:creationId xmlns:a16="http://schemas.microsoft.com/office/drawing/2014/main" id="{1E76F695-312A-4D60-B925-3E7BA9B4EC1C}"/>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missing fact can change the legal analysis.</a:t>
            </a:r>
          </a:p>
        </p:txBody>
      </p:sp>
      <p:sp>
        <p:nvSpPr>
          <p:cNvPr id="3" name="">
            <a:extLst xmlns:a="http://schemas.openxmlformats.org/drawingml/2006/main">
              <a:ext uri="{FF2B5EF4-FFF2-40B4-BE49-F238E27FC236}">
                <a16:creationId xmlns:a16="http://schemas.microsoft.com/office/drawing/2014/main" id="{4CD664F6-6505-483A-AC98-69B9FCCEA2B6}"/>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2200F21-30A9-4783-A71B-CCE0A3F9A72E}"/>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A5894B55-4291-4682-B44E-E675F44A8915}"/>
              </a:ext>
            </a:extLst>
          </p:cNvPr>
          <p:cNvSpPr>
            <a:spLocks xmlns:a="http://schemas.openxmlformats.org/drawingml/2006/main" noGrp="1"/>
          </p:cNvSpPr>
          <p:nvPr/>
        </p:nvSpPr>
        <p:spPr>
          <a:xfrm xmlns:a="http://schemas.openxmlformats.org/drawingml/2006/main">
            <a:off x="609600" y="2057400"/>
            <a:ext cx="1062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BUSINESS REQUEST</a:t>
            </a:r>
          </a:p>
        </p:txBody>
      </p:sp>
      <p:sp>
        <p:nvSpPr>
          <p:cNvPr id="6" name="">
            <a:extLst xmlns:a="http://schemas.openxmlformats.org/drawingml/2006/main">
              <a:ext uri="{FF2B5EF4-FFF2-40B4-BE49-F238E27FC236}">
                <a16:creationId xmlns:a16="http://schemas.microsoft.com/office/drawing/2014/main" id="{BE240176-B038-4A7C-981C-5C0C5081A759}"/>
              </a:ext>
            </a:extLst>
          </p:cNvPr>
          <p:cNvSpPr>
            <a:spLocks xmlns:a="http://schemas.openxmlformats.org/drawingml/2006/main" noGrp="1"/>
          </p:cNvSpPr>
          <p:nvPr/>
        </p:nvSpPr>
        <p:spPr>
          <a:xfrm xmlns:a="http://schemas.openxmlformats.org/drawingml/2006/main">
            <a:off x="609600" y="2400300"/>
            <a:ext cx="1062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“Our marketplace will move money from a customer to a seller. Do we need to change the launch plan?”</a:t>
            </a:r>
          </a:p>
        </p:txBody>
      </p:sp>
      <p:sp>
        <p:nvSpPr>
          <p:cNvPr id="7" name="">
            <a:extLst xmlns:a="http://schemas.openxmlformats.org/drawingml/2006/main">
              <a:ext uri="{FF2B5EF4-FFF2-40B4-BE49-F238E27FC236}">
                <a16:creationId xmlns:a16="http://schemas.microsoft.com/office/drawing/2014/main" id="{9E3F8273-2744-4997-9967-13F063802A72}"/>
              </a:ext>
            </a:extLst>
          </p:cNvPr>
          <p:cNvSpPr>
            <a:spLocks xmlns:a="http://schemas.openxmlformats.org/drawingml/2006/main" noGrp="1"/>
          </p:cNvSpPr>
          <p:nvPr/>
        </p:nvSpPr>
        <p:spPr>
          <a:xfrm xmlns:a="http://schemas.openxmlformats.org/drawingml/2006/main">
            <a:off x="6096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3D466435-1F24-4A0A-A75E-E7D59F60AE4B}"/>
              </a:ext>
            </a:extLst>
          </p:cNvPr>
          <p:cNvSpPr>
            <a:spLocks xmlns:a="http://schemas.openxmlformats.org/drawingml/2006/main" noGrp="1"/>
          </p:cNvSpPr>
          <p:nvPr/>
        </p:nvSpPr>
        <p:spPr>
          <a:xfrm xmlns:a="http://schemas.openxmlformats.org/drawingml/2006/main">
            <a:off x="1181100" y="33528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Map transaction</a:t>
            </a:r>
          </a:p>
        </p:txBody>
      </p:sp>
      <p:sp>
        <p:nvSpPr>
          <p:cNvPr id="9" name="">
            <a:extLst xmlns:a="http://schemas.openxmlformats.org/drawingml/2006/main">
              <a:ext uri="{FF2B5EF4-FFF2-40B4-BE49-F238E27FC236}">
                <a16:creationId xmlns:a16="http://schemas.microsoft.com/office/drawing/2014/main" id="{1320C4AC-62D8-49B3-BC86-6EDE3B75884A}"/>
              </a:ext>
            </a:extLst>
          </p:cNvPr>
          <p:cNvSpPr>
            <a:spLocks xmlns:a="http://schemas.openxmlformats.org/drawingml/2006/main" noGrp="1"/>
          </p:cNvSpPr>
          <p:nvPr/>
        </p:nvSpPr>
        <p:spPr>
          <a:xfrm xmlns:a="http://schemas.openxmlformats.org/drawingml/2006/main">
            <a:off x="1181100" y="3857625"/>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Organize each party, account, transfer, and point in time.</a:t>
            </a:r>
          </a:p>
        </p:txBody>
      </p:sp>
      <p:sp>
        <p:nvSpPr>
          <p:cNvPr id="10" name="">
            <a:extLst xmlns:a="http://schemas.openxmlformats.org/drawingml/2006/main">
              <a:ext uri="{FF2B5EF4-FFF2-40B4-BE49-F238E27FC236}">
                <a16:creationId xmlns:a16="http://schemas.microsoft.com/office/drawing/2014/main" id="{160A2426-9BC8-4F04-A4D0-6A334065AAC2}"/>
              </a:ext>
            </a:extLst>
          </p:cNvPr>
          <p:cNvSpPr>
            <a:spLocks xmlns:a="http://schemas.openxmlformats.org/drawingml/2006/main" noGrp="1"/>
          </p:cNvSpPr>
          <p:nvPr/>
        </p:nvSpPr>
        <p:spPr>
          <a:xfrm xmlns:a="http://schemas.openxmlformats.org/drawingml/2006/main">
            <a:off x="43434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B7998C06-E30C-4CEB-A358-BD3C525FF231}"/>
              </a:ext>
            </a:extLst>
          </p:cNvPr>
          <p:cNvSpPr>
            <a:spLocks xmlns:a="http://schemas.openxmlformats.org/drawingml/2006/main" noGrp="1"/>
          </p:cNvSpPr>
          <p:nvPr/>
        </p:nvSpPr>
        <p:spPr>
          <a:xfrm xmlns:a="http://schemas.openxmlformats.org/drawingml/2006/main">
            <a:off x="4914900" y="335280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Find key fact</a:t>
            </a:r>
          </a:p>
        </p:txBody>
      </p:sp>
      <p:sp>
        <p:nvSpPr>
          <p:cNvPr id="12" name="">
            <a:extLst xmlns:a="http://schemas.openxmlformats.org/drawingml/2006/main">
              <a:ext uri="{FF2B5EF4-FFF2-40B4-BE49-F238E27FC236}">
                <a16:creationId xmlns:a16="http://schemas.microsoft.com/office/drawing/2014/main" id="{57E7F2FD-3000-4944-AC54-FB2833B5D4DA}"/>
              </a:ext>
            </a:extLst>
          </p:cNvPr>
          <p:cNvSpPr>
            <a:spLocks xmlns:a="http://schemas.openxmlformats.org/drawingml/2006/main" noGrp="1"/>
          </p:cNvSpPr>
          <p:nvPr/>
        </p:nvSpPr>
        <p:spPr>
          <a:xfrm xmlns:a="http://schemas.openxmlformats.org/drawingml/2006/main">
            <a:off x="4914900" y="3857625"/>
            <a:ext cx="2714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Does the company ever receive or control the funds, even briefly?</a:t>
            </a:r>
          </a:p>
        </p:txBody>
      </p:sp>
      <p:sp>
        <p:nvSpPr>
          <p:cNvPr id="13" name="">
            <a:extLst xmlns:a="http://schemas.openxmlformats.org/drawingml/2006/main">
              <a:ext uri="{FF2B5EF4-FFF2-40B4-BE49-F238E27FC236}">
                <a16:creationId xmlns:a16="http://schemas.microsoft.com/office/drawing/2014/main" id="{65282ACD-6C83-4011-98AD-FEDD25E9F153}"/>
              </a:ext>
            </a:extLst>
          </p:cNvPr>
          <p:cNvSpPr>
            <a:spLocks xmlns:a="http://schemas.openxmlformats.org/drawingml/2006/main" noGrp="1"/>
          </p:cNvSpPr>
          <p:nvPr/>
        </p:nvSpPr>
        <p:spPr>
          <a:xfrm xmlns:a="http://schemas.openxmlformats.org/drawingml/2006/main">
            <a:off x="8077200" y="33528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1">
                <a:solidFill>
                  <a:srgbClr val="4169A4"/>
                </a:solidFill>
                <a:latin typeface="Arial"/>
                <a:ea typeface="Arial"/>
                <a:cs typeface="Arial"/>
              </a:defRPr>
            </a:pPr>
            <a:r>
              <a:rPr sz="1575" b="1">
                <a:solidFill>
                  <a:srgbClr val="4169A4"/>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96D66DDF-52DC-4565-9625-ED8E9C1019F7}"/>
              </a:ext>
            </a:extLst>
          </p:cNvPr>
          <p:cNvSpPr>
            <a:spLocks xmlns:a="http://schemas.openxmlformats.org/drawingml/2006/main" noGrp="1"/>
          </p:cNvSpPr>
          <p:nvPr/>
        </p:nvSpPr>
        <p:spPr>
          <a:xfrm xmlns:a="http://schemas.openxmlformats.org/drawingml/2006/main">
            <a:off x="8648700" y="33528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1">
                <a:solidFill>
                  <a:srgbClr val="17243E"/>
                </a:solidFill>
                <a:latin typeface="Georgia"/>
                <a:ea typeface="Georgia"/>
                <a:cs typeface="Georgia"/>
              </a:defRPr>
            </a:pPr>
            <a:r>
              <a:rPr sz="2175" b="1">
                <a:solidFill>
                  <a:srgbClr val="17243E"/>
                </a:solidFill>
                <a:latin typeface="Georgia"/>
                <a:ea typeface="Georgia"/>
                <a:cs typeface="Georgia"/>
              </a:rPr>
              <a:t>Compare paths</a:t>
            </a:r>
          </a:p>
        </p:txBody>
      </p:sp>
      <p:sp>
        <p:nvSpPr>
          <p:cNvPr id="15" name="">
            <a:extLst xmlns:a="http://schemas.openxmlformats.org/drawingml/2006/main">
              <a:ext uri="{FF2B5EF4-FFF2-40B4-BE49-F238E27FC236}">
                <a16:creationId xmlns:a16="http://schemas.microsoft.com/office/drawing/2014/main" id="{9682B55F-CE5C-4657-98C6-CB0B5C3EF35A}"/>
              </a:ext>
            </a:extLst>
          </p:cNvPr>
          <p:cNvSpPr>
            <a:spLocks xmlns:a="http://schemas.openxmlformats.org/drawingml/2006/main" noGrp="1"/>
          </p:cNvSpPr>
          <p:nvPr/>
        </p:nvSpPr>
        <p:spPr>
          <a:xfrm xmlns:a="http://schemas.openxmlformats.org/drawingml/2006/main">
            <a:off x="8648700" y="385762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Explain why the fact matters and research each relevant legal path.</a:t>
            </a:r>
          </a:p>
        </p:txBody>
      </p:sp>
      <p:sp>
        <p:nvSpPr>
          <p:cNvPr id="16" name="">
            <a:extLst xmlns:a="http://schemas.openxmlformats.org/drawingml/2006/main">
              <a:ext uri="{FF2B5EF4-FFF2-40B4-BE49-F238E27FC236}">
                <a16:creationId xmlns:a16="http://schemas.microsoft.com/office/drawing/2014/main" id="{AA1CB9FA-6276-4FBE-89F0-F2B170F823F0}"/>
              </a:ext>
            </a:extLst>
          </p:cNvPr>
          <p:cNvSpPr>
            <a:spLocks xmlns:a="http://schemas.openxmlformats.org/drawingml/2006/main" noGrp="1"/>
          </p:cNvSpPr>
          <p:nvPr/>
        </p:nvSpPr>
        <p:spPr>
          <a:xfrm xmlns:a="http://schemas.openxmlformats.org/drawingml/2006/main">
            <a:off x="609600" y="5381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4169A4"/>
                </a:solidFill>
                <a:latin typeface="Georgia"/>
                <a:ea typeface="Georgia"/>
                <a:cs typeface="Georgia"/>
              </a:defRPr>
            </a:pPr>
            <a:r>
              <a:rPr sz="2025" b="0">
                <a:solidFill>
                  <a:srgbClr val="4169A4"/>
                </a:solidFill>
                <a:latin typeface="Georgia"/>
                <a:ea typeface="Georgia"/>
                <a:cs typeface="Georgia"/>
              </a:rPr>
              <a:t>Themis shows where the analysis can change. The lawyer determines which facts and path apply.</a:t>
            </a:r>
          </a:p>
        </p:txBody>
      </p:sp>
      <p:sp>
        <p:nvSpPr>
          <p:cNvPr id="17" name="">
            <a:extLst xmlns:a="http://schemas.openxmlformats.org/drawingml/2006/main">
              <a:ext uri="{FF2B5EF4-FFF2-40B4-BE49-F238E27FC236}">
                <a16:creationId xmlns:a16="http://schemas.microsoft.com/office/drawing/2014/main" id="{628DAB48-51D6-4B22-A079-B32ABD348E10}"/>
              </a:ext>
            </a:extLst>
          </p:cNvPr>
          <p:cNvSpPr>
            <a:spLocks xmlns:a="http://schemas.openxmlformats.org/drawingml/2006/main" noGrp="1"/>
          </p:cNvSpPr>
          <p:nvPr/>
        </p:nvSpPr>
        <p:spPr>
          <a:xfrm xmlns:a="http://schemas.openxmlformats.org/drawingml/2006/main">
            <a:off x="609600" y="61150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Concept illustration. This is not a licensing conclusion or a shipped interactive feature.</a:t>
            </a:r>
          </a:p>
        </p:txBody>
      </p:sp>
    </p:spTree>
    <p:extLst>
      <p:ext uri="{BB962C8B-B14F-4D97-AF65-F5344CB8AC3E}">
        <p14:creationId xmlns:p14="http://schemas.microsoft.com/office/powerpoint/2010/main" val="276003889"/>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DF2761B-DFA7-4A37-BD73-6DC370D614E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INITIAL CUSTOMER</a:t>
            </a:r>
          </a:p>
        </p:txBody>
      </p:sp>
      <p:sp>
        <p:nvSpPr>
          <p:cNvPr id="2" name="">
            <a:extLst xmlns:a="http://schemas.openxmlformats.org/drawingml/2006/main">
              <a:ext uri="{FF2B5EF4-FFF2-40B4-BE49-F238E27FC236}">
                <a16:creationId xmlns:a16="http://schemas.microsoft.com/office/drawing/2014/main" id="{7A457F89-14A1-4CEB-A53B-FCAEE0C99EC9}"/>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The first buyer is the lawyer carrying</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an entire legal function.</a:t>
            </a:r>
          </a:p>
        </p:txBody>
      </p:sp>
      <p:sp>
        <p:nvSpPr>
          <p:cNvPr id="3" name="">
            <a:extLst xmlns:a="http://schemas.openxmlformats.org/drawingml/2006/main">
              <a:ext uri="{FF2B5EF4-FFF2-40B4-BE49-F238E27FC236}">
                <a16:creationId xmlns:a16="http://schemas.microsoft.com/office/drawing/2014/main" id="{AE97A34D-CEC2-4F9B-9513-A624254676A7}"/>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C93407F-AA0C-42E0-8DFE-56815AB5F73B}"/>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6DED1BC-8CF0-4792-B5D5-6B3DBF518FB2}"/>
              </a:ext>
            </a:extLst>
          </p:cNvPr>
          <p:cNvSpPr>
            <a:spLocks xmlns:a="http://schemas.openxmlformats.org/drawingml/2006/main" noGrp="1"/>
          </p:cNvSpPr>
          <p:nvPr/>
        </p:nvSpPr>
        <p:spPr>
          <a:xfrm xmlns:a="http://schemas.openxmlformats.org/drawingml/2006/main">
            <a:off x="609600" y="23812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INITIAL USER</a:t>
            </a:r>
          </a:p>
        </p:txBody>
      </p:sp>
      <p:sp>
        <p:nvSpPr>
          <p:cNvPr id="6" name="">
            <a:extLst xmlns:a="http://schemas.openxmlformats.org/drawingml/2006/main">
              <a:ext uri="{FF2B5EF4-FFF2-40B4-BE49-F238E27FC236}">
                <a16:creationId xmlns:a16="http://schemas.microsoft.com/office/drawing/2014/main" id="{8008EA40-5D9E-4196-BD31-6D8B8542770E}"/>
              </a:ext>
            </a:extLst>
          </p:cNvPr>
          <p:cNvSpPr>
            <a:spLocks xmlns:a="http://schemas.openxmlformats.org/drawingml/2006/main" noGrp="1"/>
          </p:cNvSpPr>
          <p:nvPr/>
        </p:nvSpPr>
        <p:spPr>
          <a:xfrm xmlns:a="http://schemas.openxmlformats.org/drawingml/2006/main">
            <a:off x="609600" y="28765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Solo general counsel</a:t>
            </a:r>
          </a:p>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or product lawyer</a:t>
            </a:r>
          </a:p>
        </p:txBody>
      </p:sp>
      <p:sp>
        <p:nvSpPr>
          <p:cNvPr id="7" name="">
            <a:extLst xmlns:a="http://schemas.openxmlformats.org/drawingml/2006/main">
              <a:ext uri="{FF2B5EF4-FFF2-40B4-BE49-F238E27FC236}">
                <a16:creationId xmlns:a16="http://schemas.microsoft.com/office/drawing/2014/main" id="{509FAC15-EAEB-445E-9C06-81E570F5D4C3}"/>
              </a:ext>
            </a:extLst>
          </p:cNvPr>
          <p:cNvSpPr>
            <a:spLocks xmlns:a="http://schemas.openxmlformats.org/drawingml/2006/main" noGrp="1"/>
          </p:cNvSpPr>
          <p:nvPr/>
        </p:nvSpPr>
        <p:spPr>
          <a:xfrm xmlns:a="http://schemas.openxmlformats.org/drawingml/2006/main">
            <a:off x="609600" y="421005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Often works without junior support and must answer product and business questions across the company.</a:t>
            </a:r>
          </a:p>
        </p:txBody>
      </p:sp>
      <p:sp>
        <p:nvSpPr>
          <p:cNvPr id="8" name="">
            <a:extLst xmlns:a="http://schemas.openxmlformats.org/drawingml/2006/main">
              <a:ext uri="{FF2B5EF4-FFF2-40B4-BE49-F238E27FC236}">
                <a16:creationId xmlns:a16="http://schemas.microsoft.com/office/drawing/2014/main" id="{F207C9B4-5C33-4B6B-BC28-E23331FE89BA}"/>
              </a:ext>
            </a:extLst>
          </p:cNvPr>
          <p:cNvSpPr>
            <a:spLocks xmlns:a="http://schemas.openxmlformats.org/drawingml/2006/main" noGrp="1"/>
          </p:cNvSpPr>
          <p:nvPr/>
        </p:nvSpPr>
        <p:spPr>
          <a:xfrm xmlns:a="http://schemas.openxmlformats.org/drawingml/2006/main">
            <a:off x="6705600" y="23812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75" b="1">
                <a:solidFill>
                  <a:srgbClr val="4169A4"/>
                </a:solidFill>
                <a:latin typeface="Arial"/>
                <a:ea typeface="Arial"/>
                <a:cs typeface="Arial"/>
              </a:defRPr>
            </a:pPr>
            <a:r>
              <a:rPr sz="1275" b="1">
                <a:solidFill>
                  <a:srgbClr val="4169A4"/>
                </a:solidFill>
                <a:latin typeface="Arial"/>
                <a:ea typeface="Arial"/>
                <a:cs typeface="Arial"/>
              </a:rPr>
              <a:t>TEAM EXPANSION</a:t>
            </a:r>
          </a:p>
        </p:txBody>
      </p:sp>
      <p:sp>
        <p:nvSpPr>
          <p:cNvPr id="9" name="">
            <a:extLst xmlns:a="http://schemas.openxmlformats.org/drawingml/2006/main">
              <a:ext uri="{FF2B5EF4-FFF2-40B4-BE49-F238E27FC236}">
                <a16:creationId xmlns:a16="http://schemas.microsoft.com/office/drawing/2014/main" id="{BA5AEC32-2C56-4143-946C-092F604C87EC}"/>
              </a:ext>
            </a:extLst>
          </p:cNvPr>
          <p:cNvSpPr>
            <a:spLocks xmlns:a="http://schemas.openxmlformats.org/drawingml/2006/main" noGrp="1"/>
          </p:cNvSpPr>
          <p:nvPr/>
        </p:nvSpPr>
        <p:spPr>
          <a:xfrm xmlns:a="http://schemas.openxmlformats.org/drawingml/2006/main">
            <a:off x="6705600" y="28765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In-house legal team</a:t>
            </a:r>
          </a:p>
          <a:p xmlns:a="http://schemas.openxmlformats.org/drawingml/2006/main">
            <a:pPr>
              <a:lnSpc>
                <a:spcPct val="110000"/>
              </a:lnSpc>
              <a:buNone/>
              <a:defRPr sz="2850" b="1">
                <a:solidFill>
                  <a:srgbClr val="17243E"/>
                </a:solidFill>
                <a:latin typeface="Georgia"/>
                <a:ea typeface="Georgia"/>
                <a:cs typeface="Georgia"/>
              </a:defRPr>
            </a:pPr>
            <a:r>
              <a:rPr sz="2850" b="1">
                <a:solidFill>
                  <a:srgbClr val="17243E"/>
                </a:solidFill>
                <a:latin typeface="Georgia"/>
                <a:ea typeface="Georgia"/>
                <a:cs typeface="Georgia"/>
              </a:rPr>
              <a:t>with fewer than ten lawyers</a:t>
            </a:r>
          </a:p>
        </p:txBody>
      </p:sp>
      <p:sp>
        <p:nvSpPr>
          <p:cNvPr id="10" name="">
            <a:extLst xmlns:a="http://schemas.openxmlformats.org/drawingml/2006/main">
              <a:ext uri="{FF2B5EF4-FFF2-40B4-BE49-F238E27FC236}">
                <a16:creationId xmlns:a16="http://schemas.microsoft.com/office/drawing/2014/main" id="{120BF12A-B2A0-435D-B507-2B5076E923B6}"/>
              </a:ext>
            </a:extLst>
          </p:cNvPr>
          <p:cNvSpPr>
            <a:spLocks xmlns:a="http://schemas.openxmlformats.org/drawingml/2006/main" noGrp="1"/>
          </p:cNvSpPr>
          <p:nvPr/>
        </p:nvSpPr>
        <p:spPr>
          <a:xfrm xmlns:a="http://schemas.openxmlformats.org/drawingml/2006/main">
            <a:off x="6705600" y="4210050"/>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75" b="0">
                <a:solidFill>
                  <a:srgbClr val="596273"/>
                </a:solidFill>
                <a:latin typeface="Arial"/>
                <a:ea typeface="Arial"/>
                <a:cs typeface="Arial"/>
              </a:defRPr>
            </a:pPr>
            <a:r>
              <a:rPr sz="1875" b="0">
                <a:solidFill>
                  <a:srgbClr val="596273"/>
                </a:solidFill>
                <a:latin typeface="Arial"/>
                <a:ea typeface="Arial"/>
                <a:cs typeface="Arial"/>
              </a:rPr>
              <a:t>Shared matters can let a second lawyer see the request, facts, research, decisions, and next open question without a long handoff.</a:t>
            </a:r>
          </a:p>
        </p:txBody>
      </p:sp>
      <p:sp>
        <p:nvSpPr>
          <p:cNvPr id="11" name="">
            <a:extLst xmlns:a="http://schemas.openxmlformats.org/drawingml/2006/main">
              <a:ext uri="{FF2B5EF4-FFF2-40B4-BE49-F238E27FC236}">
                <a16:creationId xmlns:a16="http://schemas.microsoft.com/office/drawing/2014/main" id="{0D826E22-CEB1-42A7-B9CC-5A849A62355C}"/>
              </a:ext>
            </a:extLst>
          </p:cNvPr>
          <p:cNvSpPr>
            <a:spLocks xmlns:a="http://schemas.openxmlformats.org/drawingml/2006/main" noGrp="1"/>
          </p:cNvSpPr>
          <p:nvPr/>
        </p:nvSpPr>
        <p:spPr>
          <a:xfrm xmlns:a="http://schemas.openxmlformats.org/drawingml/2006/main">
            <a:off x="6096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0">
                <a:solidFill>
                  <a:srgbClr val="596273"/>
                </a:solidFill>
                <a:latin typeface="Arial"/>
                <a:ea typeface="Arial"/>
                <a:cs typeface="Arial"/>
              </a:defRPr>
            </a:pPr>
            <a:r>
              <a:rPr sz="1575" b="0">
                <a:solidFill>
                  <a:srgbClr val="596273"/>
                </a:solidFill>
                <a:latin typeface="Arial"/>
                <a:ea typeface="Arial"/>
                <a:cs typeface="Arial"/>
              </a:rPr>
              <a:t>Business hypothesis: earn repeat use from one lawyer, then prove that shared context supports team adoption.</a:t>
            </a:r>
          </a:p>
        </p:txBody>
      </p:sp>
    </p:spTree>
    <p:extLst>
      <p:ext uri="{BB962C8B-B14F-4D97-AF65-F5344CB8AC3E}">
        <p14:creationId xmlns:p14="http://schemas.microsoft.com/office/powerpoint/2010/main" val="61190987"/>
      </p:ext>
    </p:extLst>
  </p:cSld>
</p:sld>
</file>

<file path=ppt/slides/slide9.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D16A73D-A2AF-4157-A09F-D3B50528994D}"/>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TRUST THROUGH BEHAVIOR</a:t>
            </a:r>
          </a:p>
        </p:txBody>
      </p:sp>
      <p:sp>
        <p:nvSpPr>
          <p:cNvPr id="2" name="">
            <a:extLst xmlns:a="http://schemas.openxmlformats.org/drawingml/2006/main">
              <a:ext uri="{FF2B5EF4-FFF2-40B4-BE49-F238E27FC236}">
                <a16:creationId xmlns:a16="http://schemas.microsoft.com/office/drawing/2014/main" id="{806EF92F-485D-46B0-98B7-50601045B76E}"/>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225" b="1">
                <a:solidFill>
                  <a:srgbClr val="FAF8F2"/>
                </a:solidFill>
                <a:latin typeface="Georgia"/>
                <a:ea typeface="Georgia"/>
                <a:cs typeface="Georgia"/>
              </a:defRPr>
            </a:pPr>
            <a:r>
              <a:rPr sz="3225" b="1">
                <a:solidFill>
                  <a:srgbClr val="FAF8F2"/>
                </a:solidFill>
                <a:latin typeface="Georgia"/>
                <a:ea typeface="Georgia"/>
                <a:cs typeface="Georgia"/>
              </a:rPr>
              <a:t>Legal AI earns trust through observable behavior.</a:t>
            </a:r>
          </a:p>
        </p:txBody>
      </p:sp>
      <p:sp>
        <p:nvSpPr>
          <p:cNvPr id="3" name="">
            <a:extLst xmlns:a="http://schemas.openxmlformats.org/drawingml/2006/main">
              <a:ext uri="{FF2B5EF4-FFF2-40B4-BE49-F238E27FC236}">
                <a16:creationId xmlns:a16="http://schemas.microsoft.com/office/drawing/2014/main" id="{A562BCF5-8493-4722-9E81-1AEB6EBCEFE9}"/>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48CA8D4-0B27-41D7-A309-2ACDC51DFB40}"/>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B2205475-A692-4BF8-AB03-3110C1E4B2B3}"/>
              </a:ext>
            </a:extLst>
          </p:cNvPr>
          <p:cNvSpPr>
            <a:spLocks xmlns:a="http://schemas.openxmlformats.org/drawingml/2006/main" noGrp="1"/>
          </p:cNvSpPr>
          <p:nvPr/>
        </p:nvSpPr>
        <p:spPr>
          <a:xfrm xmlns:a="http://schemas.openxmlformats.org/drawingml/2006/main">
            <a:off x="609600" y="19526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75" b="0">
                <a:solidFill>
                  <a:srgbClr val="DCE1EA"/>
                </a:solidFill>
                <a:latin typeface="Arial"/>
                <a:ea typeface="Arial"/>
                <a:cs typeface="Arial"/>
              </a:defRPr>
            </a:pPr>
            <a:r>
              <a:rPr sz="1575" b="0">
                <a:solidFill>
                  <a:srgbClr val="DCE1EA"/>
                </a:solidFill>
                <a:latin typeface="Arial"/>
                <a:ea typeface="Arial"/>
                <a:cs typeface="Arial"/>
              </a:rPr>
              <a:t>The product must show what it knows, what it does not know, and who owns the decision.</a:t>
            </a:r>
          </a:p>
        </p:txBody>
      </p:sp>
      <p:sp>
        <p:nvSpPr>
          <p:cNvPr id="6" name="">
            <a:extLst xmlns:a="http://schemas.openxmlformats.org/drawingml/2006/main">
              <a:ext uri="{FF2B5EF4-FFF2-40B4-BE49-F238E27FC236}">
                <a16:creationId xmlns:a16="http://schemas.microsoft.com/office/drawing/2014/main" id="{E43441F8-308F-4A6E-82FF-2F06896790F6}"/>
              </a:ext>
            </a:extLst>
          </p:cNvPr>
          <p:cNvSpPr>
            <a:spLocks xmlns:a="http://schemas.openxmlformats.org/drawingml/2006/main" noGrp="1"/>
          </p:cNvSpPr>
          <p:nvPr/>
        </p:nvSpPr>
        <p:spPr>
          <a:xfrm xmlns:a="http://schemas.openxmlformats.org/drawingml/2006/main">
            <a:off x="609600" y="2505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Humble</a:t>
            </a:r>
          </a:p>
        </p:txBody>
      </p:sp>
      <p:sp>
        <p:nvSpPr>
          <p:cNvPr id="7" name="">
            <a:extLst xmlns:a="http://schemas.openxmlformats.org/drawingml/2006/main">
              <a:ext uri="{FF2B5EF4-FFF2-40B4-BE49-F238E27FC236}">
                <a16:creationId xmlns:a16="http://schemas.microsoft.com/office/drawing/2014/main" id="{8C4700C1-6F1D-40A6-87B2-497F3D04AEEC}"/>
              </a:ext>
            </a:extLst>
          </p:cNvPr>
          <p:cNvSpPr>
            <a:spLocks xmlns:a="http://schemas.openxmlformats.org/drawingml/2006/main" noGrp="1"/>
          </p:cNvSpPr>
          <p:nvPr/>
        </p:nvSpPr>
        <p:spPr>
          <a:xfrm xmlns:a="http://schemas.openxmlformats.org/drawingml/2006/main">
            <a:off x="609600" y="29051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Marks uncertainty instead of pretending ambiguity disappeared.</a:t>
            </a:r>
          </a:p>
        </p:txBody>
      </p:sp>
      <p:sp>
        <p:nvSpPr>
          <p:cNvPr id="8" name="">
            <a:extLst xmlns:a="http://schemas.openxmlformats.org/drawingml/2006/main">
              <a:ext uri="{FF2B5EF4-FFF2-40B4-BE49-F238E27FC236}">
                <a16:creationId xmlns:a16="http://schemas.microsoft.com/office/drawing/2014/main" id="{09B68331-377E-44A2-B380-8CF14FB23414}"/>
              </a:ext>
            </a:extLst>
          </p:cNvPr>
          <p:cNvSpPr>
            <a:spLocks xmlns:a="http://schemas.openxmlformats.org/drawingml/2006/main" noGrp="1"/>
          </p:cNvSpPr>
          <p:nvPr/>
        </p:nvSpPr>
        <p:spPr>
          <a:xfrm xmlns:a="http://schemas.openxmlformats.org/drawingml/2006/main">
            <a:off x="6553200" y="25050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Curious</a:t>
            </a:r>
          </a:p>
        </p:txBody>
      </p:sp>
      <p:sp>
        <p:nvSpPr>
          <p:cNvPr id="9" name="">
            <a:extLst xmlns:a="http://schemas.openxmlformats.org/drawingml/2006/main">
              <a:ext uri="{FF2B5EF4-FFF2-40B4-BE49-F238E27FC236}">
                <a16:creationId xmlns:a16="http://schemas.microsoft.com/office/drawing/2014/main" id="{5235B0FE-A88B-40DD-BB30-78362D1644E6}"/>
              </a:ext>
            </a:extLst>
          </p:cNvPr>
          <p:cNvSpPr>
            <a:spLocks xmlns:a="http://schemas.openxmlformats.org/drawingml/2006/main" noGrp="1"/>
          </p:cNvSpPr>
          <p:nvPr/>
        </p:nvSpPr>
        <p:spPr>
          <a:xfrm xmlns:a="http://schemas.openxmlformats.org/drawingml/2006/main">
            <a:off x="6553200" y="29051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Asks the factual question that could change the analysis.</a:t>
            </a:r>
          </a:p>
        </p:txBody>
      </p:sp>
      <p:sp>
        <p:nvSpPr>
          <p:cNvPr id="10" name="">
            <a:extLst xmlns:a="http://schemas.openxmlformats.org/drawingml/2006/main">
              <a:ext uri="{FF2B5EF4-FFF2-40B4-BE49-F238E27FC236}">
                <a16:creationId xmlns:a16="http://schemas.microsoft.com/office/drawing/2014/main" id="{44577C53-7A9B-4DFE-A33C-CFE4467CF477}"/>
              </a:ext>
            </a:extLst>
          </p:cNvPr>
          <p:cNvSpPr>
            <a:spLocks xmlns:a="http://schemas.openxmlformats.org/drawingml/2006/main" noGrp="1"/>
          </p:cNvSpPr>
          <p:nvPr/>
        </p:nvSpPr>
        <p:spPr>
          <a:xfrm xmlns:a="http://schemas.openxmlformats.org/drawingml/2006/main">
            <a:off x="609600" y="36099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Present</a:t>
            </a:r>
          </a:p>
        </p:txBody>
      </p:sp>
      <p:sp>
        <p:nvSpPr>
          <p:cNvPr id="11" name="">
            <a:extLst xmlns:a="http://schemas.openxmlformats.org/drawingml/2006/main">
              <a:ext uri="{FF2B5EF4-FFF2-40B4-BE49-F238E27FC236}">
                <a16:creationId xmlns:a16="http://schemas.microsoft.com/office/drawing/2014/main" id="{43E9CFF2-26F8-4BF8-B60E-C26DFAD3A23F}"/>
              </a:ext>
            </a:extLst>
          </p:cNvPr>
          <p:cNvSpPr>
            <a:spLocks xmlns:a="http://schemas.openxmlformats.org/drawingml/2006/main" noGrp="1"/>
          </p:cNvSpPr>
          <p:nvPr/>
        </p:nvSpPr>
        <p:spPr>
          <a:xfrm xmlns:a="http://schemas.openxmlformats.org/drawingml/2006/main">
            <a:off x="609600" y="40100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Remains available without taking control of the decision.</a:t>
            </a:r>
          </a:p>
        </p:txBody>
      </p:sp>
      <p:sp>
        <p:nvSpPr>
          <p:cNvPr id="12" name="">
            <a:extLst xmlns:a="http://schemas.openxmlformats.org/drawingml/2006/main">
              <a:ext uri="{FF2B5EF4-FFF2-40B4-BE49-F238E27FC236}">
                <a16:creationId xmlns:a16="http://schemas.microsoft.com/office/drawing/2014/main" id="{97882732-E091-47F8-8CE9-3DE7D1018A47}"/>
              </a:ext>
            </a:extLst>
          </p:cNvPr>
          <p:cNvSpPr>
            <a:spLocks xmlns:a="http://schemas.openxmlformats.org/drawingml/2006/main" noGrp="1"/>
          </p:cNvSpPr>
          <p:nvPr/>
        </p:nvSpPr>
        <p:spPr>
          <a:xfrm xmlns:a="http://schemas.openxmlformats.org/drawingml/2006/main">
            <a:off x="6553200" y="36099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Persistent</a:t>
            </a:r>
          </a:p>
        </p:txBody>
      </p:sp>
      <p:sp>
        <p:nvSpPr>
          <p:cNvPr id="13" name="">
            <a:extLst xmlns:a="http://schemas.openxmlformats.org/drawingml/2006/main">
              <a:ext uri="{FF2B5EF4-FFF2-40B4-BE49-F238E27FC236}">
                <a16:creationId xmlns:a16="http://schemas.microsoft.com/office/drawing/2014/main" id="{D66F4CBE-CB49-4609-B469-D232E1CA5CE5}"/>
              </a:ext>
            </a:extLst>
          </p:cNvPr>
          <p:cNvSpPr>
            <a:spLocks xmlns:a="http://schemas.openxmlformats.org/drawingml/2006/main" noGrp="1"/>
          </p:cNvSpPr>
          <p:nvPr/>
        </p:nvSpPr>
        <p:spPr>
          <a:xfrm xmlns:a="http://schemas.openxmlformats.org/drawingml/2006/main">
            <a:off x="6553200" y="40100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Carries the matter context forward.</a:t>
            </a:r>
          </a:p>
        </p:txBody>
      </p:sp>
      <p:sp>
        <p:nvSpPr>
          <p:cNvPr id="14" name="">
            <a:extLst xmlns:a="http://schemas.openxmlformats.org/drawingml/2006/main">
              <a:ext uri="{FF2B5EF4-FFF2-40B4-BE49-F238E27FC236}">
                <a16:creationId xmlns:a16="http://schemas.microsoft.com/office/drawing/2014/main" id="{CF477AB9-13A9-4138-8C27-114315B36548}"/>
              </a:ext>
            </a:extLst>
          </p:cNvPr>
          <p:cNvSpPr>
            <a:spLocks xmlns:a="http://schemas.openxmlformats.org/drawingml/2006/main" noGrp="1"/>
          </p:cNvSpPr>
          <p:nvPr/>
        </p:nvSpPr>
        <p:spPr>
          <a:xfrm xmlns:a="http://schemas.openxmlformats.org/drawingml/2006/main">
            <a:off x="609600" y="47148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Supportive</a:t>
            </a:r>
          </a:p>
        </p:txBody>
      </p:sp>
      <p:sp>
        <p:nvSpPr>
          <p:cNvPr id="15" name="">
            <a:extLst xmlns:a="http://schemas.openxmlformats.org/drawingml/2006/main">
              <a:ext uri="{FF2B5EF4-FFF2-40B4-BE49-F238E27FC236}">
                <a16:creationId xmlns:a16="http://schemas.microsoft.com/office/drawing/2014/main" id="{49312948-A8A1-4DDE-BCA5-B3A20F3F5121}"/>
              </a:ext>
            </a:extLst>
          </p:cNvPr>
          <p:cNvSpPr>
            <a:spLocks xmlns:a="http://schemas.openxmlformats.org/drawingml/2006/main" noGrp="1"/>
          </p:cNvSpPr>
          <p:nvPr/>
        </p:nvSpPr>
        <p:spPr>
          <a:xfrm xmlns:a="http://schemas.openxmlformats.org/drawingml/2006/main">
            <a:off x="609600" y="5114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Strengthens judgment instead of claiming legal authority.</a:t>
            </a:r>
          </a:p>
        </p:txBody>
      </p:sp>
      <p:sp>
        <p:nvSpPr>
          <p:cNvPr id="16" name="">
            <a:extLst xmlns:a="http://schemas.openxmlformats.org/drawingml/2006/main">
              <a:ext uri="{FF2B5EF4-FFF2-40B4-BE49-F238E27FC236}">
                <a16:creationId xmlns:a16="http://schemas.microsoft.com/office/drawing/2014/main" id="{5FF9DE11-F3FB-4B40-A77C-3377E06DD28E}"/>
              </a:ext>
            </a:extLst>
          </p:cNvPr>
          <p:cNvSpPr>
            <a:spLocks xmlns:a="http://schemas.openxmlformats.org/drawingml/2006/main" noGrp="1"/>
          </p:cNvSpPr>
          <p:nvPr/>
        </p:nvSpPr>
        <p:spPr>
          <a:xfrm xmlns:a="http://schemas.openxmlformats.org/drawingml/2006/main">
            <a:off x="6553200" y="47148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1">
                <a:solidFill>
                  <a:srgbClr val="FAF8F2"/>
                </a:solidFill>
                <a:latin typeface="Georgia"/>
                <a:ea typeface="Georgia"/>
                <a:cs typeface="Georgia"/>
              </a:defRPr>
            </a:pPr>
            <a:r>
              <a:rPr sz="2100" b="1">
                <a:solidFill>
                  <a:srgbClr val="FAF8F2"/>
                </a:solidFill>
                <a:latin typeface="Georgia"/>
                <a:ea typeface="Georgia"/>
                <a:cs typeface="Georgia"/>
              </a:rPr>
              <a:t>Faithful</a:t>
            </a:r>
          </a:p>
        </p:txBody>
      </p:sp>
      <p:sp>
        <p:nvSpPr>
          <p:cNvPr id="17" name="">
            <a:extLst xmlns:a="http://schemas.openxmlformats.org/drawingml/2006/main">
              <a:ext uri="{FF2B5EF4-FFF2-40B4-BE49-F238E27FC236}">
                <a16:creationId xmlns:a16="http://schemas.microsoft.com/office/drawing/2014/main" id="{2C33A6F5-BBA2-4BFE-9A41-6935543DF389}"/>
              </a:ext>
            </a:extLst>
          </p:cNvPr>
          <p:cNvSpPr>
            <a:spLocks xmlns:a="http://schemas.openxmlformats.org/drawingml/2006/main" noGrp="1"/>
          </p:cNvSpPr>
          <p:nvPr/>
        </p:nvSpPr>
        <p:spPr>
          <a:xfrm xmlns:a="http://schemas.openxmlformats.org/drawingml/2006/main">
            <a:off x="6553200" y="5114925"/>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500" b="0">
                <a:solidFill>
                  <a:srgbClr val="DCE1EA"/>
                </a:solidFill>
                <a:latin typeface="Arial"/>
                <a:ea typeface="Arial"/>
                <a:cs typeface="Arial"/>
              </a:defRPr>
            </a:pPr>
            <a:r>
              <a:rPr sz="1500" b="0">
                <a:solidFill>
                  <a:srgbClr val="DCE1EA"/>
                </a:solidFill>
                <a:latin typeface="Arial"/>
                <a:ea typeface="Arial"/>
                <a:cs typeface="Arial"/>
              </a:rPr>
              <a:t>Records the lawyer’s decision without rewriting it.</a:t>
            </a:r>
          </a:p>
        </p:txBody>
      </p:sp>
    </p:spTree>
    <p:extLst>
      <p:ext uri="{BB962C8B-B14F-4D97-AF65-F5344CB8AC3E}">
        <p14:creationId xmlns:p14="http://schemas.microsoft.com/office/powerpoint/2010/main" val="1186019498"/>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123174-666C-4D8B-A016-31D68FC2A1C1}"/>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THE ADOPTION THESIS</a:t>
            </a:r>
          </a:p>
        </p:txBody>
      </p:sp>
      <p:sp>
        <p:nvSpPr>
          <p:cNvPr id="2" name="">
            <a:extLst xmlns:a="http://schemas.openxmlformats.org/drawingml/2006/main">
              <a:ext uri="{FF2B5EF4-FFF2-40B4-BE49-F238E27FC236}">
                <a16:creationId xmlns:a16="http://schemas.microsoft.com/office/drawing/2014/main" id="{21EC7A34-0EC5-4034-8723-58222D21D3B9}"/>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Themis must beat the lawyer’s current tool stack.</a:t>
            </a:r>
          </a:p>
        </p:txBody>
      </p:sp>
      <p:sp>
        <p:nvSpPr>
          <p:cNvPr id="3" name="">
            <a:extLst xmlns:a="http://schemas.openxmlformats.org/drawingml/2006/main">
              <a:ext uri="{FF2B5EF4-FFF2-40B4-BE49-F238E27FC236}">
                <a16:creationId xmlns:a16="http://schemas.microsoft.com/office/drawing/2014/main" id="{38E98A1C-F4A1-46B5-8EC1-3EEBCA6DFF18}"/>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50D6C61-B8CD-4FD1-98E3-CF5450DD6EA8}"/>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CEE30A81-35E0-4F3B-AF21-5E5E142E33FD}"/>
              </a:ext>
            </a:extLst>
          </p:cNvPr>
          <p:cNvSpPr>
            <a:spLocks xmlns:a="http://schemas.openxmlformats.org/drawingml/2006/main" noGrp="1"/>
          </p:cNvSpPr>
          <p:nvPr/>
        </p:nvSpPr>
        <p:spPr>
          <a:xfrm xmlns:a="http://schemas.openxmlformats.org/drawingml/2006/main">
            <a:off x="609600" y="228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CURRENT WORKFLOW</a:t>
            </a:r>
          </a:p>
        </p:txBody>
      </p:sp>
      <p:sp>
        <p:nvSpPr>
          <p:cNvPr id="6" name="">
            <a:extLst xmlns:a="http://schemas.openxmlformats.org/drawingml/2006/main">
              <a:ext uri="{FF2B5EF4-FFF2-40B4-BE49-F238E27FC236}">
                <a16:creationId xmlns:a16="http://schemas.microsoft.com/office/drawing/2014/main" id="{B0E9D5EE-5787-484B-B93B-E44B696F48A1}"/>
              </a:ext>
            </a:extLst>
          </p:cNvPr>
          <p:cNvSpPr>
            <a:spLocks xmlns:a="http://schemas.openxmlformats.org/drawingml/2006/main" noGrp="1"/>
          </p:cNvSpPr>
          <p:nvPr/>
        </p:nvSpPr>
        <p:spPr>
          <a:xfrm xmlns:a="http://schemas.openxmlformats.org/drawingml/2006/main">
            <a:off x="609600" y="281940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General AI such as ChatGPT or Claude</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Legal and web research sources</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Documents, email, and Slack</a:t>
            </a:r>
          </a:p>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Manual notes and personal memory</a:t>
            </a:r>
          </a:p>
        </p:txBody>
      </p:sp>
      <p:sp>
        <p:nvSpPr>
          <p:cNvPr id="7" name="">
            <a:extLst xmlns:a="http://schemas.openxmlformats.org/drawingml/2006/main">
              <a:ext uri="{FF2B5EF4-FFF2-40B4-BE49-F238E27FC236}">
                <a16:creationId xmlns:a16="http://schemas.microsoft.com/office/drawing/2014/main" id="{D0DFF1DC-1BBD-4CC7-8B36-C902A085C499}"/>
              </a:ext>
            </a:extLst>
          </p:cNvPr>
          <p:cNvSpPr>
            <a:spLocks xmlns:a="http://schemas.openxmlformats.org/drawingml/2006/main" noGrp="1"/>
          </p:cNvSpPr>
          <p:nvPr/>
        </p:nvSpPr>
        <p:spPr>
          <a:xfrm xmlns:a="http://schemas.openxmlformats.org/drawingml/2006/main">
            <a:off x="6705600" y="22860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THE TEST FOR THEMIS</a:t>
            </a:r>
          </a:p>
        </p:txBody>
      </p:sp>
      <p:sp>
        <p:nvSpPr>
          <p:cNvPr id="8" name="">
            <a:extLst xmlns:a="http://schemas.openxmlformats.org/drawingml/2006/main">
              <a:ext uri="{FF2B5EF4-FFF2-40B4-BE49-F238E27FC236}">
                <a16:creationId xmlns:a16="http://schemas.microsoft.com/office/drawing/2014/main" id="{7F23FCC8-5C62-46F7-81E6-2CC19A841050}"/>
              </a:ext>
            </a:extLst>
          </p:cNvPr>
          <p:cNvSpPr>
            <a:spLocks xmlns:a="http://schemas.openxmlformats.org/drawingml/2006/main" noGrp="1"/>
          </p:cNvSpPr>
          <p:nvPr/>
        </p:nvSpPr>
        <p:spPr>
          <a:xfrm xmlns:a="http://schemas.openxmlformats.org/drawingml/2006/main">
            <a:off x="6705600" y="2819400"/>
            <a:ext cx="4857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 lawyer spend less total effort?</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Can the lawyer inspect the sources quickly?</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Themis remember relevant company context?</a:t>
            </a:r>
          </a:p>
          <a:p xmlns:a="http://schemas.openxmlformats.org/drawingml/2006/main">
            <a:pPr>
              <a:lnSpc>
                <a:spcPct val="110000"/>
              </a:lnSpc>
              <a:buNone/>
              <a:defRPr sz="1950" b="0">
                <a:solidFill>
                  <a:srgbClr val="17243E"/>
                </a:solidFill>
                <a:latin typeface="Georgia"/>
                <a:ea typeface="Georgia"/>
                <a:cs typeface="Georgia"/>
              </a:defRPr>
            </a:pPr>
            <a:r>
              <a:rPr sz="1950" b="0">
                <a:solidFill>
                  <a:srgbClr val="17243E"/>
                </a:solidFill>
                <a:latin typeface="Georgia"/>
                <a:ea typeface="Georgia"/>
                <a:cs typeface="Georgia"/>
              </a:rPr>
              <a:t>Does the lawyer return with the next matter?</a:t>
            </a:r>
          </a:p>
        </p:txBody>
      </p:sp>
      <p:sp>
        <p:nvSpPr>
          <p:cNvPr id="9" name="">
            <a:extLst xmlns:a="http://schemas.openxmlformats.org/drawingml/2006/main">
              <a:ext uri="{FF2B5EF4-FFF2-40B4-BE49-F238E27FC236}">
                <a16:creationId xmlns:a16="http://schemas.microsoft.com/office/drawing/2014/main" id="{4FCB6B89-95FB-4525-BE31-7706F5805A85}"/>
              </a:ext>
            </a:extLst>
          </p:cNvPr>
          <p:cNvSpPr>
            <a:spLocks xmlns:a="http://schemas.openxmlformats.org/drawingml/2006/main" noGrp="1"/>
          </p:cNvSpPr>
          <p:nvPr/>
        </p:nvSpPr>
        <p:spPr>
          <a:xfrm xmlns:a="http://schemas.openxmlformats.org/drawingml/2006/main">
            <a:off x="609600" y="57435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596273"/>
                </a:solidFill>
                <a:latin typeface="Arial"/>
                <a:ea typeface="Arial"/>
                <a:cs typeface="Arial"/>
              </a:defRPr>
            </a:pPr>
            <a:r>
              <a:rPr sz="2025" b="0">
                <a:solidFill>
                  <a:srgbClr val="596273"/>
                </a:solidFill>
                <a:latin typeface="Arial"/>
                <a:ea typeface="Arial"/>
                <a:cs typeface="Arial"/>
              </a:rPr>
              <a:t>Repeat use and willingness to pay remain to be proven.</a:t>
            </a:r>
          </a:p>
        </p:txBody>
      </p:sp>
    </p:spTree>
    <p:extLst>
      <p:ext uri="{BB962C8B-B14F-4D97-AF65-F5344CB8AC3E}">
        <p14:creationId xmlns:p14="http://schemas.microsoft.com/office/powerpoint/2010/main" val="1283233810"/>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1AB8D53-BA1F-433D-871C-66BF77BC6BA2}"/>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7E739CDA-AEBA-4B91-9B09-1863D2140A3F}"/>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Founder experience spans the user problem</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and the technology.</a:t>
            </a:r>
          </a:p>
        </p:txBody>
      </p:sp>
      <p:sp>
        <p:nvSpPr>
          <p:cNvPr id="3" name="">
            <a:extLst xmlns:a="http://schemas.openxmlformats.org/drawingml/2006/main">
              <a:ext uri="{FF2B5EF4-FFF2-40B4-BE49-F238E27FC236}">
                <a16:creationId xmlns:a16="http://schemas.microsoft.com/office/drawing/2014/main" id="{56CB0CFE-2F00-4F2E-AA8C-A486CE485AE9}"/>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F5F01C7-E6D8-4405-8CFE-E04677345516}"/>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D0B67ECE-F325-4401-955E-0D58683F308F}"/>
              </a:ext>
            </a:extLst>
          </p:cNvPr>
          <p:cNvSpPr>
            <a:spLocks xmlns:a="http://schemas.openxmlformats.org/drawingml/2006/main" noGrp="1"/>
          </p:cNvSpPr>
          <p:nvPr/>
        </p:nvSpPr>
        <p:spPr>
          <a:xfrm xmlns:a="http://schemas.openxmlformats.org/drawingml/2006/main">
            <a:off x="609600"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LEGAL EXPERIENCE</a:t>
            </a:r>
          </a:p>
        </p:txBody>
      </p:sp>
      <p:sp>
        <p:nvSpPr>
          <p:cNvPr id="6" name="">
            <a:extLst xmlns:a="http://schemas.openxmlformats.org/drawingml/2006/main">
              <a:ext uri="{FF2B5EF4-FFF2-40B4-BE49-F238E27FC236}">
                <a16:creationId xmlns:a16="http://schemas.microsoft.com/office/drawing/2014/main" id="{81EF7913-DD74-4AFC-89FC-2AB6F506EF2A}"/>
              </a:ext>
            </a:extLst>
          </p:cNvPr>
          <p:cNvSpPr>
            <a:spLocks xmlns:a="http://schemas.openxmlformats.org/drawingml/2006/main" noGrp="1"/>
          </p:cNvSpPr>
          <p:nvPr/>
        </p:nvSpPr>
        <p:spPr>
          <a:xfrm xmlns:a="http://schemas.openxmlformats.org/drawingml/2006/main">
            <a:off x="609600" y="28956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17 years as a lawyer</a:t>
            </a:r>
          </a:p>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General counsel and product counsel</a:t>
            </a:r>
          </a:p>
          <a:p xmlns:a="http://schemas.openxmlformats.org/drawingml/2006/main">
            <a:pPr>
              <a:lnSpc>
                <a:spcPct val="110000"/>
              </a:lnSpc>
              <a:buNone/>
              <a:defRPr sz="2250" b="0">
                <a:solidFill>
                  <a:srgbClr val="17243E"/>
                </a:solidFill>
                <a:latin typeface="Georgia"/>
                <a:ea typeface="Georgia"/>
                <a:cs typeface="Georgia"/>
              </a:defRPr>
            </a:pPr>
            <a:r>
              <a:rPr sz="2250" b="0">
                <a:solidFill>
                  <a:srgbClr val="17243E"/>
                </a:solidFill>
                <a:latin typeface="Georgia"/>
                <a:ea typeface="Georgia"/>
                <a:cs typeface="Georgia"/>
              </a:rPr>
              <a:t>Built legal functions and led teams</a:t>
            </a:r>
          </a:p>
        </p:txBody>
      </p:sp>
      <p:sp>
        <p:nvSpPr>
          <p:cNvPr id="7" name="">
            <a:extLst xmlns:a="http://schemas.openxmlformats.org/drawingml/2006/main">
              <a:ext uri="{FF2B5EF4-FFF2-40B4-BE49-F238E27FC236}">
                <a16:creationId xmlns:a16="http://schemas.microsoft.com/office/drawing/2014/main" id="{3433B782-545D-4F49-807B-F664CD6896CE}"/>
              </a:ext>
            </a:extLst>
          </p:cNvPr>
          <p:cNvSpPr>
            <a:spLocks xmlns:a="http://schemas.openxmlformats.org/drawingml/2006/main" noGrp="1"/>
          </p:cNvSpPr>
          <p:nvPr/>
        </p:nvSpPr>
        <p:spPr>
          <a:xfrm xmlns:a="http://schemas.openxmlformats.org/drawingml/2006/main">
            <a:off x="6705600" y="23145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4169A4"/>
                </a:solidFill>
                <a:latin typeface="Arial"/>
                <a:ea typeface="Arial"/>
                <a:cs typeface="Arial"/>
              </a:defRPr>
            </a:pPr>
            <a:r>
              <a:rPr sz="1350" b="1">
                <a:solidFill>
                  <a:srgbClr val="4169A4"/>
                </a:solidFill>
                <a:latin typeface="Arial"/>
                <a:ea typeface="Arial"/>
                <a:cs typeface="Arial"/>
              </a:rPr>
              <a:t>TECHNICAL EXPERIENCE</a:t>
            </a:r>
          </a:p>
        </p:txBody>
      </p:sp>
      <p:sp>
        <p:nvSpPr>
          <p:cNvPr id="8" name="">
            <a:extLst xmlns:a="http://schemas.openxmlformats.org/drawingml/2006/main">
              <a:ext uri="{FF2B5EF4-FFF2-40B4-BE49-F238E27FC236}">
                <a16:creationId xmlns:a16="http://schemas.microsoft.com/office/drawing/2014/main" id="{36E0439D-C363-4BF5-9028-2D6CE0901DCB}"/>
              </a:ext>
            </a:extLst>
          </p:cNvPr>
          <p:cNvSpPr>
            <a:spLocks xmlns:a="http://schemas.openxmlformats.org/drawingml/2006/main" noGrp="1"/>
          </p:cNvSpPr>
          <p:nvPr/>
        </p:nvSpPr>
        <p:spPr>
          <a:xfrm xmlns:a="http://schemas.openxmlformats.org/drawingml/2006/main">
            <a:off x="6705600" y="2895600"/>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Earlier AI and natural-language research at Georgia Tech</a:t>
            </a:r>
          </a:p>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M.S. in Computer Science, Georgia Tech</a:t>
            </a:r>
          </a:p>
          <a:p xmlns:a="http://schemas.openxmlformats.org/drawingml/2006/main">
            <a:pPr>
              <a:lnSpc>
                <a:spcPct val="110000"/>
              </a:lnSpc>
              <a:buNone/>
              <a:defRPr sz="2100" b="0">
                <a:solidFill>
                  <a:srgbClr val="17243E"/>
                </a:solidFill>
                <a:latin typeface="Georgia"/>
                <a:ea typeface="Georgia"/>
                <a:cs typeface="Georgia"/>
              </a:defRPr>
            </a:pPr>
            <a:r>
              <a:rPr sz="2100" b="0">
                <a:solidFill>
                  <a:srgbClr val="17243E"/>
                </a:solidFill>
                <a:latin typeface="Georgia"/>
                <a:ea typeface="Georgia"/>
                <a:cs typeface="Georgia"/>
              </a:rPr>
              <a:t>J.D., Northwestern</a:t>
            </a:r>
          </a:p>
        </p:txBody>
      </p:sp>
      <p:sp>
        <p:nvSpPr>
          <p:cNvPr id="9" name="">
            <a:extLst xmlns:a="http://schemas.openxmlformats.org/drawingml/2006/main">
              <a:ext uri="{FF2B5EF4-FFF2-40B4-BE49-F238E27FC236}">
                <a16:creationId xmlns:a16="http://schemas.microsoft.com/office/drawing/2014/main" id="{210445E0-20B1-4364-95D4-EFF16B029C58}"/>
              </a:ext>
            </a:extLst>
          </p:cNvPr>
          <p:cNvSpPr>
            <a:spLocks xmlns:a="http://schemas.openxmlformats.org/drawingml/2006/main" noGrp="1"/>
          </p:cNvSpPr>
          <p:nvPr/>
        </p:nvSpPr>
        <p:spPr>
          <a:xfrm xmlns:a="http://schemas.openxmlformats.org/drawingml/2006/main">
            <a:off x="609600" y="538162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4169A4"/>
                </a:solidFill>
                <a:latin typeface="Georgia"/>
                <a:ea typeface="Georgia"/>
                <a:cs typeface="Georgia"/>
              </a:defRPr>
            </a:pPr>
            <a:r>
              <a:rPr sz="2025" b="0">
                <a:solidFill>
                  <a:srgbClr val="4169A4"/>
                </a:solidFill>
                <a:latin typeface="Georgia"/>
                <a:ea typeface="Georgia"/>
                <a:cs typeface="Georgia"/>
              </a:rPr>
              <a:t>Brian Harris is the sole founder. He built Themis to give small legal teams the capacity he wanted as a lawyer and legal leader.</a:t>
            </a:r>
          </a:p>
        </p:txBody>
      </p:sp>
    </p:spTree>
    <p:extLst>
      <p:ext uri="{BB962C8B-B14F-4D97-AF65-F5344CB8AC3E}">
        <p14:creationId xmlns:p14="http://schemas.microsoft.com/office/powerpoint/2010/main" val="2130324199"/>
      </p:ext>
    </p:extLst>
  </p:cSld>
</p:sld>
</file>

<file path=ppt/slides/slide1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F9B7D3-4133-4EDA-AC4E-62B042D9E195}"/>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PROTOTYPE AND NEXT MILESTONE</a:t>
            </a:r>
          </a:p>
        </p:txBody>
      </p:sp>
      <p:sp>
        <p:nvSpPr>
          <p:cNvPr id="2" name="">
            <a:extLst xmlns:a="http://schemas.openxmlformats.org/drawingml/2006/main">
              <a:ext uri="{FF2B5EF4-FFF2-40B4-BE49-F238E27FC236}">
                <a16:creationId xmlns:a16="http://schemas.microsoft.com/office/drawing/2014/main" id="{BE3DF57E-9B1B-40C9-B3B9-78035865CCF0}"/>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A working prototype exists.</a:t>
            </a:r>
          </a:p>
          <a:p xmlns:a="http://schemas.openxmlformats.org/drawingml/2006/main">
            <a:pPr>
              <a:lnSpc>
                <a:spcPct val="110000"/>
              </a:lnSpc>
              <a:buNone/>
              <a:defRPr sz="3375" b="1">
                <a:solidFill>
                  <a:srgbClr val="17243E"/>
                </a:solidFill>
                <a:latin typeface="Georgia"/>
                <a:ea typeface="Georgia"/>
                <a:cs typeface="Georgia"/>
              </a:defRPr>
            </a:pPr>
            <a:r>
              <a:rPr sz="3375" b="1">
                <a:solidFill>
                  <a:srgbClr val="17243E"/>
                </a:solidFill>
                <a:latin typeface="Georgia"/>
                <a:ea typeface="Georgia"/>
                <a:cs typeface="Georgia"/>
              </a:rPr>
              <a:t>The next proof is attorney return use.</a:t>
            </a:r>
          </a:p>
        </p:txBody>
      </p:sp>
      <p:sp>
        <p:nvSpPr>
          <p:cNvPr id="3" name="">
            <a:extLst xmlns:a="http://schemas.openxmlformats.org/drawingml/2006/main">
              <a:ext uri="{FF2B5EF4-FFF2-40B4-BE49-F238E27FC236}">
                <a16:creationId xmlns:a16="http://schemas.microsoft.com/office/drawing/2014/main" id="{F3465DC8-2F21-4B64-B12C-70D079510D07}"/>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5405876-3EEA-4B2B-8788-887FB3E88951}"/>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12</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26bb22d8fbf4d6a"/>
          <a:stretch xmlns:a="http://schemas.openxmlformats.org/drawingml/2006/main"/>
        </p:blipFill>
        <p:spPr>
          <a:xfrm xmlns:a="http://schemas.openxmlformats.org/drawingml/2006/main">
            <a:off x="695325" y="2257425"/>
            <a:ext cx="6019800" cy="3762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6260B1F-0DD3-4231-9AED-6CF95BF36F54}"/>
              </a:ext>
            </a:extLst>
          </p:cNvPr>
          <p:cNvSpPr>
            <a:spLocks xmlns:a="http://schemas.openxmlformats.org/drawingml/2006/main" noGrp="1"/>
          </p:cNvSpPr>
          <p:nvPr/>
        </p:nvSpPr>
        <p:spPr>
          <a:xfrm xmlns:a="http://schemas.openxmlformats.org/drawingml/2006/main">
            <a:off x="7696200" y="2257425"/>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BUILT TODAY</a:t>
            </a:r>
          </a:p>
        </p:txBody>
      </p:sp>
      <p:sp>
        <p:nvSpPr>
          <p:cNvPr id="7" name="">
            <a:extLst xmlns:a="http://schemas.openxmlformats.org/drawingml/2006/main">
              <a:ext uri="{FF2B5EF4-FFF2-40B4-BE49-F238E27FC236}">
                <a16:creationId xmlns:a16="http://schemas.microsoft.com/office/drawing/2014/main" id="{3043708A-9653-4FE7-A27C-8A67EF25ED16}"/>
              </a:ext>
            </a:extLst>
          </p:cNvPr>
          <p:cNvSpPr>
            <a:spLocks xmlns:a="http://schemas.openxmlformats.org/drawingml/2006/main" noGrp="1"/>
          </p:cNvSpPr>
          <p:nvPr/>
        </p:nvSpPr>
        <p:spPr>
          <a:xfrm xmlns:a="http://schemas.openxmlformats.org/drawingml/2006/main">
            <a:off x="7696200" y="2628900"/>
            <a:ext cx="3857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Local prototype with matter context, research, editable drafts, and explicit lawyer-recorded decisions.</a:t>
            </a:r>
          </a:p>
        </p:txBody>
      </p:sp>
      <p:sp>
        <p:nvSpPr>
          <p:cNvPr id="8" name="">
            <a:extLst xmlns:a="http://schemas.openxmlformats.org/drawingml/2006/main">
              <a:ext uri="{FF2B5EF4-FFF2-40B4-BE49-F238E27FC236}">
                <a16:creationId xmlns:a16="http://schemas.microsoft.com/office/drawing/2014/main" id="{FB83098F-CDB2-43F4-BFEB-7B772CD3C9C4}"/>
              </a:ext>
            </a:extLst>
          </p:cNvPr>
          <p:cNvSpPr>
            <a:spLocks xmlns:a="http://schemas.openxmlformats.org/drawingml/2006/main" noGrp="1"/>
          </p:cNvSpPr>
          <p:nvPr/>
        </p:nvSpPr>
        <p:spPr>
          <a:xfrm xmlns:a="http://schemas.openxmlformats.org/drawingml/2006/main">
            <a:off x="7696200" y="3924300"/>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NEXT PROOF</a:t>
            </a:r>
          </a:p>
        </p:txBody>
      </p:sp>
      <p:sp>
        <p:nvSpPr>
          <p:cNvPr id="9" name="">
            <a:extLst xmlns:a="http://schemas.openxmlformats.org/drawingml/2006/main">
              <a:ext uri="{FF2B5EF4-FFF2-40B4-BE49-F238E27FC236}">
                <a16:creationId xmlns:a16="http://schemas.microsoft.com/office/drawing/2014/main" id="{6336FD5A-E83A-4E87-A53B-8D262DADC4E2}"/>
              </a:ext>
            </a:extLst>
          </p:cNvPr>
          <p:cNvSpPr>
            <a:spLocks xmlns:a="http://schemas.openxmlformats.org/drawingml/2006/main" noGrp="1"/>
          </p:cNvSpPr>
          <p:nvPr/>
        </p:nvSpPr>
        <p:spPr>
          <a:xfrm xmlns:a="http://schemas.openxmlformats.org/drawingml/2006/main">
            <a:off x="7696200" y="4295775"/>
            <a:ext cx="3857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725" b="0">
                <a:solidFill>
                  <a:srgbClr val="596273"/>
                </a:solidFill>
                <a:latin typeface="Arial"/>
                <a:ea typeface="Arial"/>
                <a:cs typeface="Arial"/>
              </a:defRPr>
            </a:pPr>
            <a:r>
              <a:rPr sz="1725" b="0">
                <a:solidFill>
                  <a:srgbClr val="596273"/>
                </a:solidFill>
                <a:latin typeface="Arial"/>
                <a:ea typeface="Arial"/>
                <a:cs typeface="Arial"/>
              </a:rPr>
              <a:t>Attorneys use Themis on real questions and return with another matter.</a:t>
            </a:r>
          </a:p>
        </p:txBody>
      </p:sp>
      <p:sp>
        <p:nvSpPr>
          <p:cNvPr id="10" name="">
            <a:extLst xmlns:a="http://schemas.openxmlformats.org/drawingml/2006/main">
              <a:ext uri="{FF2B5EF4-FFF2-40B4-BE49-F238E27FC236}">
                <a16:creationId xmlns:a16="http://schemas.microsoft.com/office/drawing/2014/main" id="{2BCFB35F-3EFF-4900-9398-09CDA6A808C4}"/>
              </a:ext>
            </a:extLst>
          </p:cNvPr>
          <p:cNvSpPr>
            <a:spLocks xmlns:a="http://schemas.openxmlformats.org/drawingml/2006/main" noGrp="1"/>
          </p:cNvSpPr>
          <p:nvPr/>
        </p:nvSpPr>
        <p:spPr>
          <a:xfrm xmlns:a="http://schemas.openxmlformats.org/drawingml/2006/main">
            <a:off x="7696200" y="5267325"/>
            <a:ext cx="3857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1">
                <a:solidFill>
                  <a:srgbClr val="4169A4"/>
                </a:solidFill>
                <a:latin typeface="Arial"/>
                <a:ea typeface="Arial"/>
                <a:cs typeface="Arial"/>
              </a:defRPr>
            </a:pPr>
            <a:r>
              <a:rPr sz="1200" b="1">
                <a:solidFill>
                  <a:srgbClr val="4169A4"/>
                </a:solidFill>
                <a:latin typeface="Arial"/>
                <a:ea typeface="Arial"/>
                <a:cs typeface="Arial"/>
              </a:rPr>
              <a:t>WHAT TO MEASURE</a:t>
            </a:r>
          </a:p>
        </p:txBody>
      </p:sp>
      <p:sp>
        <p:nvSpPr>
          <p:cNvPr id="11" name="">
            <a:extLst xmlns:a="http://schemas.openxmlformats.org/drawingml/2006/main">
              <a:ext uri="{FF2B5EF4-FFF2-40B4-BE49-F238E27FC236}">
                <a16:creationId xmlns:a16="http://schemas.microsoft.com/office/drawing/2014/main" id="{717AB36E-4ABE-4551-A0DB-100BF45132DC}"/>
              </a:ext>
            </a:extLst>
          </p:cNvPr>
          <p:cNvSpPr>
            <a:spLocks xmlns:a="http://schemas.openxmlformats.org/drawingml/2006/main" noGrp="1"/>
          </p:cNvSpPr>
          <p:nvPr/>
        </p:nvSpPr>
        <p:spPr>
          <a:xfrm xmlns:a="http://schemas.openxmlformats.org/drawingml/2006/main">
            <a:off x="7696200" y="5638800"/>
            <a:ext cx="3857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425" b="0">
                <a:solidFill>
                  <a:srgbClr val="596273"/>
                </a:solidFill>
                <a:latin typeface="Arial"/>
                <a:ea typeface="Arial"/>
                <a:cs typeface="Arial"/>
              </a:defRPr>
            </a:pPr>
            <a:r>
              <a:rPr sz="1425" b="0">
                <a:solidFill>
                  <a:srgbClr val="596273"/>
                </a:solidFill>
                <a:latin typeface="Arial"/>
                <a:ea typeface="Arial"/>
                <a:cs typeface="Arial"/>
              </a:rPr>
              <a:t>Time to useful orientation · Source correctness · Correction burden · Repeat use</a:t>
            </a:r>
          </a:p>
        </p:txBody>
      </p:sp>
      <p:sp>
        <p:nvSpPr>
          <p:cNvPr id="12" name="">
            <a:extLst xmlns:a="http://schemas.openxmlformats.org/drawingml/2006/main">
              <a:ext uri="{FF2B5EF4-FFF2-40B4-BE49-F238E27FC236}">
                <a16:creationId xmlns:a16="http://schemas.microsoft.com/office/drawing/2014/main" id="{501B5519-4966-49E5-9F6A-05DD0436D5EF}"/>
              </a:ext>
            </a:extLst>
          </p:cNvPr>
          <p:cNvSpPr>
            <a:spLocks xmlns:a="http://schemas.openxmlformats.org/drawingml/2006/main" noGrp="1"/>
          </p:cNvSpPr>
          <p:nvPr/>
        </p:nvSpPr>
        <p:spPr>
          <a:xfrm xmlns:a="http://schemas.openxmlformats.org/drawingml/2006/main">
            <a:off x="609600" y="6105525"/>
            <a:ext cx="657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200" b="0">
                <a:solidFill>
                  <a:srgbClr val="596273"/>
                </a:solidFill>
                <a:latin typeface="Arial"/>
                <a:ea typeface="Arial"/>
                <a:cs typeface="Arial"/>
              </a:defRPr>
            </a:pPr>
            <a:r>
              <a:rPr sz="1200" b="0">
                <a:solidFill>
                  <a:srgbClr val="596273"/>
                </a:solidFill>
                <a:latin typeface="Arial"/>
                <a:ea typeface="Arial"/>
                <a:cs typeface="Arial"/>
              </a:rPr>
              <a:t>Prototype capture, September 2026. Fictional matter.</a:t>
            </a:r>
          </a:p>
        </p:txBody>
      </p:sp>
    </p:spTree>
    <p:extLst>
      <p:ext uri="{BB962C8B-B14F-4D97-AF65-F5344CB8AC3E}">
        <p14:creationId xmlns:p14="http://schemas.microsoft.com/office/powerpoint/2010/main" val="545290531"/>
      </p:ext>
    </p:extLst>
  </p:cSld>
</p:sld>
</file>

<file path=ppt/slides/slide1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9E5D97-9265-4153-A8F2-99E23F11D447}"/>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INVITATION</a:t>
            </a:r>
          </a:p>
        </p:txBody>
      </p:sp>
      <p:sp>
        <p:nvSpPr>
          <p:cNvPr id="2" name="">
            <a:extLst xmlns:a="http://schemas.openxmlformats.org/drawingml/2006/main">
              <a:ext uri="{FF2B5EF4-FFF2-40B4-BE49-F238E27FC236}">
                <a16:creationId xmlns:a16="http://schemas.microsoft.com/office/drawing/2014/main" id="{39D2D820-6DCE-4352-9894-9A1B65684DE5}"/>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900" b="1">
                <a:solidFill>
                  <a:srgbClr val="FAF8F2"/>
                </a:solidFill>
                <a:latin typeface="Georgia"/>
                <a:ea typeface="Georgia"/>
                <a:cs typeface="Georgia"/>
              </a:defRPr>
            </a:pPr>
            <a:r>
              <a:rPr sz="3900" b="1">
                <a:solidFill>
                  <a:srgbClr val="FAF8F2"/>
                </a:solidFill>
                <a:latin typeface="Georgia"/>
                <a:ea typeface="Georgia"/>
                <a:cs typeface="Georgia"/>
              </a:rPr>
              <a:t>Early capital funds the path</a:t>
            </a:r>
          </a:p>
          <a:p xmlns:a="http://schemas.openxmlformats.org/drawingml/2006/main">
            <a:pPr>
              <a:lnSpc>
                <a:spcPct val="110000"/>
              </a:lnSpc>
              <a:buNone/>
              <a:defRPr sz="3900" b="1">
                <a:solidFill>
                  <a:srgbClr val="FAF8F2"/>
                </a:solidFill>
                <a:latin typeface="Georgia"/>
                <a:ea typeface="Georgia"/>
                <a:cs typeface="Georgia"/>
              </a:defRPr>
            </a:pPr>
            <a:r>
              <a:rPr sz="3900" b="1">
                <a:solidFill>
                  <a:srgbClr val="FAF8F2"/>
                </a:solidFill>
                <a:latin typeface="Georgia"/>
                <a:ea typeface="Georgia"/>
                <a:cs typeface="Georgia"/>
              </a:rPr>
              <a:t>from prototype to repeat use.</a:t>
            </a:r>
          </a:p>
        </p:txBody>
      </p:sp>
      <p:sp>
        <p:nvSpPr>
          <p:cNvPr id="3" name="">
            <a:extLst xmlns:a="http://schemas.openxmlformats.org/drawingml/2006/main">
              <a:ext uri="{FF2B5EF4-FFF2-40B4-BE49-F238E27FC236}">
                <a16:creationId xmlns:a16="http://schemas.microsoft.com/office/drawing/2014/main" id="{A20F7170-D1D7-4996-BAA4-EFD5A4DF68D7}"/>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C6CEDB"/>
                </a:solidFill>
                <a:latin typeface="Arial"/>
                <a:ea typeface="Arial"/>
                <a:cs typeface="Arial"/>
              </a:defRPr>
            </a:pPr>
            <a:r>
              <a:rPr sz="900" b="1">
                <a:solidFill>
                  <a:srgbClr val="C6CEDB"/>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8B3E678-BB33-4A3C-8545-1A71885FBD85}"/>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C6CEDB"/>
                </a:solidFill>
                <a:latin typeface="Arial"/>
                <a:ea typeface="Arial"/>
                <a:cs typeface="Arial"/>
              </a:defRPr>
            </a:pPr>
            <a:r>
              <a:rPr sz="900" b="0">
                <a:solidFill>
                  <a:srgbClr val="C6CEDB"/>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19B309A1-9C95-44B2-8298-C3174221C11E}"/>
              </a:ext>
            </a:extLst>
          </p:cNvPr>
          <p:cNvSpPr>
            <a:spLocks xmlns:a="http://schemas.openxmlformats.org/drawingml/2006/main" noGrp="1"/>
          </p:cNvSpPr>
          <p:nvPr/>
        </p:nvSpPr>
        <p:spPr>
          <a:xfrm xmlns:a="http://schemas.openxmlformats.org/drawingml/2006/main">
            <a:off x="609600" y="25431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CAPITAL SUPPORTS</a:t>
            </a:r>
          </a:p>
        </p:txBody>
      </p:sp>
      <p:sp>
        <p:nvSpPr>
          <p:cNvPr id="6" name="">
            <a:extLst xmlns:a="http://schemas.openxmlformats.org/drawingml/2006/main">
              <a:ext uri="{FF2B5EF4-FFF2-40B4-BE49-F238E27FC236}">
                <a16:creationId xmlns:a16="http://schemas.microsoft.com/office/drawing/2014/main" id="{C130979D-0A47-4157-BCBC-BA03AB4D0B93}"/>
              </a:ext>
            </a:extLst>
          </p:cNvPr>
          <p:cNvSpPr>
            <a:spLocks xmlns:a="http://schemas.openxmlformats.org/drawingml/2006/main" noGrp="1"/>
          </p:cNvSpPr>
          <p:nvPr/>
        </p:nvSpPr>
        <p:spPr>
          <a:xfrm xmlns:a="http://schemas.openxmlformats.org/drawingml/2006/main">
            <a:off x="609600" y="3038475"/>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Full-time founder focus</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A founding technical leader and engineering capacity</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A business leader for pilots, pricing, and customer development</a:t>
            </a:r>
          </a:p>
          <a:p xmlns:a="http://schemas.openxmlformats.org/drawingml/2006/main">
            <a:pPr>
              <a:lnSpc>
                <a:spcPct val="110000"/>
              </a:lnSpc>
              <a:buNone/>
              <a:defRPr sz="2175" b="0">
                <a:solidFill>
                  <a:srgbClr val="FAF8F2"/>
                </a:solidFill>
                <a:latin typeface="Arial"/>
                <a:ea typeface="Arial"/>
                <a:cs typeface="Arial"/>
              </a:defRPr>
            </a:pPr>
            <a:r>
              <a:rPr sz="2175" b="0">
                <a:solidFill>
                  <a:srgbClr val="FAF8F2"/>
                </a:solidFill>
                <a:latin typeface="Arial"/>
                <a:ea typeface="Arial"/>
                <a:cs typeface="Arial"/>
              </a:rPr>
              <a:t>Secure pilot delivery plus model and research costs</a:t>
            </a:r>
          </a:p>
        </p:txBody>
      </p:sp>
      <p:sp>
        <p:nvSpPr>
          <p:cNvPr id="7" name="">
            <a:extLst xmlns:a="http://schemas.openxmlformats.org/drawingml/2006/main">
              <a:ext uri="{FF2B5EF4-FFF2-40B4-BE49-F238E27FC236}">
                <a16:creationId xmlns:a16="http://schemas.microsoft.com/office/drawing/2014/main" id="{F8E523A7-6B27-4E82-AF9C-F69629E17261}"/>
              </a:ext>
            </a:extLst>
          </p:cNvPr>
          <p:cNvSpPr>
            <a:spLocks xmlns:a="http://schemas.openxmlformats.org/drawingml/2006/main" noGrp="1"/>
          </p:cNvSpPr>
          <p:nvPr/>
        </p:nvSpPr>
        <p:spPr>
          <a:xfrm xmlns:a="http://schemas.openxmlformats.org/drawingml/2006/main">
            <a:off x="609600" y="50958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350" b="1">
                <a:solidFill>
                  <a:srgbClr val="D8B66A"/>
                </a:solidFill>
                <a:latin typeface="Arial"/>
                <a:ea typeface="Arial"/>
                <a:cs typeface="Arial"/>
              </a:defRPr>
            </a:pPr>
            <a:r>
              <a:rPr sz="1350" b="1">
                <a:solidFill>
                  <a:srgbClr val="D8B66A"/>
                </a:solidFill>
                <a:latin typeface="Arial"/>
                <a:ea typeface="Arial"/>
                <a:cs typeface="Arial"/>
              </a:rPr>
              <a:t>FUNDED MILESTONE</a:t>
            </a:r>
          </a:p>
        </p:txBody>
      </p:sp>
      <p:sp>
        <p:nvSpPr>
          <p:cNvPr id="8" name="">
            <a:extLst xmlns:a="http://schemas.openxmlformats.org/drawingml/2006/main">
              <a:ext uri="{FF2B5EF4-FFF2-40B4-BE49-F238E27FC236}">
                <a16:creationId xmlns:a16="http://schemas.microsoft.com/office/drawing/2014/main" id="{73E3F248-3C57-40EC-AABA-C4D6662E848D}"/>
              </a:ext>
            </a:extLst>
          </p:cNvPr>
          <p:cNvSpPr>
            <a:spLocks xmlns:a="http://schemas.openxmlformats.org/drawingml/2006/main" noGrp="1"/>
          </p:cNvSpPr>
          <p:nvPr/>
        </p:nvSpPr>
        <p:spPr>
          <a:xfrm xmlns:a="http://schemas.openxmlformats.org/drawingml/2006/main">
            <a:off x="609600" y="54959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800" b="0">
                <a:solidFill>
                  <a:srgbClr val="DCE1EA"/>
                </a:solidFill>
                <a:latin typeface="Georgia"/>
                <a:ea typeface="Georgia"/>
                <a:cs typeface="Georgia"/>
              </a:defRPr>
            </a:pPr>
            <a:r>
              <a:rPr sz="1800" b="0">
                <a:solidFill>
                  <a:srgbClr val="DCE1EA"/>
                </a:solidFill>
                <a:latin typeface="Georgia"/>
                <a:ea typeface="Georgia"/>
                <a:cs typeface="Georgia"/>
              </a:rPr>
              <a:t>Real attorneys use Themis on real questions, find the work useful enough to return, and provide evidence for the next product and financing decision.</a:t>
            </a:r>
          </a:p>
        </p:txBody>
      </p:sp>
    </p:spTree>
    <p:extLst>
      <p:ext uri="{BB962C8B-B14F-4D97-AF65-F5344CB8AC3E}">
        <p14:creationId xmlns:p14="http://schemas.microsoft.com/office/powerpoint/2010/main" val="1290637348"/>
      </p:ext>
    </p:extLst>
  </p:cSld>
</p:sld>
</file>

<file path=ppt/slides/slide1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5ffa97b8d3145fe"/>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301314115"/>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00726F-5C61-449C-845D-F87B2BA402D5}"/>
              </a:ext>
            </a:extLst>
          </p:cNvPr>
          <p:cNvSpPr>
            <a:spLocks xmlns:a="http://schemas.openxmlformats.org/drawingml/2006/main" noGrp="1"/>
          </p:cNvSpPr>
          <p:nvPr/>
        </p:nvSpPr>
        <p:spPr>
          <a:xfrm xmlns:a="http://schemas.openxmlformats.org/drawingml/2006/main">
            <a:off x="60960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HEADLINE ALTERNATIVES</a:t>
            </a:r>
          </a:p>
        </p:txBody>
      </p:sp>
      <p:sp>
        <p:nvSpPr>
          <p:cNvPr id="2" name="">
            <a:extLst xmlns:a="http://schemas.openxmlformats.org/drawingml/2006/main">
              <a:ext uri="{FF2B5EF4-FFF2-40B4-BE49-F238E27FC236}">
                <a16:creationId xmlns:a16="http://schemas.microsoft.com/office/drawing/2014/main" id="{D7CBADAD-9EA4-43E5-8667-E5EFD4E032E7}"/>
              </a:ext>
            </a:extLst>
          </p:cNvPr>
          <p:cNvSpPr>
            <a:spLocks xmlns:a="http://schemas.openxmlformats.org/drawingml/2006/main" noGrp="1"/>
          </p:cNvSpPr>
          <p:nvPr/>
        </p:nvSpPr>
        <p:spPr>
          <a:xfrm xmlns:a="http://schemas.openxmlformats.org/drawingml/2006/main">
            <a:off x="609600" y="84772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3300" b="1">
                <a:solidFill>
                  <a:srgbClr val="17243E"/>
                </a:solidFill>
                <a:latin typeface="Georgia"/>
                <a:ea typeface="Georgia"/>
                <a:cs typeface="Georgia"/>
              </a:defRPr>
            </a:pPr>
            <a:r>
              <a:rPr sz="3300" b="1">
                <a:solidFill>
                  <a:srgbClr val="17243E"/>
                </a:solidFill>
                <a:latin typeface="Georgia"/>
                <a:ea typeface="Georgia"/>
                <a:cs typeface="Georgia"/>
              </a:rPr>
              <a:t>Four ways to express the partnership</a:t>
            </a:r>
          </a:p>
        </p:txBody>
      </p:sp>
      <p:sp>
        <p:nvSpPr>
          <p:cNvPr id="3" name="">
            <a:extLst xmlns:a="http://schemas.openxmlformats.org/drawingml/2006/main">
              <a:ext uri="{FF2B5EF4-FFF2-40B4-BE49-F238E27FC236}">
                <a16:creationId xmlns:a16="http://schemas.microsoft.com/office/drawing/2014/main" id="{64E45D31-B899-4F77-8F0D-704C0EF93172}"/>
              </a:ext>
            </a:extLst>
          </p:cNvPr>
          <p:cNvSpPr>
            <a:spLocks xmlns:a="http://schemas.openxmlformats.org/drawingml/2006/main" noGrp="1"/>
          </p:cNvSpPr>
          <p:nvPr/>
        </p:nvSpPr>
        <p:spPr>
          <a:xfrm xmlns:a="http://schemas.openxmlformats.org/drawingml/2006/main">
            <a:off x="609600" y="645795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68F9DAE-A07A-4449-964B-B54A6832EB46}"/>
              </a:ext>
            </a:extLst>
          </p:cNvPr>
          <p:cNvSpPr>
            <a:spLocks xmlns:a="http://schemas.openxmlformats.org/drawingml/2006/main" noGrp="1"/>
          </p:cNvSpPr>
          <p:nvPr/>
        </p:nvSpPr>
        <p:spPr>
          <a:xfrm xmlns:a="http://schemas.openxmlformats.org/drawingml/2006/main">
            <a:off x="11239500" y="6457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2D35E045-64CD-43C1-9E39-DC56E06A7685}"/>
              </a:ext>
            </a:extLst>
          </p:cNvPr>
          <p:cNvSpPr>
            <a:spLocks xmlns:a="http://schemas.openxmlformats.org/drawingml/2006/main" noGrp="1"/>
          </p:cNvSpPr>
          <p:nvPr/>
        </p:nvSpPr>
        <p:spPr>
          <a:xfrm xmlns:a="http://schemas.openxmlformats.org/drawingml/2006/main">
            <a:off x="609600" y="219075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Closest to Brand Essence</a:t>
            </a:r>
          </a:p>
        </p:txBody>
      </p:sp>
      <p:sp>
        <p:nvSpPr>
          <p:cNvPr id="6" name="">
            <a:extLst xmlns:a="http://schemas.openxmlformats.org/drawingml/2006/main">
              <a:ext uri="{FF2B5EF4-FFF2-40B4-BE49-F238E27FC236}">
                <a16:creationId xmlns:a16="http://schemas.microsoft.com/office/drawing/2014/main" id="{941196F4-29E3-4F1F-8B88-A4B97A51FD1B}"/>
              </a:ext>
            </a:extLst>
          </p:cNvPr>
          <p:cNvSpPr>
            <a:spLocks xmlns:a="http://schemas.openxmlformats.org/drawingml/2006/main" noGrp="1"/>
          </p:cNvSpPr>
          <p:nvPr/>
        </p:nvSpPr>
        <p:spPr>
          <a:xfrm xmlns:a="http://schemas.openxmlformats.org/drawingml/2006/main">
            <a:off x="4000500" y="219075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intelligence at scale so the lawyer can bring their best judgment.</a:t>
            </a:r>
          </a:p>
        </p:txBody>
      </p:sp>
      <p:sp>
        <p:nvSpPr>
          <p:cNvPr id="7" name="">
            <a:extLst xmlns:a="http://schemas.openxmlformats.org/drawingml/2006/main">
              <a:ext uri="{FF2B5EF4-FFF2-40B4-BE49-F238E27FC236}">
                <a16:creationId xmlns:a16="http://schemas.microsoft.com/office/drawing/2014/main" id="{45CF4538-5D4F-4F50-9EE2-27A177614AD5}"/>
              </a:ext>
            </a:extLst>
          </p:cNvPr>
          <p:cNvSpPr>
            <a:spLocks xmlns:a="http://schemas.openxmlformats.org/drawingml/2006/main" noGrp="1"/>
          </p:cNvSpPr>
          <p:nvPr/>
        </p:nvSpPr>
        <p:spPr>
          <a:xfrm xmlns:a="http://schemas.openxmlformats.org/drawingml/2006/main">
            <a:off x="609600" y="319087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investor version</a:t>
            </a:r>
          </a:p>
        </p:txBody>
      </p:sp>
      <p:sp>
        <p:nvSpPr>
          <p:cNvPr id="8" name="">
            <a:extLst xmlns:a="http://schemas.openxmlformats.org/drawingml/2006/main">
              <a:ext uri="{FF2B5EF4-FFF2-40B4-BE49-F238E27FC236}">
                <a16:creationId xmlns:a16="http://schemas.microsoft.com/office/drawing/2014/main" id="{18C26590-EBCC-48E5-A22B-2D766E2E58E6}"/>
              </a:ext>
            </a:extLst>
          </p:cNvPr>
          <p:cNvSpPr>
            <a:spLocks xmlns:a="http://schemas.openxmlformats.org/drawingml/2006/main" noGrp="1"/>
          </p:cNvSpPr>
          <p:nvPr/>
        </p:nvSpPr>
        <p:spPr>
          <a:xfrm xmlns:a="http://schemas.openxmlformats.org/drawingml/2006/main">
            <a:off x="4000500" y="319087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Scale the intelligence. Preserve the judgment.</a:t>
            </a:r>
          </a:p>
        </p:txBody>
      </p:sp>
      <p:sp>
        <p:nvSpPr>
          <p:cNvPr id="9" name="">
            <a:extLst xmlns:a="http://schemas.openxmlformats.org/drawingml/2006/main">
              <a:ext uri="{FF2B5EF4-FFF2-40B4-BE49-F238E27FC236}">
                <a16:creationId xmlns:a16="http://schemas.microsoft.com/office/drawing/2014/main" id="{28C94EB7-DC47-4326-91BB-E3965D270A25}"/>
              </a:ext>
            </a:extLst>
          </p:cNvPr>
          <p:cNvSpPr>
            <a:spLocks xmlns:a="http://schemas.openxmlformats.org/drawingml/2006/main" noGrp="1"/>
          </p:cNvSpPr>
          <p:nvPr/>
        </p:nvSpPr>
        <p:spPr>
          <a:xfrm xmlns:a="http://schemas.openxmlformats.org/drawingml/2006/main">
            <a:off x="609600" y="4191000"/>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Strongest efficiency message</a:t>
            </a:r>
          </a:p>
        </p:txBody>
      </p:sp>
      <p:sp>
        <p:nvSpPr>
          <p:cNvPr id="10" name="">
            <a:extLst xmlns:a="http://schemas.openxmlformats.org/drawingml/2006/main">
              <a:ext uri="{FF2B5EF4-FFF2-40B4-BE49-F238E27FC236}">
                <a16:creationId xmlns:a16="http://schemas.microsoft.com/office/drawing/2014/main" id="{17986EEF-FB5B-4483-B1C8-93D6B6505C1B}"/>
              </a:ext>
            </a:extLst>
          </p:cNvPr>
          <p:cNvSpPr>
            <a:spLocks xmlns:a="http://schemas.openxmlformats.org/drawingml/2006/main" noGrp="1"/>
          </p:cNvSpPr>
          <p:nvPr/>
        </p:nvSpPr>
        <p:spPr>
          <a:xfrm xmlns:a="http://schemas.openxmlformats.org/drawingml/2006/main">
            <a:off x="4000500" y="4191000"/>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scales the work that informs the decision. The lawyer makes the decision.</a:t>
            </a:r>
          </a:p>
        </p:txBody>
      </p:sp>
      <p:sp>
        <p:nvSpPr>
          <p:cNvPr id="11" name="">
            <a:extLst xmlns:a="http://schemas.openxmlformats.org/drawingml/2006/main">
              <a:ext uri="{FF2B5EF4-FFF2-40B4-BE49-F238E27FC236}">
                <a16:creationId xmlns:a16="http://schemas.microsoft.com/office/drawing/2014/main" id="{C581A0D3-57D5-4A08-A778-1B63E252F72C}"/>
              </a:ext>
            </a:extLst>
          </p:cNvPr>
          <p:cNvSpPr>
            <a:spLocks xmlns:a="http://schemas.openxmlformats.org/drawingml/2006/main" noGrp="1"/>
          </p:cNvSpPr>
          <p:nvPr/>
        </p:nvSpPr>
        <p:spPr>
          <a:xfrm xmlns:a="http://schemas.openxmlformats.org/drawingml/2006/main">
            <a:off x="609600" y="5191125"/>
            <a:ext cx="314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1650" b="1">
                <a:solidFill>
                  <a:srgbClr val="4169A4"/>
                </a:solidFill>
                <a:latin typeface="Arial"/>
                <a:ea typeface="Arial"/>
                <a:cs typeface="Arial"/>
              </a:defRPr>
            </a:pPr>
            <a:r>
              <a:rPr sz="1650" b="1">
                <a:solidFill>
                  <a:srgbClr val="4169A4"/>
                </a:solidFill>
                <a:latin typeface="Arial"/>
                <a:ea typeface="Arial"/>
                <a:cs typeface="Arial"/>
              </a:rPr>
              <a:t>More complete and human</a:t>
            </a:r>
          </a:p>
        </p:txBody>
      </p:sp>
      <p:sp>
        <p:nvSpPr>
          <p:cNvPr id="12" name="">
            <a:extLst xmlns:a="http://schemas.openxmlformats.org/drawingml/2006/main">
              <a:ext uri="{FF2B5EF4-FFF2-40B4-BE49-F238E27FC236}">
                <a16:creationId xmlns:a16="http://schemas.microsoft.com/office/drawing/2014/main" id="{A93367B2-8B26-4202-BB5C-4FA3557657B4}"/>
              </a:ext>
            </a:extLst>
          </p:cNvPr>
          <p:cNvSpPr>
            <a:spLocks xmlns:a="http://schemas.openxmlformats.org/drawingml/2006/main" noGrp="1"/>
          </p:cNvSpPr>
          <p:nvPr/>
        </p:nvSpPr>
        <p:spPr>
          <a:xfrm xmlns:a="http://schemas.openxmlformats.org/drawingml/2006/main">
            <a:off x="4000500" y="5191125"/>
            <a:ext cx="752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0000"/>
              </a:lnSpc>
              <a:buNone/>
              <a:defRPr sz="2025" b="0">
                <a:solidFill>
                  <a:srgbClr val="17243E"/>
                </a:solidFill>
                <a:latin typeface="Georgia"/>
                <a:ea typeface="Georgia"/>
                <a:cs typeface="Georgia"/>
              </a:defRPr>
            </a:pPr>
            <a:r>
              <a:rPr sz="2025" b="0">
                <a:solidFill>
                  <a:srgbClr val="17243E"/>
                </a:solidFill>
                <a:latin typeface="Georgia"/>
                <a:ea typeface="Georgia"/>
                <a:cs typeface="Georgia"/>
              </a:rPr>
              <a:t>Themis brings speed, intelligence, and memory. The lawyer brings context, wisdom, and judgment.</a:t>
            </a:r>
          </a:p>
        </p:txBody>
      </p:sp>
    </p:spTree>
    <p:extLst>
      <p:ext uri="{BB962C8B-B14F-4D97-AF65-F5344CB8AC3E}">
        <p14:creationId xmlns:p14="http://schemas.microsoft.com/office/powerpoint/2010/main" val="19788510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2026-09-05T00:07:25.1240000Z</dcterms:created>
  <dcterms:modified xsi:type="dcterms:W3CDTF">2026-09-05T00:07:25.1240000Z</dcterms:modified>
</coreProperties>
</file>