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Themis.ai is a product-counsel workspace. The thesis: the model is a component, not the product. The durable unit of value is the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docs/PRD.md section 2.1. This is the cognitive-load thesis the whole product is built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Corpus: output/research/raw/legal-ai-reddit-source-corpus.jsonl. Records are graded high/medium/low confidence; all four quotes above are high-confidence firsthand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core strategic finding of the competitive brief. Themis does not compete for jobs 1-4; it makes them add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subway analogy: Themis carries the lawyer from the unstructured start to the stop near the destination. The lawyer walks the last mile.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 is the live application against the sample vault, September 2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is to uncover blind spots, not to define the ultimate answer. This is the positioning slide — the mechanism that delivers it is on slide 5, and the record that survives the conversation is bet 03 on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Themis feature is funded only if it removes repeated setup, reduces review work, proves coverage, or moves the matter to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Segmentation is a strategic inference from the corpus plus the product thesis. Reddit shows an unmet workflow pattern; it does not prove market size or willingness to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cd backend &amp;&amp; pytest; cd frontend &amp;&amp; npm run typecheck &amp;&amp; npm run build. Status per current.md and docs/MVP_CLOSURE_AUDIT.md.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slide in front of an investor deliberately. Naming the falsifiers is the same discipline the product applies to a legal answer, and it is the fastest way to show what Themis actually believes.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13"/>
        </a:solidFill>
      </p:bgPr>
    </p:bg>
    <p:spTree>
      <p:nvGrpSpPr>
        <p:cNvPr id="1" name=""/>
        <p:cNvGrpSpPr/>
        <p:nvPr/>
      </p:nvGrpSpPr>
      <p:grpSpPr>
        <a:xfrm>
          <a:off x="0" y="0"/>
          <a:ext cx="0" cy="0"/>
          <a:chOff x="0" y="0"/>
          <a:chExt cx="0" cy="0"/>
        </a:xfrm>
      </p:grpSpPr>
      <p:sp>
        <p:nvSpPr>
          <p:cNvPr id="2" name="Text 0"/>
          <p:cNvSpPr txBox="1"/>
          <p:nvPr/>
        </p:nvSpPr>
        <p:spPr>
          <a:xfrm>
            <a:off x="640080" y="658368"/>
            <a:ext cx="7498080" cy="237744"/>
          </a:xfrm>
          <a:prstGeom prst="rect">
            <a:avLst/>
          </a:prstGeom>
          <a:noFill/>
          <a:ln/>
        </p:spPr>
        <p:txBody>
          <a:bodyPr wrap="square" lIns="0" tIns="0" rIns="0" bIns="0" rtlCol="0" anchor="ctr"/>
          <a:lstStyle/>
          <a:p>
            <a:pPr indent="0" marL="0">
              <a:buNone/>
            </a:pPr>
            <a:r>
              <a:rPr lang="en-US" sz="950" b="1" spc="160" kern="0" dirty="0">
                <a:solidFill>
                  <a:srgbClr val="8F897C"/>
                </a:solidFill>
                <a:latin typeface="Courier New" pitchFamily="34" charset="0"/>
                <a:ea typeface="Courier New" pitchFamily="34" charset="-122"/>
                <a:cs typeface="Courier New" pitchFamily="34" charset="-120"/>
              </a:rPr>
              <a:t>PRODUCT COUNSEL WORKSPACE  ·  INVESTOR OVERVIEW  ·  SEPTEMBER 2026</a:t>
            </a:r>
            <a:endParaRPr lang="en-US" sz="950" dirty="0"/>
          </a:p>
        </p:txBody>
      </p:sp>
      <p:sp>
        <p:nvSpPr>
          <p:cNvPr id="3" name="Text 1"/>
          <p:cNvSpPr txBox="1"/>
          <p:nvPr/>
        </p:nvSpPr>
        <p:spPr>
          <a:xfrm>
            <a:off x="640080" y="1143000"/>
            <a:ext cx="5669280" cy="1051560"/>
          </a:xfrm>
          <a:prstGeom prst="rect">
            <a:avLst/>
          </a:prstGeom>
          <a:noFill/>
          <a:ln/>
        </p:spPr>
        <p:txBody>
          <a:bodyPr wrap="square" lIns="0" tIns="0" rIns="0" bIns="0" rtlCol="0" anchor="t"/>
          <a:lstStyle/>
          <a:p>
            <a:pPr indent="0" marL="0">
              <a:buNone/>
            </a:pPr>
            <a:r>
              <a:rPr lang="en-US" sz="5600" b="1" dirty="0">
                <a:solidFill>
                  <a:srgbClr val="F7F5F1"/>
                </a:solidFill>
                <a:latin typeface="Cambria" pitchFamily="34" charset="0"/>
                <a:ea typeface="Cambria" pitchFamily="34" charset="-122"/>
                <a:cs typeface="Cambria" pitchFamily="34" charset="-120"/>
              </a:rPr>
              <a:t>Themis.ai</a:t>
            </a:r>
            <a:endParaRPr lang="en-US" sz="5600" dirty="0"/>
          </a:p>
        </p:txBody>
      </p:sp>
      <p:sp>
        <p:nvSpPr>
          <p:cNvPr id="4" name="Text 2"/>
          <p:cNvSpPr txBox="1"/>
          <p:nvPr/>
        </p:nvSpPr>
        <p:spPr>
          <a:xfrm>
            <a:off x="640080" y="2304288"/>
            <a:ext cx="5029200" cy="1371600"/>
          </a:xfrm>
          <a:prstGeom prst="rect">
            <a:avLst/>
          </a:prstGeom>
          <a:noFill/>
          <a:ln/>
        </p:spPr>
        <p:txBody>
          <a:bodyPr wrap="square" lIns="0" tIns="0" rIns="0" bIns="0" rtlCol="0" anchor="t"/>
          <a:lstStyle/>
          <a:p>
            <a:pPr indent="0" marL="0">
              <a:lnSpc>
                <a:spcPts val="2700"/>
              </a:lnSpc>
              <a:buNone/>
            </a:pPr>
            <a:r>
              <a:rPr lang="en-US" sz="1900" dirty="0">
                <a:solidFill>
                  <a:srgbClr val="E6E1D6"/>
                </a:solidFill>
                <a:latin typeface="Cambria" pitchFamily="34" charset="0"/>
                <a:ea typeface="Cambria" pitchFamily="34" charset="-122"/>
                <a:cs typeface="Cambria" pitchFamily="34" charset="-120"/>
              </a:rPr>
              <a:t>The matter operating layer between general AI, legal authority, Word, and the decision that actually gets recorded.</a:t>
            </a:r>
            <a:endParaRPr lang="en-US" sz="1900" dirty="0"/>
          </a:p>
        </p:txBody>
      </p:sp>
      <p:sp>
        <p:nvSpPr>
          <p:cNvPr id="5" name="Text 3"/>
          <p:cNvSpPr txBox="1"/>
          <p:nvPr/>
        </p:nvSpPr>
        <p:spPr>
          <a:xfrm>
            <a:off x="640080" y="4069080"/>
            <a:ext cx="1645920" cy="566928"/>
          </a:xfrm>
          <a:prstGeom prst="rect">
            <a:avLst/>
          </a:prstGeom>
          <a:noFill/>
          <a:ln/>
        </p:spPr>
        <p:txBody>
          <a:bodyPr wrap="square" lIns="0" tIns="0" rIns="0" bIns="0" rtlCol="0" anchor="ctr"/>
          <a:lstStyle/>
          <a:p>
            <a:pPr indent="0" marL="0">
              <a:buNone/>
            </a:pPr>
            <a:r>
              <a:rPr lang="en-US" sz="3400" b="1" dirty="0">
                <a:solidFill>
                  <a:srgbClr val="E0A008"/>
                </a:solidFill>
                <a:latin typeface="Cambria" pitchFamily="34" charset="0"/>
                <a:ea typeface="Cambria" pitchFamily="34" charset="-122"/>
                <a:cs typeface="Cambria" pitchFamily="34" charset="-120"/>
              </a:rPr>
              <a:t>203</a:t>
            </a:r>
            <a:endParaRPr lang="en-US" sz="3400" dirty="0"/>
          </a:p>
        </p:txBody>
      </p:sp>
      <p:sp>
        <p:nvSpPr>
          <p:cNvPr id="6" name="Text 4"/>
          <p:cNvSpPr txBox="1"/>
          <p:nvPr/>
        </p:nvSpPr>
        <p:spPr>
          <a:xfrm>
            <a:off x="640080" y="4645152"/>
            <a:ext cx="1691640" cy="658368"/>
          </a:xfrm>
          <a:prstGeom prst="rect">
            <a:avLst/>
          </a:prstGeom>
          <a:noFill/>
          <a:ln/>
        </p:spPr>
        <p:txBody>
          <a:bodyPr wrap="square" lIns="0" tIns="0" rIns="0" bIns="0" rtlCol="0" anchor="t"/>
          <a:lstStyle/>
          <a:p>
            <a:pPr indent="0" marL="0">
              <a:lnSpc>
                <a:spcPts val="1400"/>
              </a:lnSpc>
              <a:buNone/>
            </a:pPr>
            <a:r>
              <a:rPr lang="en-US" sz="1050" dirty="0">
                <a:solidFill>
                  <a:srgbClr val="C9C4B9"/>
                </a:solidFill>
                <a:latin typeface="Calibri" pitchFamily="34" charset="0"/>
                <a:ea typeface="Calibri" pitchFamily="34" charset="-122"/>
                <a:cs typeface="Calibri" pitchFamily="34" charset="-120"/>
              </a:rPr>
              <a:t>Reddit threads of</a:t>
            </a:r>
            <a:endParaRPr lang="en-US" sz="1050" dirty="0"/>
          </a:p>
          <a:p>
            <a:pPr indent="0" marL="0">
              <a:lnSpc>
                <a:spcPts val="1400"/>
              </a:lnSpc>
              <a:buNone/>
            </a:pPr>
            <a:r>
              <a:rPr lang="en-US" sz="1050" dirty="0">
                <a:solidFill>
                  <a:srgbClr val="C9C4B9"/>
                </a:solidFill>
                <a:latin typeface="Calibri" pitchFamily="34" charset="0"/>
                <a:ea typeface="Calibri" pitchFamily="34" charset="-122"/>
                <a:cs typeface="Calibri" pitchFamily="34" charset="-120"/>
              </a:rPr>
              <a:t>primary buyer research</a:t>
            </a:r>
            <a:endParaRPr lang="en-US" sz="1050" dirty="0"/>
          </a:p>
        </p:txBody>
      </p:sp>
      <p:sp>
        <p:nvSpPr>
          <p:cNvPr id="7" name="Text 5"/>
          <p:cNvSpPr txBox="1"/>
          <p:nvPr/>
        </p:nvSpPr>
        <p:spPr>
          <a:xfrm>
            <a:off x="2423160" y="4069080"/>
            <a:ext cx="1645920" cy="566928"/>
          </a:xfrm>
          <a:prstGeom prst="rect">
            <a:avLst/>
          </a:prstGeom>
          <a:noFill/>
          <a:ln/>
        </p:spPr>
        <p:txBody>
          <a:bodyPr wrap="square" lIns="0" tIns="0" rIns="0" bIns="0" rtlCol="0" anchor="ctr"/>
          <a:lstStyle/>
          <a:p>
            <a:pPr indent="0" marL="0">
              <a:buNone/>
            </a:pPr>
            <a:r>
              <a:rPr lang="en-US" sz="3400" b="1" dirty="0">
                <a:solidFill>
                  <a:srgbClr val="E0A008"/>
                </a:solidFill>
                <a:latin typeface="Cambria" pitchFamily="34" charset="0"/>
                <a:ea typeface="Cambria" pitchFamily="34" charset="-122"/>
                <a:cs typeface="Cambria" pitchFamily="34" charset="-120"/>
              </a:rPr>
              <a:t>665</a:t>
            </a:r>
            <a:endParaRPr lang="en-US" sz="3400" dirty="0"/>
          </a:p>
        </p:txBody>
      </p:sp>
      <p:sp>
        <p:nvSpPr>
          <p:cNvPr id="8" name="Text 6"/>
          <p:cNvSpPr txBox="1"/>
          <p:nvPr/>
        </p:nvSpPr>
        <p:spPr>
          <a:xfrm>
            <a:off x="2423160" y="4645152"/>
            <a:ext cx="1691640" cy="658368"/>
          </a:xfrm>
          <a:prstGeom prst="rect">
            <a:avLst/>
          </a:prstGeom>
          <a:noFill/>
          <a:ln/>
        </p:spPr>
        <p:txBody>
          <a:bodyPr wrap="square" lIns="0" tIns="0" rIns="0" bIns="0" rtlCol="0" anchor="t"/>
          <a:lstStyle/>
          <a:p>
            <a:pPr indent="0" marL="0">
              <a:lnSpc>
                <a:spcPts val="1400"/>
              </a:lnSpc>
              <a:buNone/>
            </a:pPr>
            <a:r>
              <a:rPr lang="en-US" sz="1050" dirty="0">
                <a:solidFill>
                  <a:srgbClr val="C9C4B9"/>
                </a:solidFill>
                <a:latin typeface="Calibri" pitchFamily="34" charset="0"/>
                <a:ea typeface="Calibri" pitchFamily="34" charset="-122"/>
                <a:cs typeface="Calibri" pitchFamily="34" charset="-120"/>
              </a:rPr>
              <a:t>backend tests passing</a:t>
            </a:r>
            <a:endParaRPr lang="en-US" sz="1050" dirty="0"/>
          </a:p>
          <a:p>
            <a:pPr indent="0" marL="0">
              <a:lnSpc>
                <a:spcPts val="1400"/>
              </a:lnSpc>
              <a:buNone/>
            </a:pPr>
            <a:r>
              <a:rPr lang="en-US" sz="1050" dirty="0">
                <a:solidFill>
                  <a:srgbClr val="C9C4B9"/>
                </a:solidFill>
                <a:latin typeface="Calibri" pitchFamily="34" charset="0"/>
                <a:ea typeface="Calibri" pitchFamily="34" charset="-122"/>
                <a:cs typeface="Calibri" pitchFamily="34" charset="-120"/>
              </a:rPr>
              <a:t>on a working system</a:t>
            </a:r>
            <a:endParaRPr lang="en-US" sz="1050" dirty="0"/>
          </a:p>
        </p:txBody>
      </p:sp>
      <p:sp>
        <p:nvSpPr>
          <p:cNvPr id="9" name="Text 7"/>
          <p:cNvSpPr txBox="1"/>
          <p:nvPr/>
        </p:nvSpPr>
        <p:spPr>
          <a:xfrm>
            <a:off x="4206240" y="4069080"/>
            <a:ext cx="1645920" cy="566928"/>
          </a:xfrm>
          <a:prstGeom prst="rect">
            <a:avLst/>
          </a:prstGeom>
          <a:noFill/>
          <a:ln/>
        </p:spPr>
        <p:txBody>
          <a:bodyPr wrap="square" lIns="0" tIns="0" rIns="0" bIns="0" rtlCol="0" anchor="ctr"/>
          <a:lstStyle/>
          <a:p>
            <a:pPr indent="0" marL="0">
              <a:buNone/>
            </a:pPr>
            <a:r>
              <a:rPr lang="en-US" sz="3400" b="1" dirty="0">
                <a:solidFill>
                  <a:srgbClr val="E0A008"/>
                </a:solidFill>
                <a:latin typeface="Cambria" pitchFamily="34" charset="0"/>
                <a:ea typeface="Cambria" pitchFamily="34" charset="-122"/>
                <a:cs typeface="Cambria" pitchFamily="34" charset="-120"/>
              </a:rPr>
              <a:t>5</a:t>
            </a:r>
            <a:endParaRPr lang="en-US" sz="3400" dirty="0"/>
          </a:p>
        </p:txBody>
      </p:sp>
      <p:sp>
        <p:nvSpPr>
          <p:cNvPr id="10" name="Text 8"/>
          <p:cNvSpPr txBox="1"/>
          <p:nvPr/>
        </p:nvSpPr>
        <p:spPr>
          <a:xfrm>
            <a:off x="4206240" y="4645152"/>
            <a:ext cx="1691640" cy="658368"/>
          </a:xfrm>
          <a:prstGeom prst="rect">
            <a:avLst/>
          </a:prstGeom>
          <a:noFill/>
          <a:ln/>
        </p:spPr>
        <p:txBody>
          <a:bodyPr wrap="square" lIns="0" tIns="0" rIns="0" bIns="0" rtlCol="0" anchor="t"/>
          <a:lstStyle/>
          <a:p>
            <a:pPr indent="0" marL="0">
              <a:lnSpc>
                <a:spcPts val="1400"/>
              </a:lnSpc>
              <a:buNone/>
            </a:pPr>
            <a:r>
              <a:rPr lang="en-US" sz="1050" dirty="0">
                <a:solidFill>
                  <a:srgbClr val="C9C4B9"/>
                </a:solidFill>
                <a:latin typeface="Calibri" pitchFamily="34" charset="0"/>
                <a:ea typeface="Calibri" pitchFamily="34" charset="-122"/>
                <a:cs typeface="Calibri" pitchFamily="34" charset="-120"/>
              </a:rPr>
              <a:t>model providers —</a:t>
            </a:r>
            <a:endParaRPr lang="en-US" sz="1050" dirty="0"/>
          </a:p>
          <a:p>
            <a:pPr indent="0" marL="0">
              <a:lnSpc>
                <a:spcPts val="1400"/>
              </a:lnSpc>
              <a:buNone/>
            </a:pPr>
            <a:r>
              <a:rPr lang="en-US" sz="1050" dirty="0">
                <a:solidFill>
                  <a:srgbClr val="C9C4B9"/>
                </a:solidFill>
                <a:latin typeface="Calibri" pitchFamily="34" charset="0"/>
                <a:ea typeface="Calibri" pitchFamily="34" charset="-122"/>
                <a:cs typeface="Calibri" pitchFamily="34" charset="-120"/>
              </a:rPr>
              <a:t>the lawyer keeps theirs</a:t>
            </a:r>
            <a:endParaRPr lang="en-US" sz="1050" dirty="0"/>
          </a:p>
        </p:txBody>
      </p:sp>
      <p:sp>
        <p:nvSpPr>
          <p:cNvPr id="11" name="Text 9"/>
          <p:cNvSpPr txBox="1"/>
          <p:nvPr/>
        </p:nvSpPr>
        <p:spPr>
          <a:xfrm>
            <a:off x="640080" y="6016752"/>
            <a:ext cx="6035040" cy="274320"/>
          </a:xfrm>
          <a:prstGeom prst="rect">
            <a:avLst/>
          </a:prstGeom>
          <a:noFill/>
          <a:ln/>
        </p:spPr>
        <p:txBody>
          <a:bodyPr wrap="square" lIns="0" tIns="0" rIns="0" bIns="0" rtlCol="0" anchor="ctr"/>
          <a:lstStyle/>
          <a:p>
            <a:pPr indent="0" marL="0">
              <a:buNone/>
            </a:pPr>
            <a:r>
              <a:rPr lang="en-US" sz="900" dirty="0">
                <a:solidFill>
                  <a:srgbClr val="8F897C"/>
                </a:solidFill>
                <a:latin typeface="Courier New" pitchFamily="34" charset="0"/>
                <a:ea typeface="Courier New" pitchFamily="34" charset="-122"/>
                <a:cs typeface="Courier New" pitchFamily="34" charset="-120"/>
              </a:rPr>
              <a:t>A single-user working MVP. Not a mockup, not a production legal system.</a:t>
            </a:r>
            <a:endParaRPr lang="en-US" sz="900" dirty="0"/>
          </a:p>
        </p:txBody>
      </p:sp>
      <p:sp>
        <p:nvSpPr>
          <p:cNvPr id="12" name="Shape 10"/>
          <p:cNvSpPr/>
          <p:nvPr/>
        </p:nvSpPr>
        <p:spPr>
          <a:xfrm>
            <a:off x="6112764" y="2290572"/>
            <a:ext cx="5477256" cy="2517504"/>
          </a:xfrm>
          <a:prstGeom prst="rect">
            <a:avLst/>
          </a:prstGeom>
          <a:solidFill>
            <a:srgbClr val="FFFEFB"/>
          </a:solidFill>
          <a:ln w="9525">
            <a:solidFill>
              <a:srgbClr val="DED9D0"/>
            </a:solidFill>
            <a:prstDash val="solid"/>
          </a:ln>
          <a:effectLst>
            <a:outerShdw sx="100000" sy="100000" kx="0" ky="0" algn="bl" rotWithShape="0" blurRad="177800" dist="25400" dir="5400000">
              <a:srgbClr val="1B1A17">
                <a:alpha val="10000"/>
              </a:srgbClr>
            </a:outerShdw>
          </a:effectLst>
        </p:spPr>
      </p:sp>
      <p:pic>
        <p:nvPicPr>
          <p:cNvPr id="13" name="Image 0" descr="img/today.jpg">    </p:cNvPr>
          <p:cNvPicPr>
            <a:picLocks noChangeAspect="1"/>
          </p:cNvPicPr>
          <p:nvPr/>
        </p:nvPicPr>
        <p:blipFill>
          <a:blip r:embed="rId1"/>
          <a:stretch>
            <a:fillRect/>
          </a:stretch>
        </p:blipFill>
        <p:spPr>
          <a:xfrm>
            <a:off x="6153912" y="2331720"/>
            <a:ext cx="5394960" cy="2435208"/>
          </a:xfrm>
          <a:prstGeom prst="rect">
            <a:avLst/>
          </a:prstGeom>
        </p:spPr>
      </p:pic>
      <p:sp>
        <p:nvSpPr>
          <p:cNvPr id="14" name="Text 11"/>
          <p:cNvSpPr txBox="1"/>
          <p:nvPr/>
        </p:nvSpPr>
        <p:spPr>
          <a:xfrm>
            <a:off x="6153912" y="4919472"/>
            <a:ext cx="5394960" cy="256032"/>
          </a:xfrm>
          <a:prstGeom prst="rect">
            <a:avLst/>
          </a:prstGeom>
          <a:noFill/>
          <a:ln/>
        </p:spPr>
        <p:txBody>
          <a:bodyPr wrap="square" lIns="0" tIns="0" rIns="0" bIns="0" rtlCol="0" anchor="ctr"/>
          <a:lstStyle/>
          <a:p>
            <a:pPr indent="0" marL="0">
              <a:buNone/>
            </a:pPr>
            <a:r>
              <a:rPr lang="en-US" sz="850" dirty="0">
                <a:solidFill>
                  <a:srgbClr val="8F897C"/>
                </a:solidFill>
                <a:latin typeface="Courier New" pitchFamily="34" charset="0"/>
                <a:ea typeface="Courier New" pitchFamily="34" charset="-122"/>
                <a:cs typeface="Courier New" pitchFamily="34" charset="-120"/>
              </a:rPr>
              <a:t>Today — the ranked briefing the lawyer opens on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75488"/>
            <a:ext cx="10881360" cy="237744"/>
          </a:xfrm>
          <a:prstGeom prst="rect">
            <a:avLst/>
          </a:prstGeom>
          <a:noFill/>
          <a:ln/>
        </p:spPr>
        <p:txBody>
          <a:bodyPr wrap="square" lIns="0" tIns="0" rIns="0" bIns="0" rtlCol="0" anchor="ctr"/>
          <a:lstStyle/>
          <a:p>
            <a:pPr indent="0" marL="0">
              <a:buNone/>
            </a:pPr>
            <a:r>
              <a:rPr lang="en-US" sz="950" b="1" spc="160" kern="0" dirty="0">
                <a:solidFill>
                  <a:srgbClr val="5F5B54"/>
                </a:solidFill>
                <a:latin typeface="Courier New" pitchFamily="34" charset="0"/>
                <a:ea typeface="Courier New" pitchFamily="34" charset="-122"/>
                <a:cs typeface="Courier New" pitchFamily="34" charset="-120"/>
              </a:rPr>
              <a:t>THE PROBLEM</a:t>
            </a:r>
            <a:endParaRPr lang="en-US" sz="950" dirty="0"/>
          </a:p>
        </p:txBody>
      </p:sp>
      <p:sp>
        <p:nvSpPr>
          <p:cNvPr id="3" name="Text 1"/>
          <p:cNvSpPr txBox="1"/>
          <p:nvPr/>
        </p:nvSpPr>
        <p:spPr>
          <a:xfrm>
            <a:off x="640080" y="768096"/>
            <a:ext cx="10881360" cy="713232"/>
          </a:xfrm>
          <a:prstGeom prst="rect">
            <a:avLst/>
          </a:prstGeom>
          <a:noFill/>
          <a:ln/>
        </p:spPr>
        <p:txBody>
          <a:bodyPr wrap="square" lIns="0" tIns="0" rIns="0" bIns="0" rtlCol="0" anchor="t"/>
          <a:lstStyle/>
          <a:p>
            <a:pPr indent="0" marL="0">
              <a:lnSpc>
                <a:spcPts val="3696"/>
              </a:lnSpc>
              <a:buNone/>
            </a:pPr>
            <a:r>
              <a:rPr lang="en-US" sz="3300" b="1" dirty="0">
                <a:solidFill>
                  <a:srgbClr val="1B1A17"/>
                </a:solidFill>
                <a:latin typeface="Cambria" pitchFamily="34" charset="0"/>
                <a:ea typeface="Cambria" pitchFamily="34" charset="-122"/>
                <a:cs typeface="Cambria" pitchFamily="34" charset="-120"/>
              </a:rPr>
              <a:t>Legal work starts in ambiguity. The setup is the tax.</a:t>
            </a:r>
            <a:endParaRPr lang="en-US" sz="3300" dirty="0"/>
          </a:p>
        </p:txBody>
      </p:sp>
      <p:sp>
        <p:nvSpPr>
          <p:cNvPr id="4" name="Text 2"/>
          <p:cNvSpPr txBox="1"/>
          <p:nvPr/>
        </p:nvSpPr>
        <p:spPr>
          <a:xfrm>
            <a:off x="640080" y="1627632"/>
            <a:ext cx="4572000" cy="1371600"/>
          </a:xfrm>
          <a:prstGeom prst="rect">
            <a:avLst/>
          </a:prstGeom>
          <a:noFill/>
          <a:ln/>
        </p:spPr>
        <p:txBody>
          <a:bodyPr wrap="square" lIns="0" tIns="0" rIns="0" bIns="0" rtlCol="0" anchor="t"/>
          <a:lstStyle/>
          <a:p>
            <a:pPr indent="0" marL="0">
              <a:lnSpc>
                <a:spcPts val="1988"/>
              </a:lnSpc>
              <a:buNone/>
            </a:pPr>
            <a:r>
              <a:rPr lang="en-US" sz="1400" dirty="0">
                <a:solidFill>
                  <a:srgbClr val="3A3733"/>
                </a:solidFill>
                <a:latin typeface="Calibri" pitchFamily="34" charset="0"/>
                <a:ea typeface="Calibri" pitchFamily="34" charset="-122"/>
                <a:cs typeface="Calibri" pitchFamily="34" charset="-120"/>
              </a:rPr>
              <a:t>A request reaches product counsel as a Slack thread, a spec, a screenshot, and a deadline. Before any judgment is applied, the lawyer performs the same reconstruction — every time, by hand.</a:t>
            </a:r>
            <a:endParaRPr lang="en-US" sz="1400" dirty="0"/>
          </a:p>
        </p:txBody>
      </p:sp>
      <p:sp>
        <p:nvSpPr>
          <p:cNvPr id="5" name="Shape 3"/>
          <p:cNvSpPr/>
          <p:nvPr/>
        </p:nvSpPr>
        <p:spPr>
          <a:xfrm>
            <a:off x="5623560" y="1664208"/>
            <a:ext cx="310896" cy="310896"/>
          </a:xfrm>
          <a:prstGeom prst="ellipse">
            <a:avLst/>
          </a:prstGeom>
          <a:solidFill>
            <a:srgbClr val="FDEEC0"/>
          </a:solidFill>
          <a:ln w="9525">
            <a:solidFill>
              <a:srgbClr val="F0D896"/>
            </a:solidFill>
            <a:prstDash val="solid"/>
          </a:ln>
        </p:spPr>
      </p:sp>
      <p:sp>
        <p:nvSpPr>
          <p:cNvPr id="6" name="Text 4"/>
          <p:cNvSpPr txBox="1"/>
          <p:nvPr/>
        </p:nvSpPr>
        <p:spPr>
          <a:xfrm>
            <a:off x="5623560" y="1664208"/>
            <a:ext cx="310896" cy="310896"/>
          </a:xfrm>
          <a:prstGeom prst="rect">
            <a:avLst/>
          </a:prstGeom>
          <a:noFill/>
          <a:ln/>
        </p:spPr>
        <p:txBody>
          <a:bodyPr wrap="square" lIns="0" tIns="0" rIns="0" bIns="0" rtlCol="0" anchor="ctr"/>
          <a:lstStyle/>
          <a:p>
            <a:pPr algn="ctr" indent="0" marL="0">
              <a:buNone/>
            </a:pPr>
            <a:r>
              <a:rPr lang="en-US" sz="1000" b="1" dirty="0">
                <a:solidFill>
                  <a:srgbClr val="8A6612"/>
                </a:solidFill>
                <a:latin typeface="Courier New" pitchFamily="34" charset="0"/>
                <a:ea typeface="Courier New" pitchFamily="34" charset="-122"/>
                <a:cs typeface="Courier New" pitchFamily="34" charset="-120"/>
              </a:rPr>
              <a:t>1</a:t>
            </a:r>
            <a:endParaRPr lang="en-US" sz="1000" dirty="0"/>
          </a:p>
        </p:txBody>
      </p:sp>
      <p:sp>
        <p:nvSpPr>
          <p:cNvPr id="7" name="Text 5"/>
          <p:cNvSpPr txBox="1"/>
          <p:nvPr/>
        </p:nvSpPr>
        <p:spPr>
          <a:xfrm>
            <a:off x="6062472" y="1673352"/>
            <a:ext cx="2377440" cy="914400"/>
          </a:xfrm>
          <a:prstGeom prst="rect">
            <a:avLst/>
          </a:prstGeom>
          <a:noFill/>
          <a:ln/>
        </p:spPr>
        <p:txBody>
          <a:bodyPr wrap="square" lIns="0" tIns="0" rIns="0" bIns="0" rtlCol="0" anchor="t"/>
          <a:lstStyle/>
          <a:p>
            <a:pPr indent="0" marL="0">
              <a:lnSpc>
                <a:spcPts val="1775"/>
              </a:lnSpc>
              <a:buNone/>
            </a:pPr>
            <a:r>
              <a:rPr lang="en-US" sz="1250" dirty="0">
                <a:solidFill>
                  <a:srgbClr val="3A3733"/>
                </a:solidFill>
                <a:latin typeface="Calibri" pitchFamily="34" charset="0"/>
                <a:ea typeface="Calibri" pitchFamily="34" charset="-122"/>
                <a:cs typeface="Calibri" pitchFamily="34" charset="-120"/>
              </a:rPr>
              <a:t>Work out what the business is actually trying to do</a:t>
            </a:r>
            <a:endParaRPr lang="en-US" sz="1250" dirty="0"/>
          </a:p>
        </p:txBody>
      </p:sp>
      <p:sp>
        <p:nvSpPr>
          <p:cNvPr id="8" name="Shape 6"/>
          <p:cNvSpPr/>
          <p:nvPr/>
        </p:nvSpPr>
        <p:spPr>
          <a:xfrm>
            <a:off x="8659368" y="1664208"/>
            <a:ext cx="310896" cy="310896"/>
          </a:xfrm>
          <a:prstGeom prst="ellipse">
            <a:avLst/>
          </a:prstGeom>
          <a:solidFill>
            <a:srgbClr val="FDEEC0"/>
          </a:solidFill>
          <a:ln w="9525">
            <a:solidFill>
              <a:srgbClr val="F0D896"/>
            </a:solidFill>
            <a:prstDash val="solid"/>
          </a:ln>
        </p:spPr>
      </p:sp>
      <p:sp>
        <p:nvSpPr>
          <p:cNvPr id="9" name="Text 7"/>
          <p:cNvSpPr txBox="1"/>
          <p:nvPr/>
        </p:nvSpPr>
        <p:spPr>
          <a:xfrm>
            <a:off x="8659368" y="1664208"/>
            <a:ext cx="310896" cy="310896"/>
          </a:xfrm>
          <a:prstGeom prst="rect">
            <a:avLst/>
          </a:prstGeom>
          <a:noFill/>
          <a:ln/>
        </p:spPr>
        <p:txBody>
          <a:bodyPr wrap="square" lIns="0" tIns="0" rIns="0" bIns="0" rtlCol="0" anchor="ctr"/>
          <a:lstStyle/>
          <a:p>
            <a:pPr algn="ctr" indent="0" marL="0">
              <a:buNone/>
            </a:pPr>
            <a:r>
              <a:rPr lang="en-US" sz="1000" b="1" dirty="0">
                <a:solidFill>
                  <a:srgbClr val="8A6612"/>
                </a:solidFill>
                <a:latin typeface="Courier New" pitchFamily="34" charset="0"/>
                <a:ea typeface="Courier New" pitchFamily="34" charset="-122"/>
                <a:cs typeface="Courier New" pitchFamily="34" charset="-120"/>
              </a:rPr>
              <a:t>2</a:t>
            </a:r>
            <a:endParaRPr lang="en-US" sz="1000" dirty="0"/>
          </a:p>
        </p:txBody>
      </p:sp>
      <p:sp>
        <p:nvSpPr>
          <p:cNvPr id="10" name="Text 8"/>
          <p:cNvSpPr txBox="1"/>
          <p:nvPr/>
        </p:nvSpPr>
        <p:spPr>
          <a:xfrm>
            <a:off x="9098280" y="1673352"/>
            <a:ext cx="2377440" cy="914400"/>
          </a:xfrm>
          <a:prstGeom prst="rect">
            <a:avLst/>
          </a:prstGeom>
          <a:noFill/>
          <a:ln/>
        </p:spPr>
        <p:txBody>
          <a:bodyPr wrap="square" lIns="0" tIns="0" rIns="0" bIns="0" rtlCol="0" anchor="t"/>
          <a:lstStyle/>
          <a:p>
            <a:pPr indent="0" marL="0">
              <a:lnSpc>
                <a:spcPts val="1775"/>
              </a:lnSpc>
              <a:buNone/>
            </a:pPr>
            <a:r>
              <a:rPr lang="en-US" sz="1250" dirty="0">
                <a:solidFill>
                  <a:srgbClr val="3A3733"/>
                </a:solidFill>
                <a:latin typeface="Calibri" pitchFamily="34" charset="0"/>
                <a:ea typeface="Calibri" pitchFamily="34" charset="-122"/>
                <a:cs typeface="Calibri" pitchFamily="34" charset="-120"/>
              </a:rPr>
              <a:t>Separate the material facts from the missing ones</a:t>
            </a:r>
            <a:endParaRPr lang="en-US" sz="1250" dirty="0"/>
          </a:p>
        </p:txBody>
      </p:sp>
      <p:sp>
        <p:nvSpPr>
          <p:cNvPr id="11" name="Shape 9"/>
          <p:cNvSpPr/>
          <p:nvPr/>
        </p:nvSpPr>
        <p:spPr>
          <a:xfrm>
            <a:off x="5623560" y="2743200"/>
            <a:ext cx="310896" cy="310896"/>
          </a:xfrm>
          <a:prstGeom prst="ellipse">
            <a:avLst/>
          </a:prstGeom>
          <a:solidFill>
            <a:srgbClr val="FDEEC0"/>
          </a:solidFill>
          <a:ln w="9525">
            <a:solidFill>
              <a:srgbClr val="F0D896"/>
            </a:solidFill>
            <a:prstDash val="solid"/>
          </a:ln>
        </p:spPr>
      </p:sp>
      <p:sp>
        <p:nvSpPr>
          <p:cNvPr id="12" name="Text 10"/>
          <p:cNvSpPr txBox="1"/>
          <p:nvPr/>
        </p:nvSpPr>
        <p:spPr>
          <a:xfrm>
            <a:off x="5623560" y="2743200"/>
            <a:ext cx="310896" cy="310896"/>
          </a:xfrm>
          <a:prstGeom prst="rect">
            <a:avLst/>
          </a:prstGeom>
          <a:noFill/>
          <a:ln/>
        </p:spPr>
        <p:txBody>
          <a:bodyPr wrap="square" lIns="0" tIns="0" rIns="0" bIns="0" rtlCol="0" anchor="ctr"/>
          <a:lstStyle/>
          <a:p>
            <a:pPr algn="ctr" indent="0" marL="0">
              <a:buNone/>
            </a:pPr>
            <a:r>
              <a:rPr lang="en-US" sz="1000" b="1" dirty="0">
                <a:solidFill>
                  <a:srgbClr val="8A6612"/>
                </a:solidFill>
                <a:latin typeface="Courier New" pitchFamily="34" charset="0"/>
                <a:ea typeface="Courier New" pitchFamily="34" charset="-122"/>
                <a:cs typeface="Courier New" pitchFamily="34" charset="-120"/>
              </a:rPr>
              <a:t>3</a:t>
            </a:r>
            <a:endParaRPr lang="en-US" sz="1000" dirty="0"/>
          </a:p>
        </p:txBody>
      </p:sp>
      <p:sp>
        <p:nvSpPr>
          <p:cNvPr id="13" name="Text 11"/>
          <p:cNvSpPr txBox="1"/>
          <p:nvPr/>
        </p:nvSpPr>
        <p:spPr>
          <a:xfrm>
            <a:off x="6062472" y="2752344"/>
            <a:ext cx="2377440" cy="914400"/>
          </a:xfrm>
          <a:prstGeom prst="rect">
            <a:avLst/>
          </a:prstGeom>
          <a:noFill/>
          <a:ln/>
        </p:spPr>
        <p:txBody>
          <a:bodyPr wrap="square" lIns="0" tIns="0" rIns="0" bIns="0" rtlCol="0" anchor="t"/>
          <a:lstStyle/>
          <a:p>
            <a:pPr indent="0" marL="0">
              <a:lnSpc>
                <a:spcPts val="1775"/>
              </a:lnSpc>
              <a:buNone/>
            </a:pPr>
            <a:r>
              <a:rPr lang="en-US" sz="1250" dirty="0">
                <a:solidFill>
                  <a:srgbClr val="3A3733"/>
                </a:solidFill>
                <a:latin typeface="Calibri" pitchFamily="34" charset="0"/>
                <a:ea typeface="Calibri" pitchFamily="34" charset="-122"/>
                <a:cs typeface="Calibri" pitchFamily="34" charset="-120"/>
              </a:rPr>
              <a:t>Find the prior decision and playbook that already govern this</a:t>
            </a:r>
            <a:endParaRPr lang="en-US" sz="1250" dirty="0"/>
          </a:p>
        </p:txBody>
      </p:sp>
      <p:sp>
        <p:nvSpPr>
          <p:cNvPr id="14" name="Shape 12"/>
          <p:cNvSpPr/>
          <p:nvPr/>
        </p:nvSpPr>
        <p:spPr>
          <a:xfrm>
            <a:off x="8659368" y="2743200"/>
            <a:ext cx="310896" cy="310896"/>
          </a:xfrm>
          <a:prstGeom prst="ellipse">
            <a:avLst/>
          </a:prstGeom>
          <a:solidFill>
            <a:srgbClr val="FDEEC0"/>
          </a:solidFill>
          <a:ln w="9525">
            <a:solidFill>
              <a:srgbClr val="F0D896"/>
            </a:solidFill>
            <a:prstDash val="solid"/>
          </a:ln>
        </p:spPr>
      </p:sp>
      <p:sp>
        <p:nvSpPr>
          <p:cNvPr id="15" name="Text 13"/>
          <p:cNvSpPr txBox="1"/>
          <p:nvPr/>
        </p:nvSpPr>
        <p:spPr>
          <a:xfrm>
            <a:off x="8659368" y="2743200"/>
            <a:ext cx="310896" cy="310896"/>
          </a:xfrm>
          <a:prstGeom prst="rect">
            <a:avLst/>
          </a:prstGeom>
          <a:noFill/>
          <a:ln/>
        </p:spPr>
        <p:txBody>
          <a:bodyPr wrap="square" lIns="0" tIns="0" rIns="0" bIns="0" rtlCol="0" anchor="ctr"/>
          <a:lstStyle/>
          <a:p>
            <a:pPr algn="ctr" indent="0" marL="0">
              <a:buNone/>
            </a:pPr>
            <a:r>
              <a:rPr lang="en-US" sz="1000" b="1" dirty="0">
                <a:solidFill>
                  <a:srgbClr val="8A6612"/>
                </a:solidFill>
                <a:latin typeface="Courier New" pitchFamily="34" charset="0"/>
                <a:ea typeface="Courier New" pitchFamily="34" charset="-122"/>
                <a:cs typeface="Courier New" pitchFamily="34" charset="-120"/>
              </a:rPr>
              <a:t>4</a:t>
            </a:r>
            <a:endParaRPr lang="en-US" sz="1000" dirty="0"/>
          </a:p>
        </p:txBody>
      </p:sp>
      <p:sp>
        <p:nvSpPr>
          <p:cNvPr id="16" name="Text 14"/>
          <p:cNvSpPr txBox="1"/>
          <p:nvPr/>
        </p:nvSpPr>
        <p:spPr>
          <a:xfrm>
            <a:off x="9098280" y="2752344"/>
            <a:ext cx="2377440" cy="914400"/>
          </a:xfrm>
          <a:prstGeom prst="rect">
            <a:avLst/>
          </a:prstGeom>
          <a:noFill/>
          <a:ln/>
        </p:spPr>
        <p:txBody>
          <a:bodyPr wrap="square" lIns="0" tIns="0" rIns="0" bIns="0" rtlCol="0" anchor="t"/>
          <a:lstStyle/>
          <a:p>
            <a:pPr indent="0" marL="0">
              <a:lnSpc>
                <a:spcPts val="1775"/>
              </a:lnSpc>
              <a:buNone/>
            </a:pPr>
            <a:r>
              <a:rPr lang="en-US" sz="1250" dirty="0">
                <a:solidFill>
                  <a:srgbClr val="3A3733"/>
                </a:solidFill>
                <a:latin typeface="Calibri" pitchFamily="34" charset="0"/>
                <a:ea typeface="Calibri" pitchFamily="34" charset="-122"/>
                <a:cs typeface="Calibri" pitchFamily="34" charset="-120"/>
              </a:rPr>
              <a:t>Decide what research is even necessary</a:t>
            </a:r>
            <a:endParaRPr lang="en-US" sz="1250" dirty="0"/>
          </a:p>
        </p:txBody>
      </p:sp>
      <p:sp>
        <p:nvSpPr>
          <p:cNvPr id="17" name="Shape 15"/>
          <p:cNvSpPr/>
          <p:nvPr/>
        </p:nvSpPr>
        <p:spPr>
          <a:xfrm>
            <a:off x="5623560" y="3822192"/>
            <a:ext cx="310896" cy="310896"/>
          </a:xfrm>
          <a:prstGeom prst="ellipse">
            <a:avLst/>
          </a:prstGeom>
          <a:solidFill>
            <a:srgbClr val="FDEEC0"/>
          </a:solidFill>
          <a:ln w="9525">
            <a:solidFill>
              <a:srgbClr val="F0D896"/>
            </a:solidFill>
            <a:prstDash val="solid"/>
          </a:ln>
        </p:spPr>
      </p:sp>
      <p:sp>
        <p:nvSpPr>
          <p:cNvPr id="18" name="Text 16"/>
          <p:cNvSpPr txBox="1"/>
          <p:nvPr/>
        </p:nvSpPr>
        <p:spPr>
          <a:xfrm>
            <a:off x="5623560" y="3822192"/>
            <a:ext cx="310896" cy="310896"/>
          </a:xfrm>
          <a:prstGeom prst="rect">
            <a:avLst/>
          </a:prstGeom>
          <a:noFill/>
          <a:ln/>
        </p:spPr>
        <p:txBody>
          <a:bodyPr wrap="square" lIns="0" tIns="0" rIns="0" bIns="0" rtlCol="0" anchor="ctr"/>
          <a:lstStyle/>
          <a:p>
            <a:pPr algn="ctr" indent="0" marL="0">
              <a:buNone/>
            </a:pPr>
            <a:r>
              <a:rPr lang="en-US" sz="1000" b="1" dirty="0">
                <a:solidFill>
                  <a:srgbClr val="8A6612"/>
                </a:solidFill>
                <a:latin typeface="Courier New" pitchFamily="34" charset="0"/>
                <a:ea typeface="Courier New" pitchFamily="34" charset="-122"/>
                <a:cs typeface="Courier New" pitchFamily="34" charset="-120"/>
              </a:rPr>
              <a:t>5</a:t>
            </a:r>
            <a:endParaRPr lang="en-US" sz="1000" dirty="0"/>
          </a:p>
        </p:txBody>
      </p:sp>
      <p:sp>
        <p:nvSpPr>
          <p:cNvPr id="19" name="Text 17"/>
          <p:cNvSpPr txBox="1"/>
          <p:nvPr/>
        </p:nvSpPr>
        <p:spPr>
          <a:xfrm>
            <a:off x="6062472" y="3831336"/>
            <a:ext cx="2377440" cy="914400"/>
          </a:xfrm>
          <a:prstGeom prst="rect">
            <a:avLst/>
          </a:prstGeom>
          <a:noFill/>
          <a:ln/>
        </p:spPr>
        <p:txBody>
          <a:bodyPr wrap="square" lIns="0" tIns="0" rIns="0" bIns="0" rtlCol="0" anchor="t"/>
          <a:lstStyle/>
          <a:p>
            <a:pPr indent="0" marL="0">
              <a:lnSpc>
                <a:spcPts val="1775"/>
              </a:lnSpc>
              <a:buNone/>
            </a:pPr>
            <a:r>
              <a:rPr lang="en-US" sz="1250" dirty="0">
                <a:solidFill>
                  <a:srgbClr val="3A3733"/>
                </a:solidFill>
                <a:latin typeface="Calibri" pitchFamily="34" charset="0"/>
                <a:ea typeface="Calibri" pitchFamily="34" charset="-122"/>
                <a:cs typeface="Calibri" pitchFamily="34" charset="-120"/>
              </a:rPr>
              <a:t>Draft the response, then track what was decided</a:t>
            </a:r>
            <a:endParaRPr lang="en-US" sz="1250" dirty="0"/>
          </a:p>
        </p:txBody>
      </p:sp>
      <p:sp>
        <p:nvSpPr>
          <p:cNvPr id="20" name="Shape 18"/>
          <p:cNvSpPr/>
          <p:nvPr/>
        </p:nvSpPr>
        <p:spPr>
          <a:xfrm>
            <a:off x="8659368" y="3822192"/>
            <a:ext cx="310896" cy="310896"/>
          </a:xfrm>
          <a:prstGeom prst="ellipse">
            <a:avLst/>
          </a:prstGeom>
          <a:solidFill>
            <a:srgbClr val="FDEEC0"/>
          </a:solidFill>
          <a:ln w="9525">
            <a:solidFill>
              <a:srgbClr val="F0D896"/>
            </a:solidFill>
            <a:prstDash val="solid"/>
          </a:ln>
        </p:spPr>
      </p:sp>
      <p:sp>
        <p:nvSpPr>
          <p:cNvPr id="21" name="Text 19"/>
          <p:cNvSpPr txBox="1"/>
          <p:nvPr/>
        </p:nvSpPr>
        <p:spPr>
          <a:xfrm>
            <a:off x="8659368" y="3822192"/>
            <a:ext cx="310896" cy="310896"/>
          </a:xfrm>
          <a:prstGeom prst="rect">
            <a:avLst/>
          </a:prstGeom>
          <a:noFill/>
          <a:ln/>
        </p:spPr>
        <p:txBody>
          <a:bodyPr wrap="square" lIns="0" tIns="0" rIns="0" bIns="0" rtlCol="0" anchor="ctr"/>
          <a:lstStyle/>
          <a:p>
            <a:pPr algn="ctr" indent="0" marL="0">
              <a:buNone/>
            </a:pPr>
            <a:r>
              <a:rPr lang="en-US" sz="1000" b="1" dirty="0">
                <a:solidFill>
                  <a:srgbClr val="8A6612"/>
                </a:solidFill>
                <a:latin typeface="Courier New" pitchFamily="34" charset="0"/>
                <a:ea typeface="Courier New" pitchFamily="34" charset="-122"/>
                <a:cs typeface="Courier New" pitchFamily="34" charset="-120"/>
              </a:rPr>
              <a:t>6</a:t>
            </a:r>
            <a:endParaRPr lang="en-US" sz="1000" dirty="0"/>
          </a:p>
        </p:txBody>
      </p:sp>
      <p:sp>
        <p:nvSpPr>
          <p:cNvPr id="22" name="Text 20"/>
          <p:cNvSpPr txBox="1"/>
          <p:nvPr/>
        </p:nvSpPr>
        <p:spPr>
          <a:xfrm>
            <a:off x="9098280" y="3831336"/>
            <a:ext cx="2377440" cy="914400"/>
          </a:xfrm>
          <a:prstGeom prst="rect">
            <a:avLst/>
          </a:prstGeom>
          <a:noFill/>
          <a:ln/>
        </p:spPr>
        <p:txBody>
          <a:bodyPr wrap="square" lIns="0" tIns="0" rIns="0" bIns="0" rtlCol="0" anchor="t"/>
          <a:lstStyle/>
          <a:p>
            <a:pPr indent="0" marL="0">
              <a:lnSpc>
                <a:spcPts val="1775"/>
              </a:lnSpc>
              <a:buNone/>
            </a:pPr>
            <a:r>
              <a:rPr lang="en-US" sz="1250" dirty="0">
                <a:solidFill>
                  <a:srgbClr val="3A3733"/>
                </a:solidFill>
                <a:latin typeface="Calibri" pitchFamily="34" charset="0"/>
                <a:ea typeface="Calibri" pitchFamily="34" charset="-122"/>
                <a:cs typeface="Calibri" pitchFamily="34" charset="-120"/>
              </a:rPr>
              <a:t>Revisit it when the law, the product, or the facts move</a:t>
            </a:r>
            <a:endParaRPr lang="en-US" sz="1250" dirty="0"/>
          </a:p>
        </p:txBody>
      </p:sp>
      <p:sp>
        <p:nvSpPr>
          <p:cNvPr id="23" name="Shape 21"/>
          <p:cNvSpPr/>
          <p:nvPr/>
        </p:nvSpPr>
        <p:spPr>
          <a:xfrm>
            <a:off x="640080" y="3154680"/>
            <a:ext cx="4572000" cy="1417320"/>
          </a:xfrm>
          <a:prstGeom prst="roundRect">
            <a:avLst>
              <a:gd name="adj" fmla="val 3871"/>
            </a:avLst>
          </a:prstGeom>
          <a:solidFill>
            <a:srgbClr val="FFFDF4"/>
          </a:solidFill>
          <a:ln w="9525">
            <a:solidFill>
              <a:srgbClr val="F0D896"/>
            </a:solidFill>
            <a:prstDash val="solid"/>
          </a:ln>
        </p:spPr>
      </p:sp>
      <p:sp>
        <p:nvSpPr>
          <p:cNvPr id="24" name="Text 22"/>
          <p:cNvSpPr txBox="1"/>
          <p:nvPr/>
        </p:nvSpPr>
        <p:spPr>
          <a:xfrm>
            <a:off x="914400" y="3154680"/>
            <a:ext cx="4023360" cy="1417320"/>
          </a:xfrm>
          <a:prstGeom prst="rect">
            <a:avLst/>
          </a:prstGeom>
          <a:noFill/>
          <a:ln/>
        </p:spPr>
        <p:txBody>
          <a:bodyPr wrap="square" lIns="0" tIns="0" rIns="0" bIns="0" rtlCol="0" anchor="ctr"/>
          <a:lstStyle/>
          <a:p>
            <a:pPr indent="0" marL="0">
              <a:lnSpc>
                <a:spcPts val="2200"/>
              </a:lnSpc>
              <a:buNone/>
            </a:pPr>
            <a:r>
              <a:rPr lang="en-US" sz="1500" i="1" dirty="0">
                <a:solidFill>
                  <a:srgbClr val="1B1A17"/>
                </a:solidFill>
                <a:latin typeface="Cambria" pitchFamily="34" charset="0"/>
                <a:ea typeface="Cambria" pitchFamily="34" charset="-122"/>
                <a:cs typeface="Cambria" pitchFamily="34" charset="-120"/>
              </a:rPr>
              <a:t>Every one of these happens before the lawyer does the one thing only the lawyer can do.</a:t>
            </a:r>
            <a:endParaRPr lang="en-US" sz="1500" dirty="0"/>
          </a:p>
        </p:txBody>
      </p:sp>
      <p:sp>
        <p:nvSpPr>
          <p:cNvPr id="25" name="Text 23"/>
          <p:cNvSpPr txBox="1"/>
          <p:nvPr/>
        </p:nvSpPr>
        <p:spPr>
          <a:xfrm>
            <a:off x="640080" y="4956048"/>
            <a:ext cx="10881360" cy="822960"/>
          </a:xfrm>
          <a:prstGeom prst="rect">
            <a:avLst/>
          </a:prstGeom>
          <a:noFill/>
          <a:ln/>
        </p:spPr>
        <p:txBody>
          <a:bodyPr wrap="square" lIns="0" tIns="0" rIns="0" bIns="0" rtlCol="0" anchor="t"/>
          <a:lstStyle/>
          <a:p>
            <a:pPr indent="0" marL="0">
              <a:lnSpc>
                <a:spcPts val="1917"/>
              </a:lnSpc>
              <a:buNone/>
            </a:pPr>
            <a:r>
              <a:rPr lang="en-US" sz="1350" dirty="0">
                <a:solidFill>
                  <a:srgbClr val="55524B"/>
                </a:solidFill>
                <a:latin typeface="Calibri" pitchFamily="34" charset="0"/>
                <a:ea typeface="Calibri" pitchFamily="34" charset="-122"/>
                <a:cs typeface="Calibri" pitchFamily="34" charset="-120"/>
              </a:rPr>
              <a:t>Existing tools store documents, manage tasks, or answer isolated questions. None of them organises the path from intake to decision the way a product lawyer actually thinks about the work.</a:t>
            </a:r>
            <a:endParaRPr lang="en-US" sz="1350" dirty="0"/>
          </a:p>
        </p:txBody>
      </p:sp>
      <p:sp>
        <p:nvSpPr>
          <p:cNvPr id="26" name="Text 24"/>
          <p:cNvSpPr txBox="1"/>
          <p:nvPr/>
        </p:nvSpPr>
        <p:spPr>
          <a:xfrm>
            <a:off x="11094415" y="6355080"/>
            <a:ext cx="457200" cy="219456"/>
          </a:xfrm>
          <a:prstGeom prst="rect">
            <a:avLst/>
          </a:prstGeom>
          <a:noFill/>
          <a:ln/>
        </p:spPr>
        <p:txBody>
          <a:bodyPr wrap="square" lIns="0" tIns="0" rIns="0" bIns="0" rtlCol="0" anchor="ctr"/>
          <a:lstStyle/>
          <a:p>
            <a:pPr algn="r" indent="0" marL="0">
              <a:buNone/>
            </a:pPr>
            <a:r>
              <a:rPr lang="en-US" sz="900" dirty="0">
                <a:solidFill>
                  <a:srgbClr val="A8A298"/>
                </a:solidFill>
                <a:latin typeface="Courier New" pitchFamily="34" charset="0"/>
                <a:ea typeface="Courier New" pitchFamily="34" charset="-122"/>
                <a:cs typeface="Courier New"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75488"/>
            <a:ext cx="10881360" cy="237744"/>
          </a:xfrm>
          <a:prstGeom prst="rect">
            <a:avLst/>
          </a:prstGeom>
          <a:noFill/>
          <a:ln/>
        </p:spPr>
        <p:txBody>
          <a:bodyPr wrap="square" lIns="0" tIns="0" rIns="0" bIns="0" rtlCol="0" anchor="ctr"/>
          <a:lstStyle/>
          <a:p>
            <a:pPr indent="0" marL="0">
              <a:buNone/>
            </a:pPr>
            <a:r>
              <a:rPr lang="en-US" sz="950" b="1" spc="160" kern="0" dirty="0">
                <a:solidFill>
                  <a:srgbClr val="5F5B54"/>
                </a:solidFill>
                <a:latin typeface="Courier New" pitchFamily="34" charset="0"/>
                <a:ea typeface="Courier New" pitchFamily="34" charset="-122"/>
                <a:cs typeface="Courier New" pitchFamily="34" charset="-120"/>
              </a:rPr>
              <a:t>PRIMARY RESEARCH  ·  203 DE-DUPLICATED REDDIT THREADS  ·  MARCH–AUGUST 2026</a:t>
            </a:r>
            <a:endParaRPr lang="en-US" sz="950" dirty="0"/>
          </a:p>
        </p:txBody>
      </p:sp>
      <p:sp>
        <p:nvSpPr>
          <p:cNvPr id="3" name="Text 1"/>
          <p:cNvSpPr txBox="1"/>
          <p:nvPr/>
        </p:nvSpPr>
        <p:spPr>
          <a:xfrm>
            <a:off x="640080" y="768096"/>
            <a:ext cx="10881360" cy="713232"/>
          </a:xfrm>
          <a:prstGeom prst="rect">
            <a:avLst/>
          </a:prstGeom>
          <a:noFill/>
          <a:ln/>
        </p:spPr>
        <p:txBody>
          <a:bodyPr wrap="square" lIns="0" tIns="0" rIns="0" bIns="0" rtlCol="0" anchor="t"/>
          <a:lstStyle/>
          <a:p>
            <a:pPr indent="0" marL="0">
              <a:lnSpc>
                <a:spcPts val="3696"/>
              </a:lnSpc>
              <a:buNone/>
            </a:pPr>
            <a:r>
              <a:rPr lang="en-US" sz="3300" b="1" dirty="0">
                <a:solidFill>
                  <a:srgbClr val="1B1A17"/>
                </a:solidFill>
                <a:latin typeface="Cambria" pitchFamily="34" charset="0"/>
                <a:ea typeface="Cambria" pitchFamily="34" charset="-122"/>
                <a:cs typeface="Cambria" pitchFamily="34" charset="-120"/>
              </a:rPr>
              <a:t>The buyers are already saying what is missing</a:t>
            </a:r>
            <a:endParaRPr lang="en-US" sz="3300" dirty="0"/>
          </a:p>
        </p:txBody>
      </p:sp>
      <p:sp>
        <p:nvSpPr>
          <p:cNvPr id="4" name="Shape 2"/>
          <p:cNvSpPr/>
          <p:nvPr/>
        </p:nvSpPr>
        <p:spPr>
          <a:xfrm>
            <a:off x="640080" y="1645920"/>
            <a:ext cx="5212080" cy="1645920"/>
          </a:xfrm>
          <a:prstGeom prst="roundRect">
            <a:avLst>
              <a:gd name="adj" fmla="val 3333"/>
            </a:avLst>
          </a:prstGeom>
          <a:solidFill>
            <a:srgbClr val="FFFEFB"/>
          </a:solidFill>
          <a:ln w="9525">
            <a:solidFill>
              <a:srgbClr val="DED9D0"/>
            </a:solidFill>
            <a:prstDash val="solid"/>
          </a:ln>
        </p:spPr>
      </p:sp>
      <p:sp>
        <p:nvSpPr>
          <p:cNvPr id="5" name="Shape 3"/>
          <p:cNvSpPr/>
          <p:nvPr/>
        </p:nvSpPr>
        <p:spPr>
          <a:xfrm>
            <a:off x="914400" y="1938528"/>
            <a:ext cx="118872" cy="118872"/>
          </a:xfrm>
          <a:prstGeom prst="ellipse">
            <a:avLst/>
          </a:prstGeom>
          <a:solidFill>
            <a:srgbClr val="B33A20"/>
          </a:solidFill>
          <a:ln w="12700">
            <a:solidFill>
              <a:srgbClr val="B33A20"/>
            </a:solidFill>
            <a:prstDash val="solid"/>
          </a:ln>
        </p:spPr>
      </p:sp>
      <p:sp>
        <p:nvSpPr>
          <p:cNvPr id="6" name="Text 4"/>
          <p:cNvSpPr txBox="1"/>
          <p:nvPr/>
        </p:nvSpPr>
        <p:spPr>
          <a:xfrm>
            <a:off x="1143000" y="1847088"/>
            <a:ext cx="4480560" cy="932688"/>
          </a:xfrm>
          <a:prstGeom prst="rect">
            <a:avLst/>
          </a:prstGeom>
          <a:noFill/>
          <a:ln/>
        </p:spPr>
        <p:txBody>
          <a:bodyPr wrap="square" lIns="0" tIns="0" rIns="0" bIns="0" rtlCol="0" anchor="t"/>
          <a:lstStyle/>
          <a:p>
            <a:pPr indent="0" marL="0">
              <a:lnSpc>
                <a:spcPts val="1900"/>
              </a:lnSpc>
              <a:buNone/>
            </a:pPr>
            <a:r>
              <a:rPr lang="en-US" sz="1350" dirty="0">
                <a:solidFill>
                  <a:srgbClr val="1B1A17"/>
                </a:solidFill>
                <a:latin typeface="Cambria" pitchFamily="34" charset="0"/>
                <a:ea typeface="Cambria" pitchFamily="34" charset="-122"/>
                <a:cs typeface="Cambria" pitchFamily="34" charset="-120"/>
              </a:rPr>
              <a:t>“We had access to each system for ~3 weeks… The only one that caught it without further prompting was Claude Opus.”</a:t>
            </a:r>
            <a:endParaRPr lang="en-US" sz="1350" dirty="0"/>
          </a:p>
        </p:txBody>
      </p:sp>
      <p:sp>
        <p:nvSpPr>
          <p:cNvPr id="7" name="Text 5"/>
          <p:cNvSpPr txBox="1"/>
          <p:nvPr/>
        </p:nvSpPr>
        <p:spPr>
          <a:xfrm>
            <a:off x="1143000" y="2743200"/>
            <a:ext cx="4480560" cy="475488"/>
          </a:xfrm>
          <a:prstGeom prst="rect">
            <a:avLst/>
          </a:prstGeom>
          <a:noFill/>
          <a:ln/>
        </p:spPr>
        <p:txBody>
          <a:bodyPr wrap="square" lIns="0" tIns="0" rIns="0" bIns="0" rtlCol="0" anchor="t"/>
          <a:lstStyle/>
          <a:p>
            <a:pPr indent="0" marL="0">
              <a:lnSpc>
                <a:spcPts val="1300"/>
              </a:lnSpc>
              <a:buNone/>
            </a:pPr>
            <a:r>
              <a:rPr lang="en-US" sz="1000" dirty="0">
                <a:solidFill>
                  <a:srgbClr val="5F5B54"/>
                </a:solidFill>
                <a:latin typeface="Calibri" pitchFamily="34" charset="0"/>
                <a:ea typeface="Calibri" pitchFamily="34" charset="-122"/>
                <a:cs typeface="Calibri" pitchFamily="34" charset="-120"/>
              </a:rPr>
              <a:t>~30-attorney firm, after trialing CoCounsel, Harvey and Legora — then building its own tool instead.  r/legaltech, Aug 30 2026</a:t>
            </a:r>
            <a:endParaRPr lang="en-US" sz="1000" dirty="0"/>
          </a:p>
        </p:txBody>
      </p:sp>
      <p:sp>
        <p:nvSpPr>
          <p:cNvPr id="8" name="Shape 6"/>
          <p:cNvSpPr/>
          <p:nvPr/>
        </p:nvSpPr>
        <p:spPr>
          <a:xfrm>
            <a:off x="6172200" y="1645920"/>
            <a:ext cx="5212080" cy="1645920"/>
          </a:xfrm>
          <a:prstGeom prst="roundRect">
            <a:avLst>
              <a:gd name="adj" fmla="val 3333"/>
            </a:avLst>
          </a:prstGeom>
          <a:solidFill>
            <a:srgbClr val="FFFEFB"/>
          </a:solidFill>
          <a:ln w="9525">
            <a:solidFill>
              <a:srgbClr val="DED9D0"/>
            </a:solidFill>
            <a:prstDash val="solid"/>
          </a:ln>
        </p:spPr>
      </p:sp>
      <p:sp>
        <p:nvSpPr>
          <p:cNvPr id="9" name="Shape 7"/>
          <p:cNvSpPr/>
          <p:nvPr/>
        </p:nvSpPr>
        <p:spPr>
          <a:xfrm>
            <a:off x="6446520" y="1938528"/>
            <a:ext cx="118872" cy="118872"/>
          </a:xfrm>
          <a:prstGeom prst="ellipse">
            <a:avLst/>
          </a:prstGeom>
          <a:solidFill>
            <a:srgbClr val="B33A20"/>
          </a:solidFill>
          <a:ln w="12700">
            <a:solidFill>
              <a:srgbClr val="B33A20"/>
            </a:solidFill>
            <a:prstDash val="solid"/>
          </a:ln>
        </p:spPr>
      </p:sp>
      <p:sp>
        <p:nvSpPr>
          <p:cNvPr id="10" name="Text 8"/>
          <p:cNvSpPr txBox="1"/>
          <p:nvPr/>
        </p:nvSpPr>
        <p:spPr>
          <a:xfrm>
            <a:off x="6675120" y="1847088"/>
            <a:ext cx="4480560" cy="932688"/>
          </a:xfrm>
          <a:prstGeom prst="rect">
            <a:avLst/>
          </a:prstGeom>
          <a:noFill/>
          <a:ln/>
        </p:spPr>
        <p:txBody>
          <a:bodyPr wrap="square" lIns="0" tIns="0" rIns="0" bIns="0" rtlCol="0" anchor="t"/>
          <a:lstStyle/>
          <a:p>
            <a:pPr indent="0" marL="0">
              <a:lnSpc>
                <a:spcPts val="1900"/>
              </a:lnSpc>
              <a:buNone/>
            </a:pPr>
            <a:r>
              <a:rPr lang="en-US" sz="1350" dirty="0">
                <a:solidFill>
                  <a:srgbClr val="1B1A17"/>
                </a:solidFill>
                <a:latin typeface="Cambria" pitchFamily="34" charset="0"/>
                <a:ea typeface="Cambria" pitchFamily="34" charset="-122"/>
                <a:cs typeface="Cambria" pitchFamily="34" charset="-120"/>
              </a:rPr>
              <a:t>“For 5 Harvey seats (minimum), 12 months lock-in, I was told it was USD $425/seat/month.”</a:t>
            </a:r>
            <a:endParaRPr lang="en-US" sz="1350" dirty="0"/>
          </a:p>
        </p:txBody>
      </p:sp>
      <p:sp>
        <p:nvSpPr>
          <p:cNvPr id="11" name="Text 9"/>
          <p:cNvSpPr txBox="1"/>
          <p:nvPr/>
        </p:nvSpPr>
        <p:spPr>
          <a:xfrm>
            <a:off x="6675120" y="2743200"/>
            <a:ext cx="4480560" cy="475488"/>
          </a:xfrm>
          <a:prstGeom prst="rect">
            <a:avLst/>
          </a:prstGeom>
          <a:noFill/>
          <a:ln/>
        </p:spPr>
        <p:txBody>
          <a:bodyPr wrap="square" lIns="0" tIns="0" rIns="0" bIns="0" rtlCol="0" anchor="t"/>
          <a:lstStyle/>
          <a:p>
            <a:pPr indent="0" marL="0">
              <a:lnSpc>
                <a:spcPts val="1300"/>
              </a:lnSpc>
              <a:buNone/>
            </a:pPr>
            <a:r>
              <a:rPr lang="en-US" sz="1000" dirty="0">
                <a:solidFill>
                  <a:srgbClr val="5F5B54"/>
                </a:solidFill>
                <a:latin typeface="Calibri" pitchFamily="34" charset="0"/>
                <a:ea typeface="Calibri" pitchFamily="34" charset="-122"/>
                <a:cs typeface="Calibri" pitchFamily="34" charset="-120"/>
              </a:rPr>
              <a:t>A 3-attorney legal department separately rejected roughly $30,000/year of the same product.  r/legaltech, Jul 20 2026</a:t>
            </a:r>
            <a:endParaRPr lang="en-US" sz="1000" dirty="0"/>
          </a:p>
        </p:txBody>
      </p:sp>
      <p:sp>
        <p:nvSpPr>
          <p:cNvPr id="12" name="Shape 10"/>
          <p:cNvSpPr/>
          <p:nvPr/>
        </p:nvSpPr>
        <p:spPr>
          <a:xfrm>
            <a:off x="640080" y="3456432"/>
            <a:ext cx="5212080" cy="1645920"/>
          </a:xfrm>
          <a:prstGeom prst="roundRect">
            <a:avLst>
              <a:gd name="adj" fmla="val 3333"/>
            </a:avLst>
          </a:prstGeom>
          <a:solidFill>
            <a:srgbClr val="FFFEFB"/>
          </a:solidFill>
          <a:ln w="9525">
            <a:solidFill>
              <a:srgbClr val="DED9D0"/>
            </a:solidFill>
            <a:prstDash val="solid"/>
          </a:ln>
        </p:spPr>
      </p:sp>
      <p:sp>
        <p:nvSpPr>
          <p:cNvPr id="13" name="Shape 11"/>
          <p:cNvSpPr/>
          <p:nvPr/>
        </p:nvSpPr>
        <p:spPr>
          <a:xfrm>
            <a:off x="914400" y="3749040"/>
            <a:ext cx="118872" cy="118872"/>
          </a:xfrm>
          <a:prstGeom prst="ellipse">
            <a:avLst/>
          </a:prstGeom>
          <a:solidFill>
            <a:srgbClr val="E0A008"/>
          </a:solidFill>
          <a:ln w="12700">
            <a:solidFill>
              <a:srgbClr val="E0A008"/>
            </a:solidFill>
            <a:prstDash val="solid"/>
          </a:ln>
        </p:spPr>
      </p:sp>
      <p:sp>
        <p:nvSpPr>
          <p:cNvPr id="14" name="Text 12"/>
          <p:cNvSpPr txBox="1"/>
          <p:nvPr/>
        </p:nvSpPr>
        <p:spPr>
          <a:xfrm>
            <a:off x="1143000" y="3657600"/>
            <a:ext cx="4480560" cy="932688"/>
          </a:xfrm>
          <a:prstGeom prst="rect">
            <a:avLst/>
          </a:prstGeom>
          <a:noFill/>
          <a:ln/>
        </p:spPr>
        <p:txBody>
          <a:bodyPr wrap="square" lIns="0" tIns="0" rIns="0" bIns="0" rtlCol="0" anchor="t"/>
          <a:lstStyle/>
          <a:p>
            <a:pPr indent="0" marL="0">
              <a:lnSpc>
                <a:spcPts val="1900"/>
              </a:lnSpc>
              <a:buNone/>
            </a:pPr>
            <a:r>
              <a:rPr lang="en-US" sz="1350" dirty="0">
                <a:solidFill>
                  <a:srgbClr val="1B1A17"/>
                </a:solidFill>
                <a:latin typeface="Cambria" pitchFamily="34" charset="0"/>
                <a:ea typeface="Cambria" pitchFamily="34" charset="-122"/>
                <a:cs typeface="Cambria" pitchFamily="34" charset="-120"/>
              </a:rPr>
              <a:t>“Each member just creates a Claude chat and uploads the contract, the playbook, and any additional context needed.”</a:t>
            </a:r>
            <a:endParaRPr lang="en-US" sz="1350" dirty="0"/>
          </a:p>
        </p:txBody>
      </p:sp>
      <p:sp>
        <p:nvSpPr>
          <p:cNvPr id="15" name="Text 13"/>
          <p:cNvSpPr txBox="1"/>
          <p:nvPr/>
        </p:nvSpPr>
        <p:spPr>
          <a:xfrm>
            <a:off x="1143000" y="4553712"/>
            <a:ext cx="4480560" cy="475488"/>
          </a:xfrm>
          <a:prstGeom prst="rect">
            <a:avLst/>
          </a:prstGeom>
          <a:noFill/>
          <a:ln/>
        </p:spPr>
        <p:txBody>
          <a:bodyPr wrap="square" lIns="0" tIns="0" rIns="0" bIns="0" rtlCol="0" anchor="t"/>
          <a:lstStyle/>
          <a:p>
            <a:pPr indent="0" marL="0">
              <a:lnSpc>
                <a:spcPts val="1300"/>
              </a:lnSpc>
              <a:buNone/>
            </a:pPr>
            <a:r>
              <a:rPr lang="en-US" sz="1000" dirty="0">
                <a:solidFill>
                  <a:srgbClr val="5F5B54"/>
                </a:solidFill>
                <a:latin typeface="Calibri" pitchFamily="34" charset="0"/>
                <a:ea typeface="Calibri" pitchFamily="34" charset="-122"/>
                <a:cs typeface="Calibri" pitchFamily="34" charset="-120"/>
              </a:rPr>
              <a:t>The context tax, paid again on every single matter.  r/legaltech, Apr 22 2026</a:t>
            </a:r>
            <a:endParaRPr lang="en-US" sz="1000" dirty="0"/>
          </a:p>
        </p:txBody>
      </p:sp>
      <p:sp>
        <p:nvSpPr>
          <p:cNvPr id="16" name="Shape 14"/>
          <p:cNvSpPr/>
          <p:nvPr/>
        </p:nvSpPr>
        <p:spPr>
          <a:xfrm>
            <a:off x="6172200" y="3456432"/>
            <a:ext cx="5212080" cy="1645920"/>
          </a:xfrm>
          <a:prstGeom prst="roundRect">
            <a:avLst>
              <a:gd name="adj" fmla="val 3333"/>
            </a:avLst>
          </a:prstGeom>
          <a:solidFill>
            <a:srgbClr val="FFFEFB"/>
          </a:solidFill>
          <a:ln w="9525">
            <a:solidFill>
              <a:srgbClr val="DED9D0"/>
            </a:solidFill>
            <a:prstDash val="solid"/>
          </a:ln>
        </p:spPr>
      </p:sp>
      <p:sp>
        <p:nvSpPr>
          <p:cNvPr id="17" name="Shape 15"/>
          <p:cNvSpPr/>
          <p:nvPr/>
        </p:nvSpPr>
        <p:spPr>
          <a:xfrm>
            <a:off x="6446520" y="3749040"/>
            <a:ext cx="118872" cy="118872"/>
          </a:xfrm>
          <a:prstGeom prst="ellipse">
            <a:avLst/>
          </a:prstGeom>
          <a:solidFill>
            <a:srgbClr val="E0A008"/>
          </a:solidFill>
          <a:ln w="12700">
            <a:solidFill>
              <a:srgbClr val="E0A008"/>
            </a:solidFill>
            <a:prstDash val="solid"/>
          </a:ln>
        </p:spPr>
      </p:sp>
      <p:sp>
        <p:nvSpPr>
          <p:cNvPr id="18" name="Text 16"/>
          <p:cNvSpPr txBox="1"/>
          <p:nvPr/>
        </p:nvSpPr>
        <p:spPr>
          <a:xfrm>
            <a:off x="6675120" y="3657600"/>
            <a:ext cx="4480560" cy="932688"/>
          </a:xfrm>
          <a:prstGeom prst="rect">
            <a:avLst/>
          </a:prstGeom>
          <a:noFill/>
          <a:ln/>
        </p:spPr>
        <p:txBody>
          <a:bodyPr wrap="square" lIns="0" tIns="0" rIns="0" bIns="0" rtlCol="0" anchor="t"/>
          <a:lstStyle/>
          <a:p>
            <a:pPr indent="0" marL="0">
              <a:lnSpc>
                <a:spcPts val="1900"/>
              </a:lnSpc>
              <a:buNone/>
            </a:pPr>
            <a:r>
              <a:rPr lang="en-US" sz="1350" dirty="0">
                <a:solidFill>
                  <a:srgbClr val="1B1A17"/>
                </a:solidFill>
                <a:latin typeface="Cambria" pitchFamily="34" charset="0"/>
                <a:ea typeface="Cambria" pitchFamily="34" charset="-122"/>
                <a:cs typeface="Cambria" pitchFamily="34" charset="-120"/>
              </a:rPr>
              <a:t>“I missed that AI had hallucinated an entire statutory provision.”</a:t>
            </a:r>
            <a:endParaRPr lang="en-US" sz="1350" dirty="0"/>
          </a:p>
        </p:txBody>
      </p:sp>
      <p:sp>
        <p:nvSpPr>
          <p:cNvPr id="19" name="Text 17"/>
          <p:cNvSpPr txBox="1"/>
          <p:nvPr/>
        </p:nvSpPr>
        <p:spPr>
          <a:xfrm>
            <a:off x="6675120" y="4553712"/>
            <a:ext cx="4480560" cy="475488"/>
          </a:xfrm>
          <a:prstGeom prst="rect">
            <a:avLst/>
          </a:prstGeom>
          <a:noFill/>
          <a:ln/>
        </p:spPr>
        <p:txBody>
          <a:bodyPr wrap="square" lIns="0" tIns="0" rIns="0" bIns="0" rtlCol="0" anchor="t"/>
          <a:lstStyle/>
          <a:p>
            <a:pPr indent="0" marL="0">
              <a:lnSpc>
                <a:spcPts val="1300"/>
              </a:lnSpc>
              <a:buNone/>
            </a:pPr>
            <a:r>
              <a:rPr lang="en-US" sz="1000" dirty="0">
                <a:solidFill>
                  <a:srgbClr val="5F5B54"/>
                </a:solidFill>
                <a:latin typeface="Calibri" pitchFamily="34" charset="0"/>
                <a:ea typeface="Calibri" pitchFamily="34" charset="-122"/>
                <a:cs typeface="Calibri" pitchFamily="34" charset="-120"/>
              </a:rPr>
              <a:t>A reviewer cite-checked an AI memo and still missed it. Proof is the product, not prose.  r/biglaw, Jun 6 2026</a:t>
            </a:r>
            <a:endParaRPr lang="en-US" sz="1000" dirty="0"/>
          </a:p>
        </p:txBody>
      </p:sp>
      <p:sp>
        <p:nvSpPr>
          <p:cNvPr id="20" name="Text 18"/>
          <p:cNvSpPr txBox="1"/>
          <p:nvPr/>
        </p:nvSpPr>
        <p:spPr>
          <a:xfrm>
            <a:off x="640080" y="5577840"/>
            <a:ext cx="10881360" cy="365760"/>
          </a:xfrm>
          <a:prstGeom prst="rect">
            <a:avLst/>
          </a:prstGeom>
          <a:noFill/>
          <a:ln/>
        </p:spPr>
        <p:txBody>
          <a:bodyPr wrap="square" lIns="0" tIns="0" rIns="0" bIns="0" rtlCol="0" anchor="t"/>
          <a:lstStyle/>
          <a:p>
            <a:pPr indent="0" marL="0">
              <a:lnSpc>
                <a:spcPts val="1562"/>
              </a:lnSpc>
              <a:buNone/>
            </a:pPr>
            <a:r>
              <a:rPr lang="en-US" sz="1100" dirty="0">
                <a:solidFill>
                  <a:srgbClr val="5F5B54"/>
                </a:solidFill>
                <a:latin typeface="Courier New" pitchFamily="34" charset="0"/>
                <a:ea typeface="Courier New" pitchFamily="34" charset="-122"/>
                <a:cs typeface="Courier New" pitchFamily="34" charset="-120"/>
              </a:rPr>
              <a:t>r/legaltech 75  ·  r/biglaw 39  ·  r/Lawyertalk 30  ·  r/LawFirm 23  ·  every claim carries a URL, a date and a confidence grade</a:t>
            </a:r>
            <a:endParaRPr lang="en-US" sz="1100" dirty="0"/>
          </a:p>
        </p:txBody>
      </p:sp>
      <p:sp>
        <p:nvSpPr>
          <p:cNvPr id="21" name="Text 19"/>
          <p:cNvSpPr txBox="1"/>
          <p:nvPr/>
        </p:nvSpPr>
        <p:spPr>
          <a:xfrm>
            <a:off x="11094415" y="6355080"/>
            <a:ext cx="457200" cy="219456"/>
          </a:xfrm>
          <a:prstGeom prst="rect">
            <a:avLst/>
          </a:prstGeom>
          <a:noFill/>
          <a:ln/>
        </p:spPr>
        <p:txBody>
          <a:bodyPr wrap="square" lIns="0" tIns="0" rIns="0" bIns="0" rtlCol="0" anchor="ctr"/>
          <a:lstStyle/>
          <a:p>
            <a:pPr algn="r" indent="0" marL="0">
              <a:buNone/>
            </a:pPr>
            <a:r>
              <a:rPr lang="en-US" sz="900" dirty="0">
                <a:solidFill>
                  <a:srgbClr val="A8A298"/>
                </a:solidFill>
                <a:latin typeface="Courier New" pitchFamily="34" charset="0"/>
                <a:ea typeface="Courier New" pitchFamily="34" charset="-122"/>
                <a:cs typeface="Courier New"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75488"/>
            <a:ext cx="10881360" cy="237744"/>
          </a:xfrm>
          <a:prstGeom prst="rect">
            <a:avLst/>
          </a:prstGeom>
          <a:noFill/>
          <a:ln/>
        </p:spPr>
        <p:txBody>
          <a:bodyPr wrap="square" lIns="0" tIns="0" rIns="0" bIns="0" rtlCol="0" anchor="ctr"/>
          <a:lstStyle/>
          <a:p>
            <a:pPr indent="0" marL="0">
              <a:buNone/>
            </a:pPr>
            <a:r>
              <a:rPr lang="en-US" sz="950" b="1" spc="160" kern="0" dirty="0">
                <a:solidFill>
                  <a:srgbClr val="5F5B54"/>
                </a:solidFill>
                <a:latin typeface="Courier New" pitchFamily="34" charset="0"/>
                <a:ea typeface="Courier New" pitchFamily="34" charset="-122"/>
                <a:cs typeface="Courier New" pitchFamily="34" charset="-120"/>
              </a:rPr>
              <a:t>THE STRUCTURE OF THE MARKET</a:t>
            </a:r>
            <a:endParaRPr lang="en-US" sz="950" dirty="0"/>
          </a:p>
        </p:txBody>
      </p:sp>
      <p:sp>
        <p:nvSpPr>
          <p:cNvPr id="3" name="Text 1"/>
          <p:cNvSpPr txBox="1"/>
          <p:nvPr/>
        </p:nvSpPr>
        <p:spPr>
          <a:xfrm>
            <a:off x="640080" y="768096"/>
            <a:ext cx="10881360" cy="713232"/>
          </a:xfrm>
          <a:prstGeom prst="rect">
            <a:avLst/>
          </a:prstGeom>
          <a:noFill/>
          <a:ln/>
        </p:spPr>
        <p:txBody>
          <a:bodyPr wrap="square" lIns="0" tIns="0" rIns="0" bIns="0" rtlCol="0" anchor="t"/>
          <a:lstStyle/>
          <a:p>
            <a:pPr indent="0" marL="0">
              <a:lnSpc>
                <a:spcPts val="3696"/>
              </a:lnSpc>
              <a:buNone/>
            </a:pPr>
            <a:r>
              <a:rPr lang="en-US" sz="3300" b="1" dirty="0">
                <a:solidFill>
                  <a:srgbClr val="1B1A17"/>
                </a:solidFill>
                <a:latin typeface="Cambria" pitchFamily="34" charset="0"/>
                <a:ea typeface="Cambria" pitchFamily="34" charset="-122"/>
                <a:cs typeface="Cambria" pitchFamily="34" charset="-120"/>
              </a:rPr>
              <a:t>Legal AI is not one market. Buyers assemble a stack.</a:t>
            </a:r>
            <a:endParaRPr lang="en-US" sz="3300" dirty="0"/>
          </a:p>
        </p:txBody>
      </p:sp>
      <p:sp>
        <p:nvSpPr>
          <p:cNvPr id="4" name="Text 2"/>
          <p:cNvSpPr txBox="1"/>
          <p:nvPr/>
        </p:nvSpPr>
        <p:spPr>
          <a:xfrm>
            <a:off x="640080" y="1609344"/>
            <a:ext cx="3383280" cy="237744"/>
          </a:xfrm>
          <a:prstGeom prst="rect">
            <a:avLst/>
          </a:prstGeom>
          <a:noFill/>
          <a:ln/>
        </p:spPr>
        <p:txBody>
          <a:bodyPr wrap="square" lIns="0" tIns="0" rIns="0" bIns="0" rtlCol="0" anchor="ctr"/>
          <a:lstStyle/>
          <a:p>
            <a:pPr indent="0" marL="0">
              <a:buNone/>
            </a:pPr>
            <a:r>
              <a:rPr lang="en-US" sz="850" b="1" spc="120" kern="0" dirty="0">
                <a:solidFill>
                  <a:srgbClr val="5F5B54"/>
                </a:solidFill>
                <a:latin typeface="Courier New" pitchFamily="34" charset="0"/>
                <a:ea typeface="Courier New" pitchFamily="34" charset="-122"/>
                <a:cs typeface="Courier New" pitchFamily="34" charset="-120"/>
              </a:rPr>
              <a:t>BUYER JOB</a:t>
            </a:r>
            <a:endParaRPr lang="en-US" sz="850" dirty="0"/>
          </a:p>
        </p:txBody>
      </p:sp>
      <p:sp>
        <p:nvSpPr>
          <p:cNvPr id="5" name="Text 3"/>
          <p:cNvSpPr txBox="1"/>
          <p:nvPr/>
        </p:nvSpPr>
        <p:spPr>
          <a:xfrm>
            <a:off x="4206240" y="1609344"/>
            <a:ext cx="3017520" cy="237744"/>
          </a:xfrm>
          <a:prstGeom prst="rect">
            <a:avLst/>
          </a:prstGeom>
          <a:noFill/>
          <a:ln/>
        </p:spPr>
        <p:txBody>
          <a:bodyPr wrap="square" lIns="0" tIns="0" rIns="0" bIns="0" rtlCol="0" anchor="ctr"/>
          <a:lstStyle/>
          <a:p>
            <a:pPr indent="0" marL="0">
              <a:buNone/>
            </a:pPr>
            <a:r>
              <a:rPr lang="en-US" sz="850" b="1" spc="120" kern="0" dirty="0">
                <a:solidFill>
                  <a:srgbClr val="5F5B54"/>
                </a:solidFill>
                <a:latin typeface="Courier New" pitchFamily="34" charset="0"/>
                <a:ea typeface="Courier New" pitchFamily="34" charset="-122"/>
                <a:cs typeface="Courier New" pitchFamily="34" charset="-120"/>
              </a:rPr>
              <a:t>WHO WINS IT TODAY</a:t>
            </a:r>
            <a:endParaRPr lang="en-US" sz="850" dirty="0"/>
          </a:p>
        </p:txBody>
      </p:sp>
      <p:sp>
        <p:nvSpPr>
          <p:cNvPr id="6" name="Text 4"/>
          <p:cNvSpPr txBox="1"/>
          <p:nvPr/>
        </p:nvSpPr>
        <p:spPr>
          <a:xfrm>
            <a:off x="7406640" y="1609344"/>
            <a:ext cx="4114800" cy="237744"/>
          </a:xfrm>
          <a:prstGeom prst="rect">
            <a:avLst/>
          </a:prstGeom>
          <a:noFill/>
          <a:ln/>
        </p:spPr>
        <p:txBody>
          <a:bodyPr wrap="square" lIns="0" tIns="0" rIns="0" bIns="0" rtlCol="0" anchor="ctr"/>
          <a:lstStyle/>
          <a:p>
            <a:pPr indent="0" marL="0">
              <a:buNone/>
            </a:pPr>
            <a:r>
              <a:rPr lang="en-US" sz="850" b="1" spc="120" kern="0" dirty="0">
                <a:solidFill>
                  <a:srgbClr val="5F5B54"/>
                </a:solidFill>
                <a:latin typeface="Courier New" pitchFamily="34" charset="0"/>
                <a:ea typeface="Courier New" pitchFamily="34" charset="-122"/>
                <a:cs typeface="Courier New" pitchFamily="34" charset="-120"/>
              </a:rPr>
              <a:t>WHY</a:t>
            </a:r>
            <a:endParaRPr lang="en-US" sz="850" dirty="0"/>
          </a:p>
        </p:txBody>
      </p:sp>
      <p:sp>
        <p:nvSpPr>
          <p:cNvPr id="7" name="Shape 5"/>
          <p:cNvSpPr/>
          <p:nvPr/>
        </p:nvSpPr>
        <p:spPr>
          <a:xfrm>
            <a:off x="512064" y="1938528"/>
            <a:ext cx="11082528" cy="658368"/>
          </a:xfrm>
          <a:prstGeom prst="roundRect">
            <a:avLst>
              <a:gd name="adj" fmla="val 8333"/>
            </a:avLst>
          </a:prstGeom>
          <a:solidFill>
            <a:srgbClr val="FFFEFB"/>
          </a:solidFill>
          <a:ln w="9525">
            <a:solidFill>
              <a:srgbClr val="EAE6DE"/>
            </a:solidFill>
            <a:prstDash val="solid"/>
          </a:ln>
        </p:spPr>
      </p:sp>
      <p:sp>
        <p:nvSpPr>
          <p:cNvPr id="8" name="Text 6"/>
          <p:cNvSpPr txBox="1"/>
          <p:nvPr/>
        </p:nvSpPr>
        <p:spPr>
          <a:xfrm>
            <a:off x="640080" y="2029968"/>
            <a:ext cx="3291840" cy="566928"/>
          </a:xfrm>
          <a:prstGeom prst="rect">
            <a:avLst/>
          </a:prstGeom>
          <a:noFill/>
          <a:ln/>
        </p:spPr>
        <p:txBody>
          <a:bodyPr wrap="square" lIns="0" tIns="0" rIns="0" bIns="0" rtlCol="0" anchor="ctr"/>
          <a:lstStyle/>
          <a:p>
            <a:pPr indent="0" marL="0">
              <a:lnSpc>
                <a:spcPts val="1800"/>
              </a:lnSpc>
              <a:buNone/>
            </a:pPr>
            <a:r>
              <a:rPr lang="en-US" sz="1400" b="1" dirty="0">
                <a:solidFill>
                  <a:srgbClr val="1B1A17"/>
                </a:solidFill>
                <a:latin typeface="Cambria" pitchFamily="34" charset="0"/>
                <a:ea typeface="Cambria" pitchFamily="34" charset="-122"/>
                <a:cs typeface="Cambria" pitchFamily="34" charset="-120"/>
              </a:rPr>
              <a:t>Think, draft, explain</a:t>
            </a:r>
            <a:endParaRPr lang="en-US" sz="1400" dirty="0"/>
          </a:p>
        </p:txBody>
      </p:sp>
      <p:sp>
        <p:nvSpPr>
          <p:cNvPr id="9" name="Text 7"/>
          <p:cNvSpPr txBox="1"/>
          <p:nvPr/>
        </p:nvSpPr>
        <p:spPr>
          <a:xfrm>
            <a:off x="4206240" y="2029968"/>
            <a:ext cx="3017520" cy="566928"/>
          </a:xfrm>
          <a:prstGeom prst="rect">
            <a:avLst/>
          </a:prstGeom>
          <a:noFill/>
          <a:ln/>
        </p:spPr>
        <p:txBody>
          <a:bodyPr wrap="square" lIns="0" tIns="0" rIns="0" bIns="0" rtlCol="0" anchor="ctr"/>
          <a:lstStyle/>
          <a:p>
            <a:pPr indent="0" marL="0">
              <a:lnSpc>
                <a:spcPts val="1600"/>
              </a:lnSpc>
              <a:buNone/>
            </a:pPr>
            <a:r>
              <a:rPr lang="en-US" sz="1250" dirty="0">
                <a:solidFill>
                  <a:srgbClr val="3A3733"/>
                </a:solidFill>
                <a:latin typeface="Calibri" pitchFamily="34" charset="0"/>
                <a:ea typeface="Calibri" pitchFamily="34" charset="-122"/>
                <a:cs typeface="Calibri" pitchFamily="34" charset="-120"/>
              </a:rPr>
              <a:t>ChatGPT / Claude</a:t>
            </a:r>
            <a:endParaRPr lang="en-US" sz="1250" dirty="0"/>
          </a:p>
        </p:txBody>
      </p:sp>
      <p:sp>
        <p:nvSpPr>
          <p:cNvPr id="10" name="Text 8"/>
          <p:cNvSpPr txBox="1"/>
          <p:nvPr/>
        </p:nvSpPr>
        <p:spPr>
          <a:xfrm>
            <a:off x="7406640" y="2029968"/>
            <a:ext cx="4023360" cy="566928"/>
          </a:xfrm>
          <a:prstGeom prst="rect">
            <a:avLst/>
          </a:prstGeom>
          <a:noFill/>
          <a:ln/>
        </p:spPr>
        <p:txBody>
          <a:bodyPr wrap="square" lIns="0" tIns="0" rIns="0" bIns="0" rtlCol="0" anchor="ctr"/>
          <a:lstStyle/>
          <a:p>
            <a:pPr indent="0" marL="0">
              <a:lnSpc>
                <a:spcPts val="1500"/>
              </a:lnSpc>
              <a:buNone/>
            </a:pPr>
            <a:r>
              <a:rPr lang="en-US" sz="1150" dirty="0">
                <a:solidFill>
                  <a:srgbClr val="55524B"/>
                </a:solidFill>
                <a:latin typeface="Calibri" pitchFamily="34" charset="0"/>
                <a:ea typeface="Calibri" pitchFamily="34" charset="-122"/>
                <a:cs typeface="Calibri" pitchFamily="34" charset="-120"/>
              </a:rPr>
              <a:t>General reasoning, fast writing, low entry cost</a:t>
            </a:r>
            <a:endParaRPr lang="en-US" sz="1150" dirty="0"/>
          </a:p>
        </p:txBody>
      </p:sp>
      <p:sp>
        <p:nvSpPr>
          <p:cNvPr id="11" name="Shape 9"/>
          <p:cNvSpPr/>
          <p:nvPr/>
        </p:nvSpPr>
        <p:spPr>
          <a:xfrm>
            <a:off x="512064" y="2688336"/>
            <a:ext cx="11082528" cy="658368"/>
          </a:xfrm>
          <a:prstGeom prst="roundRect">
            <a:avLst>
              <a:gd name="adj" fmla="val 8333"/>
            </a:avLst>
          </a:prstGeom>
          <a:solidFill>
            <a:srgbClr val="FFFEFB"/>
          </a:solidFill>
          <a:ln w="9525">
            <a:solidFill>
              <a:srgbClr val="EAE6DE"/>
            </a:solidFill>
            <a:prstDash val="solid"/>
          </a:ln>
        </p:spPr>
      </p:sp>
      <p:sp>
        <p:nvSpPr>
          <p:cNvPr id="12" name="Text 10"/>
          <p:cNvSpPr txBox="1"/>
          <p:nvPr/>
        </p:nvSpPr>
        <p:spPr>
          <a:xfrm>
            <a:off x="640080" y="2779776"/>
            <a:ext cx="3291840" cy="566928"/>
          </a:xfrm>
          <a:prstGeom prst="rect">
            <a:avLst/>
          </a:prstGeom>
          <a:noFill/>
          <a:ln/>
        </p:spPr>
        <p:txBody>
          <a:bodyPr wrap="square" lIns="0" tIns="0" rIns="0" bIns="0" rtlCol="0" anchor="ctr"/>
          <a:lstStyle/>
          <a:p>
            <a:pPr indent="0" marL="0">
              <a:lnSpc>
                <a:spcPts val="1800"/>
              </a:lnSpc>
              <a:buNone/>
            </a:pPr>
            <a:r>
              <a:rPr lang="en-US" sz="1400" b="1" dirty="0">
                <a:solidFill>
                  <a:srgbClr val="1B1A17"/>
                </a:solidFill>
                <a:latin typeface="Cambria" pitchFamily="34" charset="0"/>
                <a:ea typeface="Cambria" pitchFamily="34" charset="-122"/>
                <a:cs typeface="Cambria" pitchFamily="34" charset="-120"/>
              </a:rPr>
              <a:t>Find legal authority</a:t>
            </a:r>
            <a:endParaRPr lang="en-US" sz="1400" dirty="0"/>
          </a:p>
        </p:txBody>
      </p:sp>
      <p:sp>
        <p:nvSpPr>
          <p:cNvPr id="13" name="Text 11"/>
          <p:cNvSpPr txBox="1"/>
          <p:nvPr/>
        </p:nvSpPr>
        <p:spPr>
          <a:xfrm>
            <a:off x="4206240" y="2779776"/>
            <a:ext cx="3017520" cy="566928"/>
          </a:xfrm>
          <a:prstGeom prst="rect">
            <a:avLst/>
          </a:prstGeom>
          <a:noFill/>
          <a:ln/>
        </p:spPr>
        <p:txBody>
          <a:bodyPr wrap="square" lIns="0" tIns="0" rIns="0" bIns="0" rtlCol="0" anchor="ctr"/>
          <a:lstStyle/>
          <a:p>
            <a:pPr indent="0" marL="0">
              <a:lnSpc>
                <a:spcPts val="1600"/>
              </a:lnSpc>
              <a:buNone/>
            </a:pPr>
            <a:r>
              <a:rPr lang="en-US" sz="1250" dirty="0">
                <a:solidFill>
                  <a:srgbClr val="3A3733"/>
                </a:solidFill>
                <a:latin typeface="Calibri" pitchFamily="34" charset="0"/>
                <a:ea typeface="Calibri" pitchFamily="34" charset="-122"/>
                <a:cs typeface="Calibri" pitchFamily="34" charset="-120"/>
              </a:rPr>
              <a:t>Westlaw / Lexis</a:t>
            </a:r>
            <a:endParaRPr lang="en-US" sz="1250" dirty="0"/>
          </a:p>
        </p:txBody>
      </p:sp>
      <p:sp>
        <p:nvSpPr>
          <p:cNvPr id="14" name="Text 12"/>
          <p:cNvSpPr txBox="1"/>
          <p:nvPr/>
        </p:nvSpPr>
        <p:spPr>
          <a:xfrm>
            <a:off x="7406640" y="2779776"/>
            <a:ext cx="4023360" cy="566928"/>
          </a:xfrm>
          <a:prstGeom prst="rect">
            <a:avLst/>
          </a:prstGeom>
          <a:noFill/>
          <a:ln/>
        </p:spPr>
        <p:txBody>
          <a:bodyPr wrap="square" lIns="0" tIns="0" rIns="0" bIns="0" rtlCol="0" anchor="ctr"/>
          <a:lstStyle/>
          <a:p>
            <a:pPr indent="0" marL="0">
              <a:lnSpc>
                <a:spcPts val="1500"/>
              </a:lnSpc>
              <a:buNone/>
            </a:pPr>
            <a:r>
              <a:rPr lang="en-US" sz="1150" dirty="0">
                <a:solidFill>
                  <a:srgbClr val="55524B"/>
                </a:solidFill>
                <a:latin typeface="Calibri" pitchFamily="34" charset="0"/>
                <a:ea typeface="Calibri" pitchFamily="34" charset="-122"/>
                <a:cs typeface="Calibri" pitchFamily="34" charset="-120"/>
              </a:rPr>
              <a:t>Known corpus, links to authority, the citator habit</a:t>
            </a:r>
            <a:endParaRPr lang="en-US" sz="1150" dirty="0"/>
          </a:p>
        </p:txBody>
      </p:sp>
      <p:sp>
        <p:nvSpPr>
          <p:cNvPr id="15" name="Shape 13"/>
          <p:cNvSpPr/>
          <p:nvPr/>
        </p:nvSpPr>
        <p:spPr>
          <a:xfrm>
            <a:off x="512064" y="3438144"/>
            <a:ext cx="11082528" cy="658368"/>
          </a:xfrm>
          <a:prstGeom prst="roundRect">
            <a:avLst>
              <a:gd name="adj" fmla="val 8333"/>
            </a:avLst>
          </a:prstGeom>
          <a:solidFill>
            <a:srgbClr val="FFFEFB"/>
          </a:solidFill>
          <a:ln w="9525">
            <a:solidFill>
              <a:srgbClr val="EAE6DE"/>
            </a:solidFill>
            <a:prstDash val="solid"/>
          </a:ln>
        </p:spPr>
      </p:sp>
      <p:sp>
        <p:nvSpPr>
          <p:cNvPr id="16" name="Text 14"/>
          <p:cNvSpPr txBox="1"/>
          <p:nvPr/>
        </p:nvSpPr>
        <p:spPr>
          <a:xfrm>
            <a:off x="640080" y="3529584"/>
            <a:ext cx="3291840" cy="566928"/>
          </a:xfrm>
          <a:prstGeom prst="rect">
            <a:avLst/>
          </a:prstGeom>
          <a:noFill/>
          <a:ln/>
        </p:spPr>
        <p:txBody>
          <a:bodyPr wrap="square" lIns="0" tIns="0" rIns="0" bIns="0" rtlCol="0" anchor="ctr"/>
          <a:lstStyle/>
          <a:p>
            <a:pPr indent="0" marL="0">
              <a:lnSpc>
                <a:spcPts val="1800"/>
              </a:lnSpc>
              <a:buNone/>
            </a:pPr>
            <a:r>
              <a:rPr lang="en-US" sz="1400" b="1" dirty="0">
                <a:solidFill>
                  <a:srgbClr val="1B1A17"/>
                </a:solidFill>
                <a:latin typeface="Cambria" pitchFamily="34" charset="0"/>
                <a:ea typeface="Cambria" pitchFamily="34" charset="-122"/>
                <a:cs typeface="Cambria" pitchFamily="34" charset="-120"/>
              </a:rPr>
              <a:t>Repeatable document work</a:t>
            </a:r>
            <a:endParaRPr lang="en-US" sz="1400" dirty="0"/>
          </a:p>
        </p:txBody>
      </p:sp>
      <p:sp>
        <p:nvSpPr>
          <p:cNvPr id="17" name="Text 15"/>
          <p:cNvSpPr txBox="1"/>
          <p:nvPr/>
        </p:nvSpPr>
        <p:spPr>
          <a:xfrm>
            <a:off x="4206240" y="3529584"/>
            <a:ext cx="3017520" cy="566928"/>
          </a:xfrm>
          <a:prstGeom prst="rect">
            <a:avLst/>
          </a:prstGeom>
          <a:noFill/>
          <a:ln/>
        </p:spPr>
        <p:txBody>
          <a:bodyPr wrap="square" lIns="0" tIns="0" rIns="0" bIns="0" rtlCol="0" anchor="ctr"/>
          <a:lstStyle/>
          <a:p>
            <a:pPr indent="0" marL="0">
              <a:lnSpc>
                <a:spcPts val="1600"/>
              </a:lnSpc>
              <a:buNone/>
            </a:pPr>
            <a:r>
              <a:rPr lang="en-US" sz="1250" dirty="0">
                <a:solidFill>
                  <a:srgbClr val="3A3733"/>
                </a:solidFill>
                <a:latin typeface="Calibri" pitchFamily="34" charset="0"/>
                <a:ea typeface="Calibri" pitchFamily="34" charset="-122"/>
                <a:cs typeface="Calibri" pitchFamily="34" charset="-120"/>
              </a:rPr>
              <a:t>Harvey / Legora / CoCounsel</a:t>
            </a:r>
            <a:endParaRPr lang="en-US" sz="1250" dirty="0"/>
          </a:p>
        </p:txBody>
      </p:sp>
      <p:sp>
        <p:nvSpPr>
          <p:cNvPr id="18" name="Text 16"/>
          <p:cNvSpPr txBox="1"/>
          <p:nvPr/>
        </p:nvSpPr>
        <p:spPr>
          <a:xfrm>
            <a:off x="7406640" y="3529584"/>
            <a:ext cx="4023360" cy="566928"/>
          </a:xfrm>
          <a:prstGeom prst="rect">
            <a:avLst/>
          </a:prstGeom>
          <a:noFill/>
          <a:ln/>
        </p:spPr>
        <p:txBody>
          <a:bodyPr wrap="square" lIns="0" tIns="0" rIns="0" bIns="0" rtlCol="0" anchor="ctr"/>
          <a:lstStyle/>
          <a:p>
            <a:pPr indent="0" marL="0">
              <a:lnSpc>
                <a:spcPts val="1500"/>
              </a:lnSpc>
              <a:buNone/>
            </a:pPr>
            <a:r>
              <a:rPr lang="en-US" sz="1150" dirty="0">
                <a:solidFill>
                  <a:srgbClr val="55524B"/>
                </a:solidFill>
                <a:latin typeface="Calibri" pitchFamily="34" charset="0"/>
                <a:ea typeface="Calibri" pitchFamily="34" charset="-122"/>
                <a:cs typeface="Calibri" pitchFamily="34" charset="-120"/>
              </a:rPr>
              <a:t>Review tables, document scale, Word and DMS</a:t>
            </a:r>
            <a:endParaRPr lang="en-US" sz="1150" dirty="0"/>
          </a:p>
        </p:txBody>
      </p:sp>
      <p:sp>
        <p:nvSpPr>
          <p:cNvPr id="19" name="Shape 17"/>
          <p:cNvSpPr/>
          <p:nvPr/>
        </p:nvSpPr>
        <p:spPr>
          <a:xfrm>
            <a:off x="512064" y="4187952"/>
            <a:ext cx="11082528" cy="658368"/>
          </a:xfrm>
          <a:prstGeom prst="roundRect">
            <a:avLst>
              <a:gd name="adj" fmla="val 8333"/>
            </a:avLst>
          </a:prstGeom>
          <a:solidFill>
            <a:srgbClr val="FFFEFB"/>
          </a:solidFill>
          <a:ln w="9525">
            <a:solidFill>
              <a:srgbClr val="EAE6DE"/>
            </a:solidFill>
            <a:prstDash val="solid"/>
          </a:ln>
        </p:spPr>
      </p:sp>
      <p:sp>
        <p:nvSpPr>
          <p:cNvPr id="20" name="Text 18"/>
          <p:cNvSpPr txBox="1"/>
          <p:nvPr/>
        </p:nvSpPr>
        <p:spPr>
          <a:xfrm>
            <a:off x="640080" y="4279392"/>
            <a:ext cx="3291840" cy="566928"/>
          </a:xfrm>
          <a:prstGeom prst="rect">
            <a:avLst/>
          </a:prstGeom>
          <a:noFill/>
          <a:ln/>
        </p:spPr>
        <p:txBody>
          <a:bodyPr wrap="square" lIns="0" tIns="0" rIns="0" bIns="0" rtlCol="0" anchor="ctr"/>
          <a:lstStyle/>
          <a:p>
            <a:pPr indent="0" marL="0">
              <a:lnSpc>
                <a:spcPts val="1800"/>
              </a:lnSpc>
              <a:buNone/>
            </a:pPr>
            <a:r>
              <a:rPr lang="en-US" sz="1400" b="1" dirty="0">
                <a:solidFill>
                  <a:srgbClr val="1B1A17"/>
                </a:solidFill>
                <a:latin typeface="Cambria" pitchFamily="34" charset="0"/>
                <a:ea typeface="Cambria" pitchFamily="34" charset="-122"/>
                <a:cs typeface="Cambria" pitchFamily="34" charset="-120"/>
              </a:rPr>
              <a:t>Apply a firm's own method</a:t>
            </a:r>
            <a:endParaRPr lang="en-US" sz="1400" dirty="0"/>
          </a:p>
        </p:txBody>
      </p:sp>
      <p:sp>
        <p:nvSpPr>
          <p:cNvPr id="21" name="Text 19"/>
          <p:cNvSpPr txBox="1"/>
          <p:nvPr/>
        </p:nvSpPr>
        <p:spPr>
          <a:xfrm>
            <a:off x="4206240" y="4279392"/>
            <a:ext cx="3017520" cy="566928"/>
          </a:xfrm>
          <a:prstGeom prst="rect">
            <a:avLst/>
          </a:prstGeom>
          <a:noFill/>
          <a:ln/>
        </p:spPr>
        <p:txBody>
          <a:bodyPr wrap="square" lIns="0" tIns="0" rIns="0" bIns="0" rtlCol="0" anchor="ctr"/>
          <a:lstStyle/>
          <a:p>
            <a:pPr indent="0" marL="0">
              <a:lnSpc>
                <a:spcPts val="1600"/>
              </a:lnSpc>
              <a:buNone/>
            </a:pPr>
            <a:r>
              <a:rPr lang="en-US" sz="1250" dirty="0">
                <a:solidFill>
                  <a:srgbClr val="3A3733"/>
                </a:solidFill>
                <a:latin typeface="Calibri" pitchFamily="34" charset="0"/>
                <a:ea typeface="Calibri" pitchFamily="34" charset="-122"/>
                <a:cs typeface="Calibri" pitchFamily="34" charset="-120"/>
              </a:rPr>
              <a:t>An internal build</a:t>
            </a:r>
            <a:endParaRPr lang="en-US" sz="1250" dirty="0"/>
          </a:p>
        </p:txBody>
      </p:sp>
      <p:sp>
        <p:nvSpPr>
          <p:cNvPr id="22" name="Text 20"/>
          <p:cNvSpPr txBox="1"/>
          <p:nvPr/>
        </p:nvSpPr>
        <p:spPr>
          <a:xfrm>
            <a:off x="7406640" y="4279392"/>
            <a:ext cx="4023360" cy="566928"/>
          </a:xfrm>
          <a:prstGeom prst="rect">
            <a:avLst/>
          </a:prstGeom>
          <a:noFill/>
          <a:ln/>
        </p:spPr>
        <p:txBody>
          <a:bodyPr wrap="square" lIns="0" tIns="0" rIns="0" bIns="0" rtlCol="0" anchor="ctr"/>
          <a:lstStyle/>
          <a:p>
            <a:pPr indent="0" marL="0">
              <a:lnSpc>
                <a:spcPts val="1500"/>
              </a:lnSpc>
              <a:buNone/>
            </a:pPr>
            <a:r>
              <a:rPr lang="en-US" sz="1150" dirty="0">
                <a:solidFill>
                  <a:srgbClr val="55524B"/>
                </a:solidFill>
                <a:latin typeface="Calibri" pitchFamily="34" charset="0"/>
                <a:ea typeface="Calibri" pitchFamily="34" charset="-122"/>
                <a:cs typeface="Calibri" pitchFamily="34" charset="-120"/>
              </a:rPr>
              <a:t>Exact playbooks, precedent, connectors, control</a:t>
            </a:r>
            <a:endParaRPr lang="en-US" sz="1150" dirty="0"/>
          </a:p>
        </p:txBody>
      </p:sp>
      <p:sp>
        <p:nvSpPr>
          <p:cNvPr id="23" name="Shape 21"/>
          <p:cNvSpPr/>
          <p:nvPr/>
        </p:nvSpPr>
        <p:spPr>
          <a:xfrm>
            <a:off x="512064" y="4937760"/>
            <a:ext cx="11082528" cy="658368"/>
          </a:xfrm>
          <a:prstGeom prst="roundRect">
            <a:avLst>
              <a:gd name="adj" fmla="val 8333"/>
            </a:avLst>
          </a:prstGeom>
          <a:solidFill>
            <a:srgbClr val="FFFDF4"/>
          </a:solidFill>
          <a:ln w="9525">
            <a:solidFill>
              <a:srgbClr val="F0D896"/>
            </a:solidFill>
            <a:prstDash val="solid"/>
          </a:ln>
        </p:spPr>
      </p:sp>
      <p:sp>
        <p:nvSpPr>
          <p:cNvPr id="24" name="Text 22"/>
          <p:cNvSpPr txBox="1"/>
          <p:nvPr/>
        </p:nvSpPr>
        <p:spPr>
          <a:xfrm>
            <a:off x="640080" y="5029200"/>
            <a:ext cx="3291840" cy="566928"/>
          </a:xfrm>
          <a:prstGeom prst="rect">
            <a:avLst/>
          </a:prstGeom>
          <a:noFill/>
          <a:ln/>
        </p:spPr>
        <p:txBody>
          <a:bodyPr wrap="square" lIns="0" tIns="0" rIns="0" bIns="0" rtlCol="0" anchor="ctr"/>
          <a:lstStyle/>
          <a:p>
            <a:pPr indent="0" marL="0">
              <a:lnSpc>
                <a:spcPts val="1800"/>
              </a:lnSpc>
              <a:buNone/>
            </a:pPr>
            <a:r>
              <a:rPr lang="en-US" sz="1400" b="1" dirty="0">
                <a:solidFill>
                  <a:srgbClr val="1B1A17"/>
                </a:solidFill>
                <a:latin typeface="Cambria" pitchFamily="34" charset="0"/>
                <a:ea typeface="Cambria" pitchFamily="34" charset="-122"/>
                <a:cs typeface="Cambria" pitchFamily="34" charset="-120"/>
              </a:rPr>
              <a:t>Remember and move the matter</a:t>
            </a:r>
            <a:endParaRPr lang="en-US" sz="1400" dirty="0"/>
          </a:p>
        </p:txBody>
      </p:sp>
      <p:sp>
        <p:nvSpPr>
          <p:cNvPr id="25" name="Text 23"/>
          <p:cNvSpPr txBox="1"/>
          <p:nvPr/>
        </p:nvSpPr>
        <p:spPr>
          <a:xfrm>
            <a:off x="4206240" y="5029200"/>
            <a:ext cx="3017520" cy="566928"/>
          </a:xfrm>
          <a:prstGeom prst="rect">
            <a:avLst/>
          </a:prstGeom>
          <a:noFill/>
          <a:ln/>
        </p:spPr>
        <p:txBody>
          <a:bodyPr wrap="square" lIns="0" tIns="0" rIns="0" bIns="0" rtlCol="0" anchor="ctr"/>
          <a:lstStyle/>
          <a:p>
            <a:pPr indent="0" marL="0">
              <a:lnSpc>
                <a:spcPts val="1600"/>
              </a:lnSpc>
              <a:buNone/>
            </a:pPr>
            <a:r>
              <a:rPr lang="en-US" sz="1250" b="1" dirty="0">
                <a:solidFill>
                  <a:srgbClr val="8A6612"/>
                </a:solidFill>
                <a:latin typeface="Calibri" pitchFamily="34" charset="0"/>
                <a:ea typeface="Calibri" pitchFamily="34" charset="-122"/>
                <a:cs typeface="Calibri" pitchFamily="34" charset="-120"/>
              </a:rPr>
              <a:t>No clear owner for small teams</a:t>
            </a:r>
            <a:endParaRPr lang="en-US" sz="1250" dirty="0"/>
          </a:p>
        </p:txBody>
      </p:sp>
      <p:sp>
        <p:nvSpPr>
          <p:cNvPr id="26" name="Text 24"/>
          <p:cNvSpPr txBox="1"/>
          <p:nvPr/>
        </p:nvSpPr>
        <p:spPr>
          <a:xfrm>
            <a:off x="7406640" y="5029200"/>
            <a:ext cx="4023360" cy="566928"/>
          </a:xfrm>
          <a:prstGeom prst="rect">
            <a:avLst/>
          </a:prstGeom>
          <a:noFill/>
          <a:ln/>
        </p:spPr>
        <p:txBody>
          <a:bodyPr wrap="square" lIns="0" tIns="0" rIns="0" bIns="0" rtlCol="0" anchor="ctr"/>
          <a:lstStyle/>
          <a:p>
            <a:pPr indent="0" marL="0">
              <a:lnSpc>
                <a:spcPts val="1500"/>
              </a:lnSpc>
              <a:buNone/>
            </a:pPr>
            <a:r>
              <a:rPr lang="en-US" sz="1150" dirty="0">
                <a:solidFill>
                  <a:srgbClr val="55524B"/>
                </a:solidFill>
                <a:latin typeface="Calibri" pitchFamily="34" charset="0"/>
                <a:ea typeface="Calibri" pitchFamily="34" charset="-122"/>
                <a:cs typeface="Calibri" pitchFamily="34" charset="-120"/>
              </a:rPr>
              <a:t>Practice systems store records. None create a foothold or a next action.</a:t>
            </a:r>
            <a:endParaRPr lang="en-US" sz="1150" dirty="0"/>
          </a:p>
        </p:txBody>
      </p:sp>
      <p:sp>
        <p:nvSpPr>
          <p:cNvPr id="27" name="Text 25"/>
          <p:cNvSpPr txBox="1"/>
          <p:nvPr/>
        </p:nvSpPr>
        <p:spPr>
          <a:xfrm>
            <a:off x="640080" y="5870448"/>
            <a:ext cx="10881360" cy="365760"/>
          </a:xfrm>
          <a:prstGeom prst="rect">
            <a:avLst/>
          </a:prstGeom>
          <a:noFill/>
          <a:ln/>
        </p:spPr>
        <p:txBody>
          <a:bodyPr wrap="square" lIns="0" tIns="0" rIns="0" bIns="0" rtlCol="0" anchor="ctr"/>
          <a:lstStyle/>
          <a:p>
            <a:pPr indent="0" marL="0">
              <a:buNone/>
            </a:pPr>
            <a:r>
              <a:rPr lang="en-US" sz="1450" i="1" dirty="0">
                <a:solidFill>
                  <a:srgbClr val="1B1A17"/>
                </a:solidFill>
                <a:latin typeface="Cambria" pitchFamily="34" charset="0"/>
                <a:ea typeface="Cambria" pitchFamily="34" charset="-122"/>
                <a:cs typeface="Cambria" pitchFamily="34" charset="-120"/>
              </a:rPr>
              <a:t>Most buying disappointment comes from expecting one product to do all five jobs. The fifth is the opening.</a:t>
            </a:r>
            <a:endParaRPr lang="en-US" sz="1450" dirty="0"/>
          </a:p>
        </p:txBody>
      </p:sp>
      <p:sp>
        <p:nvSpPr>
          <p:cNvPr id="28" name="Text 26"/>
          <p:cNvSpPr txBox="1"/>
          <p:nvPr/>
        </p:nvSpPr>
        <p:spPr>
          <a:xfrm>
            <a:off x="11094415" y="6355080"/>
            <a:ext cx="457200" cy="219456"/>
          </a:xfrm>
          <a:prstGeom prst="rect">
            <a:avLst/>
          </a:prstGeom>
          <a:noFill/>
          <a:ln/>
        </p:spPr>
        <p:txBody>
          <a:bodyPr wrap="square" lIns="0" tIns="0" rIns="0" bIns="0" rtlCol="0" anchor="ctr"/>
          <a:lstStyle/>
          <a:p>
            <a:pPr algn="r" indent="0" marL="0">
              <a:buNone/>
            </a:pPr>
            <a:r>
              <a:rPr lang="en-US" sz="900" dirty="0">
                <a:solidFill>
                  <a:srgbClr val="A8A298"/>
                </a:solidFill>
                <a:latin typeface="Courier New" pitchFamily="34" charset="0"/>
                <a:ea typeface="Courier New" pitchFamily="34" charset="-122"/>
                <a:cs typeface="Courier New"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75488"/>
            <a:ext cx="10881360" cy="237744"/>
          </a:xfrm>
          <a:prstGeom prst="rect">
            <a:avLst/>
          </a:prstGeom>
          <a:noFill/>
          <a:ln/>
        </p:spPr>
        <p:txBody>
          <a:bodyPr wrap="square" lIns="0" tIns="0" rIns="0" bIns="0" rtlCol="0" anchor="ctr"/>
          <a:lstStyle/>
          <a:p>
            <a:pPr indent="0" marL="0">
              <a:buNone/>
            </a:pPr>
            <a:r>
              <a:rPr lang="en-US" sz="950" b="1" spc="160" kern="0" dirty="0">
                <a:solidFill>
                  <a:srgbClr val="5F5B54"/>
                </a:solidFill>
                <a:latin typeface="Courier New" pitchFamily="34" charset="0"/>
                <a:ea typeface="Courier New" pitchFamily="34" charset="-122"/>
                <a:cs typeface="Courier New" pitchFamily="34" charset="-120"/>
              </a:rPr>
              <a:t>WHAT THEMIS DOES</a:t>
            </a:r>
            <a:endParaRPr lang="en-US" sz="950" dirty="0"/>
          </a:p>
        </p:txBody>
      </p:sp>
      <p:sp>
        <p:nvSpPr>
          <p:cNvPr id="3" name="Text 1"/>
          <p:cNvSpPr txBox="1"/>
          <p:nvPr/>
        </p:nvSpPr>
        <p:spPr>
          <a:xfrm>
            <a:off x="640080" y="768096"/>
            <a:ext cx="10881360" cy="713232"/>
          </a:xfrm>
          <a:prstGeom prst="rect">
            <a:avLst/>
          </a:prstGeom>
          <a:noFill/>
          <a:ln/>
        </p:spPr>
        <p:txBody>
          <a:bodyPr wrap="square" lIns="0" tIns="0" rIns="0" bIns="0" rtlCol="0" anchor="t"/>
          <a:lstStyle/>
          <a:p>
            <a:pPr indent="0" marL="0">
              <a:lnSpc>
                <a:spcPts val="3696"/>
              </a:lnSpc>
              <a:buNone/>
            </a:pPr>
            <a:r>
              <a:rPr lang="en-US" sz="3300" b="1" dirty="0">
                <a:solidFill>
                  <a:srgbClr val="1B1A17"/>
                </a:solidFill>
                <a:latin typeface="Cambria" pitchFamily="34" charset="0"/>
                <a:ea typeface="Cambria" pitchFamily="34" charset="-122"/>
                <a:cs typeface="Cambria" pitchFamily="34" charset="-120"/>
              </a:rPr>
              <a:t>One matter, from a pasted request to a recorded decision</a:t>
            </a:r>
            <a:endParaRPr lang="en-US" sz="3300" dirty="0"/>
          </a:p>
        </p:txBody>
      </p:sp>
      <p:sp>
        <p:nvSpPr>
          <p:cNvPr id="4" name="Shape 2"/>
          <p:cNvSpPr/>
          <p:nvPr/>
        </p:nvSpPr>
        <p:spPr>
          <a:xfrm>
            <a:off x="640080" y="1645920"/>
            <a:ext cx="292608" cy="292608"/>
          </a:xfrm>
          <a:prstGeom prst="ellipse">
            <a:avLst/>
          </a:prstGeom>
          <a:solidFill>
            <a:srgbClr val="1B1A17"/>
          </a:solidFill>
          <a:ln w="12700">
            <a:solidFill>
              <a:srgbClr val="1B1A17"/>
            </a:solidFill>
            <a:prstDash val="solid"/>
          </a:ln>
        </p:spPr>
      </p:sp>
      <p:sp>
        <p:nvSpPr>
          <p:cNvPr id="5" name="Text 3"/>
          <p:cNvSpPr txBox="1"/>
          <p:nvPr/>
        </p:nvSpPr>
        <p:spPr>
          <a:xfrm>
            <a:off x="640080" y="1645920"/>
            <a:ext cx="292608" cy="292608"/>
          </a:xfrm>
          <a:prstGeom prst="rect">
            <a:avLst/>
          </a:prstGeom>
          <a:noFill/>
          <a:ln/>
        </p:spPr>
        <p:txBody>
          <a:bodyPr wrap="square" lIns="0" tIns="0" rIns="0" bIns="0" rtlCol="0" anchor="ctr"/>
          <a:lstStyle/>
          <a:p>
            <a:pPr algn="ctr" indent="0" marL="0">
              <a:buNone/>
            </a:pPr>
            <a:r>
              <a:rPr lang="en-US" sz="1000" b="1" dirty="0">
                <a:solidFill>
                  <a:srgbClr val="F7F5F1"/>
                </a:solidFill>
                <a:latin typeface="Courier New" pitchFamily="34" charset="0"/>
                <a:ea typeface="Courier New" pitchFamily="34" charset="-122"/>
                <a:cs typeface="Courier New" pitchFamily="34" charset="-120"/>
              </a:rPr>
              <a:t>1</a:t>
            </a:r>
            <a:endParaRPr lang="en-US" sz="1000" dirty="0"/>
          </a:p>
        </p:txBody>
      </p:sp>
      <p:sp>
        <p:nvSpPr>
          <p:cNvPr id="6" name="Text 4"/>
          <p:cNvSpPr txBox="1"/>
          <p:nvPr/>
        </p:nvSpPr>
        <p:spPr>
          <a:xfrm>
            <a:off x="1060704" y="1627632"/>
            <a:ext cx="4846320" cy="219456"/>
          </a:xfrm>
          <a:prstGeom prst="rect">
            <a:avLst/>
          </a:prstGeom>
          <a:noFill/>
          <a:ln/>
        </p:spPr>
        <p:txBody>
          <a:bodyPr wrap="square" lIns="0" tIns="0" rIns="0" bIns="0" rtlCol="0" anchor="ctr"/>
          <a:lstStyle/>
          <a:p>
            <a:pPr indent="0" marL="0">
              <a:buNone/>
            </a:pPr>
            <a:r>
              <a:rPr lang="en-US" sz="900" b="1" spc="130" kern="0" dirty="0">
                <a:solidFill>
                  <a:srgbClr val="8A6612"/>
                </a:solidFill>
                <a:latin typeface="Courier New" pitchFamily="34" charset="0"/>
                <a:ea typeface="Courier New" pitchFamily="34" charset="-122"/>
                <a:cs typeface="Courier New" pitchFamily="34" charset="-120"/>
              </a:rPr>
              <a:t>INTAKE ONCE</a:t>
            </a:r>
            <a:endParaRPr lang="en-US" sz="900" dirty="0"/>
          </a:p>
        </p:txBody>
      </p:sp>
      <p:sp>
        <p:nvSpPr>
          <p:cNvPr id="7" name="Text 5"/>
          <p:cNvSpPr txBox="1"/>
          <p:nvPr/>
        </p:nvSpPr>
        <p:spPr>
          <a:xfrm>
            <a:off x="1060704" y="1883664"/>
            <a:ext cx="4846320" cy="603504"/>
          </a:xfrm>
          <a:prstGeom prst="rect">
            <a:avLst/>
          </a:prstGeom>
          <a:noFill/>
          <a:ln/>
        </p:spPr>
        <p:txBody>
          <a:bodyPr wrap="square" lIns="0" tIns="0" rIns="0" bIns="0" rtlCol="0" anchor="t"/>
          <a:lstStyle/>
          <a:p>
            <a:pPr indent="0" marL="0">
              <a:lnSpc>
                <a:spcPts val="1633"/>
              </a:lnSpc>
              <a:buNone/>
            </a:pPr>
            <a:r>
              <a:rPr lang="en-US" sz="1150" dirty="0">
                <a:solidFill>
                  <a:srgbClr val="55524B"/>
                </a:solidFill>
                <a:latin typeface="Calibri" pitchFamily="34" charset="0"/>
                <a:ea typeface="Calibri" pitchFamily="34" charset="-122"/>
                <a:cs typeface="Calibri" pitchFamily="34" charset="-120"/>
              </a:rPr>
              <a:t>Paste a Slack thread, an email or a redline note. Drop the files. Keep your own model.</a:t>
            </a:r>
            <a:endParaRPr lang="en-US" sz="1150" dirty="0"/>
          </a:p>
        </p:txBody>
      </p:sp>
      <p:sp>
        <p:nvSpPr>
          <p:cNvPr id="8" name="Shape 6"/>
          <p:cNvSpPr/>
          <p:nvPr/>
        </p:nvSpPr>
        <p:spPr>
          <a:xfrm>
            <a:off x="640080" y="2514600"/>
            <a:ext cx="292608" cy="292608"/>
          </a:xfrm>
          <a:prstGeom prst="ellipse">
            <a:avLst/>
          </a:prstGeom>
          <a:solidFill>
            <a:srgbClr val="1B1A17"/>
          </a:solidFill>
          <a:ln w="12700">
            <a:solidFill>
              <a:srgbClr val="1B1A17"/>
            </a:solidFill>
            <a:prstDash val="solid"/>
          </a:ln>
        </p:spPr>
      </p:sp>
      <p:sp>
        <p:nvSpPr>
          <p:cNvPr id="9" name="Text 7"/>
          <p:cNvSpPr txBox="1"/>
          <p:nvPr/>
        </p:nvSpPr>
        <p:spPr>
          <a:xfrm>
            <a:off x="640080" y="2514600"/>
            <a:ext cx="292608" cy="292608"/>
          </a:xfrm>
          <a:prstGeom prst="rect">
            <a:avLst/>
          </a:prstGeom>
          <a:noFill/>
          <a:ln/>
        </p:spPr>
        <p:txBody>
          <a:bodyPr wrap="square" lIns="0" tIns="0" rIns="0" bIns="0" rtlCol="0" anchor="ctr"/>
          <a:lstStyle/>
          <a:p>
            <a:pPr algn="ctr" indent="0" marL="0">
              <a:buNone/>
            </a:pPr>
            <a:r>
              <a:rPr lang="en-US" sz="1000" b="1" dirty="0">
                <a:solidFill>
                  <a:srgbClr val="F7F5F1"/>
                </a:solidFill>
                <a:latin typeface="Courier New" pitchFamily="34" charset="0"/>
                <a:ea typeface="Courier New" pitchFamily="34" charset="-122"/>
                <a:cs typeface="Courier New" pitchFamily="34" charset="-120"/>
              </a:rPr>
              <a:t>2</a:t>
            </a:r>
            <a:endParaRPr lang="en-US" sz="1000" dirty="0"/>
          </a:p>
        </p:txBody>
      </p:sp>
      <p:sp>
        <p:nvSpPr>
          <p:cNvPr id="10" name="Text 8"/>
          <p:cNvSpPr txBox="1"/>
          <p:nvPr/>
        </p:nvSpPr>
        <p:spPr>
          <a:xfrm>
            <a:off x="1060704" y="2496312"/>
            <a:ext cx="4846320" cy="219456"/>
          </a:xfrm>
          <a:prstGeom prst="rect">
            <a:avLst/>
          </a:prstGeom>
          <a:noFill/>
          <a:ln/>
        </p:spPr>
        <p:txBody>
          <a:bodyPr wrap="square" lIns="0" tIns="0" rIns="0" bIns="0" rtlCol="0" anchor="ctr"/>
          <a:lstStyle/>
          <a:p>
            <a:pPr indent="0" marL="0">
              <a:buNone/>
            </a:pPr>
            <a:r>
              <a:rPr lang="en-US" sz="900" b="1" spc="130" kern="0" dirty="0">
                <a:solidFill>
                  <a:srgbClr val="8A6612"/>
                </a:solidFill>
                <a:latin typeface="Courier New" pitchFamily="34" charset="0"/>
                <a:ea typeface="Courier New" pitchFamily="34" charset="-122"/>
                <a:cs typeface="Courier New" pitchFamily="34" charset="-120"/>
              </a:rPr>
              <a:t>ORIENT AUTOMATICALLY</a:t>
            </a:r>
            <a:endParaRPr lang="en-US" sz="900" dirty="0"/>
          </a:p>
        </p:txBody>
      </p:sp>
      <p:sp>
        <p:nvSpPr>
          <p:cNvPr id="11" name="Text 9"/>
          <p:cNvSpPr txBox="1"/>
          <p:nvPr/>
        </p:nvSpPr>
        <p:spPr>
          <a:xfrm>
            <a:off x="1060704" y="2752344"/>
            <a:ext cx="4846320" cy="603504"/>
          </a:xfrm>
          <a:prstGeom prst="rect">
            <a:avLst/>
          </a:prstGeom>
          <a:noFill/>
          <a:ln/>
        </p:spPr>
        <p:txBody>
          <a:bodyPr wrap="square" lIns="0" tIns="0" rIns="0" bIns="0" rtlCol="0" anchor="t"/>
          <a:lstStyle/>
          <a:p>
            <a:pPr indent="0" marL="0">
              <a:lnSpc>
                <a:spcPts val="1633"/>
              </a:lnSpc>
              <a:buNone/>
            </a:pPr>
            <a:r>
              <a:rPr lang="en-US" sz="1150" dirty="0">
                <a:solidFill>
                  <a:srgbClr val="55524B"/>
                </a:solidFill>
                <a:latin typeface="Calibri" pitchFamily="34" charset="0"/>
                <a:ea typeface="Calibri" pitchFamily="34" charset="-122"/>
                <a:cs typeface="Calibri" pitchFamily="34" charset="-120"/>
              </a:rPr>
              <a:t>Business objective, material facts, missing facts, issues, the prior decisions that already govern it, and one next action.</a:t>
            </a:r>
            <a:endParaRPr lang="en-US" sz="1150" dirty="0"/>
          </a:p>
        </p:txBody>
      </p:sp>
      <p:sp>
        <p:nvSpPr>
          <p:cNvPr id="12" name="Shape 10"/>
          <p:cNvSpPr/>
          <p:nvPr/>
        </p:nvSpPr>
        <p:spPr>
          <a:xfrm>
            <a:off x="640080" y="3383280"/>
            <a:ext cx="292608" cy="292608"/>
          </a:xfrm>
          <a:prstGeom prst="ellipse">
            <a:avLst/>
          </a:prstGeom>
          <a:solidFill>
            <a:srgbClr val="1B1A17"/>
          </a:solidFill>
          <a:ln w="12700">
            <a:solidFill>
              <a:srgbClr val="1B1A17"/>
            </a:solidFill>
            <a:prstDash val="solid"/>
          </a:ln>
        </p:spPr>
      </p:sp>
      <p:sp>
        <p:nvSpPr>
          <p:cNvPr id="13" name="Text 11"/>
          <p:cNvSpPr txBox="1"/>
          <p:nvPr/>
        </p:nvSpPr>
        <p:spPr>
          <a:xfrm>
            <a:off x="640080" y="3383280"/>
            <a:ext cx="292608" cy="292608"/>
          </a:xfrm>
          <a:prstGeom prst="rect">
            <a:avLst/>
          </a:prstGeom>
          <a:noFill/>
          <a:ln/>
        </p:spPr>
        <p:txBody>
          <a:bodyPr wrap="square" lIns="0" tIns="0" rIns="0" bIns="0" rtlCol="0" anchor="ctr"/>
          <a:lstStyle/>
          <a:p>
            <a:pPr algn="ctr" indent="0" marL="0">
              <a:buNone/>
            </a:pPr>
            <a:r>
              <a:rPr lang="en-US" sz="1000" b="1" dirty="0">
                <a:solidFill>
                  <a:srgbClr val="F7F5F1"/>
                </a:solidFill>
                <a:latin typeface="Courier New" pitchFamily="34" charset="0"/>
                <a:ea typeface="Courier New" pitchFamily="34" charset="-122"/>
                <a:cs typeface="Courier New" pitchFamily="34" charset="-120"/>
              </a:rPr>
              <a:t>3</a:t>
            </a:r>
            <a:endParaRPr lang="en-US" sz="1000" dirty="0"/>
          </a:p>
        </p:txBody>
      </p:sp>
      <p:sp>
        <p:nvSpPr>
          <p:cNvPr id="14" name="Text 12"/>
          <p:cNvSpPr txBox="1"/>
          <p:nvPr/>
        </p:nvSpPr>
        <p:spPr>
          <a:xfrm>
            <a:off x="1060704" y="3364992"/>
            <a:ext cx="4846320" cy="219456"/>
          </a:xfrm>
          <a:prstGeom prst="rect">
            <a:avLst/>
          </a:prstGeom>
          <a:noFill/>
          <a:ln/>
        </p:spPr>
        <p:txBody>
          <a:bodyPr wrap="square" lIns="0" tIns="0" rIns="0" bIns="0" rtlCol="0" anchor="ctr"/>
          <a:lstStyle/>
          <a:p>
            <a:pPr indent="0" marL="0">
              <a:buNone/>
            </a:pPr>
            <a:r>
              <a:rPr lang="en-US" sz="900" b="1" spc="130" kern="0" dirty="0">
                <a:solidFill>
                  <a:srgbClr val="8A6612"/>
                </a:solidFill>
                <a:latin typeface="Courier New" pitchFamily="34" charset="0"/>
                <a:ea typeface="Courier New" pitchFamily="34" charset="-122"/>
                <a:cs typeface="Courier New" pitchFamily="34" charset="-120"/>
              </a:rPr>
              <a:t>DO THE FIRST WORK</a:t>
            </a:r>
            <a:endParaRPr lang="en-US" sz="900" dirty="0"/>
          </a:p>
        </p:txBody>
      </p:sp>
      <p:sp>
        <p:nvSpPr>
          <p:cNvPr id="15" name="Text 13"/>
          <p:cNvSpPr txBox="1"/>
          <p:nvPr/>
        </p:nvSpPr>
        <p:spPr>
          <a:xfrm>
            <a:off x="1060704" y="3621024"/>
            <a:ext cx="4846320" cy="603504"/>
          </a:xfrm>
          <a:prstGeom prst="rect">
            <a:avLst/>
          </a:prstGeom>
          <a:noFill/>
          <a:ln/>
        </p:spPr>
        <p:txBody>
          <a:bodyPr wrap="square" lIns="0" tIns="0" rIns="0" bIns="0" rtlCol="0" anchor="t"/>
          <a:lstStyle/>
          <a:p>
            <a:pPr indent="0" marL="0">
              <a:lnSpc>
                <a:spcPts val="1633"/>
              </a:lnSpc>
              <a:buNone/>
            </a:pPr>
            <a:r>
              <a:rPr lang="en-US" sz="1150" dirty="0">
                <a:solidFill>
                  <a:srgbClr val="55524B"/>
                </a:solidFill>
                <a:latin typeface="Calibri" pitchFamily="34" charset="0"/>
                <a:ea typeface="Calibri" pitchFamily="34" charset="-122"/>
                <a:cs typeface="Calibri" pitchFamily="34" charset="-120"/>
              </a:rPr>
              <a:t>Targeted research or document review, queued per matter, saved into the matter as an editable record.</a:t>
            </a:r>
            <a:endParaRPr lang="en-US" sz="1150" dirty="0"/>
          </a:p>
        </p:txBody>
      </p:sp>
      <p:sp>
        <p:nvSpPr>
          <p:cNvPr id="16" name="Shape 14"/>
          <p:cNvSpPr/>
          <p:nvPr/>
        </p:nvSpPr>
        <p:spPr>
          <a:xfrm>
            <a:off x="640080" y="4251960"/>
            <a:ext cx="292608" cy="292608"/>
          </a:xfrm>
          <a:prstGeom prst="ellipse">
            <a:avLst/>
          </a:prstGeom>
          <a:solidFill>
            <a:srgbClr val="1B1A17"/>
          </a:solidFill>
          <a:ln w="12700">
            <a:solidFill>
              <a:srgbClr val="1B1A17"/>
            </a:solidFill>
            <a:prstDash val="solid"/>
          </a:ln>
        </p:spPr>
      </p:sp>
      <p:sp>
        <p:nvSpPr>
          <p:cNvPr id="17" name="Text 15"/>
          <p:cNvSpPr txBox="1"/>
          <p:nvPr/>
        </p:nvSpPr>
        <p:spPr>
          <a:xfrm>
            <a:off x="640080" y="4251960"/>
            <a:ext cx="292608" cy="292608"/>
          </a:xfrm>
          <a:prstGeom prst="rect">
            <a:avLst/>
          </a:prstGeom>
          <a:noFill/>
          <a:ln/>
        </p:spPr>
        <p:txBody>
          <a:bodyPr wrap="square" lIns="0" tIns="0" rIns="0" bIns="0" rtlCol="0" anchor="ctr"/>
          <a:lstStyle/>
          <a:p>
            <a:pPr algn="ctr" indent="0" marL="0">
              <a:buNone/>
            </a:pPr>
            <a:r>
              <a:rPr lang="en-US" sz="1000" b="1" dirty="0">
                <a:solidFill>
                  <a:srgbClr val="F7F5F1"/>
                </a:solidFill>
                <a:latin typeface="Courier New" pitchFamily="34" charset="0"/>
                <a:ea typeface="Courier New" pitchFamily="34" charset="-122"/>
                <a:cs typeface="Courier New" pitchFamily="34" charset="-120"/>
              </a:rPr>
              <a:t>4</a:t>
            </a:r>
            <a:endParaRPr lang="en-US" sz="1000" dirty="0"/>
          </a:p>
        </p:txBody>
      </p:sp>
      <p:sp>
        <p:nvSpPr>
          <p:cNvPr id="18" name="Text 16"/>
          <p:cNvSpPr txBox="1"/>
          <p:nvPr/>
        </p:nvSpPr>
        <p:spPr>
          <a:xfrm>
            <a:off x="1060704" y="4233672"/>
            <a:ext cx="4846320" cy="219456"/>
          </a:xfrm>
          <a:prstGeom prst="rect">
            <a:avLst/>
          </a:prstGeom>
          <a:noFill/>
          <a:ln/>
        </p:spPr>
        <p:txBody>
          <a:bodyPr wrap="square" lIns="0" tIns="0" rIns="0" bIns="0" rtlCol="0" anchor="ctr"/>
          <a:lstStyle/>
          <a:p>
            <a:pPr indent="0" marL="0">
              <a:buNone/>
            </a:pPr>
            <a:r>
              <a:rPr lang="en-US" sz="900" b="1" spc="130" kern="0" dirty="0">
                <a:solidFill>
                  <a:srgbClr val="8A6612"/>
                </a:solidFill>
                <a:latin typeface="Courier New" pitchFamily="34" charset="0"/>
                <a:ea typeface="Courier New" pitchFamily="34" charset="-122"/>
                <a:cs typeface="Courier New" pitchFamily="34" charset="-120"/>
              </a:rPr>
              <a:t>PROVE IT</a:t>
            </a:r>
            <a:endParaRPr lang="en-US" sz="900" dirty="0"/>
          </a:p>
        </p:txBody>
      </p:sp>
      <p:sp>
        <p:nvSpPr>
          <p:cNvPr id="19" name="Text 17"/>
          <p:cNvSpPr txBox="1"/>
          <p:nvPr/>
        </p:nvSpPr>
        <p:spPr>
          <a:xfrm>
            <a:off x="1060704" y="4489704"/>
            <a:ext cx="4846320" cy="603504"/>
          </a:xfrm>
          <a:prstGeom prst="rect">
            <a:avLst/>
          </a:prstGeom>
          <a:noFill/>
          <a:ln/>
        </p:spPr>
        <p:txBody>
          <a:bodyPr wrap="square" lIns="0" tIns="0" rIns="0" bIns="0" rtlCol="0" anchor="t"/>
          <a:lstStyle/>
          <a:p>
            <a:pPr indent="0" marL="0">
              <a:lnSpc>
                <a:spcPts val="1633"/>
              </a:lnSpc>
              <a:buNone/>
            </a:pPr>
            <a:r>
              <a:rPr lang="en-US" sz="1150" dirty="0">
                <a:solidFill>
                  <a:srgbClr val="55524B"/>
                </a:solidFill>
                <a:latin typeface="Calibri" pitchFamily="34" charset="0"/>
                <a:ea typeface="Calibri" pitchFamily="34" charset="-122"/>
                <a:cs typeface="Calibri" pitchFamily="34" charset="-120"/>
              </a:rPr>
              <a:t>Agent output stays visibly agent output — labelled, dashed, source status shown — until a human accepts it. Passage-level proof is the next build.</a:t>
            </a:r>
            <a:endParaRPr lang="en-US" sz="1150" dirty="0"/>
          </a:p>
        </p:txBody>
      </p:sp>
      <p:sp>
        <p:nvSpPr>
          <p:cNvPr id="20" name="Shape 18"/>
          <p:cNvSpPr/>
          <p:nvPr/>
        </p:nvSpPr>
        <p:spPr>
          <a:xfrm>
            <a:off x="640080" y="5120640"/>
            <a:ext cx="292608" cy="292608"/>
          </a:xfrm>
          <a:prstGeom prst="ellipse">
            <a:avLst/>
          </a:prstGeom>
          <a:solidFill>
            <a:srgbClr val="1B1A17"/>
          </a:solidFill>
          <a:ln w="12700">
            <a:solidFill>
              <a:srgbClr val="1B1A17"/>
            </a:solidFill>
            <a:prstDash val="solid"/>
          </a:ln>
        </p:spPr>
      </p:sp>
      <p:sp>
        <p:nvSpPr>
          <p:cNvPr id="21" name="Text 19"/>
          <p:cNvSpPr txBox="1"/>
          <p:nvPr/>
        </p:nvSpPr>
        <p:spPr>
          <a:xfrm>
            <a:off x="640080" y="5120640"/>
            <a:ext cx="292608" cy="292608"/>
          </a:xfrm>
          <a:prstGeom prst="rect">
            <a:avLst/>
          </a:prstGeom>
          <a:noFill/>
          <a:ln/>
        </p:spPr>
        <p:txBody>
          <a:bodyPr wrap="square" lIns="0" tIns="0" rIns="0" bIns="0" rtlCol="0" anchor="ctr"/>
          <a:lstStyle/>
          <a:p>
            <a:pPr algn="ctr" indent="0" marL="0">
              <a:buNone/>
            </a:pPr>
            <a:r>
              <a:rPr lang="en-US" sz="1000" b="1" dirty="0">
                <a:solidFill>
                  <a:srgbClr val="F7F5F1"/>
                </a:solidFill>
                <a:latin typeface="Courier New" pitchFamily="34" charset="0"/>
                <a:ea typeface="Courier New" pitchFamily="34" charset="-122"/>
                <a:cs typeface="Courier New" pitchFamily="34" charset="-120"/>
              </a:rPr>
              <a:t>5</a:t>
            </a:r>
            <a:endParaRPr lang="en-US" sz="1000" dirty="0"/>
          </a:p>
        </p:txBody>
      </p:sp>
      <p:sp>
        <p:nvSpPr>
          <p:cNvPr id="22" name="Text 20"/>
          <p:cNvSpPr txBox="1"/>
          <p:nvPr/>
        </p:nvSpPr>
        <p:spPr>
          <a:xfrm>
            <a:off x="1060704" y="5102352"/>
            <a:ext cx="4846320" cy="219456"/>
          </a:xfrm>
          <a:prstGeom prst="rect">
            <a:avLst/>
          </a:prstGeom>
          <a:noFill/>
          <a:ln/>
        </p:spPr>
        <p:txBody>
          <a:bodyPr wrap="square" lIns="0" tIns="0" rIns="0" bIns="0" rtlCol="0" anchor="ctr"/>
          <a:lstStyle/>
          <a:p>
            <a:pPr indent="0" marL="0">
              <a:buNone/>
            </a:pPr>
            <a:r>
              <a:rPr lang="en-US" sz="900" b="1" spc="130" kern="0" dirty="0">
                <a:solidFill>
                  <a:srgbClr val="8A6612"/>
                </a:solidFill>
                <a:latin typeface="Courier New" pitchFamily="34" charset="0"/>
                <a:ea typeface="Courier New" pitchFamily="34" charset="-122"/>
                <a:cs typeface="Courier New" pitchFamily="34" charset="-120"/>
              </a:rPr>
              <a:t>HAND IT OFF</a:t>
            </a:r>
            <a:endParaRPr lang="en-US" sz="900" dirty="0"/>
          </a:p>
        </p:txBody>
      </p:sp>
      <p:sp>
        <p:nvSpPr>
          <p:cNvPr id="23" name="Text 21"/>
          <p:cNvSpPr txBox="1"/>
          <p:nvPr/>
        </p:nvSpPr>
        <p:spPr>
          <a:xfrm>
            <a:off x="1060704" y="5358384"/>
            <a:ext cx="4846320" cy="603504"/>
          </a:xfrm>
          <a:prstGeom prst="rect">
            <a:avLst/>
          </a:prstGeom>
          <a:noFill/>
          <a:ln/>
        </p:spPr>
        <p:txBody>
          <a:bodyPr wrap="square" lIns="0" tIns="0" rIns="0" bIns="0" rtlCol="0" anchor="t"/>
          <a:lstStyle/>
          <a:p>
            <a:pPr indent="0" marL="0">
              <a:lnSpc>
                <a:spcPts val="1633"/>
              </a:lnSpc>
              <a:buNone/>
            </a:pPr>
            <a:r>
              <a:rPr lang="en-US" sz="1150" dirty="0">
                <a:solidFill>
                  <a:srgbClr val="55524B"/>
                </a:solidFill>
                <a:latin typeface="Calibri" pitchFamily="34" charset="0"/>
                <a:ea typeface="Calibri" pitchFamily="34" charset="-122"/>
                <a:cs typeface="Calibri" pitchFamily="34" charset="-120"/>
              </a:rPr>
              <a:t>A review-ready draft, a recorded decision with a named decider and a revisit date, and a next action that survives the model.</a:t>
            </a:r>
            <a:endParaRPr lang="en-US" sz="1150" dirty="0"/>
          </a:p>
        </p:txBody>
      </p:sp>
      <p:sp>
        <p:nvSpPr>
          <p:cNvPr id="24" name="Shape 22"/>
          <p:cNvSpPr/>
          <p:nvPr/>
        </p:nvSpPr>
        <p:spPr>
          <a:xfrm>
            <a:off x="6131052" y="1741932"/>
            <a:ext cx="5458968" cy="3442716"/>
          </a:xfrm>
          <a:prstGeom prst="rect">
            <a:avLst/>
          </a:prstGeom>
          <a:solidFill>
            <a:srgbClr val="FFFEFB"/>
          </a:solidFill>
          <a:ln w="9525">
            <a:solidFill>
              <a:srgbClr val="DED9D0"/>
            </a:solidFill>
            <a:prstDash val="solid"/>
          </a:ln>
          <a:effectLst>
            <a:outerShdw sx="100000" sy="100000" kx="0" ky="0" algn="bl" rotWithShape="0" blurRad="177800" dist="25400" dir="5400000">
              <a:srgbClr val="1B1A17">
                <a:alpha val="10000"/>
              </a:srgbClr>
            </a:outerShdw>
          </a:effectLst>
        </p:spPr>
      </p:sp>
      <p:pic>
        <p:nvPicPr>
          <p:cNvPr id="25" name="Image 0" descr="img/today-tall.jpg">    </p:cNvPr>
          <p:cNvPicPr>
            <a:picLocks noChangeAspect="1"/>
          </p:cNvPicPr>
          <p:nvPr/>
        </p:nvPicPr>
        <p:blipFill>
          <a:blip r:embed="rId1"/>
          <a:stretch>
            <a:fillRect/>
          </a:stretch>
        </p:blipFill>
        <p:spPr>
          <a:xfrm>
            <a:off x="6172200" y="1783080"/>
            <a:ext cx="5376672" cy="3360420"/>
          </a:xfrm>
          <a:prstGeom prst="rect">
            <a:avLst/>
          </a:prstGeom>
        </p:spPr>
      </p:pic>
      <p:sp>
        <p:nvSpPr>
          <p:cNvPr id="26" name="Text 23"/>
          <p:cNvSpPr txBox="1"/>
          <p:nvPr/>
        </p:nvSpPr>
        <p:spPr>
          <a:xfrm>
            <a:off x="6172200" y="5321808"/>
            <a:ext cx="5376672" cy="292608"/>
          </a:xfrm>
          <a:prstGeom prst="rect">
            <a:avLst/>
          </a:prstGeom>
          <a:noFill/>
          <a:ln/>
        </p:spPr>
        <p:txBody>
          <a:bodyPr wrap="square" lIns="0" tIns="0" rIns="0" bIns="0" rtlCol="0" anchor="ctr"/>
          <a:lstStyle/>
          <a:p>
            <a:pPr indent="0" marL="0">
              <a:buNone/>
            </a:pPr>
            <a:r>
              <a:rPr lang="en-US" sz="850" dirty="0">
                <a:solidFill>
                  <a:srgbClr val="8A857C"/>
                </a:solidFill>
                <a:latin typeface="Courier New" pitchFamily="34" charset="0"/>
                <a:ea typeface="Courier New" pitchFamily="34" charset="-122"/>
                <a:cs typeface="Courier New" pitchFamily="34" charset="-120"/>
              </a:rPr>
              <a:t>The lawyer never reconstructs the matter to ask the next question.</a:t>
            </a:r>
            <a:endParaRPr lang="en-US" sz="850" dirty="0"/>
          </a:p>
        </p:txBody>
      </p:sp>
      <p:sp>
        <p:nvSpPr>
          <p:cNvPr id="27" name="Text 24"/>
          <p:cNvSpPr txBox="1"/>
          <p:nvPr/>
        </p:nvSpPr>
        <p:spPr>
          <a:xfrm>
            <a:off x="11094415" y="6355080"/>
            <a:ext cx="457200" cy="219456"/>
          </a:xfrm>
          <a:prstGeom prst="rect">
            <a:avLst/>
          </a:prstGeom>
          <a:noFill/>
          <a:ln/>
        </p:spPr>
        <p:txBody>
          <a:bodyPr wrap="square" lIns="0" tIns="0" rIns="0" bIns="0" rtlCol="0" anchor="ctr"/>
          <a:lstStyle/>
          <a:p>
            <a:pPr algn="r" indent="0" marL="0">
              <a:buNone/>
            </a:pPr>
            <a:r>
              <a:rPr lang="en-US" sz="900" dirty="0">
                <a:solidFill>
                  <a:srgbClr val="A8A298"/>
                </a:solidFill>
                <a:latin typeface="Courier New" pitchFamily="34" charset="0"/>
                <a:ea typeface="Courier New" pitchFamily="34" charset="-122"/>
                <a:cs typeface="Courier New"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75488"/>
            <a:ext cx="10881360" cy="237744"/>
          </a:xfrm>
          <a:prstGeom prst="rect">
            <a:avLst/>
          </a:prstGeom>
          <a:noFill/>
          <a:ln/>
        </p:spPr>
        <p:txBody>
          <a:bodyPr wrap="square" lIns="0" tIns="0" rIns="0" bIns="0" rtlCol="0" anchor="ctr"/>
          <a:lstStyle/>
          <a:p>
            <a:pPr indent="0" marL="0">
              <a:buNone/>
            </a:pPr>
            <a:r>
              <a:rPr lang="en-US" sz="950" b="1" spc="160" kern="0" dirty="0">
                <a:solidFill>
                  <a:srgbClr val="5F5B54"/>
                </a:solidFill>
                <a:latin typeface="Courier New" pitchFamily="34" charset="0"/>
                <a:ea typeface="Courier New" pitchFamily="34" charset="-122"/>
                <a:cs typeface="Courier New" pitchFamily="34" charset="-120"/>
              </a:rPr>
              <a:t>THE MATTER IS THE PRODUCT</a:t>
            </a:r>
            <a:endParaRPr lang="en-US" sz="950" dirty="0"/>
          </a:p>
        </p:txBody>
      </p:sp>
      <p:sp>
        <p:nvSpPr>
          <p:cNvPr id="3" name="Text 1"/>
          <p:cNvSpPr txBox="1"/>
          <p:nvPr/>
        </p:nvSpPr>
        <p:spPr>
          <a:xfrm>
            <a:off x="640080" y="768096"/>
            <a:ext cx="10881360" cy="713232"/>
          </a:xfrm>
          <a:prstGeom prst="rect">
            <a:avLst/>
          </a:prstGeom>
          <a:noFill/>
          <a:ln/>
        </p:spPr>
        <p:txBody>
          <a:bodyPr wrap="square" lIns="0" tIns="0" rIns="0" bIns="0" rtlCol="0" anchor="t"/>
          <a:lstStyle/>
          <a:p>
            <a:pPr indent="0" marL="0">
              <a:lnSpc>
                <a:spcPts val="3696"/>
              </a:lnSpc>
              <a:buNone/>
            </a:pPr>
            <a:r>
              <a:rPr lang="en-US" sz="3300" b="1" dirty="0">
                <a:solidFill>
                  <a:srgbClr val="1B1A17"/>
                </a:solidFill>
                <a:latin typeface="Cambria" pitchFamily="34" charset="0"/>
                <a:ea typeface="Cambria" pitchFamily="34" charset="-122"/>
                <a:cs typeface="Cambria" pitchFamily="34" charset="-120"/>
              </a:rPr>
              <a:t>Everything needed to act, on one page</a:t>
            </a:r>
            <a:endParaRPr lang="en-US" sz="3300" dirty="0"/>
          </a:p>
        </p:txBody>
      </p:sp>
      <p:sp>
        <p:nvSpPr>
          <p:cNvPr id="4" name="Shape 2"/>
          <p:cNvSpPr/>
          <p:nvPr/>
        </p:nvSpPr>
        <p:spPr>
          <a:xfrm>
            <a:off x="598932" y="1586484"/>
            <a:ext cx="6345936" cy="3909991"/>
          </a:xfrm>
          <a:prstGeom prst="rect">
            <a:avLst/>
          </a:prstGeom>
          <a:solidFill>
            <a:srgbClr val="FFFEFB"/>
          </a:solidFill>
          <a:ln w="9525">
            <a:solidFill>
              <a:srgbClr val="DED9D0"/>
            </a:solidFill>
            <a:prstDash val="solid"/>
          </a:ln>
          <a:effectLst>
            <a:outerShdw sx="100000" sy="100000" kx="0" ky="0" algn="bl" rotWithShape="0" blurRad="177800" dist="25400" dir="5400000">
              <a:srgbClr val="1B1A17">
                <a:alpha val="10000"/>
              </a:srgbClr>
            </a:outerShdw>
          </a:effectLst>
        </p:spPr>
      </p:sp>
      <p:pic>
        <p:nvPicPr>
          <p:cNvPr id="5" name="Image 0" descr="img/matter.jpg">    </p:cNvPr>
          <p:cNvPicPr>
            <a:picLocks noChangeAspect="1"/>
          </p:cNvPicPr>
          <p:nvPr/>
        </p:nvPicPr>
        <p:blipFill>
          <a:blip r:embed="rId1"/>
          <a:stretch>
            <a:fillRect/>
          </a:stretch>
        </p:blipFill>
        <p:spPr>
          <a:xfrm>
            <a:off x="640080" y="1627632"/>
            <a:ext cx="6263640" cy="3827695"/>
          </a:xfrm>
          <a:prstGeom prst="rect">
            <a:avLst/>
          </a:prstGeom>
        </p:spPr>
      </p:pic>
      <p:sp>
        <p:nvSpPr>
          <p:cNvPr id="6" name="Text 3"/>
          <p:cNvSpPr txBox="1"/>
          <p:nvPr/>
        </p:nvSpPr>
        <p:spPr>
          <a:xfrm>
            <a:off x="7242048" y="1645920"/>
            <a:ext cx="4297680" cy="274320"/>
          </a:xfrm>
          <a:prstGeom prst="rect">
            <a:avLst/>
          </a:prstGeom>
          <a:noFill/>
          <a:ln/>
        </p:spPr>
        <p:txBody>
          <a:bodyPr wrap="square" lIns="0" tIns="0" rIns="0" bIns="0" rtlCol="0" anchor="t"/>
          <a:lstStyle/>
          <a:p>
            <a:pPr indent="0" marL="0">
              <a:lnSpc>
                <a:spcPts val="1800"/>
              </a:lnSpc>
              <a:buNone/>
            </a:pPr>
            <a:r>
              <a:rPr lang="en-US" sz="1400" b="1" dirty="0">
                <a:solidFill>
                  <a:srgbClr val="1B1A17"/>
                </a:solidFill>
                <a:latin typeface="Cambria" pitchFamily="34" charset="0"/>
                <a:ea typeface="Cambria" pitchFamily="34" charset="-122"/>
                <a:cs typeface="Cambria" pitchFamily="34" charset="-120"/>
              </a:rPr>
              <a:t>The question, in plain language</a:t>
            </a:r>
            <a:endParaRPr lang="en-US" sz="1400" dirty="0"/>
          </a:p>
        </p:txBody>
      </p:sp>
      <p:sp>
        <p:nvSpPr>
          <p:cNvPr id="7" name="Text 4"/>
          <p:cNvSpPr txBox="1"/>
          <p:nvPr/>
        </p:nvSpPr>
        <p:spPr>
          <a:xfrm>
            <a:off x="7242048" y="1956816"/>
            <a:ext cx="4297680" cy="786384"/>
          </a:xfrm>
          <a:prstGeom prst="rect">
            <a:avLst/>
          </a:prstGeom>
          <a:noFill/>
          <a:ln/>
        </p:spPr>
        <p:txBody>
          <a:bodyPr wrap="square" lIns="0" tIns="0" rIns="0" bIns="0" rtlCol="0" anchor="t"/>
          <a:lstStyle/>
          <a:p>
            <a:pPr indent="0" marL="0">
              <a:lnSpc>
                <a:spcPts val="1633"/>
              </a:lnSpc>
              <a:buNone/>
            </a:pPr>
            <a:r>
              <a:rPr lang="en-US" sz="1150" dirty="0">
                <a:solidFill>
                  <a:srgbClr val="55524B"/>
                </a:solidFill>
                <a:latin typeface="Calibri" pitchFamily="34" charset="0"/>
                <a:ea typeface="Calibri" pitchFamily="34" charset="-122"/>
                <a:cs typeface="Calibri" pitchFamily="34" charset="-120"/>
              </a:rPr>
              <a:t>Not a file tree. The business objective and the exact question to resolve sit above everything else.</a:t>
            </a:r>
            <a:endParaRPr lang="en-US" sz="1150" dirty="0"/>
          </a:p>
        </p:txBody>
      </p:sp>
      <p:sp>
        <p:nvSpPr>
          <p:cNvPr id="8" name="Text 5"/>
          <p:cNvSpPr txBox="1"/>
          <p:nvPr/>
        </p:nvSpPr>
        <p:spPr>
          <a:xfrm>
            <a:off x="7242048" y="2779776"/>
            <a:ext cx="4297680" cy="274320"/>
          </a:xfrm>
          <a:prstGeom prst="rect">
            <a:avLst/>
          </a:prstGeom>
          <a:noFill/>
          <a:ln/>
        </p:spPr>
        <p:txBody>
          <a:bodyPr wrap="square" lIns="0" tIns="0" rIns="0" bIns="0" rtlCol="0" anchor="t"/>
          <a:lstStyle/>
          <a:p>
            <a:pPr indent="0" marL="0">
              <a:lnSpc>
                <a:spcPts val="1800"/>
              </a:lnSpc>
              <a:buNone/>
            </a:pPr>
            <a:r>
              <a:rPr lang="en-US" sz="1400" b="1" dirty="0">
                <a:solidFill>
                  <a:srgbClr val="1B1A17"/>
                </a:solidFill>
                <a:latin typeface="Cambria" pitchFamily="34" charset="0"/>
                <a:ea typeface="Cambria" pitchFamily="34" charset="-122"/>
                <a:cs typeface="Cambria" pitchFamily="34" charset="-120"/>
              </a:rPr>
              <a:t>Who must act next, by name</a:t>
            </a:r>
            <a:endParaRPr lang="en-US" sz="1400" dirty="0"/>
          </a:p>
        </p:txBody>
      </p:sp>
      <p:sp>
        <p:nvSpPr>
          <p:cNvPr id="9" name="Text 6"/>
          <p:cNvSpPr txBox="1"/>
          <p:nvPr/>
        </p:nvSpPr>
        <p:spPr>
          <a:xfrm>
            <a:off x="7242048" y="3090672"/>
            <a:ext cx="4297680" cy="786384"/>
          </a:xfrm>
          <a:prstGeom prst="rect">
            <a:avLst/>
          </a:prstGeom>
          <a:noFill/>
          <a:ln/>
        </p:spPr>
        <p:txBody>
          <a:bodyPr wrap="square" lIns="0" tIns="0" rIns="0" bIns="0" rtlCol="0" anchor="t"/>
          <a:lstStyle/>
          <a:p>
            <a:pPr indent="0" marL="0">
              <a:lnSpc>
                <a:spcPts val="1633"/>
              </a:lnSpc>
              <a:buNone/>
            </a:pPr>
            <a:r>
              <a:rPr lang="en-US" sz="1150" dirty="0">
                <a:solidFill>
                  <a:srgbClr val="55524B"/>
                </a:solidFill>
                <a:latin typeface="Calibri" pitchFamily="34" charset="0"/>
                <a:ea typeface="Calibri" pitchFamily="34" charset="-122"/>
                <a:cs typeface="Calibri" pitchFamily="34" charset="-120"/>
              </a:rPr>
              <a:t>Ownership and lateness are first-class. “Waiting on Brian Harris” is a state the system computes, not a status someone remembered to set.</a:t>
            </a:r>
            <a:endParaRPr lang="en-US" sz="1150" dirty="0"/>
          </a:p>
        </p:txBody>
      </p:sp>
      <p:sp>
        <p:nvSpPr>
          <p:cNvPr id="10" name="Text 7"/>
          <p:cNvSpPr txBox="1"/>
          <p:nvPr/>
        </p:nvSpPr>
        <p:spPr>
          <a:xfrm>
            <a:off x="7242048" y="3913632"/>
            <a:ext cx="4297680" cy="274320"/>
          </a:xfrm>
          <a:prstGeom prst="rect">
            <a:avLst/>
          </a:prstGeom>
          <a:noFill/>
          <a:ln/>
        </p:spPr>
        <p:txBody>
          <a:bodyPr wrap="square" lIns="0" tIns="0" rIns="0" bIns="0" rtlCol="0" anchor="t"/>
          <a:lstStyle/>
          <a:p>
            <a:pPr indent="0" marL="0">
              <a:lnSpc>
                <a:spcPts val="1800"/>
              </a:lnSpc>
              <a:buNone/>
            </a:pPr>
            <a:r>
              <a:rPr lang="en-US" sz="1400" b="1" dirty="0">
                <a:solidFill>
                  <a:srgbClr val="1B1A17"/>
                </a:solidFill>
                <a:latin typeface="Cambria" pitchFamily="34" charset="0"/>
                <a:ea typeface="Cambria" pitchFamily="34" charset="-122"/>
                <a:cs typeface="Cambria" pitchFamily="34" charset="-120"/>
              </a:rPr>
              <a:t>Judgment and work product are separate acts</a:t>
            </a:r>
            <a:endParaRPr lang="en-US" sz="1400" dirty="0"/>
          </a:p>
        </p:txBody>
      </p:sp>
      <p:sp>
        <p:nvSpPr>
          <p:cNvPr id="11" name="Text 8"/>
          <p:cNvSpPr txBox="1"/>
          <p:nvPr/>
        </p:nvSpPr>
        <p:spPr>
          <a:xfrm>
            <a:off x="7242048" y="4224528"/>
            <a:ext cx="4297680" cy="786384"/>
          </a:xfrm>
          <a:prstGeom prst="rect">
            <a:avLst/>
          </a:prstGeom>
          <a:noFill/>
          <a:ln/>
        </p:spPr>
        <p:txBody>
          <a:bodyPr wrap="square" lIns="0" tIns="0" rIns="0" bIns="0" rtlCol="0" anchor="t"/>
          <a:lstStyle/>
          <a:p>
            <a:pPr indent="0" marL="0">
              <a:lnSpc>
                <a:spcPts val="1633"/>
              </a:lnSpc>
              <a:buNone/>
            </a:pPr>
            <a:r>
              <a:rPr lang="en-US" sz="1150" dirty="0">
                <a:solidFill>
                  <a:srgbClr val="55524B"/>
                </a:solidFill>
                <a:latin typeface="Calibri" pitchFamily="34" charset="0"/>
                <a:ea typeface="Calibri" pitchFamily="34" charset="-122"/>
                <a:cs typeface="Calibri" pitchFamily="34" charset="-120"/>
              </a:rPr>
              <a:t>Record decision and Finalize draft are two explicit buttons. Neither happens because an agent wrote something.</a:t>
            </a:r>
            <a:endParaRPr lang="en-US" sz="1150" dirty="0"/>
          </a:p>
        </p:txBody>
      </p:sp>
      <p:sp>
        <p:nvSpPr>
          <p:cNvPr id="12" name="Text 9"/>
          <p:cNvSpPr txBox="1"/>
          <p:nvPr/>
        </p:nvSpPr>
        <p:spPr>
          <a:xfrm>
            <a:off x="7242048" y="5047488"/>
            <a:ext cx="4297680" cy="274320"/>
          </a:xfrm>
          <a:prstGeom prst="rect">
            <a:avLst/>
          </a:prstGeom>
          <a:noFill/>
          <a:ln/>
        </p:spPr>
        <p:txBody>
          <a:bodyPr wrap="square" lIns="0" tIns="0" rIns="0" bIns="0" rtlCol="0" anchor="t"/>
          <a:lstStyle/>
          <a:p>
            <a:pPr indent="0" marL="0">
              <a:lnSpc>
                <a:spcPts val="1800"/>
              </a:lnSpc>
              <a:buNone/>
            </a:pPr>
            <a:r>
              <a:rPr lang="en-US" sz="1400" b="1" dirty="0">
                <a:solidFill>
                  <a:srgbClr val="1B1A17"/>
                </a:solidFill>
                <a:latin typeface="Cambria" pitchFamily="34" charset="0"/>
                <a:ea typeface="Cambria" pitchFamily="34" charset="-122"/>
                <a:cs typeface="Cambria" pitchFamily="34" charset="-120"/>
              </a:rPr>
              <a:t>The customer owns the records</a:t>
            </a:r>
            <a:endParaRPr lang="en-US" sz="1400" dirty="0"/>
          </a:p>
        </p:txBody>
      </p:sp>
      <p:sp>
        <p:nvSpPr>
          <p:cNvPr id="13" name="Text 10"/>
          <p:cNvSpPr txBox="1"/>
          <p:nvPr/>
        </p:nvSpPr>
        <p:spPr>
          <a:xfrm>
            <a:off x="7242048" y="5358384"/>
            <a:ext cx="4297680" cy="786384"/>
          </a:xfrm>
          <a:prstGeom prst="rect">
            <a:avLst/>
          </a:prstGeom>
          <a:noFill/>
          <a:ln/>
        </p:spPr>
        <p:txBody>
          <a:bodyPr wrap="square" lIns="0" tIns="0" rIns="0" bIns="0" rtlCol="0" anchor="t"/>
          <a:lstStyle/>
          <a:p>
            <a:pPr indent="0" marL="0">
              <a:lnSpc>
                <a:spcPts val="1633"/>
              </a:lnSpc>
              <a:buNone/>
            </a:pPr>
            <a:r>
              <a:rPr lang="en-US" sz="1150" dirty="0">
                <a:solidFill>
                  <a:srgbClr val="55524B"/>
                </a:solidFill>
                <a:latin typeface="Calibri" pitchFamily="34" charset="0"/>
                <a:ea typeface="Calibri" pitchFamily="34" charset="-122"/>
                <a:cs typeface="Calibri" pitchFamily="34" charset="-120"/>
              </a:rPr>
              <a:t>Every matter is plain Markdown on disk. SQLite is a disposable index that rebuilds. There is no database to be locked out of.</a:t>
            </a:r>
            <a:endParaRPr lang="en-US" sz="1150" dirty="0"/>
          </a:p>
        </p:txBody>
      </p:sp>
      <p:sp>
        <p:nvSpPr>
          <p:cNvPr id="14" name="Text 11"/>
          <p:cNvSpPr txBox="1"/>
          <p:nvPr/>
        </p:nvSpPr>
        <p:spPr>
          <a:xfrm>
            <a:off x="11094415" y="6355080"/>
            <a:ext cx="457200" cy="219456"/>
          </a:xfrm>
          <a:prstGeom prst="rect">
            <a:avLst/>
          </a:prstGeom>
          <a:noFill/>
          <a:ln/>
        </p:spPr>
        <p:txBody>
          <a:bodyPr wrap="square" lIns="0" tIns="0" rIns="0" bIns="0" rtlCol="0" anchor="ctr"/>
          <a:lstStyle/>
          <a:p>
            <a:pPr algn="r" indent="0" marL="0">
              <a:buNone/>
            </a:pPr>
            <a:r>
              <a:rPr lang="en-US" sz="900" dirty="0">
                <a:solidFill>
                  <a:srgbClr val="A8A298"/>
                </a:solidFill>
                <a:latin typeface="Courier New" pitchFamily="34" charset="0"/>
                <a:ea typeface="Courier New" pitchFamily="34" charset="-122"/>
                <a:cs typeface="Courier New"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75488"/>
            <a:ext cx="10881360" cy="237744"/>
          </a:xfrm>
          <a:prstGeom prst="rect">
            <a:avLst/>
          </a:prstGeom>
          <a:noFill/>
          <a:ln/>
        </p:spPr>
        <p:txBody>
          <a:bodyPr wrap="square" lIns="0" tIns="0" rIns="0" bIns="0" rtlCol="0" anchor="ctr"/>
          <a:lstStyle/>
          <a:p>
            <a:pPr indent="0" marL="0">
              <a:buNone/>
            </a:pPr>
            <a:r>
              <a:rPr lang="en-US" sz="950" b="1" spc="160" kern="0" dirty="0">
                <a:solidFill>
                  <a:srgbClr val="5F5B54"/>
                </a:solidFill>
                <a:latin typeface="Courier New" pitchFamily="34" charset="0"/>
                <a:ea typeface="Courier New" pitchFamily="34" charset="-122"/>
                <a:cs typeface="Courier New" pitchFamily="34" charset="-120"/>
              </a:rPr>
              <a:t>WHAT THEMIS IS</a:t>
            </a:r>
            <a:endParaRPr lang="en-US" sz="950" dirty="0"/>
          </a:p>
        </p:txBody>
      </p:sp>
      <p:sp>
        <p:nvSpPr>
          <p:cNvPr id="3" name="Text 1"/>
          <p:cNvSpPr txBox="1"/>
          <p:nvPr/>
        </p:nvSpPr>
        <p:spPr>
          <a:xfrm>
            <a:off x="640080" y="768096"/>
            <a:ext cx="10881360" cy="713232"/>
          </a:xfrm>
          <a:prstGeom prst="rect">
            <a:avLst/>
          </a:prstGeom>
          <a:noFill/>
          <a:ln/>
        </p:spPr>
        <p:txBody>
          <a:bodyPr wrap="square" lIns="0" tIns="0" rIns="0" bIns="0" rtlCol="0" anchor="t"/>
          <a:lstStyle/>
          <a:p>
            <a:pPr indent="0" marL="0">
              <a:lnSpc>
                <a:spcPts val="3696"/>
              </a:lnSpc>
              <a:buNone/>
            </a:pPr>
            <a:r>
              <a:rPr lang="en-US" sz="3300" b="1" dirty="0">
                <a:solidFill>
                  <a:srgbClr val="1B1A17"/>
                </a:solidFill>
                <a:latin typeface="Cambria" pitchFamily="34" charset="0"/>
                <a:ea typeface="Cambria" pitchFamily="34" charset="-122"/>
                <a:cs typeface="Cambria" pitchFamily="34" charset="-120"/>
              </a:rPr>
              <a:t>The second lawyer in the room</a:t>
            </a:r>
            <a:endParaRPr lang="en-US" sz="3300" dirty="0"/>
          </a:p>
        </p:txBody>
      </p:sp>
      <p:sp>
        <p:nvSpPr>
          <p:cNvPr id="4" name="Text 2"/>
          <p:cNvSpPr txBox="1"/>
          <p:nvPr/>
        </p:nvSpPr>
        <p:spPr>
          <a:xfrm>
            <a:off x="640080" y="1591056"/>
            <a:ext cx="10881360" cy="822960"/>
          </a:xfrm>
          <a:prstGeom prst="rect">
            <a:avLst/>
          </a:prstGeom>
          <a:noFill/>
          <a:ln/>
        </p:spPr>
        <p:txBody>
          <a:bodyPr wrap="square" lIns="0" tIns="0" rIns="0" bIns="0" rtlCol="0" anchor="t"/>
          <a:lstStyle/>
          <a:p>
            <a:pPr indent="0" marL="0">
              <a:lnSpc>
                <a:spcPts val="1988"/>
              </a:lnSpc>
              <a:buNone/>
            </a:pPr>
            <a:r>
              <a:rPr lang="en-US" sz="1400" dirty="0">
                <a:solidFill>
                  <a:srgbClr val="3A3733"/>
                </a:solidFill>
                <a:latin typeface="Calibri" pitchFamily="34" charset="0"/>
                <a:ea typeface="Calibri" pitchFamily="34" charset="-122"/>
                <a:cs typeface="Calibri" pitchFamily="34" charset="-120"/>
              </a:rPr>
              <a:t>In-house counsel is structurally alone. There is no partner down the hall, no one to say “have you thought about this?” — and every blind spot is theirs alone. Themis is not there to hand down the answer. It is there to make sure the lawyer sees the whole question before they give theirs.</a:t>
            </a:r>
            <a:endParaRPr lang="en-US" sz="1400" dirty="0"/>
          </a:p>
        </p:txBody>
      </p:sp>
      <p:sp>
        <p:nvSpPr>
          <p:cNvPr id="5" name="Shape 3"/>
          <p:cNvSpPr/>
          <p:nvPr/>
        </p:nvSpPr>
        <p:spPr>
          <a:xfrm>
            <a:off x="640080" y="2487168"/>
            <a:ext cx="3502152" cy="1993392"/>
          </a:xfrm>
          <a:prstGeom prst="roundRect">
            <a:avLst>
              <a:gd name="adj" fmla="val 2752"/>
            </a:avLst>
          </a:prstGeom>
          <a:solidFill>
            <a:srgbClr val="FFFEFB"/>
          </a:solidFill>
          <a:ln w="9525">
            <a:solidFill>
              <a:srgbClr val="DED9D0"/>
            </a:solidFill>
            <a:prstDash val="solid"/>
          </a:ln>
        </p:spPr>
      </p:sp>
      <p:sp>
        <p:nvSpPr>
          <p:cNvPr id="6" name="Shape 4"/>
          <p:cNvSpPr/>
          <p:nvPr/>
        </p:nvSpPr>
        <p:spPr>
          <a:xfrm>
            <a:off x="914400" y="2706624"/>
            <a:ext cx="292608" cy="292608"/>
          </a:xfrm>
          <a:prstGeom prst="ellipse">
            <a:avLst/>
          </a:prstGeom>
          <a:solidFill>
            <a:srgbClr val="1B1A17"/>
          </a:solidFill>
          <a:ln w="12700">
            <a:solidFill>
              <a:srgbClr val="1B1A17"/>
            </a:solidFill>
            <a:prstDash val="solid"/>
          </a:ln>
        </p:spPr>
      </p:sp>
      <p:sp>
        <p:nvSpPr>
          <p:cNvPr id="7" name="Text 5"/>
          <p:cNvSpPr txBox="1"/>
          <p:nvPr/>
        </p:nvSpPr>
        <p:spPr>
          <a:xfrm>
            <a:off x="914400" y="2706624"/>
            <a:ext cx="292608" cy="292608"/>
          </a:xfrm>
          <a:prstGeom prst="rect">
            <a:avLst/>
          </a:prstGeom>
          <a:noFill/>
          <a:ln/>
        </p:spPr>
        <p:txBody>
          <a:bodyPr wrap="square" lIns="0" tIns="0" rIns="0" bIns="0" rtlCol="0" anchor="ctr"/>
          <a:lstStyle/>
          <a:p>
            <a:pPr algn="ctr" indent="0" marL="0">
              <a:buNone/>
            </a:pPr>
            <a:r>
              <a:rPr lang="en-US" sz="900" b="1" dirty="0">
                <a:solidFill>
                  <a:srgbClr val="F7F5F1"/>
                </a:solidFill>
                <a:latin typeface="Courier New" pitchFamily="34" charset="0"/>
                <a:ea typeface="Courier New" pitchFamily="34" charset="-122"/>
                <a:cs typeface="Courier New" pitchFamily="34" charset="-120"/>
              </a:rPr>
              <a:t>01</a:t>
            </a:r>
            <a:endParaRPr lang="en-US" sz="900" dirty="0"/>
          </a:p>
        </p:txBody>
      </p:sp>
      <p:sp>
        <p:nvSpPr>
          <p:cNvPr id="8" name="Text 6"/>
          <p:cNvSpPr txBox="1"/>
          <p:nvPr/>
        </p:nvSpPr>
        <p:spPr>
          <a:xfrm>
            <a:off x="914400" y="3108960"/>
            <a:ext cx="2971800" cy="310896"/>
          </a:xfrm>
          <a:prstGeom prst="rect">
            <a:avLst/>
          </a:prstGeom>
          <a:noFill/>
          <a:ln/>
        </p:spPr>
        <p:txBody>
          <a:bodyPr wrap="square" lIns="0" tIns="0" rIns="0" bIns="0" rtlCol="0" anchor="t"/>
          <a:lstStyle/>
          <a:p>
            <a:pPr indent="0" marL="0">
              <a:buNone/>
            </a:pPr>
            <a:r>
              <a:rPr lang="en-US" sz="1500" b="1" dirty="0">
                <a:solidFill>
                  <a:srgbClr val="1B1A17"/>
                </a:solidFill>
                <a:latin typeface="Cambria" pitchFamily="34" charset="0"/>
                <a:ea typeface="Cambria" pitchFamily="34" charset="-122"/>
                <a:cs typeface="Cambria" pitchFamily="34" charset="-120"/>
              </a:rPr>
              <a:t>Sees the space with you</a:t>
            </a:r>
            <a:endParaRPr lang="en-US" sz="1500" dirty="0"/>
          </a:p>
        </p:txBody>
      </p:sp>
      <p:sp>
        <p:nvSpPr>
          <p:cNvPr id="9" name="Text 7"/>
          <p:cNvSpPr txBox="1"/>
          <p:nvPr/>
        </p:nvSpPr>
        <p:spPr>
          <a:xfrm>
            <a:off x="914400" y="3474720"/>
            <a:ext cx="2971800" cy="932688"/>
          </a:xfrm>
          <a:prstGeom prst="rect">
            <a:avLst/>
          </a:prstGeom>
          <a:noFill/>
          <a:ln/>
        </p:spPr>
        <p:txBody>
          <a:bodyPr wrap="square" lIns="0" tIns="0" rIns="0" bIns="0" rtlCol="0" anchor="t"/>
          <a:lstStyle/>
          <a:p>
            <a:pPr indent="0" marL="0">
              <a:lnSpc>
                <a:spcPts val="1491"/>
              </a:lnSpc>
              <a:buNone/>
            </a:pPr>
            <a:r>
              <a:rPr lang="en-US" sz="1050" dirty="0">
                <a:solidFill>
                  <a:srgbClr val="55524B"/>
                </a:solidFill>
                <a:latin typeface="Calibri" pitchFamily="34" charset="0"/>
                <a:ea typeface="Calibri" pitchFamily="34" charset="-122"/>
                <a:cs typeface="Calibri" pitchFamily="34" charset="-120"/>
              </a:rPr>
              <a:t>Maps the business objective, the live issues, the realistic paths, and the few facts that actually move the outcome. It widens what the lawyer has considered rather than replacing their consideration.</a:t>
            </a:r>
            <a:endParaRPr lang="en-US" sz="1050" dirty="0"/>
          </a:p>
        </p:txBody>
      </p:sp>
      <p:sp>
        <p:nvSpPr>
          <p:cNvPr id="10" name="Shape 8"/>
          <p:cNvSpPr/>
          <p:nvPr/>
        </p:nvSpPr>
        <p:spPr>
          <a:xfrm>
            <a:off x="4334256" y="2487168"/>
            <a:ext cx="3502152" cy="1993392"/>
          </a:xfrm>
          <a:prstGeom prst="roundRect">
            <a:avLst>
              <a:gd name="adj" fmla="val 2752"/>
            </a:avLst>
          </a:prstGeom>
          <a:solidFill>
            <a:srgbClr val="FFFEFB"/>
          </a:solidFill>
          <a:ln w="9525">
            <a:solidFill>
              <a:srgbClr val="DED9D0"/>
            </a:solidFill>
            <a:prstDash val="solid"/>
          </a:ln>
        </p:spPr>
      </p:sp>
      <p:sp>
        <p:nvSpPr>
          <p:cNvPr id="11" name="Shape 9"/>
          <p:cNvSpPr/>
          <p:nvPr/>
        </p:nvSpPr>
        <p:spPr>
          <a:xfrm>
            <a:off x="4608576" y="2706624"/>
            <a:ext cx="292608" cy="292608"/>
          </a:xfrm>
          <a:prstGeom prst="ellipse">
            <a:avLst/>
          </a:prstGeom>
          <a:solidFill>
            <a:srgbClr val="1B1A17"/>
          </a:solidFill>
          <a:ln w="12700">
            <a:solidFill>
              <a:srgbClr val="1B1A17"/>
            </a:solidFill>
            <a:prstDash val="solid"/>
          </a:ln>
        </p:spPr>
      </p:sp>
      <p:sp>
        <p:nvSpPr>
          <p:cNvPr id="12" name="Text 10"/>
          <p:cNvSpPr txBox="1"/>
          <p:nvPr/>
        </p:nvSpPr>
        <p:spPr>
          <a:xfrm>
            <a:off x="4608576" y="2706624"/>
            <a:ext cx="292608" cy="292608"/>
          </a:xfrm>
          <a:prstGeom prst="rect">
            <a:avLst/>
          </a:prstGeom>
          <a:noFill/>
          <a:ln/>
        </p:spPr>
        <p:txBody>
          <a:bodyPr wrap="square" lIns="0" tIns="0" rIns="0" bIns="0" rtlCol="0" anchor="ctr"/>
          <a:lstStyle/>
          <a:p>
            <a:pPr algn="ctr" indent="0" marL="0">
              <a:buNone/>
            </a:pPr>
            <a:r>
              <a:rPr lang="en-US" sz="900" b="1" dirty="0">
                <a:solidFill>
                  <a:srgbClr val="F7F5F1"/>
                </a:solidFill>
                <a:latin typeface="Courier New" pitchFamily="34" charset="0"/>
                <a:ea typeface="Courier New" pitchFamily="34" charset="-122"/>
                <a:cs typeface="Courier New" pitchFamily="34" charset="-120"/>
              </a:rPr>
              <a:t>02</a:t>
            </a:r>
            <a:endParaRPr lang="en-US" sz="900" dirty="0"/>
          </a:p>
        </p:txBody>
      </p:sp>
      <p:sp>
        <p:nvSpPr>
          <p:cNvPr id="13" name="Text 11"/>
          <p:cNvSpPr txBox="1"/>
          <p:nvPr/>
        </p:nvSpPr>
        <p:spPr>
          <a:xfrm>
            <a:off x="4608576" y="3108960"/>
            <a:ext cx="2971800" cy="310896"/>
          </a:xfrm>
          <a:prstGeom prst="rect">
            <a:avLst/>
          </a:prstGeom>
          <a:noFill/>
          <a:ln/>
        </p:spPr>
        <p:txBody>
          <a:bodyPr wrap="square" lIns="0" tIns="0" rIns="0" bIns="0" rtlCol="0" anchor="t"/>
          <a:lstStyle/>
          <a:p>
            <a:pPr indent="0" marL="0">
              <a:buNone/>
            </a:pPr>
            <a:r>
              <a:rPr lang="en-US" sz="1500" b="1" dirty="0">
                <a:solidFill>
                  <a:srgbClr val="1B1A17"/>
                </a:solidFill>
                <a:latin typeface="Cambria" pitchFamily="34" charset="0"/>
                <a:ea typeface="Cambria" pitchFamily="34" charset="-122"/>
                <a:cs typeface="Cambria" pitchFamily="34" charset="-120"/>
              </a:rPr>
              <a:t>Says where it stops</a:t>
            </a:r>
            <a:endParaRPr lang="en-US" sz="1500" dirty="0"/>
          </a:p>
        </p:txBody>
      </p:sp>
      <p:sp>
        <p:nvSpPr>
          <p:cNvPr id="14" name="Text 12"/>
          <p:cNvSpPr txBox="1"/>
          <p:nvPr/>
        </p:nvSpPr>
        <p:spPr>
          <a:xfrm>
            <a:off x="4608576" y="3474720"/>
            <a:ext cx="2971800" cy="932688"/>
          </a:xfrm>
          <a:prstGeom prst="rect">
            <a:avLst/>
          </a:prstGeom>
          <a:noFill/>
          <a:ln/>
        </p:spPr>
        <p:txBody>
          <a:bodyPr wrap="square" lIns="0" tIns="0" rIns="0" bIns="0" rtlCol="0" anchor="t"/>
          <a:lstStyle/>
          <a:p>
            <a:pPr indent="0" marL="0">
              <a:lnSpc>
                <a:spcPts val="1491"/>
              </a:lnSpc>
              <a:buNone/>
            </a:pPr>
            <a:r>
              <a:rPr lang="en-US" sz="1050" dirty="0">
                <a:solidFill>
                  <a:srgbClr val="55524B"/>
                </a:solidFill>
                <a:latin typeface="Calibri" pitchFamily="34" charset="0"/>
                <a:ea typeface="Calibri" pitchFamily="34" charset="-122"/>
                <a:cs typeface="Calibri" pitchFamily="34" charset="-120"/>
              </a:rPr>
              <a:t>Names what it assumed, what it could not determine, and what it never read. A colleague who admits the edge of their knowledge is worth more than one who is never unsure — and lawyers already say so.</a:t>
            </a:r>
            <a:endParaRPr lang="en-US" sz="1050" dirty="0"/>
          </a:p>
        </p:txBody>
      </p:sp>
      <p:sp>
        <p:nvSpPr>
          <p:cNvPr id="15" name="Shape 13"/>
          <p:cNvSpPr/>
          <p:nvPr/>
        </p:nvSpPr>
        <p:spPr>
          <a:xfrm>
            <a:off x="8028432" y="2487168"/>
            <a:ext cx="3502152" cy="1993392"/>
          </a:xfrm>
          <a:prstGeom prst="roundRect">
            <a:avLst>
              <a:gd name="adj" fmla="val 2752"/>
            </a:avLst>
          </a:prstGeom>
          <a:solidFill>
            <a:srgbClr val="FFFEFB"/>
          </a:solidFill>
          <a:ln w="9525">
            <a:solidFill>
              <a:srgbClr val="DED9D0"/>
            </a:solidFill>
            <a:prstDash val="solid"/>
          </a:ln>
        </p:spPr>
      </p:sp>
      <p:sp>
        <p:nvSpPr>
          <p:cNvPr id="16" name="Shape 14"/>
          <p:cNvSpPr/>
          <p:nvPr/>
        </p:nvSpPr>
        <p:spPr>
          <a:xfrm>
            <a:off x="8302752" y="2706624"/>
            <a:ext cx="292608" cy="292608"/>
          </a:xfrm>
          <a:prstGeom prst="ellipse">
            <a:avLst/>
          </a:prstGeom>
          <a:solidFill>
            <a:srgbClr val="1B1A17"/>
          </a:solidFill>
          <a:ln w="12700">
            <a:solidFill>
              <a:srgbClr val="1B1A17"/>
            </a:solidFill>
            <a:prstDash val="solid"/>
          </a:ln>
        </p:spPr>
      </p:sp>
      <p:sp>
        <p:nvSpPr>
          <p:cNvPr id="17" name="Text 15"/>
          <p:cNvSpPr txBox="1"/>
          <p:nvPr/>
        </p:nvSpPr>
        <p:spPr>
          <a:xfrm>
            <a:off x="8302752" y="2706624"/>
            <a:ext cx="292608" cy="292608"/>
          </a:xfrm>
          <a:prstGeom prst="rect">
            <a:avLst/>
          </a:prstGeom>
          <a:noFill/>
          <a:ln/>
        </p:spPr>
        <p:txBody>
          <a:bodyPr wrap="square" lIns="0" tIns="0" rIns="0" bIns="0" rtlCol="0" anchor="ctr"/>
          <a:lstStyle/>
          <a:p>
            <a:pPr algn="ctr" indent="0" marL="0">
              <a:buNone/>
            </a:pPr>
            <a:r>
              <a:rPr lang="en-US" sz="900" b="1" dirty="0">
                <a:solidFill>
                  <a:srgbClr val="F7F5F1"/>
                </a:solidFill>
                <a:latin typeface="Courier New" pitchFamily="34" charset="0"/>
                <a:ea typeface="Courier New" pitchFamily="34" charset="-122"/>
                <a:cs typeface="Courier New" pitchFamily="34" charset="-120"/>
              </a:rPr>
              <a:t>03</a:t>
            </a:r>
            <a:endParaRPr lang="en-US" sz="900" dirty="0"/>
          </a:p>
        </p:txBody>
      </p:sp>
      <p:sp>
        <p:nvSpPr>
          <p:cNvPr id="18" name="Text 16"/>
          <p:cNvSpPr txBox="1"/>
          <p:nvPr/>
        </p:nvSpPr>
        <p:spPr>
          <a:xfrm>
            <a:off x="8302752" y="3108960"/>
            <a:ext cx="2971800" cy="310896"/>
          </a:xfrm>
          <a:prstGeom prst="rect">
            <a:avLst/>
          </a:prstGeom>
          <a:noFill/>
          <a:ln/>
        </p:spPr>
        <p:txBody>
          <a:bodyPr wrap="square" lIns="0" tIns="0" rIns="0" bIns="0" rtlCol="0" anchor="t"/>
          <a:lstStyle/>
          <a:p>
            <a:pPr indent="0" marL="0">
              <a:buNone/>
            </a:pPr>
            <a:r>
              <a:rPr lang="en-US" sz="1500" b="1" dirty="0">
                <a:solidFill>
                  <a:srgbClr val="1B1A17"/>
                </a:solidFill>
                <a:latin typeface="Cambria" pitchFamily="34" charset="0"/>
                <a:ea typeface="Cambria" pitchFamily="34" charset="-122"/>
                <a:cs typeface="Cambria" pitchFamily="34" charset="-120"/>
              </a:rPr>
              <a:t>Remembers why</a:t>
            </a:r>
            <a:endParaRPr lang="en-US" sz="1500" dirty="0"/>
          </a:p>
        </p:txBody>
      </p:sp>
      <p:sp>
        <p:nvSpPr>
          <p:cNvPr id="19" name="Text 17"/>
          <p:cNvSpPr txBox="1"/>
          <p:nvPr/>
        </p:nvSpPr>
        <p:spPr>
          <a:xfrm>
            <a:off x="8302752" y="3474720"/>
            <a:ext cx="2971800" cy="932688"/>
          </a:xfrm>
          <a:prstGeom prst="rect">
            <a:avLst/>
          </a:prstGeom>
          <a:noFill/>
          <a:ln/>
        </p:spPr>
        <p:txBody>
          <a:bodyPr wrap="square" lIns="0" tIns="0" rIns="0" bIns="0" rtlCol="0" anchor="t"/>
          <a:lstStyle/>
          <a:p>
            <a:pPr indent="0" marL="0">
              <a:lnSpc>
                <a:spcPts val="1491"/>
              </a:lnSpc>
              <a:buNone/>
            </a:pPr>
            <a:r>
              <a:rPr lang="en-US" sz="1050" dirty="0">
                <a:solidFill>
                  <a:srgbClr val="55524B"/>
                </a:solidFill>
                <a:latin typeface="Calibri" pitchFamily="34" charset="0"/>
                <a:ea typeface="Calibri" pitchFamily="34" charset="-122"/>
                <a:cs typeface="Calibri" pitchFamily="34" charset="-120"/>
              </a:rPr>
              <a:t>Holds the conversation, the reasoning, the recorded decision and its date. A year later it can say what was decided, on what basis, and what has changed underneath it since.</a:t>
            </a:r>
            <a:endParaRPr lang="en-US" sz="1050" dirty="0"/>
          </a:p>
        </p:txBody>
      </p:sp>
      <p:sp>
        <p:nvSpPr>
          <p:cNvPr id="20" name="Text 18"/>
          <p:cNvSpPr txBox="1"/>
          <p:nvPr/>
        </p:nvSpPr>
        <p:spPr>
          <a:xfrm>
            <a:off x="640080" y="4700016"/>
            <a:ext cx="10881360" cy="237744"/>
          </a:xfrm>
          <a:prstGeom prst="rect">
            <a:avLst/>
          </a:prstGeom>
          <a:noFill/>
          <a:ln/>
        </p:spPr>
        <p:txBody>
          <a:bodyPr wrap="square" lIns="0" tIns="0" rIns="0" bIns="0" rtlCol="0" anchor="ctr"/>
          <a:lstStyle/>
          <a:p>
            <a:pPr indent="0" marL="0">
              <a:buNone/>
            </a:pPr>
            <a:r>
              <a:rPr lang="en-US" sz="850" b="1" spc="130" kern="0" dirty="0">
                <a:solidFill>
                  <a:srgbClr val="5F5B54"/>
                </a:solidFill>
                <a:latin typeface="Courier New" pitchFamily="34" charset="0"/>
                <a:ea typeface="Courier New" pitchFamily="34" charset="-122"/>
                <a:cs typeface="Courier New" pitchFamily="34" charset="-120"/>
              </a:rPr>
              <a:t>WHY WE BELIEVE THIS</a:t>
            </a:r>
            <a:endParaRPr lang="en-US" sz="850" dirty="0"/>
          </a:p>
        </p:txBody>
      </p:sp>
      <p:sp>
        <p:nvSpPr>
          <p:cNvPr id="21" name="Shape 19"/>
          <p:cNvSpPr/>
          <p:nvPr/>
        </p:nvSpPr>
        <p:spPr>
          <a:xfrm>
            <a:off x="640080" y="5047488"/>
            <a:ext cx="91440" cy="182880"/>
          </a:xfrm>
          <a:prstGeom prst="rect">
            <a:avLst/>
          </a:prstGeom>
          <a:solidFill>
            <a:srgbClr val="E0A008"/>
          </a:solidFill>
          <a:ln w="12700">
            <a:solidFill>
              <a:srgbClr val="E0A008"/>
            </a:solidFill>
            <a:prstDash val="solid"/>
          </a:ln>
        </p:spPr>
      </p:sp>
      <p:sp>
        <p:nvSpPr>
          <p:cNvPr id="22" name="Text 20"/>
          <p:cNvSpPr txBox="1"/>
          <p:nvPr/>
        </p:nvSpPr>
        <p:spPr>
          <a:xfrm>
            <a:off x="859536" y="4974336"/>
            <a:ext cx="5029200" cy="603504"/>
          </a:xfrm>
          <a:prstGeom prst="rect">
            <a:avLst/>
          </a:prstGeom>
          <a:noFill/>
          <a:ln/>
        </p:spPr>
        <p:txBody>
          <a:bodyPr wrap="square" lIns="0" tIns="0" rIns="0" bIns="0" rtlCol="0" anchor="t"/>
          <a:lstStyle/>
          <a:p>
            <a:pPr indent="0" marL="0">
              <a:lnSpc>
                <a:spcPts val="1600"/>
              </a:lnSpc>
              <a:buNone/>
            </a:pPr>
            <a:r>
              <a:rPr lang="en-US" sz="1150" b="1" dirty="0">
                <a:solidFill>
                  <a:srgbClr val="1B1A17"/>
                </a:solidFill>
                <a:latin typeface="Calibri" pitchFamily="34" charset="0"/>
                <a:ea typeface="Calibri" pitchFamily="34" charset="-122"/>
                <a:cs typeface="Calibri" pitchFamily="34" charset="-120"/>
              </a:rPr>
              <a:t>30% of 203 threads</a:t>
            </a:r>
            <a:pPr indent="0" marL="0">
              <a:lnSpc>
                <a:spcPts val="1600"/>
              </a:lnSpc>
              <a:buNone/>
            </a:pPr>
            <a:r>
              <a:rPr lang="en-US" sz="1150" dirty="0">
                <a:solidFill>
                  <a:srgbClr val="55524B"/>
                </a:solidFill>
                <a:latin typeface="Calibri" pitchFamily="34" charset="0"/>
                <a:ea typeface="Calibri" pitchFamily="34" charset="-122"/>
                <a:cs typeface="Calibri" pitchFamily="34" charset="-120"/>
              </a:rPr>
              <a:t> are lawyers asking other lawyers what is normal — improvising the colleague they do not have.</a:t>
            </a:r>
            <a:endParaRPr lang="en-US" sz="1150" dirty="0"/>
          </a:p>
        </p:txBody>
      </p:sp>
      <p:sp>
        <p:nvSpPr>
          <p:cNvPr id="23" name="Shape 21"/>
          <p:cNvSpPr/>
          <p:nvPr/>
        </p:nvSpPr>
        <p:spPr>
          <a:xfrm>
            <a:off x="6172200" y="5047488"/>
            <a:ext cx="91440" cy="182880"/>
          </a:xfrm>
          <a:prstGeom prst="rect">
            <a:avLst/>
          </a:prstGeom>
          <a:solidFill>
            <a:srgbClr val="E0A008"/>
          </a:solidFill>
          <a:ln w="12700">
            <a:solidFill>
              <a:srgbClr val="E0A008"/>
            </a:solidFill>
            <a:prstDash val="solid"/>
          </a:ln>
        </p:spPr>
      </p:sp>
      <p:sp>
        <p:nvSpPr>
          <p:cNvPr id="24" name="Text 22"/>
          <p:cNvSpPr txBox="1"/>
          <p:nvPr/>
        </p:nvSpPr>
        <p:spPr>
          <a:xfrm>
            <a:off x="6391656" y="4974336"/>
            <a:ext cx="5029200" cy="603504"/>
          </a:xfrm>
          <a:prstGeom prst="rect">
            <a:avLst/>
          </a:prstGeom>
          <a:noFill/>
          <a:ln/>
        </p:spPr>
        <p:txBody>
          <a:bodyPr wrap="square" lIns="0" tIns="0" rIns="0" bIns="0" rtlCol="0" anchor="t"/>
          <a:lstStyle/>
          <a:p>
            <a:pPr indent="0" marL="0">
              <a:lnSpc>
                <a:spcPts val="1600"/>
              </a:lnSpc>
              <a:buNone/>
            </a:pPr>
            <a:r>
              <a:rPr lang="en-US" sz="1150" b="1" dirty="0">
                <a:solidFill>
                  <a:srgbClr val="1B1A17"/>
                </a:solidFill>
                <a:latin typeface="Calibri" pitchFamily="34" charset="0"/>
                <a:ea typeface="Calibri" pitchFamily="34" charset="-122"/>
                <a:cs typeface="Calibri" pitchFamily="34" charset="-120"/>
              </a:rPr>
              <a:t>“…it asks for clarification when it doesn’t know.”</a:t>
            </a:r>
            <a:pPr indent="0" marL="0">
              <a:lnSpc>
                <a:spcPts val="1600"/>
              </a:lnSpc>
              <a:buNone/>
            </a:pPr>
            <a:r>
              <a:rPr lang="en-US" sz="1150" dirty="0">
                <a:solidFill>
                  <a:srgbClr val="55524B"/>
                </a:solidFill>
                <a:latin typeface="Calibri" pitchFamily="34" charset="0"/>
                <a:ea typeface="Calibri" pitchFamily="34" charset="-122"/>
                <a:cs typeface="Calibri" pitchFamily="34" charset="-120"/>
              </a:rPr>
              <a:t> The best-rated tool in the corpus wins on colleague behaviour, not on answer quality.</a:t>
            </a:r>
            <a:endParaRPr lang="en-US" sz="1150" dirty="0"/>
          </a:p>
        </p:txBody>
      </p:sp>
      <p:sp>
        <p:nvSpPr>
          <p:cNvPr id="25" name="Shape 23"/>
          <p:cNvSpPr/>
          <p:nvPr/>
        </p:nvSpPr>
        <p:spPr>
          <a:xfrm>
            <a:off x="512064" y="5596128"/>
            <a:ext cx="11082528" cy="676656"/>
          </a:xfrm>
          <a:prstGeom prst="roundRect">
            <a:avLst>
              <a:gd name="adj" fmla="val 8108"/>
            </a:avLst>
          </a:prstGeom>
          <a:solidFill>
            <a:srgbClr val="FFFDF4"/>
          </a:solidFill>
          <a:ln w="9525">
            <a:solidFill>
              <a:srgbClr val="F0D896"/>
            </a:solidFill>
            <a:prstDash val="solid"/>
          </a:ln>
        </p:spPr>
      </p:sp>
      <p:sp>
        <p:nvSpPr>
          <p:cNvPr id="26" name="Text 24"/>
          <p:cNvSpPr txBox="1"/>
          <p:nvPr/>
        </p:nvSpPr>
        <p:spPr>
          <a:xfrm>
            <a:off x="786384" y="5596128"/>
            <a:ext cx="10607040" cy="676656"/>
          </a:xfrm>
          <a:prstGeom prst="rect">
            <a:avLst/>
          </a:prstGeom>
          <a:noFill/>
          <a:ln/>
        </p:spPr>
        <p:txBody>
          <a:bodyPr wrap="square" lIns="0" tIns="0" rIns="0" bIns="0" rtlCol="0" anchor="ctr"/>
          <a:lstStyle/>
          <a:p>
            <a:pPr indent="0" marL="0">
              <a:buNone/>
            </a:pPr>
            <a:r>
              <a:rPr lang="en-US" sz="1450" i="1" dirty="0">
                <a:solidFill>
                  <a:srgbClr val="1B1A17"/>
                </a:solidFill>
                <a:latin typeface="Cambria" pitchFamily="34" charset="0"/>
                <a:ea typeface="Cambria" pitchFamily="34" charset="-122"/>
                <a:cs typeface="Cambria" pitchFamily="34" charset="-120"/>
              </a:rPr>
              <a:t>The lawyer still gives the answer. Themis makes sure it is given with the whole question in view — and remembers why, when somebody asks a year from now.</a:t>
            </a:r>
            <a:endParaRPr lang="en-US" sz="1450" dirty="0"/>
          </a:p>
        </p:txBody>
      </p:sp>
      <p:sp>
        <p:nvSpPr>
          <p:cNvPr id="27" name="Text 25"/>
          <p:cNvSpPr txBox="1"/>
          <p:nvPr/>
        </p:nvSpPr>
        <p:spPr>
          <a:xfrm>
            <a:off x="11094415" y="6355080"/>
            <a:ext cx="457200" cy="219456"/>
          </a:xfrm>
          <a:prstGeom prst="rect">
            <a:avLst/>
          </a:prstGeom>
          <a:noFill/>
          <a:ln/>
        </p:spPr>
        <p:txBody>
          <a:bodyPr wrap="square" lIns="0" tIns="0" rIns="0" bIns="0" rtlCol="0" anchor="ctr"/>
          <a:lstStyle/>
          <a:p>
            <a:pPr algn="r" indent="0" marL="0">
              <a:buNone/>
            </a:pPr>
            <a:r>
              <a:rPr lang="en-US" sz="900" dirty="0">
                <a:solidFill>
                  <a:srgbClr val="A8A298"/>
                </a:solidFill>
                <a:latin typeface="Courier New" pitchFamily="34" charset="0"/>
                <a:ea typeface="Courier New" pitchFamily="34" charset="-122"/>
                <a:cs typeface="Courier New"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75488"/>
            <a:ext cx="10881360" cy="237744"/>
          </a:xfrm>
          <a:prstGeom prst="rect">
            <a:avLst/>
          </a:prstGeom>
          <a:noFill/>
          <a:ln/>
        </p:spPr>
        <p:txBody>
          <a:bodyPr wrap="square" lIns="0" tIns="0" rIns="0" bIns="0" rtlCol="0" anchor="ctr"/>
          <a:lstStyle/>
          <a:p>
            <a:pPr indent="0" marL="0">
              <a:buNone/>
            </a:pPr>
            <a:r>
              <a:rPr lang="en-US" sz="950" b="1" spc="160" kern="0" dirty="0">
                <a:solidFill>
                  <a:srgbClr val="5F5B54"/>
                </a:solidFill>
                <a:latin typeface="Courier New" pitchFamily="34" charset="0"/>
                <a:ea typeface="Courier New" pitchFamily="34" charset="-122"/>
                <a:cs typeface="Courier New" pitchFamily="34" charset="-120"/>
              </a:rPr>
              <a:t>WHY THIS HOLDS</a:t>
            </a:r>
            <a:endParaRPr lang="en-US" sz="950" dirty="0"/>
          </a:p>
        </p:txBody>
      </p:sp>
      <p:sp>
        <p:nvSpPr>
          <p:cNvPr id="3" name="Text 1"/>
          <p:cNvSpPr txBox="1"/>
          <p:nvPr/>
        </p:nvSpPr>
        <p:spPr>
          <a:xfrm>
            <a:off x="640080" y="768096"/>
            <a:ext cx="10881360" cy="713232"/>
          </a:xfrm>
          <a:prstGeom prst="rect">
            <a:avLst/>
          </a:prstGeom>
          <a:noFill/>
          <a:ln/>
        </p:spPr>
        <p:txBody>
          <a:bodyPr wrap="square" lIns="0" tIns="0" rIns="0" bIns="0" rtlCol="0" anchor="t"/>
          <a:lstStyle/>
          <a:p>
            <a:pPr indent="0" marL="0">
              <a:lnSpc>
                <a:spcPts val="3696"/>
              </a:lnSpc>
              <a:buNone/>
            </a:pPr>
            <a:r>
              <a:rPr lang="en-US" sz="3300" b="1" dirty="0">
                <a:solidFill>
                  <a:srgbClr val="1B1A17"/>
                </a:solidFill>
                <a:latin typeface="Cambria" pitchFamily="34" charset="0"/>
                <a:ea typeface="Cambria" pitchFamily="34" charset="-122"/>
                <a:cs typeface="Cambria" pitchFamily="34" charset="-120"/>
              </a:rPr>
              <a:t>Four architectural bets, each one a reason not to churn</a:t>
            </a:r>
            <a:endParaRPr lang="en-US" sz="3300" dirty="0"/>
          </a:p>
        </p:txBody>
      </p:sp>
      <p:sp>
        <p:nvSpPr>
          <p:cNvPr id="4" name="Shape 2"/>
          <p:cNvSpPr/>
          <p:nvPr/>
        </p:nvSpPr>
        <p:spPr>
          <a:xfrm>
            <a:off x="640080" y="1627632"/>
            <a:ext cx="5212080" cy="1938528"/>
          </a:xfrm>
          <a:prstGeom prst="roundRect">
            <a:avLst>
              <a:gd name="adj" fmla="val 2830"/>
            </a:avLst>
          </a:prstGeom>
          <a:solidFill>
            <a:srgbClr val="FFFEFB"/>
          </a:solidFill>
          <a:ln w="9525">
            <a:solidFill>
              <a:srgbClr val="DED9D0"/>
            </a:solidFill>
            <a:prstDash val="solid"/>
          </a:ln>
        </p:spPr>
      </p:sp>
      <p:sp>
        <p:nvSpPr>
          <p:cNvPr id="5" name="Text 3"/>
          <p:cNvSpPr txBox="1"/>
          <p:nvPr/>
        </p:nvSpPr>
        <p:spPr>
          <a:xfrm>
            <a:off x="932688" y="1847088"/>
            <a:ext cx="548640" cy="274320"/>
          </a:xfrm>
          <a:prstGeom prst="rect">
            <a:avLst/>
          </a:prstGeom>
          <a:noFill/>
          <a:ln/>
        </p:spPr>
        <p:txBody>
          <a:bodyPr wrap="square" lIns="0" tIns="0" rIns="0" bIns="0" rtlCol="0" anchor="ctr"/>
          <a:lstStyle/>
          <a:p>
            <a:pPr indent="0" marL="0">
              <a:buNone/>
            </a:pPr>
            <a:r>
              <a:rPr lang="en-US" sz="1050" b="1" spc="100" kern="0" dirty="0">
                <a:solidFill>
                  <a:srgbClr val="E0A008"/>
                </a:solidFill>
                <a:latin typeface="Courier New" pitchFamily="34" charset="0"/>
                <a:ea typeface="Courier New" pitchFamily="34" charset="-122"/>
                <a:cs typeface="Courier New" pitchFamily="34" charset="-120"/>
              </a:rPr>
              <a:t>01</a:t>
            </a:r>
            <a:endParaRPr lang="en-US" sz="1050" dirty="0"/>
          </a:p>
        </p:txBody>
      </p:sp>
      <p:sp>
        <p:nvSpPr>
          <p:cNvPr id="6" name="Text 4"/>
          <p:cNvSpPr txBox="1"/>
          <p:nvPr/>
        </p:nvSpPr>
        <p:spPr>
          <a:xfrm>
            <a:off x="932688" y="2139696"/>
            <a:ext cx="4663440" cy="512064"/>
          </a:xfrm>
          <a:prstGeom prst="rect">
            <a:avLst/>
          </a:prstGeom>
          <a:noFill/>
          <a:ln/>
        </p:spPr>
        <p:txBody>
          <a:bodyPr wrap="square" lIns="0" tIns="0" rIns="0" bIns="0" rtlCol="0" anchor="t"/>
          <a:lstStyle/>
          <a:p>
            <a:pPr indent="0" marL="0">
              <a:lnSpc>
                <a:spcPts val="2000"/>
              </a:lnSpc>
              <a:buNone/>
            </a:pPr>
            <a:r>
              <a:rPr lang="en-US" sz="1500" b="1" dirty="0">
                <a:solidFill>
                  <a:srgbClr val="1B1A17"/>
                </a:solidFill>
                <a:latin typeface="Cambria" pitchFamily="34" charset="0"/>
                <a:ea typeface="Cambria" pitchFamily="34" charset="-122"/>
                <a:cs typeface="Cambria" pitchFamily="34" charset="-120"/>
              </a:rPr>
              <a:t>Model-neutral by construction</a:t>
            </a:r>
            <a:endParaRPr lang="en-US" sz="1500" dirty="0"/>
          </a:p>
        </p:txBody>
      </p:sp>
      <p:sp>
        <p:nvSpPr>
          <p:cNvPr id="7" name="Text 5"/>
          <p:cNvSpPr txBox="1"/>
          <p:nvPr/>
        </p:nvSpPr>
        <p:spPr>
          <a:xfrm>
            <a:off x="932688" y="2633472"/>
            <a:ext cx="4663440" cy="841248"/>
          </a:xfrm>
          <a:prstGeom prst="rect">
            <a:avLst/>
          </a:prstGeom>
          <a:noFill/>
          <a:ln/>
        </p:spPr>
        <p:txBody>
          <a:bodyPr wrap="square" lIns="0" tIns="0" rIns="0" bIns="0" rtlCol="0" anchor="t"/>
          <a:lstStyle/>
          <a:p>
            <a:pPr indent="0" marL="0">
              <a:lnSpc>
                <a:spcPts val="1562"/>
              </a:lnSpc>
              <a:buNone/>
            </a:pPr>
            <a:r>
              <a:rPr lang="en-US" sz="1100" dirty="0">
                <a:solidFill>
                  <a:srgbClr val="55524B"/>
                </a:solidFill>
                <a:latin typeface="Calibri" pitchFamily="34" charset="0"/>
                <a:ea typeface="Calibri" pitchFamily="34" charset="-122"/>
                <a:cs typeface="Calibri" pitchFamily="34" charset="-120"/>
              </a:rPr>
              <a:t>Five provider adapters ship today, with per-agent model and reasoning-effort selection. The buyer keeps Claude, ChatGPT or an approved internal endpoint. Model quality moves too fast to be anyone's moat — so we refuse to make it ours.</a:t>
            </a:r>
            <a:endParaRPr lang="en-US" sz="1100" dirty="0"/>
          </a:p>
        </p:txBody>
      </p:sp>
      <p:sp>
        <p:nvSpPr>
          <p:cNvPr id="8" name="Shape 6"/>
          <p:cNvSpPr/>
          <p:nvPr/>
        </p:nvSpPr>
        <p:spPr>
          <a:xfrm>
            <a:off x="6172200" y="1627632"/>
            <a:ext cx="5212080" cy="1938528"/>
          </a:xfrm>
          <a:prstGeom prst="roundRect">
            <a:avLst>
              <a:gd name="adj" fmla="val 2830"/>
            </a:avLst>
          </a:prstGeom>
          <a:solidFill>
            <a:srgbClr val="FFFEFB"/>
          </a:solidFill>
          <a:ln w="9525">
            <a:solidFill>
              <a:srgbClr val="DED9D0"/>
            </a:solidFill>
            <a:prstDash val="solid"/>
          </a:ln>
        </p:spPr>
      </p:sp>
      <p:sp>
        <p:nvSpPr>
          <p:cNvPr id="9" name="Text 7"/>
          <p:cNvSpPr txBox="1"/>
          <p:nvPr/>
        </p:nvSpPr>
        <p:spPr>
          <a:xfrm>
            <a:off x="6464808" y="1847088"/>
            <a:ext cx="548640" cy="274320"/>
          </a:xfrm>
          <a:prstGeom prst="rect">
            <a:avLst/>
          </a:prstGeom>
          <a:noFill/>
          <a:ln/>
        </p:spPr>
        <p:txBody>
          <a:bodyPr wrap="square" lIns="0" tIns="0" rIns="0" bIns="0" rtlCol="0" anchor="ctr"/>
          <a:lstStyle/>
          <a:p>
            <a:pPr indent="0" marL="0">
              <a:buNone/>
            </a:pPr>
            <a:r>
              <a:rPr lang="en-US" sz="1050" b="1" spc="100" kern="0" dirty="0">
                <a:solidFill>
                  <a:srgbClr val="E0A008"/>
                </a:solidFill>
                <a:latin typeface="Courier New" pitchFamily="34" charset="0"/>
                <a:ea typeface="Courier New" pitchFamily="34" charset="-122"/>
                <a:cs typeface="Courier New" pitchFamily="34" charset="-120"/>
              </a:rPr>
              <a:t>02</a:t>
            </a:r>
            <a:endParaRPr lang="en-US" sz="1050" dirty="0"/>
          </a:p>
        </p:txBody>
      </p:sp>
      <p:sp>
        <p:nvSpPr>
          <p:cNvPr id="10" name="Text 8"/>
          <p:cNvSpPr txBox="1"/>
          <p:nvPr/>
        </p:nvSpPr>
        <p:spPr>
          <a:xfrm>
            <a:off x="6464808" y="2139696"/>
            <a:ext cx="4663440" cy="512064"/>
          </a:xfrm>
          <a:prstGeom prst="rect">
            <a:avLst/>
          </a:prstGeom>
          <a:noFill/>
          <a:ln/>
        </p:spPr>
        <p:txBody>
          <a:bodyPr wrap="square" lIns="0" tIns="0" rIns="0" bIns="0" rtlCol="0" anchor="t"/>
          <a:lstStyle/>
          <a:p>
            <a:pPr indent="0" marL="0">
              <a:lnSpc>
                <a:spcPts val="2000"/>
              </a:lnSpc>
              <a:buNone/>
            </a:pPr>
            <a:r>
              <a:rPr lang="en-US" sz="1500" b="1" dirty="0">
                <a:solidFill>
                  <a:srgbClr val="1B1A17"/>
                </a:solidFill>
                <a:latin typeface="Cambria" pitchFamily="34" charset="0"/>
                <a:ea typeface="Cambria" pitchFamily="34" charset="-122"/>
                <a:cs typeface="Cambria" pitchFamily="34" charset="-120"/>
              </a:rPr>
              <a:t>Markdown is the source of truth</a:t>
            </a:r>
            <a:endParaRPr lang="en-US" sz="1500" dirty="0"/>
          </a:p>
        </p:txBody>
      </p:sp>
      <p:sp>
        <p:nvSpPr>
          <p:cNvPr id="11" name="Text 9"/>
          <p:cNvSpPr txBox="1"/>
          <p:nvPr/>
        </p:nvSpPr>
        <p:spPr>
          <a:xfrm>
            <a:off x="6464808" y="2633472"/>
            <a:ext cx="4663440" cy="841248"/>
          </a:xfrm>
          <a:prstGeom prst="rect">
            <a:avLst/>
          </a:prstGeom>
          <a:noFill/>
          <a:ln/>
        </p:spPr>
        <p:txBody>
          <a:bodyPr wrap="square" lIns="0" tIns="0" rIns="0" bIns="0" rtlCol="0" anchor="t"/>
          <a:lstStyle/>
          <a:p>
            <a:pPr indent="0" marL="0">
              <a:lnSpc>
                <a:spcPts val="1562"/>
              </a:lnSpc>
              <a:buNone/>
            </a:pPr>
            <a:r>
              <a:rPr lang="en-US" sz="1100" dirty="0">
                <a:solidFill>
                  <a:srgbClr val="55524B"/>
                </a:solidFill>
                <a:latin typeface="Calibri" pitchFamily="34" charset="0"/>
                <a:ea typeface="Calibri" pitchFamily="34" charset="-122"/>
                <a:cs typeface="Calibri" pitchFamily="34" charset="-120"/>
              </a:rPr>
              <a:t>Every matter, decision, agent, tool, workflow and schedule is a readable file on disk. SQLite is a rebuildable index. There is no lock-in to defend, which is exactly why a lawyer will trust it with the record.</a:t>
            </a:r>
            <a:endParaRPr lang="en-US" sz="1100" dirty="0"/>
          </a:p>
        </p:txBody>
      </p:sp>
      <p:sp>
        <p:nvSpPr>
          <p:cNvPr id="12" name="Shape 10"/>
          <p:cNvSpPr/>
          <p:nvPr/>
        </p:nvSpPr>
        <p:spPr>
          <a:xfrm>
            <a:off x="640080" y="3749040"/>
            <a:ext cx="5212080" cy="1938528"/>
          </a:xfrm>
          <a:prstGeom prst="roundRect">
            <a:avLst>
              <a:gd name="adj" fmla="val 2830"/>
            </a:avLst>
          </a:prstGeom>
          <a:solidFill>
            <a:srgbClr val="FFFEFB"/>
          </a:solidFill>
          <a:ln w="9525">
            <a:solidFill>
              <a:srgbClr val="DED9D0"/>
            </a:solidFill>
            <a:prstDash val="solid"/>
          </a:ln>
        </p:spPr>
      </p:sp>
      <p:sp>
        <p:nvSpPr>
          <p:cNvPr id="13" name="Text 11"/>
          <p:cNvSpPr txBox="1"/>
          <p:nvPr/>
        </p:nvSpPr>
        <p:spPr>
          <a:xfrm>
            <a:off x="932688" y="3968496"/>
            <a:ext cx="548640" cy="274320"/>
          </a:xfrm>
          <a:prstGeom prst="rect">
            <a:avLst/>
          </a:prstGeom>
          <a:noFill/>
          <a:ln/>
        </p:spPr>
        <p:txBody>
          <a:bodyPr wrap="square" lIns="0" tIns="0" rIns="0" bIns="0" rtlCol="0" anchor="ctr"/>
          <a:lstStyle/>
          <a:p>
            <a:pPr indent="0" marL="0">
              <a:buNone/>
            </a:pPr>
            <a:r>
              <a:rPr lang="en-US" sz="1050" b="1" spc="100" kern="0" dirty="0">
                <a:solidFill>
                  <a:srgbClr val="E0A008"/>
                </a:solidFill>
                <a:latin typeface="Courier New" pitchFamily="34" charset="0"/>
                <a:ea typeface="Courier New" pitchFamily="34" charset="-122"/>
                <a:cs typeface="Courier New" pitchFamily="34" charset="-120"/>
              </a:rPr>
              <a:t>03</a:t>
            </a:r>
            <a:endParaRPr lang="en-US" sz="1050" dirty="0"/>
          </a:p>
        </p:txBody>
      </p:sp>
      <p:sp>
        <p:nvSpPr>
          <p:cNvPr id="14" name="Text 12"/>
          <p:cNvSpPr txBox="1"/>
          <p:nvPr/>
        </p:nvSpPr>
        <p:spPr>
          <a:xfrm>
            <a:off x="932688" y="4261104"/>
            <a:ext cx="4663440" cy="512064"/>
          </a:xfrm>
          <a:prstGeom prst="rect">
            <a:avLst/>
          </a:prstGeom>
          <a:noFill/>
          <a:ln/>
        </p:spPr>
        <p:txBody>
          <a:bodyPr wrap="square" lIns="0" tIns="0" rIns="0" bIns="0" rtlCol="0" anchor="t"/>
          <a:lstStyle/>
          <a:p>
            <a:pPr indent="0" marL="0">
              <a:lnSpc>
                <a:spcPts val="2000"/>
              </a:lnSpc>
              <a:buNone/>
            </a:pPr>
            <a:r>
              <a:rPr lang="en-US" sz="1500" b="1" dirty="0">
                <a:solidFill>
                  <a:srgbClr val="1B1A17"/>
                </a:solidFill>
                <a:latin typeface="Cambria" pitchFamily="34" charset="0"/>
                <a:ea typeface="Cambria" pitchFamily="34" charset="-122"/>
                <a:cs typeface="Cambria" pitchFamily="34" charset="-120"/>
              </a:rPr>
              <a:t>Recommendation and decision are separate objects</a:t>
            </a:r>
            <a:endParaRPr lang="en-US" sz="1500" dirty="0"/>
          </a:p>
        </p:txBody>
      </p:sp>
      <p:sp>
        <p:nvSpPr>
          <p:cNvPr id="15" name="Text 13"/>
          <p:cNvSpPr txBox="1"/>
          <p:nvPr/>
        </p:nvSpPr>
        <p:spPr>
          <a:xfrm>
            <a:off x="932688" y="4754880"/>
            <a:ext cx="4663440" cy="841248"/>
          </a:xfrm>
          <a:prstGeom prst="rect">
            <a:avLst/>
          </a:prstGeom>
          <a:noFill/>
          <a:ln/>
        </p:spPr>
        <p:txBody>
          <a:bodyPr wrap="square" lIns="0" tIns="0" rIns="0" bIns="0" rtlCol="0" anchor="t"/>
          <a:lstStyle/>
          <a:p>
            <a:pPr indent="0" marL="0">
              <a:lnSpc>
                <a:spcPts val="1562"/>
              </a:lnSpc>
              <a:buNone/>
            </a:pPr>
            <a:r>
              <a:rPr lang="en-US" sz="1100" dirty="0">
                <a:solidFill>
                  <a:srgbClr val="55524B"/>
                </a:solidFill>
                <a:latin typeface="Calibri" pitchFamily="34" charset="0"/>
                <a:ea typeface="Calibri" pitchFamily="34" charset="-122"/>
                <a:cs typeface="Calibri" pitchFamily="34" charset="-120"/>
              </a:rPr>
              <a:t>Competitors keep this distinction in a chat transcript. Themis keeps it in the schema, in the type system and on the screen. It is the difference between a tool and a system of record.</a:t>
            </a:r>
            <a:endParaRPr lang="en-US" sz="1100" dirty="0"/>
          </a:p>
        </p:txBody>
      </p:sp>
      <p:sp>
        <p:nvSpPr>
          <p:cNvPr id="16" name="Shape 14"/>
          <p:cNvSpPr/>
          <p:nvPr/>
        </p:nvSpPr>
        <p:spPr>
          <a:xfrm>
            <a:off x="6172200" y="3749040"/>
            <a:ext cx="5212080" cy="1938528"/>
          </a:xfrm>
          <a:prstGeom prst="roundRect">
            <a:avLst>
              <a:gd name="adj" fmla="val 2830"/>
            </a:avLst>
          </a:prstGeom>
          <a:solidFill>
            <a:srgbClr val="FFFEFB"/>
          </a:solidFill>
          <a:ln w="9525">
            <a:solidFill>
              <a:srgbClr val="DED9D0"/>
            </a:solidFill>
            <a:prstDash val="solid"/>
          </a:ln>
        </p:spPr>
      </p:sp>
      <p:sp>
        <p:nvSpPr>
          <p:cNvPr id="17" name="Text 15"/>
          <p:cNvSpPr txBox="1"/>
          <p:nvPr/>
        </p:nvSpPr>
        <p:spPr>
          <a:xfrm>
            <a:off x="6464808" y="3968496"/>
            <a:ext cx="548640" cy="274320"/>
          </a:xfrm>
          <a:prstGeom prst="rect">
            <a:avLst/>
          </a:prstGeom>
          <a:noFill/>
          <a:ln/>
        </p:spPr>
        <p:txBody>
          <a:bodyPr wrap="square" lIns="0" tIns="0" rIns="0" bIns="0" rtlCol="0" anchor="ctr"/>
          <a:lstStyle/>
          <a:p>
            <a:pPr indent="0" marL="0">
              <a:buNone/>
            </a:pPr>
            <a:r>
              <a:rPr lang="en-US" sz="1050" b="1" spc="100" kern="0" dirty="0">
                <a:solidFill>
                  <a:srgbClr val="E0A008"/>
                </a:solidFill>
                <a:latin typeface="Courier New" pitchFamily="34" charset="0"/>
                <a:ea typeface="Courier New" pitchFamily="34" charset="-122"/>
                <a:cs typeface="Courier New" pitchFamily="34" charset="-120"/>
              </a:rPr>
              <a:t>04</a:t>
            </a:r>
            <a:endParaRPr lang="en-US" sz="1050" dirty="0"/>
          </a:p>
        </p:txBody>
      </p:sp>
      <p:sp>
        <p:nvSpPr>
          <p:cNvPr id="18" name="Text 16"/>
          <p:cNvSpPr txBox="1"/>
          <p:nvPr/>
        </p:nvSpPr>
        <p:spPr>
          <a:xfrm>
            <a:off x="6464808" y="4261104"/>
            <a:ext cx="4663440" cy="512064"/>
          </a:xfrm>
          <a:prstGeom prst="rect">
            <a:avLst/>
          </a:prstGeom>
          <a:noFill/>
          <a:ln/>
        </p:spPr>
        <p:txBody>
          <a:bodyPr wrap="square" lIns="0" tIns="0" rIns="0" bIns="0" rtlCol="0" anchor="t"/>
          <a:lstStyle/>
          <a:p>
            <a:pPr indent="0" marL="0">
              <a:lnSpc>
                <a:spcPts val="2000"/>
              </a:lnSpc>
              <a:buNone/>
            </a:pPr>
            <a:r>
              <a:rPr lang="en-US" sz="1500" b="1" dirty="0">
                <a:solidFill>
                  <a:srgbClr val="1B1A17"/>
                </a:solidFill>
                <a:latin typeface="Cambria" pitchFamily="34" charset="0"/>
                <a:ea typeface="Cambria" pitchFamily="34" charset="-122"/>
                <a:cs typeface="Cambria" pitchFamily="34" charset="-120"/>
              </a:rPr>
              <a:t>The intelligence is editable text</a:t>
            </a:r>
            <a:endParaRPr lang="en-US" sz="1500" dirty="0"/>
          </a:p>
        </p:txBody>
      </p:sp>
      <p:sp>
        <p:nvSpPr>
          <p:cNvPr id="19" name="Text 17"/>
          <p:cNvSpPr txBox="1"/>
          <p:nvPr/>
        </p:nvSpPr>
        <p:spPr>
          <a:xfrm>
            <a:off x="6464808" y="4754880"/>
            <a:ext cx="4663440" cy="841248"/>
          </a:xfrm>
          <a:prstGeom prst="rect">
            <a:avLst/>
          </a:prstGeom>
          <a:noFill/>
          <a:ln/>
        </p:spPr>
        <p:txBody>
          <a:bodyPr wrap="square" lIns="0" tIns="0" rIns="0" bIns="0" rtlCol="0" anchor="t"/>
          <a:lstStyle/>
          <a:p>
            <a:pPr indent="0" marL="0">
              <a:lnSpc>
                <a:spcPts val="1562"/>
              </a:lnSpc>
              <a:buNone/>
            </a:pPr>
            <a:r>
              <a:rPr lang="en-US" sz="1100" dirty="0">
                <a:solidFill>
                  <a:srgbClr val="55524B"/>
                </a:solidFill>
                <a:latin typeface="Calibri" pitchFamily="34" charset="0"/>
                <a:ea typeface="Calibri" pitchFamily="34" charset="-122"/>
                <a:cs typeface="Calibri" pitchFamily="34" charset="-120"/>
              </a:rPr>
              <a:t>Agents, tools, company context and playbooks are Markdown the lawyer can read and change — configurable enough to beat an internal build, and far cheaper to maintain than one.</a:t>
            </a:r>
            <a:endParaRPr lang="en-US" sz="1100" dirty="0"/>
          </a:p>
        </p:txBody>
      </p:sp>
      <p:sp>
        <p:nvSpPr>
          <p:cNvPr id="20" name="Text 18"/>
          <p:cNvSpPr txBox="1"/>
          <p:nvPr/>
        </p:nvSpPr>
        <p:spPr>
          <a:xfrm>
            <a:off x="11094415" y="6355080"/>
            <a:ext cx="457200" cy="219456"/>
          </a:xfrm>
          <a:prstGeom prst="rect">
            <a:avLst/>
          </a:prstGeom>
          <a:noFill/>
          <a:ln/>
        </p:spPr>
        <p:txBody>
          <a:bodyPr wrap="square" lIns="0" tIns="0" rIns="0" bIns="0" rtlCol="0" anchor="ctr"/>
          <a:lstStyle/>
          <a:p>
            <a:pPr algn="r" indent="0" marL="0">
              <a:buNone/>
            </a:pPr>
            <a:r>
              <a:rPr lang="en-US" sz="900" dirty="0">
                <a:solidFill>
                  <a:srgbClr val="A8A298"/>
                </a:solidFill>
                <a:latin typeface="Courier New" pitchFamily="34" charset="0"/>
                <a:ea typeface="Courier New" pitchFamily="34" charset="-122"/>
                <a:cs typeface="Courier New"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75488"/>
            <a:ext cx="10881360" cy="237744"/>
          </a:xfrm>
          <a:prstGeom prst="rect">
            <a:avLst/>
          </a:prstGeom>
          <a:noFill/>
          <a:ln/>
        </p:spPr>
        <p:txBody>
          <a:bodyPr wrap="square" lIns="0" tIns="0" rIns="0" bIns="0" rtlCol="0" anchor="ctr"/>
          <a:lstStyle/>
          <a:p>
            <a:pPr indent="0" marL="0">
              <a:buNone/>
            </a:pPr>
            <a:r>
              <a:rPr lang="en-US" sz="950" b="1" spc="160" kern="0" dirty="0">
                <a:solidFill>
                  <a:srgbClr val="5F5B54"/>
                </a:solidFill>
                <a:latin typeface="Courier New" pitchFamily="34" charset="0"/>
                <a:ea typeface="Courier New" pitchFamily="34" charset="-122"/>
                <a:cs typeface="Courier New" pitchFamily="34" charset="-120"/>
              </a:rPr>
              <a:t>WHERE TO START</a:t>
            </a:r>
            <a:endParaRPr lang="en-US" sz="950" dirty="0"/>
          </a:p>
        </p:txBody>
      </p:sp>
      <p:sp>
        <p:nvSpPr>
          <p:cNvPr id="3" name="Text 1"/>
          <p:cNvSpPr txBox="1"/>
          <p:nvPr/>
        </p:nvSpPr>
        <p:spPr>
          <a:xfrm>
            <a:off x="640080" y="768096"/>
            <a:ext cx="10881360" cy="713232"/>
          </a:xfrm>
          <a:prstGeom prst="rect">
            <a:avLst/>
          </a:prstGeom>
          <a:noFill/>
          <a:ln/>
        </p:spPr>
        <p:txBody>
          <a:bodyPr wrap="square" lIns="0" tIns="0" rIns="0" bIns="0" rtlCol="0" anchor="t"/>
          <a:lstStyle/>
          <a:p>
            <a:pPr indent="0" marL="0">
              <a:lnSpc>
                <a:spcPts val="3696"/>
              </a:lnSpc>
              <a:buNone/>
            </a:pPr>
            <a:r>
              <a:rPr lang="en-US" sz="3300" b="1" dirty="0">
                <a:solidFill>
                  <a:srgbClr val="1B1A17"/>
                </a:solidFill>
                <a:latin typeface="Cambria" pitchFamily="34" charset="0"/>
                <a:ea typeface="Cambria" pitchFamily="34" charset="-122"/>
                <a:cs typeface="Cambria" pitchFamily="34" charset="-120"/>
              </a:rPr>
              <a:t>Highest setup tax, lowest rollout cost</a:t>
            </a:r>
            <a:endParaRPr lang="en-US" sz="3300" dirty="0"/>
          </a:p>
        </p:txBody>
      </p:sp>
      <p:sp>
        <p:nvSpPr>
          <p:cNvPr id="4" name="Shape 2"/>
          <p:cNvSpPr/>
          <p:nvPr/>
        </p:nvSpPr>
        <p:spPr>
          <a:xfrm>
            <a:off x="512064" y="1591056"/>
            <a:ext cx="11082528" cy="896112"/>
          </a:xfrm>
          <a:prstGeom prst="roundRect">
            <a:avLst>
              <a:gd name="adj" fmla="val 6122"/>
            </a:avLst>
          </a:prstGeom>
          <a:solidFill>
            <a:srgbClr val="FFFEFB"/>
          </a:solidFill>
          <a:ln w="9525">
            <a:solidFill>
              <a:srgbClr val="DED9D0"/>
            </a:solidFill>
            <a:prstDash val="solid"/>
          </a:ln>
        </p:spPr>
      </p:sp>
      <p:sp>
        <p:nvSpPr>
          <p:cNvPr id="5" name="Text 3"/>
          <p:cNvSpPr txBox="1"/>
          <p:nvPr/>
        </p:nvSpPr>
        <p:spPr>
          <a:xfrm>
            <a:off x="694944" y="1719072"/>
            <a:ext cx="1143000" cy="219456"/>
          </a:xfrm>
          <a:prstGeom prst="rect">
            <a:avLst/>
          </a:prstGeom>
          <a:noFill/>
          <a:ln/>
        </p:spPr>
        <p:txBody>
          <a:bodyPr wrap="square" lIns="0" tIns="0" rIns="0" bIns="0" rtlCol="0" anchor="ctr"/>
          <a:lstStyle/>
          <a:p>
            <a:pPr indent="0" marL="0">
              <a:buNone/>
            </a:pPr>
            <a:r>
              <a:rPr lang="en-US" sz="800" b="1" spc="110" kern="0" dirty="0">
                <a:solidFill>
                  <a:srgbClr val="146B54"/>
                </a:solidFill>
                <a:latin typeface="Courier New" pitchFamily="34" charset="0"/>
                <a:ea typeface="Courier New" pitchFamily="34" charset="-122"/>
                <a:cs typeface="Courier New" pitchFamily="34" charset="-120"/>
              </a:rPr>
              <a:t>BEACHHEAD</a:t>
            </a:r>
            <a:endParaRPr lang="en-US" sz="800" dirty="0"/>
          </a:p>
        </p:txBody>
      </p:sp>
      <p:sp>
        <p:nvSpPr>
          <p:cNvPr id="6" name="Text 4"/>
          <p:cNvSpPr txBox="1"/>
          <p:nvPr/>
        </p:nvSpPr>
        <p:spPr>
          <a:xfrm>
            <a:off x="694944" y="1920240"/>
            <a:ext cx="3200400" cy="457200"/>
          </a:xfrm>
          <a:prstGeom prst="rect">
            <a:avLst/>
          </a:prstGeom>
          <a:noFill/>
          <a:ln/>
        </p:spPr>
        <p:txBody>
          <a:bodyPr wrap="square" lIns="0" tIns="0" rIns="0" bIns="0" rtlCol="0" anchor="t"/>
          <a:lstStyle/>
          <a:p>
            <a:pPr indent="0" marL="0">
              <a:lnSpc>
                <a:spcPts val="1700"/>
              </a:lnSpc>
              <a:buNone/>
            </a:pPr>
            <a:r>
              <a:rPr lang="en-US" sz="1350" b="1" dirty="0">
                <a:solidFill>
                  <a:srgbClr val="1B1A17"/>
                </a:solidFill>
                <a:latin typeface="Cambria" pitchFamily="34" charset="0"/>
                <a:ea typeface="Cambria" pitchFamily="34" charset="-122"/>
                <a:cs typeface="Cambria" pitchFamily="34" charset="-120"/>
              </a:rPr>
              <a:t>Solo GC and 1–5 person product / legal teams</a:t>
            </a:r>
            <a:endParaRPr lang="en-US" sz="1350" dirty="0"/>
          </a:p>
        </p:txBody>
      </p:sp>
      <p:sp>
        <p:nvSpPr>
          <p:cNvPr id="7" name="Shape 5"/>
          <p:cNvSpPr/>
          <p:nvPr/>
        </p:nvSpPr>
        <p:spPr>
          <a:xfrm>
            <a:off x="4069080" y="1865376"/>
            <a:ext cx="2148840" cy="310896"/>
          </a:xfrm>
          <a:prstGeom prst="roundRect">
            <a:avLst>
              <a:gd name="adj" fmla="val 14706"/>
            </a:avLst>
          </a:prstGeom>
          <a:solidFill>
            <a:srgbClr val="E0EFE9"/>
          </a:solidFill>
          <a:ln w="12700">
            <a:solidFill>
              <a:srgbClr val="E0EFE9"/>
            </a:solidFill>
            <a:prstDash val="solid"/>
          </a:ln>
        </p:spPr>
      </p:sp>
      <p:sp>
        <p:nvSpPr>
          <p:cNvPr id="8" name="Text 6"/>
          <p:cNvSpPr txBox="1"/>
          <p:nvPr/>
        </p:nvSpPr>
        <p:spPr>
          <a:xfrm>
            <a:off x="4069080" y="1865376"/>
            <a:ext cx="2148840" cy="310896"/>
          </a:xfrm>
          <a:prstGeom prst="rect">
            <a:avLst/>
          </a:prstGeom>
          <a:noFill/>
          <a:ln/>
        </p:spPr>
        <p:txBody>
          <a:bodyPr wrap="square" lIns="0" tIns="0" rIns="0" bIns="0" rtlCol="0" anchor="ctr"/>
          <a:lstStyle/>
          <a:p>
            <a:pPr algn="ctr" indent="0" marL="0">
              <a:buNone/>
            </a:pPr>
            <a:r>
              <a:rPr lang="en-US" sz="950" b="1" dirty="0">
                <a:solidFill>
                  <a:srgbClr val="146B54"/>
                </a:solidFill>
                <a:latin typeface="Calibri" pitchFamily="34" charset="0"/>
                <a:ea typeface="Calibri" pitchFamily="34" charset="-122"/>
                <a:cs typeface="Calibri" pitchFamily="34" charset="-120"/>
              </a:rPr>
              <a:t>Highest fit</a:t>
            </a:r>
            <a:endParaRPr lang="en-US" sz="950" dirty="0"/>
          </a:p>
        </p:txBody>
      </p:sp>
      <p:sp>
        <p:nvSpPr>
          <p:cNvPr id="9" name="Text 7"/>
          <p:cNvSpPr txBox="1"/>
          <p:nvPr/>
        </p:nvSpPr>
        <p:spPr>
          <a:xfrm>
            <a:off x="6446520" y="1691640"/>
            <a:ext cx="5029200" cy="731520"/>
          </a:xfrm>
          <a:prstGeom prst="rect">
            <a:avLst/>
          </a:prstGeom>
          <a:noFill/>
          <a:ln/>
        </p:spPr>
        <p:txBody>
          <a:bodyPr wrap="square" lIns="0" tIns="0" rIns="0" bIns="0" rtlCol="0" anchor="t"/>
          <a:lstStyle/>
          <a:p>
            <a:pPr indent="0" marL="0">
              <a:lnSpc>
                <a:spcPts val="1562"/>
              </a:lnSpc>
              <a:buNone/>
            </a:pPr>
            <a:r>
              <a:rPr lang="en-US" sz="1100" dirty="0">
                <a:solidFill>
                  <a:srgbClr val="55524B"/>
                </a:solidFill>
                <a:latin typeface="Calibri" pitchFamily="34" charset="0"/>
                <a:ea typeface="Calibri" pitchFamily="34" charset="-122"/>
                <a:cs typeface="Calibri" pitchFamily="34" charset="-120"/>
              </a:rPr>
              <a:t>Constant ambiguous intake, no junior support, company-specific history to carry, and no appetite for an enterprise rollout. Can test on one real matter without migrating anything.</a:t>
            </a:r>
            <a:endParaRPr lang="en-US" sz="1100" dirty="0"/>
          </a:p>
        </p:txBody>
      </p:sp>
      <p:sp>
        <p:nvSpPr>
          <p:cNvPr id="10" name="Shape 8"/>
          <p:cNvSpPr/>
          <p:nvPr/>
        </p:nvSpPr>
        <p:spPr>
          <a:xfrm>
            <a:off x="512064" y="2569464"/>
            <a:ext cx="11082528" cy="896112"/>
          </a:xfrm>
          <a:prstGeom prst="roundRect">
            <a:avLst>
              <a:gd name="adj" fmla="val 6122"/>
            </a:avLst>
          </a:prstGeom>
          <a:solidFill>
            <a:srgbClr val="FFFEFB"/>
          </a:solidFill>
          <a:ln w="9525">
            <a:solidFill>
              <a:srgbClr val="DED9D0"/>
            </a:solidFill>
            <a:prstDash val="solid"/>
          </a:ln>
        </p:spPr>
      </p:sp>
      <p:sp>
        <p:nvSpPr>
          <p:cNvPr id="11" name="Text 9"/>
          <p:cNvSpPr txBox="1"/>
          <p:nvPr/>
        </p:nvSpPr>
        <p:spPr>
          <a:xfrm>
            <a:off x="694944" y="2697480"/>
            <a:ext cx="1143000" cy="219456"/>
          </a:xfrm>
          <a:prstGeom prst="rect">
            <a:avLst/>
          </a:prstGeom>
          <a:noFill/>
          <a:ln/>
        </p:spPr>
        <p:txBody>
          <a:bodyPr wrap="square" lIns="0" tIns="0" rIns="0" bIns="0" rtlCol="0" anchor="ctr"/>
          <a:lstStyle/>
          <a:p>
            <a:pPr indent="0" marL="0">
              <a:buNone/>
            </a:pPr>
            <a:r>
              <a:rPr lang="en-US" sz="800" b="1" spc="110" kern="0" dirty="0">
                <a:solidFill>
                  <a:srgbClr val="E0A008"/>
                </a:solidFill>
                <a:latin typeface="Courier New" pitchFamily="34" charset="0"/>
                <a:ea typeface="Courier New" pitchFamily="34" charset="-122"/>
                <a:cs typeface="Courier New" pitchFamily="34" charset="-120"/>
              </a:rPr>
              <a:t>ADJACENT</a:t>
            </a:r>
            <a:endParaRPr lang="en-US" sz="800" dirty="0"/>
          </a:p>
        </p:txBody>
      </p:sp>
      <p:sp>
        <p:nvSpPr>
          <p:cNvPr id="12" name="Text 10"/>
          <p:cNvSpPr txBox="1"/>
          <p:nvPr/>
        </p:nvSpPr>
        <p:spPr>
          <a:xfrm>
            <a:off x="694944" y="2898648"/>
            <a:ext cx="3200400" cy="457200"/>
          </a:xfrm>
          <a:prstGeom prst="rect">
            <a:avLst/>
          </a:prstGeom>
          <a:noFill/>
          <a:ln/>
        </p:spPr>
        <p:txBody>
          <a:bodyPr wrap="square" lIns="0" tIns="0" rIns="0" bIns="0" rtlCol="0" anchor="t"/>
          <a:lstStyle/>
          <a:p>
            <a:pPr indent="0" marL="0">
              <a:lnSpc>
                <a:spcPts val="1700"/>
              </a:lnSpc>
              <a:buNone/>
            </a:pPr>
            <a:r>
              <a:rPr lang="en-US" sz="1350" b="1" dirty="0">
                <a:solidFill>
                  <a:srgbClr val="1B1A17"/>
                </a:solidFill>
                <a:latin typeface="Cambria" pitchFamily="34" charset="0"/>
                <a:ea typeface="Cambria" pitchFamily="34" charset="-122"/>
                <a:cs typeface="Cambria" pitchFamily="34" charset="-120"/>
              </a:rPr>
              <a:t>5–30 lawyer boutiques and specialty firms</a:t>
            </a:r>
            <a:endParaRPr lang="en-US" sz="1350" dirty="0"/>
          </a:p>
        </p:txBody>
      </p:sp>
      <p:sp>
        <p:nvSpPr>
          <p:cNvPr id="13" name="Shape 11"/>
          <p:cNvSpPr/>
          <p:nvPr/>
        </p:nvSpPr>
        <p:spPr>
          <a:xfrm>
            <a:off x="4069080" y="2843784"/>
            <a:ext cx="2148840" cy="310896"/>
          </a:xfrm>
          <a:prstGeom prst="roundRect">
            <a:avLst>
              <a:gd name="adj" fmla="val 14706"/>
            </a:avLst>
          </a:prstGeom>
          <a:solidFill>
            <a:srgbClr val="FDEEC0"/>
          </a:solidFill>
          <a:ln w="12700">
            <a:solidFill>
              <a:srgbClr val="FDEEC0"/>
            </a:solidFill>
            <a:prstDash val="solid"/>
          </a:ln>
        </p:spPr>
      </p:sp>
      <p:sp>
        <p:nvSpPr>
          <p:cNvPr id="14" name="Text 12"/>
          <p:cNvSpPr txBox="1"/>
          <p:nvPr/>
        </p:nvSpPr>
        <p:spPr>
          <a:xfrm>
            <a:off x="4069080" y="2843784"/>
            <a:ext cx="2148840" cy="310896"/>
          </a:xfrm>
          <a:prstGeom prst="rect">
            <a:avLst/>
          </a:prstGeom>
          <a:noFill/>
          <a:ln/>
        </p:spPr>
        <p:txBody>
          <a:bodyPr wrap="square" lIns="0" tIns="0" rIns="0" bIns="0" rtlCol="0" anchor="ctr"/>
          <a:lstStyle/>
          <a:p>
            <a:pPr algn="ctr" indent="0" marL="0">
              <a:buNone/>
            </a:pPr>
            <a:r>
              <a:rPr lang="en-US" sz="950" b="1" dirty="0">
                <a:solidFill>
                  <a:srgbClr val="8A6612"/>
                </a:solidFill>
                <a:latin typeface="Calibri" pitchFamily="34" charset="0"/>
                <a:ea typeface="Calibri" pitchFamily="34" charset="-122"/>
                <a:cs typeface="Calibri" pitchFamily="34" charset="-120"/>
              </a:rPr>
              <a:t>High, if the workflow is narrow</a:t>
            </a:r>
            <a:endParaRPr lang="en-US" sz="950" dirty="0"/>
          </a:p>
        </p:txBody>
      </p:sp>
      <p:sp>
        <p:nvSpPr>
          <p:cNvPr id="15" name="Text 13"/>
          <p:cNvSpPr txBox="1"/>
          <p:nvPr/>
        </p:nvSpPr>
        <p:spPr>
          <a:xfrm>
            <a:off x="6446520" y="2670048"/>
            <a:ext cx="5029200" cy="731520"/>
          </a:xfrm>
          <a:prstGeom prst="rect">
            <a:avLst/>
          </a:prstGeom>
          <a:noFill/>
          <a:ln/>
        </p:spPr>
        <p:txBody>
          <a:bodyPr wrap="square" lIns="0" tIns="0" rIns="0" bIns="0" rtlCol="0" anchor="t"/>
          <a:lstStyle/>
          <a:p>
            <a:pPr indent="0" marL="0">
              <a:lnSpc>
                <a:spcPts val="1562"/>
              </a:lnSpc>
              <a:buNone/>
            </a:pPr>
            <a:r>
              <a:rPr lang="en-US" sz="1100" dirty="0">
                <a:solidFill>
                  <a:srgbClr val="55524B"/>
                </a:solidFill>
                <a:latin typeface="Calibri" pitchFamily="34" charset="0"/>
                <a:ea typeface="Calibri" pitchFamily="34" charset="-122"/>
                <a:cs typeface="Calibri" pitchFamily="34" charset="-120"/>
              </a:rPr>
              <a:t>Need repeatable document work and matter continuity, but reject seat minimums and broad suites.</a:t>
            </a:r>
            <a:endParaRPr lang="en-US" sz="1100" dirty="0"/>
          </a:p>
        </p:txBody>
      </p:sp>
      <p:sp>
        <p:nvSpPr>
          <p:cNvPr id="16" name="Shape 14"/>
          <p:cNvSpPr/>
          <p:nvPr/>
        </p:nvSpPr>
        <p:spPr>
          <a:xfrm>
            <a:off x="512064" y="3547872"/>
            <a:ext cx="11082528" cy="896112"/>
          </a:xfrm>
          <a:prstGeom prst="roundRect">
            <a:avLst>
              <a:gd name="adj" fmla="val 6122"/>
            </a:avLst>
          </a:prstGeom>
          <a:solidFill>
            <a:srgbClr val="FFFEFB"/>
          </a:solidFill>
          <a:ln w="9525">
            <a:solidFill>
              <a:srgbClr val="DED9D0"/>
            </a:solidFill>
            <a:prstDash val="solid"/>
          </a:ln>
        </p:spPr>
      </p:sp>
      <p:sp>
        <p:nvSpPr>
          <p:cNvPr id="17" name="Text 15"/>
          <p:cNvSpPr txBox="1"/>
          <p:nvPr/>
        </p:nvSpPr>
        <p:spPr>
          <a:xfrm>
            <a:off x="694944" y="3675888"/>
            <a:ext cx="1143000" cy="219456"/>
          </a:xfrm>
          <a:prstGeom prst="rect">
            <a:avLst/>
          </a:prstGeom>
          <a:noFill/>
          <a:ln/>
        </p:spPr>
        <p:txBody>
          <a:bodyPr wrap="square" lIns="0" tIns="0" rIns="0" bIns="0" rtlCol="0" anchor="ctr"/>
          <a:lstStyle/>
          <a:p>
            <a:pPr indent="0" marL="0">
              <a:buNone/>
            </a:pPr>
            <a:r>
              <a:rPr lang="en-US" sz="800" b="1" spc="110" kern="0" dirty="0">
                <a:solidFill>
                  <a:srgbClr val="5F5B54"/>
                </a:solidFill>
                <a:latin typeface="Courier New" pitchFamily="34" charset="0"/>
                <a:ea typeface="Courier New" pitchFamily="34" charset="-122"/>
                <a:cs typeface="Courier New" pitchFamily="34" charset="-120"/>
              </a:rPr>
              <a:t>LATER</a:t>
            </a:r>
            <a:endParaRPr lang="en-US" sz="800" dirty="0"/>
          </a:p>
        </p:txBody>
      </p:sp>
      <p:sp>
        <p:nvSpPr>
          <p:cNvPr id="18" name="Text 16"/>
          <p:cNvSpPr txBox="1"/>
          <p:nvPr/>
        </p:nvSpPr>
        <p:spPr>
          <a:xfrm>
            <a:off x="694944" y="3877056"/>
            <a:ext cx="3200400" cy="457200"/>
          </a:xfrm>
          <a:prstGeom prst="rect">
            <a:avLst/>
          </a:prstGeom>
          <a:noFill/>
          <a:ln/>
        </p:spPr>
        <p:txBody>
          <a:bodyPr wrap="square" lIns="0" tIns="0" rIns="0" bIns="0" rtlCol="0" anchor="t"/>
          <a:lstStyle/>
          <a:p>
            <a:pPr indent="0" marL="0">
              <a:lnSpc>
                <a:spcPts val="1700"/>
              </a:lnSpc>
              <a:buNone/>
            </a:pPr>
            <a:r>
              <a:rPr lang="en-US" sz="1350" b="1" dirty="0">
                <a:solidFill>
                  <a:srgbClr val="1B1A17"/>
                </a:solidFill>
                <a:latin typeface="Cambria" pitchFamily="34" charset="0"/>
                <a:ea typeface="Cambria" pitchFamily="34" charset="-122"/>
                <a:cs typeface="Cambria" pitchFamily="34" charset="-120"/>
              </a:rPr>
              <a:t>30–100 lawyers with a technology lead</a:t>
            </a:r>
            <a:endParaRPr lang="en-US" sz="1350" dirty="0"/>
          </a:p>
        </p:txBody>
      </p:sp>
      <p:sp>
        <p:nvSpPr>
          <p:cNvPr id="19" name="Shape 17"/>
          <p:cNvSpPr/>
          <p:nvPr/>
        </p:nvSpPr>
        <p:spPr>
          <a:xfrm>
            <a:off x="4069080" y="3822192"/>
            <a:ext cx="2148840" cy="310896"/>
          </a:xfrm>
          <a:prstGeom prst="roundRect">
            <a:avLst>
              <a:gd name="adj" fmla="val 14706"/>
            </a:avLst>
          </a:prstGeom>
          <a:solidFill>
            <a:srgbClr val="EFECE5"/>
          </a:solidFill>
          <a:ln w="12700">
            <a:solidFill>
              <a:srgbClr val="EFECE5"/>
            </a:solidFill>
            <a:prstDash val="solid"/>
          </a:ln>
        </p:spPr>
      </p:sp>
      <p:sp>
        <p:nvSpPr>
          <p:cNvPr id="20" name="Text 18"/>
          <p:cNvSpPr txBox="1"/>
          <p:nvPr/>
        </p:nvSpPr>
        <p:spPr>
          <a:xfrm>
            <a:off x="4069080" y="3822192"/>
            <a:ext cx="2148840" cy="310896"/>
          </a:xfrm>
          <a:prstGeom prst="rect">
            <a:avLst/>
          </a:prstGeom>
          <a:noFill/>
          <a:ln/>
        </p:spPr>
        <p:txBody>
          <a:bodyPr wrap="square" lIns="0" tIns="0" rIns="0" bIns="0" rtlCol="0" anchor="ctr"/>
          <a:lstStyle/>
          <a:p>
            <a:pPr algn="ctr" indent="0" marL="0">
              <a:buNone/>
            </a:pPr>
            <a:r>
              <a:rPr lang="en-US" sz="950" b="1" dirty="0">
                <a:solidFill>
                  <a:srgbClr val="55524B"/>
                </a:solidFill>
                <a:latin typeface="Calibri" pitchFamily="34" charset="0"/>
                <a:ea typeface="Calibri" pitchFamily="34" charset="-122"/>
                <a:cs typeface="Calibri" pitchFamily="34" charset="-120"/>
              </a:rPr>
              <a:t>Conditional</a:t>
            </a:r>
            <a:endParaRPr lang="en-US" sz="950" dirty="0"/>
          </a:p>
        </p:txBody>
      </p:sp>
      <p:sp>
        <p:nvSpPr>
          <p:cNvPr id="21" name="Text 19"/>
          <p:cNvSpPr txBox="1"/>
          <p:nvPr/>
        </p:nvSpPr>
        <p:spPr>
          <a:xfrm>
            <a:off x="6446520" y="3648456"/>
            <a:ext cx="5029200" cy="731520"/>
          </a:xfrm>
          <a:prstGeom prst="rect">
            <a:avLst/>
          </a:prstGeom>
          <a:noFill/>
          <a:ln/>
        </p:spPr>
        <p:txBody>
          <a:bodyPr wrap="square" lIns="0" tIns="0" rIns="0" bIns="0" rtlCol="0" anchor="t"/>
          <a:lstStyle/>
          <a:p>
            <a:pPr indent="0" marL="0">
              <a:lnSpc>
                <a:spcPts val="1562"/>
              </a:lnSpc>
              <a:buNone/>
            </a:pPr>
            <a:r>
              <a:rPr lang="en-US" sz="1100" dirty="0">
                <a:solidFill>
                  <a:srgbClr val="55524B"/>
                </a:solidFill>
                <a:latin typeface="Calibri" pitchFamily="34" charset="0"/>
                <a:ea typeface="Calibri" pitchFamily="34" charset="-122"/>
                <a:cs typeface="Calibri" pitchFamily="34" charset="-120"/>
              </a:rPr>
              <a:t>Must beat an internal build on configuration, DMS handoff and maintenance — the segment that most often builds its own.</a:t>
            </a:r>
            <a:endParaRPr lang="en-US" sz="1100" dirty="0"/>
          </a:p>
        </p:txBody>
      </p:sp>
      <p:sp>
        <p:nvSpPr>
          <p:cNvPr id="22" name="Shape 20"/>
          <p:cNvSpPr/>
          <p:nvPr/>
        </p:nvSpPr>
        <p:spPr>
          <a:xfrm>
            <a:off x="512064" y="4526280"/>
            <a:ext cx="11082528" cy="896112"/>
          </a:xfrm>
          <a:prstGeom prst="roundRect">
            <a:avLst>
              <a:gd name="adj" fmla="val 6122"/>
            </a:avLst>
          </a:prstGeom>
          <a:solidFill>
            <a:srgbClr val="FFFEFB"/>
          </a:solidFill>
          <a:ln w="9525">
            <a:solidFill>
              <a:srgbClr val="DED9D0"/>
            </a:solidFill>
            <a:prstDash val="solid"/>
          </a:ln>
        </p:spPr>
      </p:sp>
      <p:sp>
        <p:nvSpPr>
          <p:cNvPr id="23" name="Text 21"/>
          <p:cNvSpPr txBox="1"/>
          <p:nvPr/>
        </p:nvSpPr>
        <p:spPr>
          <a:xfrm>
            <a:off x="694944" y="4654296"/>
            <a:ext cx="1143000" cy="219456"/>
          </a:xfrm>
          <a:prstGeom prst="rect">
            <a:avLst/>
          </a:prstGeom>
          <a:noFill/>
          <a:ln/>
        </p:spPr>
        <p:txBody>
          <a:bodyPr wrap="square" lIns="0" tIns="0" rIns="0" bIns="0" rtlCol="0" anchor="ctr"/>
          <a:lstStyle/>
          <a:p>
            <a:pPr indent="0" marL="0">
              <a:buNone/>
            </a:pPr>
            <a:r>
              <a:rPr lang="en-US" sz="800" b="1" spc="110" kern="0" dirty="0">
                <a:solidFill>
                  <a:srgbClr val="5F5B54"/>
                </a:solidFill>
                <a:latin typeface="Courier New" pitchFamily="34" charset="0"/>
                <a:ea typeface="Courier New" pitchFamily="34" charset="-122"/>
                <a:cs typeface="Courier New" pitchFamily="34" charset="-120"/>
              </a:rPr>
              <a:t>NOT NOW</a:t>
            </a:r>
            <a:endParaRPr lang="en-US" sz="800" dirty="0"/>
          </a:p>
        </p:txBody>
      </p:sp>
      <p:sp>
        <p:nvSpPr>
          <p:cNvPr id="24" name="Text 22"/>
          <p:cNvSpPr txBox="1"/>
          <p:nvPr/>
        </p:nvSpPr>
        <p:spPr>
          <a:xfrm>
            <a:off x="694944" y="4855464"/>
            <a:ext cx="3200400" cy="457200"/>
          </a:xfrm>
          <a:prstGeom prst="rect">
            <a:avLst/>
          </a:prstGeom>
          <a:noFill/>
          <a:ln/>
        </p:spPr>
        <p:txBody>
          <a:bodyPr wrap="square" lIns="0" tIns="0" rIns="0" bIns="0" rtlCol="0" anchor="t"/>
          <a:lstStyle/>
          <a:p>
            <a:pPr indent="0" marL="0">
              <a:lnSpc>
                <a:spcPts val="1700"/>
              </a:lnSpc>
              <a:buNone/>
            </a:pPr>
            <a:r>
              <a:rPr lang="en-US" sz="1350" b="1" dirty="0">
                <a:solidFill>
                  <a:srgbClr val="1B1A17"/>
                </a:solidFill>
                <a:latin typeface="Cambria" pitchFamily="34" charset="0"/>
                <a:ea typeface="Cambria" pitchFamily="34" charset="-122"/>
                <a:cs typeface="Cambria" pitchFamily="34" charset="-120"/>
              </a:rPr>
              <a:t>150+ lawyer enterprise and BigLaw</a:t>
            </a:r>
            <a:endParaRPr lang="en-US" sz="1350" dirty="0"/>
          </a:p>
        </p:txBody>
      </p:sp>
      <p:sp>
        <p:nvSpPr>
          <p:cNvPr id="25" name="Shape 23"/>
          <p:cNvSpPr/>
          <p:nvPr/>
        </p:nvSpPr>
        <p:spPr>
          <a:xfrm>
            <a:off x="4069080" y="4800600"/>
            <a:ext cx="2148840" cy="310896"/>
          </a:xfrm>
          <a:prstGeom prst="roundRect">
            <a:avLst>
              <a:gd name="adj" fmla="val 14706"/>
            </a:avLst>
          </a:prstGeom>
          <a:solidFill>
            <a:srgbClr val="EFECE5"/>
          </a:solidFill>
          <a:ln w="12700">
            <a:solidFill>
              <a:srgbClr val="EFECE5"/>
            </a:solidFill>
            <a:prstDash val="solid"/>
          </a:ln>
        </p:spPr>
      </p:sp>
      <p:sp>
        <p:nvSpPr>
          <p:cNvPr id="26" name="Text 24"/>
          <p:cNvSpPr txBox="1"/>
          <p:nvPr/>
        </p:nvSpPr>
        <p:spPr>
          <a:xfrm>
            <a:off x="4069080" y="4800600"/>
            <a:ext cx="2148840" cy="310896"/>
          </a:xfrm>
          <a:prstGeom prst="rect">
            <a:avLst/>
          </a:prstGeom>
          <a:noFill/>
          <a:ln/>
        </p:spPr>
        <p:txBody>
          <a:bodyPr wrap="square" lIns="0" tIns="0" rIns="0" bIns="0" rtlCol="0" anchor="ctr"/>
          <a:lstStyle/>
          <a:p>
            <a:pPr algn="ctr" indent="0" marL="0">
              <a:buNone/>
            </a:pPr>
            <a:r>
              <a:rPr lang="en-US" sz="950" b="1" dirty="0">
                <a:solidFill>
                  <a:srgbClr val="55524B"/>
                </a:solidFill>
                <a:latin typeface="Calibri" pitchFamily="34" charset="0"/>
                <a:ea typeface="Calibri" pitchFamily="34" charset="-122"/>
                <a:cs typeface="Calibri" pitchFamily="34" charset="-120"/>
              </a:rPr>
              <a:t>Low for this product</a:t>
            </a:r>
            <a:endParaRPr lang="en-US" sz="950" dirty="0"/>
          </a:p>
        </p:txBody>
      </p:sp>
      <p:sp>
        <p:nvSpPr>
          <p:cNvPr id="27" name="Text 25"/>
          <p:cNvSpPr txBox="1"/>
          <p:nvPr/>
        </p:nvSpPr>
        <p:spPr>
          <a:xfrm>
            <a:off x="6446520" y="4626864"/>
            <a:ext cx="5029200" cy="731520"/>
          </a:xfrm>
          <a:prstGeom prst="rect">
            <a:avLst/>
          </a:prstGeom>
          <a:noFill/>
          <a:ln/>
        </p:spPr>
        <p:txBody>
          <a:bodyPr wrap="square" lIns="0" tIns="0" rIns="0" bIns="0" rtlCol="0" anchor="t"/>
          <a:lstStyle/>
          <a:p>
            <a:pPr indent="0" marL="0">
              <a:lnSpc>
                <a:spcPts val="1562"/>
              </a:lnSpc>
              <a:buNone/>
            </a:pPr>
            <a:r>
              <a:rPr lang="en-US" sz="1100" dirty="0">
                <a:solidFill>
                  <a:srgbClr val="55524B"/>
                </a:solidFill>
                <a:latin typeface="Calibri" pitchFamily="34" charset="0"/>
                <a:ea typeface="Calibri" pitchFamily="34" charset="-122"/>
                <a:cs typeface="Calibri" pitchFamily="34" charset="-120"/>
              </a:rPr>
              <a:t>Purchases turn on SSO, permissions, DMS, governance and support. None of that is built, and none of it is needed to prove the wedge.</a:t>
            </a:r>
            <a:endParaRPr lang="en-US" sz="1100" dirty="0"/>
          </a:p>
        </p:txBody>
      </p:sp>
      <p:sp>
        <p:nvSpPr>
          <p:cNvPr id="28" name="Shape 26"/>
          <p:cNvSpPr/>
          <p:nvPr/>
        </p:nvSpPr>
        <p:spPr>
          <a:xfrm>
            <a:off x="512064" y="5577840"/>
            <a:ext cx="11082528" cy="658368"/>
          </a:xfrm>
          <a:prstGeom prst="roundRect">
            <a:avLst>
              <a:gd name="adj" fmla="val 8333"/>
            </a:avLst>
          </a:prstGeom>
          <a:solidFill>
            <a:srgbClr val="FDFDFF"/>
          </a:solidFill>
          <a:ln w="9525">
            <a:solidFill>
              <a:srgbClr val="CFCBEE"/>
            </a:solidFill>
            <a:prstDash val="solid"/>
          </a:ln>
        </p:spPr>
      </p:sp>
      <p:sp>
        <p:nvSpPr>
          <p:cNvPr id="29" name="Text 27"/>
          <p:cNvSpPr txBox="1"/>
          <p:nvPr/>
        </p:nvSpPr>
        <p:spPr>
          <a:xfrm>
            <a:off x="749808" y="5577840"/>
            <a:ext cx="10698480" cy="658368"/>
          </a:xfrm>
          <a:prstGeom prst="rect">
            <a:avLst/>
          </a:prstGeom>
          <a:noFill/>
          <a:ln/>
        </p:spPr>
        <p:txBody>
          <a:bodyPr wrap="square" lIns="0" tIns="0" rIns="0" bIns="0" rtlCol="0" anchor="ctr"/>
          <a:lstStyle/>
          <a:p>
            <a:pPr indent="0" marL="0">
              <a:buNone/>
            </a:pPr>
            <a:r>
              <a:rPr lang="en-US" sz="1150" dirty="0">
                <a:solidFill>
                  <a:srgbClr val="3A3733"/>
                </a:solidFill>
                <a:latin typeface="Calibri" pitchFamily="34" charset="0"/>
                <a:ea typeface="Calibri" pitchFamily="34" charset="-122"/>
                <a:cs typeface="Calibri" pitchFamily="34" charset="-120"/>
              </a:rPr>
              <a:t>Not a replacement for Westlaw or Lexis. Themis brings lawyer-checked authority into the matter; it never claims a proprietary corpus or a citator.</a:t>
            </a:r>
            <a:endParaRPr lang="en-US" sz="1150" dirty="0"/>
          </a:p>
        </p:txBody>
      </p:sp>
      <p:sp>
        <p:nvSpPr>
          <p:cNvPr id="30" name="Text 28"/>
          <p:cNvSpPr txBox="1"/>
          <p:nvPr/>
        </p:nvSpPr>
        <p:spPr>
          <a:xfrm>
            <a:off x="11094415" y="6355080"/>
            <a:ext cx="457200" cy="219456"/>
          </a:xfrm>
          <a:prstGeom prst="rect">
            <a:avLst/>
          </a:prstGeom>
          <a:noFill/>
          <a:ln/>
        </p:spPr>
        <p:txBody>
          <a:bodyPr wrap="square" lIns="0" tIns="0" rIns="0" bIns="0" rtlCol="0" anchor="ctr"/>
          <a:lstStyle/>
          <a:p>
            <a:pPr algn="r" indent="0" marL="0">
              <a:buNone/>
            </a:pPr>
            <a:r>
              <a:rPr lang="en-US" sz="900" dirty="0">
                <a:solidFill>
                  <a:srgbClr val="A8A298"/>
                </a:solidFill>
                <a:latin typeface="Courier New" pitchFamily="34" charset="0"/>
                <a:ea typeface="Courier New" pitchFamily="34" charset="-122"/>
                <a:cs typeface="Courier New"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613"/>
        </a:solidFill>
      </p:bgPr>
    </p:bg>
    <p:spTree>
      <p:nvGrpSpPr>
        <p:cNvPr id="1" name=""/>
        <p:cNvGrpSpPr/>
        <p:nvPr/>
      </p:nvGrpSpPr>
      <p:grpSpPr>
        <a:xfrm>
          <a:off x="0" y="0"/>
          <a:ext cx="0" cy="0"/>
          <a:chOff x="0" y="0"/>
          <a:chExt cx="0" cy="0"/>
        </a:xfrm>
      </p:grpSpPr>
      <p:sp>
        <p:nvSpPr>
          <p:cNvPr id="2" name="Text 0"/>
          <p:cNvSpPr txBox="1"/>
          <p:nvPr/>
        </p:nvSpPr>
        <p:spPr>
          <a:xfrm>
            <a:off x="640080" y="566928"/>
            <a:ext cx="10881360" cy="237744"/>
          </a:xfrm>
          <a:prstGeom prst="rect">
            <a:avLst/>
          </a:prstGeom>
          <a:noFill/>
          <a:ln/>
        </p:spPr>
        <p:txBody>
          <a:bodyPr wrap="square" lIns="0" tIns="0" rIns="0" bIns="0" rtlCol="0" anchor="ctr"/>
          <a:lstStyle/>
          <a:p>
            <a:pPr indent="0" marL="0">
              <a:buNone/>
            </a:pPr>
            <a:r>
              <a:rPr lang="en-US" sz="950" b="1" spc="160" kern="0" dirty="0">
                <a:solidFill>
                  <a:srgbClr val="8F897C"/>
                </a:solidFill>
                <a:latin typeface="Courier New" pitchFamily="34" charset="0"/>
                <a:ea typeface="Courier New" pitchFamily="34" charset="-122"/>
                <a:cs typeface="Courier New" pitchFamily="34" charset="-120"/>
              </a:rPr>
              <a:t>STATUS  ·  SEPTEMBER 2026</a:t>
            </a:r>
            <a:endParaRPr lang="en-US" sz="950" dirty="0"/>
          </a:p>
        </p:txBody>
      </p:sp>
      <p:sp>
        <p:nvSpPr>
          <p:cNvPr id="3" name="Text 1"/>
          <p:cNvSpPr txBox="1"/>
          <p:nvPr/>
        </p:nvSpPr>
        <p:spPr>
          <a:xfrm>
            <a:off x="640080" y="877824"/>
            <a:ext cx="10881360" cy="603504"/>
          </a:xfrm>
          <a:prstGeom prst="rect">
            <a:avLst/>
          </a:prstGeom>
          <a:noFill/>
          <a:ln/>
        </p:spPr>
        <p:txBody>
          <a:bodyPr wrap="square" lIns="0" tIns="0" rIns="0" bIns="0" rtlCol="0" anchor="t"/>
          <a:lstStyle/>
          <a:p>
            <a:pPr indent="0" marL="0">
              <a:buNone/>
            </a:pPr>
            <a:r>
              <a:rPr lang="en-US" sz="3300" b="1" dirty="0">
                <a:solidFill>
                  <a:srgbClr val="F7F5F1"/>
                </a:solidFill>
                <a:latin typeface="Cambria" pitchFamily="34" charset="0"/>
                <a:ea typeface="Cambria" pitchFamily="34" charset="-122"/>
                <a:cs typeface="Cambria" pitchFamily="34" charset="-120"/>
              </a:rPr>
              <a:t>A working system, deliberately narrow</a:t>
            </a:r>
            <a:endParaRPr lang="en-US" sz="3300" dirty="0"/>
          </a:p>
        </p:txBody>
      </p:sp>
      <p:sp>
        <p:nvSpPr>
          <p:cNvPr id="4" name="Shape 2"/>
          <p:cNvSpPr/>
          <p:nvPr/>
        </p:nvSpPr>
        <p:spPr>
          <a:xfrm>
            <a:off x="640080" y="1755648"/>
            <a:ext cx="91440" cy="182880"/>
          </a:xfrm>
          <a:prstGeom prst="rect">
            <a:avLst/>
          </a:prstGeom>
          <a:solidFill>
            <a:srgbClr val="146B54"/>
          </a:solidFill>
          <a:ln w="12700">
            <a:solidFill>
              <a:srgbClr val="146B54"/>
            </a:solidFill>
            <a:prstDash val="solid"/>
          </a:ln>
        </p:spPr>
      </p:sp>
      <p:sp>
        <p:nvSpPr>
          <p:cNvPr id="5" name="Text 3"/>
          <p:cNvSpPr txBox="1"/>
          <p:nvPr/>
        </p:nvSpPr>
        <p:spPr>
          <a:xfrm>
            <a:off x="859536" y="1700784"/>
            <a:ext cx="3200400" cy="256032"/>
          </a:xfrm>
          <a:prstGeom prst="rect">
            <a:avLst/>
          </a:prstGeom>
          <a:noFill/>
          <a:ln/>
        </p:spPr>
        <p:txBody>
          <a:bodyPr wrap="square" lIns="0" tIns="0" rIns="0" bIns="0" rtlCol="0" anchor="ctr"/>
          <a:lstStyle/>
          <a:p>
            <a:pPr indent="0" marL="0">
              <a:buNone/>
            </a:pPr>
            <a:r>
              <a:rPr lang="en-US" sz="850" b="1" spc="130" kern="0" dirty="0">
                <a:solidFill>
                  <a:srgbClr val="146B54"/>
                </a:solidFill>
                <a:latin typeface="Courier New" pitchFamily="34" charset="0"/>
                <a:ea typeface="Courier New" pitchFamily="34" charset="-122"/>
                <a:cs typeface="Courier New" pitchFamily="34" charset="-120"/>
              </a:rPr>
              <a:t>BUILT AND PASSING</a:t>
            </a:r>
            <a:endParaRPr lang="en-US" sz="850" dirty="0"/>
          </a:p>
        </p:txBody>
      </p:sp>
      <p:sp>
        <p:nvSpPr>
          <p:cNvPr id="6" name="Text 4"/>
          <p:cNvSpPr txBox="1"/>
          <p:nvPr/>
        </p:nvSpPr>
        <p:spPr>
          <a:xfrm>
            <a:off x="640080" y="2121408"/>
            <a:ext cx="3401568" cy="320040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Next.js + FastAPI application, 16 product surfaces</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665 backend tests green; typecheck and production build clean</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Markdown vault as source of truth, rebuildable SQLite index</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Five model providers with per-agent selection</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Research queues, decision register, staleness checks, scheduler</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Document review with native DOCX and PDF export</a:t>
            </a:r>
            <a:endParaRPr lang="en-US" sz="1150" dirty="0"/>
          </a:p>
        </p:txBody>
      </p:sp>
      <p:sp>
        <p:nvSpPr>
          <p:cNvPr id="7" name="Shape 5"/>
          <p:cNvSpPr/>
          <p:nvPr/>
        </p:nvSpPr>
        <p:spPr>
          <a:xfrm>
            <a:off x="4343400" y="1755648"/>
            <a:ext cx="91440" cy="182880"/>
          </a:xfrm>
          <a:prstGeom prst="rect">
            <a:avLst/>
          </a:prstGeom>
          <a:solidFill>
            <a:srgbClr val="E0A008"/>
          </a:solidFill>
          <a:ln w="12700">
            <a:solidFill>
              <a:srgbClr val="E0A008"/>
            </a:solidFill>
            <a:prstDash val="solid"/>
          </a:ln>
        </p:spPr>
      </p:sp>
      <p:sp>
        <p:nvSpPr>
          <p:cNvPr id="8" name="Text 6"/>
          <p:cNvSpPr txBox="1"/>
          <p:nvPr/>
        </p:nvSpPr>
        <p:spPr>
          <a:xfrm>
            <a:off x="4562856" y="1700784"/>
            <a:ext cx="3200400" cy="256032"/>
          </a:xfrm>
          <a:prstGeom prst="rect">
            <a:avLst/>
          </a:prstGeom>
          <a:noFill/>
          <a:ln/>
        </p:spPr>
        <p:txBody>
          <a:bodyPr wrap="square" lIns="0" tIns="0" rIns="0" bIns="0" rtlCol="0" anchor="ctr"/>
          <a:lstStyle/>
          <a:p>
            <a:pPr indent="0" marL="0">
              <a:buNone/>
            </a:pPr>
            <a:r>
              <a:rPr lang="en-US" sz="850" b="1" spc="130" kern="0" dirty="0">
                <a:solidFill>
                  <a:srgbClr val="E0A008"/>
                </a:solidFill>
                <a:latin typeface="Courier New" pitchFamily="34" charset="0"/>
                <a:ea typeface="Courier New" pitchFamily="34" charset="-122"/>
                <a:cs typeface="Courier New" pitchFamily="34" charset="-120"/>
              </a:rPr>
              <a:t>DELIBERATELY NOT BUILT</a:t>
            </a:r>
            <a:endParaRPr lang="en-US" sz="850" dirty="0"/>
          </a:p>
        </p:txBody>
      </p:sp>
      <p:sp>
        <p:nvSpPr>
          <p:cNvPr id="9" name="Text 7"/>
          <p:cNvSpPr txBox="1"/>
          <p:nvPr/>
        </p:nvSpPr>
        <p:spPr>
          <a:xfrm>
            <a:off x="4343400" y="2121408"/>
            <a:ext cx="3401568" cy="320040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Auth, SSO, tenancy, team permissions</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Source-layout-preserving Word round trip</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Citator integration and court-grade cite validation</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Embeddings, queues, cloud deployment</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Multi-agent voting and reviewer vetoes</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Each excluded on purpose. None is needed to prove the wedge.</a:t>
            </a:r>
            <a:endParaRPr lang="en-US" sz="1150" dirty="0"/>
          </a:p>
        </p:txBody>
      </p:sp>
      <p:sp>
        <p:nvSpPr>
          <p:cNvPr id="10" name="Shape 8"/>
          <p:cNvSpPr/>
          <p:nvPr/>
        </p:nvSpPr>
        <p:spPr>
          <a:xfrm>
            <a:off x="8046720" y="1755648"/>
            <a:ext cx="91440" cy="182880"/>
          </a:xfrm>
          <a:prstGeom prst="rect">
            <a:avLst/>
          </a:prstGeom>
          <a:solidFill>
            <a:srgbClr val="5F5AC0"/>
          </a:solidFill>
          <a:ln w="12700">
            <a:solidFill>
              <a:srgbClr val="5F5AC0"/>
            </a:solidFill>
            <a:prstDash val="solid"/>
          </a:ln>
        </p:spPr>
      </p:sp>
      <p:sp>
        <p:nvSpPr>
          <p:cNvPr id="11" name="Text 9"/>
          <p:cNvSpPr txBox="1"/>
          <p:nvPr/>
        </p:nvSpPr>
        <p:spPr>
          <a:xfrm>
            <a:off x="8266176" y="1700784"/>
            <a:ext cx="3200400" cy="256032"/>
          </a:xfrm>
          <a:prstGeom prst="rect">
            <a:avLst/>
          </a:prstGeom>
          <a:noFill/>
          <a:ln/>
        </p:spPr>
        <p:txBody>
          <a:bodyPr wrap="square" lIns="0" tIns="0" rIns="0" bIns="0" rtlCol="0" anchor="ctr"/>
          <a:lstStyle/>
          <a:p>
            <a:pPr indent="0" marL="0">
              <a:buNone/>
            </a:pPr>
            <a:r>
              <a:rPr lang="en-US" sz="850" b="1" spc="130" kern="0" dirty="0">
                <a:solidFill>
                  <a:srgbClr val="5F5AC0"/>
                </a:solidFill>
                <a:latin typeface="Courier New" pitchFamily="34" charset="0"/>
                <a:ea typeface="Courier New" pitchFamily="34" charset="-122"/>
                <a:cs typeface="Courier New" pitchFamily="34" charset="-120"/>
              </a:rPr>
              <a:t>WHAT WE PROVE NEXT</a:t>
            </a:r>
            <a:endParaRPr lang="en-US" sz="850" dirty="0"/>
          </a:p>
        </p:txBody>
      </p:sp>
      <p:sp>
        <p:nvSpPr>
          <p:cNvPr id="12" name="Text 10"/>
          <p:cNvSpPr txBox="1"/>
          <p:nvPr/>
        </p:nvSpPr>
        <p:spPr>
          <a:xfrm>
            <a:off x="8046720" y="2121408"/>
            <a:ext cx="3401568" cy="320040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Exact source passages plus a document coverage receipt</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Automatic matter dossier and next action on return</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Structured multi-document review with exceptions</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Review-ready Word handoff that keeps the support trail</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Lawyer-checked Westlaw / Lexis authority attached to a proposition</a:t>
            </a:r>
            <a:endParaRPr lang="en-US" sz="1150" dirty="0"/>
          </a:p>
          <a:p>
            <a:pPr marL="342900" indent="-342900">
              <a:lnSpc>
                <a:spcPts val="1600"/>
              </a:lnSpc>
              <a:spcAft>
                <a:spcPts val="800"/>
              </a:spcAft>
              <a:buSzPct val="100000"/>
              <a:buChar char="•"/>
            </a:pPr>
            <a:r>
              <a:rPr lang="en-US" sz="1150" dirty="0">
                <a:solidFill>
                  <a:srgbClr val="DCD7CC"/>
                </a:solidFill>
                <a:latin typeface="Calibri" pitchFamily="34" charset="0"/>
                <a:ea typeface="Calibri" pitchFamily="34" charset="-122"/>
                <a:cs typeface="Calibri" pitchFamily="34" charset="-120"/>
              </a:rPr>
              <a:t>Design partners doing real product-counsel work</a:t>
            </a:r>
            <a:endParaRPr lang="en-US" sz="1150" dirty="0"/>
          </a:p>
        </p:txBody>
      </p:sp>
      <p:sp>
        <p:nvSpPr>
          <p:cNvPr id="13" name="Text 11"/>
          <p:cNvSpPr txBox="1"/>
          <p:nvPr/>
        </p:nvSpPr>
        <p:spPr>
          <a:xfrm>
            <a:off x="640080" y="5532120"/>
            <a:ext cx="10881360" cy="658368"/>
          </a:xfrm>
          <a:prstGeom prst="rect">
            <a:avLst/>
          </a:prstGeom>
          <a:noFill/>
          <a:ln/>
        </p:spPr>
        <p:txBody>
          <a:bodyPr wrap="square" lIns="0" tIns="0" rIns="0" bIns="0" rtlCol="0" anchor="ctr"/>
          <a:lstStyle/>
          <a:p>
            <a:pPr indent="0" marL="0">
              <a:lnSpc>
                <a:spcPts val="1900"/>
              </a:lnSpc>
              <a:buNone/>
            </a:pPr>
            <a:r>
              <a:rPr lang="en-US" sz="1300" i="1" dirty="0">
                <a:solidFill>
                  <a:srgbClr val="A8A298"/>
                </a:solidFill>
                <a:latin typeface="Cambria" pitchFamily="34" charset="0"/>
                <a:ea typeface="Cambria" pitchFamily="34" charset="-122"/>
                <a:cs typeface="Cambria" pitchFamily="34" charset="-120"/>
              </a:rPr>
              <a:t>Themis.ai runs today as a single-user local web application. It has no authentication, tenancy or enterprise authorization, and is not for privileged material in an untrusted environment. That is the honest boundary of the current build.</a:t>
            </a:r>
            <a:endParaRPr lang="en-US" sz="1300" dirty="0"/>
          </a:p>
        </p:txBody>
      </p:sp>
      <p:sp>
        <p:nvSpPr>
          <p:cNvPr id="14" name="Text 12"/>
          <p:cNvSpPr txBox="1"/>
          <p:nvPr/>
        </p:nvSpPr>
        <p:spPr>
          <a:xfrm>
            <a:off x="11094415" y="6355080"/>
            <a:ext cx="457200" cy="219456"/>
          </a:xfrm>
          <a:prstGeom prst="rect">
            <a:avLst/>
          </a:prstGeom>
          <a:noFill/>
          <a:ln/>
        </p:spPr>
        <p:txBody>
          <a:bodyPr wrap="square" lIns="0" tIns="0" rIns="0" bIns="0" rtlCol="0" anchor="ctr"/>
          <a:lstStyle/>
          <a:p>
            <a:pPr algn="r" indent="0" marL="0">
              <a:buNone/>
            </a:pPr>
            <a:r>
              <a:rPr lang="en-US" sz="900" dirty="0">
                <a:solidFill>
                  <a:srgbClr val="A8A298"/>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640080" y="475488"/>
            <a:ext cx="10881360" cy="237744"/>
          </a:xfrm>
          <a:prstGeom prst="rect">
            <a:avLst/>
          </a:prstGeom>
          <a:noFill/>
          <a:ln/>
        </p:spPr>
        <p:txBody>
          <a:bodyPr wrap="square" lIns="0" tIns="0" rIns="0" bIns="0" rtlCol="0" anchor="ctr"/>
          <a:lstStyle/>
          <a:p>
            <a:pPr indent="0" marL="0">
              <a:buNone/>
            </a:pPr>
            <a:r>
              <a:rPr lang="en-US" sz="950" b="1" spc="160" kern="0" dirty="0">
                <a:solidFill>
                  <a:srgbClr val="5F5B54"/>
                </a:solidFill>
                <a:latin typeface="Courier New" pitchFamily="34" charset="0"/>
                <a:ea typeface="Courier New" pitchFamily="34" charset="-122"/>
                <a:cs typeface="Courier New" pitchFamily="34" charset="-120"/>
              </a:rPr>
              <a:t>WHAT WOULD CHANGE THIS</a:t>
            </a:r>
            <a:endParaRPr lang="en-US" sz="950" dirty="0"/>
          </a:p>
        </p:txBody>
      </p:sp>
      <p:sp>
        <p:nvSpPr>
          <p:cNvPr id="3" name="Text 1"/>
          <p:cNvSpPr txBox="1"/>
          <p:nvPr/>
        </p:nvSpPr>
        <p:spPr>
          <a:xfrm>
            <a:off x="640080" y="768096"/>
            <a:ext cx="10881360" cy="713232"/>
          </a:xfrm>
          <a:prstGeom prst="rect">
            <a:avLst/>
          </a:prstGeom>
          <a:noFill/>
          <a:ln/>
        </p:spPr>
        <p:txBody>
          <a:bodyPr wrap="square" lIns="0" tIns="0" rIns="0" bIns="0" rtlCol="0" anchor="t"/>
          <a:lstStyle/>
          <a:p>
            <a:pPr indent="0" marL="0">
              <a:lnSpc>
                <a:spcPts val="3696"/>
              </a:lnSpc>
              <a:buNone/>
            </a:pPr>
            <a:r>
              <a:rPr lang="en-US" sz="3300" b="1" dirty="0">
                <a:solidFill>
                  <a:srgbClr val="1B1A17"/>
                </a:solidFill>
                <a:latin typeface="Cambria" pitchFamily="34" charset="0"/>
                <a:ea typeface="Cambria" pitchFamily="34" charset="-122"/>
                <a:cs typeface="Cambria" pitchFamily="34" charset="-120"/>
              </a:rPr>
              <a:t>The assumptions this rests on</a:t>
            </a:r>
            <a:endParaRPr lang="en-US" sz="3300" dirty="0"/>
          </a:p>
        </p:txBody>
      </p:sp>
      <p:sp>
        <p:nvSpPr>
          <p:cNvPr id="4" name="Text 2"/>
          <p:cNvSpPr txBox="1"/>
          <p:nvPr/>
        </p:nvSpPr>
        <p:spPr>
          <a:xfrm>
            <a:off x="640080" y="1572768"/>
            <a:ext cx="10881360" cy="365760"/>
          </a:xfrm>
          <a:prstGeom prst="rect">
            <a:avLst/>
          </a:prstGeom>
          <a:noFill/>
          <a:ln/>
        </p:spPr>
        <p:txBody>
          <a:bodyPr wrap="square" lIns="0" tIns="0" rIns="0" bIns="0" rtlCol="0" anchor="t"/>
          <a:lstStyle/>
          <a:p>
            <a:pPr indent="0" marL="0">
              <a:lnSpc>
                <a:spcPts val="1917"/>
              </a:lnSpc>
              <a:buNone/>
            </a:pPr>
            <a:r>
              <a:rPr lang="en-US" sz="1350" dirty="0">
                <a:solidFill>
                  <a:srgbClr val="55524B"/>
                </a:solidFill>
                <a:latin typeface="Calibri" pitchFamily="34" charset="0"/>
                <a:ea typeface="Calibri" pitchFamily="34" charset="-122"/>
                <a:cs typeface="Calibri" pitchFamily="34" charset="-120"/>
              </a:rPr>
              <a:t>The product's own discipline, applied to its deck. Each of these is load-bearing. Each names what would prove it wrong.</a:t>
            </a:r>
            <a:endParaRPr lang="en-US" sz="1350" dirty="0"/>
          </a:p>
        </p:txBody>
      </p:sp>
      <p:sp>
        <p:nvSpPr>
          <p:cNvPr id="5" name="Text 3"/>
          <p:cNvSpPr txBox="1"/>
          <p:nvPr/>
        </p:nvSpPr>
        <p:spPr>
          <a:xfrm>
            <a:off x="640080" y="1901952"/>
            <a:ext cx="4937760" cy="219456"/>
          </a:xfrm>
          <a:prstGeom prst="rect">
            <a:avLst/>
          </a:prstGeom>
          <a:noFill/>
          <a:ln/>
        </p:spPr>
        <p:txBody>
          <a:bodyPr wrap="square" lIns="0" tIns="0" rIns="0" bIns="0" rtlCol="0" anchor="ctr"/>
          <a:lstStyle/>
          <a:p>
            <a:pPr indent="0" marL="0">
              <a:buNone/>
            </a:pPr>
            <a:r>
              <a:rPr lang="en-US" sz="850" b="1" spc="120" kern="0" dirty="0">
                <a:solidFill>
                  <a:srgbClr val="5F5B54"/>
                </a:solidFill>
                <a:latin typeface="Courier New" pitchFamily="34" charset="0"/>
                <a:ea typeface="Courier New" pitchFamily="34" charset="-122"/>
                <a:cs typeface="Courier New" pitchFamily="34" charset="-120"/>
              </a:rPr>
              <a:t>THE ASSUMPTION</a:t>
            </a:r>
            <a:endParaRPr lang="en-US" sz="850" dirty="0"/>
          </a:p>
        </p:txBody>
      </p:sp>
      <p:sp>
        <p:nvSpPr>
          <p:cNvPr id="6" name="Text 4"/>
          <p:cNvSpPr txBox="1"/>
          <p:nvPr/>
        </p:nvSpPr>
        <p:spPr>
          <a:xfrm>
            <a:off x="5870448" y="1901952"/>
            <a:ext cx="5577840" cy="219456"/>
          </a:xfrm>
          <a:prstGeom prst="rect">
            <a:avLst/>
          </a:prstGeom>
          <a:noFill/>
          <a:ln/>
        </p:spPr>
        <p:txBody>
          <a:bodyPr wrap="square" lIns="0" tIns="0" rIns="0" bIns="0" rtlCol="0" anchor="ctr"/>
          <a:lstStyle/>
          <a:p>
            <a:pPr indent="0" marL="0">
              <a:buNone/>
            </a:pPr>
            <a:r>
              <a:rPr lang="en-US" sz="850" b="1" spc="120" kern="0" dirty="0">
                <a:solidFill>
                  <a:srgbClr val="5F5B54"/>
                </a:solidFill>
                <a:latin typeface="Courier New" pitchFamily="34" charset="0"/>
                <a:ea typeface="Courier New" pitchFamily="34" charset="-122"/>
                <a:cs typeface="Courier New" pitchFamily="34" charset="-120"/>
              </a:rPr>
              <a:t>WHAT WOULD PROVE IT WRONG</a:t>
            </a:r>
            <a:endParaRPr lang="en-US" sz="850" dirty="0"/>
          </a:p>
        </p:txBody>
      </p:sp>
      <p:sp>
        <p:nvSpPr>
          <p:cNvPr id="7" name="Shape 5"/>
          <p:cNvSpPr/>
          <p:nvPr/>
        </p:nvSpPr>
        <p:spPr>
          <a:xfrm>
            <a:off x="512064" y="2194560"/>
            <a:ext cx="11082528" cy="768096"/>
          </a:xfrm>
          <a:prstGeom prst="roundRect">
            <a:avLst>
              <a:gd name="adj" fmla="val 7143"/>
            </a:avLst>
          </a:prstGeom>
          <a:solidFill>
            <a:srgbClr val="FFFEFB"/>
          </a:solidFill>
          <a:ln w="9525">
            <a:solidFill>
              <a:srgbClr val="DED9D0"/>
            </a:solidFill>
            <a:prstDash val="solid"/>
          </a:ln>
        </p:spPr>
      </p:sp>
      <p:sp>
        <p:nvSpPr>
          <p:cNvPr id="8" name="Text 6"/>
          <p:cNvSpPr txBox="1"/>
          <p:nvPr/>
        </p:nvSpPr>
        <p:spPr>
          <a:xfrm>
            <a:off x="640080" y="2276856"/>
            <a:ext cx="4846320" cy="310896"/>
          </a:xfrm>
          <a:prstGeom prst="rect">
            <a:avLst/>
          </a:prstGeom>
          <a:noFill/>
          <a:ln/>
        </p:spPr>
        <p:txBody>
          <a:bodyPr wrap="square" lIns="0" tIns="0" rIns="0" bIns="0" rtlCol="0" anchor="t"/>
          <a:lstStyle/>
          <a:p>
            <a:pPr indent="0" marL="0">
              <a:lnSpc>
                <a:spcPts val="1600"/>
              </a:lnSpc>
              <a:buNone/>
            </a:pPr>
            <a:r>
              <a:rPr lang="en-US" sz="1300" b="1" dirty="0">
                <a:solidFill>
                  <a:srgbClr val="1B1A17"/>
                </a:solidFill>
                <a:latin typeface="Cambria" pitchFamily="34" charset="0"/>
                <a:ea typeface="Cambria" pitchFamily="34" charset="-122"/>
                <a:cs typeface="Cambria" pitchFamily="34" charset="-120"/>
              </a:rPr>
              <a:t>Lawyers want a colleague, not an oracle.</a:t>
            </a:r>
            <a:endParaRPr lang="en-US" sz="1300" dirty="0"/>
          </a:p>
        </p:txBody>
      </p:sp>
      <p:sp>
        <p:nvSpPr>
          <p:cNvPr id="9" name="Text 7"/>
          <p:cNvSpPr txBox="1"/>
          <p:nvPr/>
        </p:nvSpPr>
        <p:spPr>
          <a:xfrm>
            <a:off x="640080" y="2578608"/>
            <a:ext cx="4846320" cy="347472"/>
          </a:xfrm>
          <a:prstGeom prst="rect">
            <a:avLst/>
          </a:prstGeom>
          <a:noFill/>
          <a:ln/>
        </p:spPr>
        <p:txBody>
          <a:bodyPr wrap="square" lIns="0" tIns="0" rIns="0" bIns="0" rtlCol="0" anchor="t"/>
          <a:lstStyle/>
          <a:p>
            <a:pPr indent="0" marL="0">
              <a:lnSpc>
                <a:spcPts val="1200"/>
              </a:lnSpc>
              <a:buNone/>
            </a:pPr>
            <a:r>
              <a:rPr lang="en-US" sz="950" dirty="0">
                <a:solidFill>
                  <a:srgbClr val="5F5B54"/>
                </a:solidFill>
                <a:latin typeface="Calibri" pitchFamily="34" charset="0"/>
                <a:ea typeface="Calibri" pitchFamily="34" charset="-122"/>
                <a:cs typeface="Calibri" pitchFamily="34" charset="-120"/>
              </a:rPr>
              <a:t>Every valued use in the corpus is companion-shaped — issue spotting, first pass, “where to start.” None is “give me the answer.”</a:t>
            </a:r>
            <a:endParaRPr lang="en-US" sz="950" dirty="0"/>
          </a:p>
        </p:txBody>
      </p:sp>
      <p:sp>
        <p:nvSpPr>
          <p:cNvPr id="10" name="Shape 8"/>
          <p:cNvSpPr/>
          <p:nvPr/>
        </p:nvSpPr>
        <p:spPr>
          <a:xfrm>
            <a:off x="5650992" y="2322576"/>
            <a:ext cx="73152" cy="164592"/>
          </a:xfrm>
          <a:prstGeom prst="rect">
            <a:avLst/>
          </a:prstGeom>
          <a:solidFill>
            <a:srgbClr val="B33A20"/>
          </a:solidFill>
          <a:ln w="12700">
            <a:solidFill>
              <a:srgbClr val="B33A20"/>
            </a:solidFill>
            <a:prstDash val="solid"/>
          </a:ln>
        </p:spPr>
      </p:sp>
      <p:sp>
        <p:nvSpPr>
          <p:cNvPr id="11" name="Text 9"/>
          <p:cNvSpPr txBox="1"/>
          <p:nvPr/>
        </p:nvSpPr>
        <p:spPr>
          <a:xfrm>
            <a:off x="5870448" y="2276856"/>
            <a:ext cx="5577840" cy="603504"/>
          </a:xfrm>
          <a:prstGeom prst="rect">
            <a:avLst/>
          </a:prstGeom>
          <a:noFill/>
          <a:ln/>
        </p:spPr>
        <p:txBody>
          <a:bodyPr wrap="square" lIns="0" tIns="0" rIns="0" bIns="0" rtlCol="0" anchor="t"/>
          <a:lstStyle/>
          <a:p>
            <a:pPr indent="0" marL="0">
              <a:lnSpc>
                <a:spcPts val="1500"/>
              </a:lnSpc>
              <a:buNone/>
            </a:pPr>
            <a:r>
              <a:rPr lang="en-US" sz="1100" dirty="0">
                <a:solidFill>
                  <a:srgbClr val="3A3733"/>
                </a:solidFill>
                <a:latin typeface="Calibri" pitchFamily="34" charset="0"/>
                <a:ea typeface="Calibri" pitchFamily="34" charset="-122"/>
                <a:cs typeface="Calibri" pitchFamily="34" charset="-120"/>
              </a:rPr>
              <a:t>Design partners who skip the edge map and want only the conclusion.</a:t>
            </a:r>
            <a:endParaRPr lang="en-US" sz="1100" dirty="0"/>
          </a:p>
        </p:txBody>
      </p:sp>
      <p:sp>
        <p:nvSpPr>
          <p:cNvPr id="12" name="Shape 10"/>
          <p:cNvSpPr/>
          <p:nvPr/>
        </p:nvSpPr>
        <p:spPr>
          <a:xfrm>
            <a:off x="512064" y="3017520"/>
            <a:ext cx="11082528" cy="768096"/>
          </a:xfrm>
          <a:prstGeom prst="roundRect">
            <a:avLst>
              <a:gd name="adj" fmla="val 7143"/>
            </a:avLst>
          </a:prstGeom>
          <a:solidFill>
            <a:srgbClr val="FFFEFB"/>
          </a:solidFill>
          <a:ln w="9525">
            <a:solidFill>
              <a:srgbClr val="DED9D0"/>
            </a:solidFill>
            <a:prstDash val="solid"/>
          </a:ln>
        </p:spPr>
      </p:sp>
      <p:sp>
        <p:nvSpPr>
          <p:cNvPr id="13" name="Text 11"/>
          <p:cNvSpPr txBox="1"/>
          <p:nvPr/>
        </p:nvSpPr>
        <p:spPr>
          <a:xfrm>
            <a:off x="640080" y="3099816"/>
            <a:ext cx="4846320" cy="310896"/>
          </a:xfrm>
          <a:prstGeom prst="rect">
            <a:avLst/>
          </a:prstGeom>
          <a:noFill/>
          <a:ln/>
        </p:spPr>
        <p:txBody>
          <a:bodyPr wrap="square" lIns="0" tIns="0" rIns="0" bIns="0" rtlCol="0" anchor="t"/>
          <a:lstStyle/>
          <a:p>
            <a:pPr indent="0" marL="0">
              <a:lnSpc>
                <a:spcPts val="1600"/>
              </a:lnSpc>
              <a:buNone/>
            </a:pPr>
            <a:r>
              <a:rPr lang="en-US" sz="1300" b="1" dirty="0">
                <a:solidFill>
                  <a:srgbClr val="1B1A17"/>
                </a:solidFill>
                <a:latin typeface="Cambria" pitchFamily="34" charset="0"/>
                <a:ea typeface="Cambria" pitchFamily="34" charset="-122"/>
                <a:cs typeface="Cambria" pitchFamily="34" charset="-120"/>
              </a:rPr>
              <a:t>Matter memory becomes real switching cost.</a:t>
            </a:r>
            <a:endParaRPr lang="en-US" sz="1300" dirty="0"/>
          </a:p>
        </p:txBody>
      </p:sp>
      <p:sp>
        <p:nvSpPr>
          <p:cNvPr id="14" name="Text 12"/>
          <p:cNvSpPr txBox="1"/>
          <p:nvPr/>
        </p:nvSpPr>
        <p:spPr>
          <a:xfrm>
            <a:off x="640080" y="3401568"/>
            <a:ext cx="4846320" cy="347472"/>
          </a:xfrm>
          <a:prstGeom prst="rect">
            <a:avLst/>
          </a:prstGeom>
          <a:noFill/>
          <a:ln/>
        </p:spPr>
        <p:txBody>
          <a:bodyPr wrap="square" lIns="0" tIns="0" rIns="0" bIns="0" rtlCol="0" anchor="t"/>
          <a:lstStyle/>
          <a:p>
            <a:pPr indent="0" marL="0">
              <a:lnSpc>
                <a:spcPts val="1200"/>
              </a:lnSpc>
              <a:buNone/>
            </a:pPr>
            <a:r>
              <a:rPr lang="en-US" sz="950" dirty="0">
                <a:solidFill>
                  <a:srgbClr val="5F5B54"/>
                </a:solidFill>
                <a:latin typeface="Calibri" pitchFamily="34" charset="0"/>
                <a:ea typeface="Calibri" pitchFamily="34" charset="-122"/>
                <a:cs typeface="Calibri" pitchFamily="34" charset="-120"/>
              </a:rPr>
              <a:t>The compounding bet: the register is worth more every month and cannot be imported by a competitor.</a:t>
            </a:r>
            <a:endParaRPr lang="en-US" sz="950" dirty="0"/>
          </a:p>
        </p:txBody>
      </p:sp>
      <p:sp>
        <p:nvSpPr>
          <p:cNvPr id="15" name="Shape 13"/>
          <p:cNvSpPr/>
          <p:nvPr/>
        </p:nvSpPr>
        <p:spPr>
          <a:xfrm>
            <a:off x="5650992" y="3145536"/>
            <a:ext cx="73152" cy="164592"/>
          </a:xfrm>
          <a:prstGeom prst="rect">
            <a:avLst/>
          </a:prstGeom>
          <a:solidFill>
            <a:srgbClr val="B33A20"/>
          </a:solidFill>
          <a:ln w="12700">
            <a:solidFill>
              <a:srgbClr val="B33A20"/>
            </a:solidFill>
            <a:prstDash val="solid"/>
          </a:ln>
        </p:spPr>
      </p:sp>
      <p:sp>
        <p:nvSpPr>
          <p:cNvPr id="16" name="Text 14"/>
          <p:cNvSpPr txBox="1"/>
          <p:nvPr/>
        </p:nvSpPr>
        <p:spPr>
          <a:xfrm>
            <a:off x="5870448" y="3099816"/>
            <a:ext cx="5577840" cy="603504"/>
          </a:xfrm>
          <a:prstGeom prst="rect">
            <a:avLst/>
          </a:prstGeom>
          <a:noFill/>
          <a:ln/>
        </p:spPr>
        <p:txBody>
          <a:bodyPr wrap="square" lIns="0" tIns="0" rIns="0" bIns="0" rtlCol="0" anchor="t"/>
          <a:lstStyle/>
          <a:p>
            <a:pPr indent="0" marL="0">
              <a:lnSpc>
                <a:spcPts val="1500"/>
              </a:lnSpc>
              <a:buNone/>
            </a:pPr>
            <a:r>
              <a:rPr lang="en-US" sz="1100" dirty="0">
                <a:solidFill>
                  <a:srgbClr val="3A3733"/>
                </a:solidFill>
                <a:latin typeface="Calibri" pitchFamily="34" charset="0"/>
                <a:ea typeface="Calibri" pitchFamily="34" charset="-122"/>
                <a:cs typeface="Calibri" pitchFamily="34" charset="-120"/>
              </a:rPr>
              <a:t>Teams that never revisit a decision, or that let the register go stale because keeping it current costs more than it returns.</a:t>
            </a:r>
            <a:endParaRPr lang="en-US" sz="1100" dirty="0"/>
          </a:p>
        </p:txBody>
      </p:sp>
      <p:sp>
        <p:nvSpPr>
          <p:cNvPr id="17" name="Shape 15"/>
          <p:cNvSpPr/>
          <p:nvPr/>
        </p:nvSpPr>
        <p:spPr>
          <a:xfrm>
            <a:off x="512064" y="3840480"/>
            <a:ext cx="11082528" cy="768096"/>
          </a:xfrm>
          <a:prstGeom prst="roundRect">
            <a:avLst>
              <a:gd name="adj" fmla="val 7143"/>
            </a:avLst>
          </a:prstGeom>
          <a:solidFill>
            <a:srgbClr val="FFFEFB"/>
          </a:solidFill>
          <a:ln w="9525">
            <a:solidFill>
              <a:srgbClr val="DED9D0"/>
            </a:solidFill>
            <a:prstDash val="solid"/>
          </a:ln>
        </p:spPr>
      </p:sp>
      <p:sp>
        <p:nvSpPr>
          <p:cNvPr id="18" name="Text 16"/>
          <p:cNvSpPr txBox="1"/>
          <p:nvPr/>
        </p:nvSpPr>
        <p:spPr>
          <a:xfrm>
            <a:off x="640080" y="3922776"/>
            <a:ext cx="4846320" cy="310896"/>
          </a:xfrm>
          <a:prstGeom prst="rect">
            <a:avLst/>
          </a:prstGeom>
          <a:noFill/>
          <a:ln/>
        </p:spPr>
        <p:txBody>
          <a:bodyPr wrap="square" lIns="0" tIns="0" rIns="0" bIns="0" rtlCol="0" anchor="t"/>
          <a:lstStyle/>
          <a:p>
            <a:pPr indent="0" marL="0">
              <a:lnSpc>
                <a:spcPts val="1600"/>
              </a:lnSpc>
              <a:buNone/>
            </a:pPr>
            <a:r>
              <a:rPr lang="en-US" sz="1300" b="1" dirty="0">
                <a:solidFill>
                  <a:srgbClr val="1B1A17"/>
                </a:solidFill>
                <a:latin typeface="Cambria" pitchFamily="34" charset="0"/>
                <a:ea typeface="Cambria" pitchFamily="34" charset="-122"/>
                <a:cs typeface="Cambria" pitchFamily="34" charset="-120"/>
              </a:rPr>
              <a:t>The small-team wedge is reachable before enterprise controls.</a:t>
            </a:r>
            <a:endParaRPr lang="en-US" sz="1300" dirty="0"/>
          </a:p>
        </p:txBody>
      </p:sp>
      <p:sp>
        <p:nvSpPr>
          <p:cNvPr id="19" name="Text 17"/>
          <p:cNvSpPr txBox="1"/>
          <p:nvPr/>
        </p:nvSpPr>
        <p:spPr>
          <a:xfrm>
            <a:off x="640080" y="4224528"/>
            <a:ext cx="4846320" cy="347472"/>
          </a:xfrm>
          <a:prstGeom prst="rect">
            <a:avLst/>
          </a:prstGeom>
          <a:noFill/>
          <a:ln/>
        </p:spPr>
        <p:txBody>
          <a:bodyPr wrap="square" lIns="0" tIns="0" rIns="0" bIns="0" rtlCol="0" anchor="t"/>
          <a:lstStyle/>
          <a:p>
            <a:pPr indent="0" marL="0">
              <a:lnSpc>
                <a:spcPts val="1200"/>
              </a:lnSpc>
              <a:buNone/>
            </a:pPr>
            <a:r>
              <a:rPr lang="en-US" sz="950" dirty="0">
                <a:solidFill>
                  <a:srgbClr val="5F5B54"/>
                </a:solidFill>
                <a:latin typeface="Calibri" pitchFamily="34" charset="0"/>
                <a:ea typeface="Calibri" pitchFamily="34" charset="-122"/>
                <a:cs typeface="Calibri" pitchFamily="34" charset="-120"/>
              </a:rPr>
              <a:t>No SSO, tenancy, DMS or ethical walls are needed to prove value on one real matter.</a:t>
            </a:r>
            <a:endParaRPr lang="en-US" sz="950" dirty="0"/>
          </a:p>
        </p:txBody>
      </p:sp>
      <p:sp>
        <p:nvSpPr>
          <p:cNvPr id="20" name="Shape 18"/>
          <p:cNvSpPr/>
          <p:nvPr/>
        </p:nvSpPr>
        <p:spPr>
          <a:xfrm>
            <a:off x="5650992" y="3968496"/>
            <a:ext cx="73152" cy="164592"/>
          </a:xfrm>
          <a:prstGeom prst="rect">
            <a:avLst/>
          </a:prstGeom>
          <a:solidFill>
            <a:srgbClr val="B33A20"/>
          </a:solidFill>
          <a:ln w="12700">
            <a:solidFill>
              <a:srgbClr val="B33A20"/>
            </a:solidFill>
            <a:prstDash val="solid"/>
          </a:ln>
        </p:spPr>
      </p:sp>
      <p:sp>
        <p:nvSpPr>
          <p:cNvPr id="21" name="Text 19"/>
          <p:cNvSpPr txBox="1"/>
          <p:nvPr/>
        </p:nvSpPr>
        <p:spPr>
          <a:xfrm>
            <a:off x="5870448" y="3922776"/>
            <a:ext cx="5577840" cy="603504"/>
          </a:xfrm>
          <a:prstGeom prst="rect">
            <a:avLst/>
          </a:prstGeom>
          <a:noFill/>
          <a:ln/>
        </p:spPr>
        <p:txBody>
          <a:bodyPr wrap="square" lIns="0" tIns="0" rIns="0" bIns="0" rtlCol="0" anchor="t"/>
          <a:lstStyle/>
          <a:p>
            <a:pPr indent="0" marL="0">
              <a:lnSpc>
                <a:spcPts val="1500"/>
              </a:lnSpc>
              <a:buNone/>
            </a:pPr>
            <a:r>
              <a:rPr lang="en-US" sz="1100" dirty="0">
                <a:solidFill>
                  <a:srgbClr val="3A3733"/>
                </a:solidFill>
                <a:latin typeface="Calibri" pitchFamily="34" charset="0"/>
                <a:ea typeface="Calibri" pitchFamily="34" charset="-122"/>
                <a:cs typeface="Calibri" pitchFamily="34" charset="-120"/>
              </a:rPr>
              <a:t>Prospects blocking on confidentiality and approved deployment before they will try it. The corpus already shows this risk live.</a:t>
            </a:r>
            <a:endParaRPr lang="en-US" sz="1100" dirty="0"/>
          </a:p>
        </p:txBody>
      </p:sp>
      <p:sp>
        <p:nvSpPr>
          <p:cNvPr id="22" name="Shape 20"/>
          <p:cNvSpPr/>
          <p:nvPr/>
        </p:nvSpPr>
        <p:spPr>
          <a:xfrm>
            <a:off x="512064" y="4663440"/>
            <a:ext cx="11082528" cy="768096"/>
          </a:xfrm>
          <a:prstGeom prst="roundRect">
            <a:avLst>
              <a:gd name="adj" fmla="val 7143"/>
            </a:avLst>
          </a:prstGeom>
          <a:solidFill>
            <a:srgbClr val="FFFEFB"/>
          </a:solidFill>
          <a:ln w="9525">
            <a:solidFill>
              <a:srgbClr val="DED9D0"/>
            </a:solidFill>
            <a:prstDash val="solid"/>
          </a:ln>
        </p:spPr>
      </p:sp>
      <p:sp>
        <p:nvSpPr>
          <p:cNvPr id="23" name="Text 21"/>
          <p:cNvSpPr txBox="1"/>
          <p:nvPr/>
        </p:nvSpPr>
        <p:spPr>
          <a:xfrm>
            <a:off x="640080" y="4745736"/>
            <a:ext cx="4846320" cy="310896"/>
          </a:xfrm>
          <a:prstGeom prst="rect">
            <a:avLst/>
          </a:prstGeom>
          <a:noFill/>
          <a:ln/>
        </p:spPr>
        <p:txBody>
          <a:bodyPr wrap="square" lIns="0" tIns="0" rIns="0" bIns="0" rtlCol="0" anchor="t"/>
          <a:lstStyle/>
          <a:p>
            <a:pPr indent="0" marL="0">
              <a:lnSpc>
                <a:spcPts val="1600"/>
              </a:lnSpc>
              <a:buNone/>
            </a:pPr>
            <a:r>
              <a:rPr lang="en-US" sz="1300" b="1" dirty="0">
                <a:solidFill>
                  <a:srgbClr val="1B1A17"/>
                </a:solidFill>
                <a:latin typeface="Cambria" pitchFamily="34" charset="0"/>
                <a:ea typeface="Cambria" pitchFamily="34" charset="-122"/>
                <a:cs typeface="Cambria" pitchFamily="34" charset="-120"/>
              </a:rPr>
              <a:t>Model neutrality stays an advantage.</a:t>
            </a:r>
            <a:endParaRPr lang="en-US" sz="1300" dirty="0"/>
          </a:p>
        </p:txBody>
      </p:sp>
      <p:sp>
        <p:nvSpPr>
          <p:cNvPr id="24" name="Text 22"/>
          <p:cNvSpPr txBox="1"/>
          <p:nvPr/>
        </p:nvSpPr>
        <p:spPr>
          <a:xfrm>
            <a:off x="640080" y="5047488"/>
            <a:ext cx="4846320" cy="347472"/>
          </a:xfrm>
          <a:prstGeom prst="rect">
            <a:avLst/>
          </a:prstGeom>
          <a:noFill/>
          <a:ln/>
        </p:spPr>
        <p:txBody>
          <a:bodyPr wrap="square" lIns="0" tIns="0" rIns="0" bIns="0" rtlCol="0" anchor="t"/>
          <a:lstStyle/>
          <a:p>
            <a:pPr indent="0" marL="0">
              <a:lnSpc>
                <a:spcPts val="1200"/>
              </a:lnSpc>
              <a:buNone/>
            </a:pPr>
            <a:r>
              <a:rPr lang="en-US" sz="950" dirty="0">
                <a:solidFill>
                  <a:srgbClr val="5F5B54"/>
                </a:solidFill>
                <a:latin typeface="Calibri" pitchFamily="34" charset="0"/>
                <a:ea typeface="Calibri" pitchFamily="34" charset="-122"/>
                <a:cs typeface="Calibri" pitchFamily="34" charset="-120"/>
              </a:rPr>
              <a:t>Model quality moves too fast to be anyone's moat, so we decline to make it ours.</a:t>
            </a:r>
            <a:endParaRPr lang="en-US" sz="950" dirty="0"/>
          </a:p>
        </p:txBody>
      </p:sp>
      <p:sp>
        <p:nvSpPr>
          <p:cNvPr id="25" name="Shape 23"/>
          <p:cNvSpPr/>
          <p:nvPr/>
        </p:nvSpPr>
        <p:spPr>
          <a:xfrm>
            <a:off x="5650992" y="4791456"/>
            <a:ext cx="73152" cy="164592"/>
          </a:xfrm>
          <a:prstGeom prst="rect">
            <a:avLst/>
          </a:prstGeom>
          <a:solidFill>
            <a:srgbClr val="B33A20"/>
          </a:solidFill>
          <a:ln w="12700">
            <a:solidFill>
              <a:srgbClr val="B33A20"/>
            </a:solidFill>
            <a:prstDash val="solid"/>
          </a:ln>
        </p:spPr>
      </p:sp>
      <p:sp>
        <p:nvSpPr>
          <p:cNvPr id="26" name="Text 24"/>
          <p:cNvSpPr txBox="1"/>
          <p:nvPr/>
        </p:nvSpPr>
        <p:spPr>
          <a:xfrm>
            <a:off x="5870448" y="4745736"/>
            <a:ext cx="5577840" cy="603504"/>
          </a:xfrm>
          <a:prstGeom prst="rect">
            <a:avLst/>
          </a:prstGeom>
          <a:noFill/>
          <a:ln/>
        </p:spPr>
        <p:txBody>
          <a:bodyPr wrap="square" lIns="0" tIns="0" rIns="0" bIns="0" rtlCol="0" anchor="t"/>
          <a:lstStyle/>
          <a:p>
            <a:pPr indent="0" marL="0">
              <a:lnSpc>
                <a:spcPts val="1500"/>
              </a:lnSpc>
              <a:buNone/>
            </a:pPr>
            <a:r>
              <a:rPr lang="en-US" sz="1100" dirty="0">
                <a:solidFill>
                  <a:srgbClr val="3A3733"/>
                </a:solidFill>
                <a:latin typeface="Calibri" pitchFamily="34" charset="0"/>
                <a:ea typeface="Calibri" pitchFamily="34" charset="-122"/>
                <a:cs typeface="Calibri" pitchFamily="34" charset="-120"/>
              </a:rPr>
              <a:t>One model plus harness becoming decisively better at legal work — at which point neutrality is a liability, not a virtue.</a:t>
            </a:r>
            <a:endParaRPr lang="en-US" sz="1100" dirty="0"/>
          </a:p>
        </p:txBody>
      </p:sp>
      <p:sp>
        <p:nvSpPr>
          <p:cNvPr id="27" name="Shape 25"/>
          <p:cNvSpPr/>
          <p:nvPr/>
        </p:nvSpPr>
        <p:spPr>
          <a:xfrm>
            <a:off x="512064" y="5486400"/>
            <a:ext cx="11082528" cy="768096"/>
          </a:xfrm>
          <a:prstGeom prst="roundRect">
            <a:avLst>
              <a:gd name="adj" fmla="val 7143"/>
            </a:avLst>
          </a:prstGeom>
          <a:solidFill>
            <a:srgbClr val="FFFEFB"/>
          </a:solidFill>
          <a:ln w="9525">
            <a:solidFill>
              <a:srgbClr val="DED9D0"/>
            </a:solidFill>
            <a:prstDash val="solid"/>
          </a:ln>
        </p:spPr>
      </p:sp>
      <p:sp>
        <p:nvSpPr>
          <p:cNvPr id="28" name="Text 26"/>
          <p:cNvSpPr txBox="1"/>
          <p:nvPr/>
        </p:nvSpPr>
        <p:spPr>
          <a:xfrm>
            <a:off x="640080" y="5568696"/>
            <a:ext cx="4846320" cy="310896"/>
          </a:xfrm>
          <a:prstGeom prst="rect">
            <a:avLst/>
          </a:prstGeom>
          <a:noFill/>
          <a:ln/>
        </p:spPr>
        <p:txBody>
          <a:bodyPr wrap="square" lIns="0" tIns="0" rIns="0" bIns="0" rtlCol="0" anchor="t"/>
          <a:lstStyle/>
          <a:p>
            <a:pPr indent="0" marL="0">
              <a:lnSpc>
                <a:spcPts val="1600"/>
              </a:lnSpc>
              <a:buNone/>
            </a:pPr>
            <a:r>
              <a:rPr lang="en-US" sz="1300" b="1" dirty="0">
                <a:solidFill>
                  <a:srgbClr val="1B1A17"/>
                </a:solidFill>
                <a:latin typeface="Cambria" pitchFamily="34" charset="0"/>
                <a:ea typeface="Cambria" pitchFamily="34" charset="-122"/>
                <a:cs typeface="Cambria" pitchFamily="34" charset="-120"/>
              </a:rPr>
              <a:t>The evidence base supports what we claim from it.</a:t>
            </a:r>
            <a:endParaRPr lang="en-US" sz="1300" dirty="0"/>
          </a:p>
        </p:txBody>
      </p:sp>
      <p:sp>
        <p:nvSpPr>
          <p:cNvPr id="29" name="Text 27"/>
          <p:cNvSpPr txBox="1"/>
          <p:nvPr/>
        </p:nvSpPr>
        <p:spPr>
          <a:xfrm>
            <a:off x="640080" y="5870448"/>
            <a:ext cx="4846320" cy="347472"/>
          </a:xfrm>
          <a:prstGeom prst="rect">
            <a:avLst/>
          </a:prstGeom>
          <a:noFill/>
          <a:ln/>
        </p:spPr>
        <p:txBody>
          <a:bodyPr wrap="square" lIns="0" tIns="0" rIns="0" bIns="0" rtlCol="0" anchor="t"/>
          <a:lstStyle/>
          <a:p>
            <a:pPr indent="0" marL="0">
              <a:lnSpc>
                <a:spcPts val="1200"/>
              </a:lnSpc>
              <a:buNone/>
            </a:pPr>
            <a:r>
              <a:rPr lang="en-US" sz="950" dirty="0">
                <a:solidFill>
                  <a:srgbClr val="5F5B54"/>
                </a:solidFill>
                <a:latin typeface="Calibri" pitchFamily="34" charset="0"/>
                <a:ea typeface="Calibri" pitchFamily="34" charset="-122"/>
                <a:cs typeface="Calibri" pitchFamily="34" charset="-120"/>
              </a:rPr>
              <a:t>203 de-duplicated, self-selected Reddit threads, March–August 2026, graded by confidence.</a:t>
            </a:r>
            <a:endParaRPr lang="en-US" sz="950" dirty="0"/>
          </a:p>
        </p:txBody>
      </p:sp>
      <p:sp>
        <p:nvSpPr>
          <p:cNvPr id="30" name="Shape 28"/>
          <p:cNvSpPr/>
          <p:nvPr/>
        </p:nvSpPr>
        <p:spPr>
          <a:xfrm>
            <a:off x="5650992" y="5614416"/>
            <a:ext cx="73152" cy="164592"/>
          </a:xfrm>
          <a:prstGeom prst="rect">
            <a:avLst/>
          </a:prstGeom>
          <a:solidFill>
            <a:srgbClr val="B33A20"/>
          </a:solidFill>
          <a:ln w="12700">
            <a:solidFill>
              <a:srgbClr val="B33A20"/>
            </a:solidFill>
            <a:prstDash val="solid"/>
          </a:ln>
        </p:spPr>
      </p:sp>
      <p:sp>
        <p:nvSpPr>
          <p:cNvPr id="31" name="Text 29"/>
          <p:cNvSpPr txBox="1"/>
          <p:nvPr/>
        </p:nvSpPr>
        <p:spPr>
          <a:xfrm>
            <a:off x="5870448" y="5568696"/>
            <a:ext cx="5577840" cy="603504"/>
          </a:xfrm>
          <a:prstGeom prst="rect">
            <a:avLst/>
          </a:prstGeom>
          <a:noFill/>
          <a:ln/>
        </p:spPr>
        <p:txBody>
          <a:bodyPr wrap="square" lIns="0" tIns="0" rIns="0" bIns="0" rtlCol="0" anchor="t"/>
          <a:lstStyle/>
          <a:p>
            <a:pPr indent="0" marL="0">
              <a:lnSpc>
                <a:spcPts val="1500"/>
              </a:lnSpc>
              <a:buNone/>
            </a:pPr>
            <a:r>
              <a:rPr lang="en-US" sz="1100" dirty="0">
                <a:solidFill>
                  <a:srgbClr val="3A3733"/>
                </a:solidFill>
                <a:latin typeface="Calibri" pitchFamily="34" charset="0"/>
                <a:ea typeface="Calibri" pitchFamily="34" charset="-122"/>
                <a:cs typeface="Calibri" pitchFamily="34" charset="-120"/>
              </a:rPr>
              <a:t>It establishes an unmet workflow pattern. It does not establish market size, willingness to pay, or that these posters are buyers.</a:t>
            </a:r>
            <a:endParaRPr lang="en-US" sz="1100" dirty="0"/>
          </a:p>
        </p:txBody>
      </p:sp>
      <p:sp>
        <p:nvSpPr>
          <p:cNvPr id="32" name="Text 30"/>
          <p:cNvSpPr txBox="1"/>
          <p:nvPr/>
        </p:nvSpPr>
        <p:spPr>
          <a:xfrm>
            <a:off x="11094415" y="6355080"/>
            <a:ext cx="457200" cy="219456"/>
          </a:xfrm>
          <a:prstGeom prst="rect">
            <a:avLst/>
          </a:prstGeom>
          <a:noFill/>
          <a:ln/>
        </p:spPr>
        <p:txBody>
          <a:bodyPr wrap="square" lIns="0" tIns="0" rIns="0" bIns="0" rtlCol="0" anchor="ctr"/>
          <a:lstStyle/>
          <a:p>
            <a:pPr algn="r" indent="0" marL="0">
              <a:buNone/>
            </a:pPr>
            <a:r>
              <a:rPr lang="en-US" sz="900" dirty="0">
                <a:solidFill>
                  <a:srgbClr val="A8A298"/>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Themis.ai — Investor Overview</dc:title>
  <dc:subject>PptxGenJS Presentation</dc:subject>
  <dc:creator>Themis.ai</dc:creator>
  <cp:lastModifiedBy>Themis.ai</cp:lastModifiedBy>
  <cp:revision>1</cp:revision>
  <dcterms:created xsi:type="dcterms:W3CDTF">2026-09-03T15:46:59Z</dcterms:created>
  <dcterms:modified xsi:type="dcterms:W3CDTF">2026-09-03T15:46:59Z</dcterms:modified>
</cp:coreProperties>
</file>