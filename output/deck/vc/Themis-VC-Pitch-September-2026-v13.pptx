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art: output/deck/assets/bright-editorial/cover-flashlight-bw.png. Founder-approved positioning: Themis equips lawyers to advise with confidence and gives them more time to be present in the room, shaping business decisions. Intended benefits, not measured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framing from founder experience and four exploratory interviews in output/research/raw/interviews/in-house-counsel/. The 20% drafting figure is one interviewee's self-reported estimate (roughly two-thirds of the week in meetings, ~20% drafting), not a survey result. Interviewees also described half-formed requests arriving through Slack, email and drop-bys. Illustrative request only; not a legal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brand_pitch.md and founder-approved positioning. Answer space means the plausible options, supporting evidence, assumptions and facts that can change the recommendation. The proposed distinction is the default experience and the effort required, not an exclusive ability to reason or ask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output/deck/screenshots/matter-relay.png, cropped to the required-work card. Fictional Relay data: vault/03_Matters/relay-open-banking/. The seed differentiates continued account connectivity from proposed use for card/lending offers and sets up alternative customer reauthorization timing. Illustration of issue preparation, not a recorded AI exchange or validated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checked September 2026: claude.com/plugins/legal ; help.openai.com projects ; harvey.ai/platform/agents ; legora.com ; legal.thomsonreuters.com CoCounsel ; gc.ai/pricing. Do not claim competitors cannot reason or ask questions. The compounding-record claim describes the product architecture in this repository (matters, recommendations kept separate from recorded decisions); durability as a moat is a thesis, not demonstrated switching-cost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founder-supplied resume (January 2026) and brand_pitch.md. Settle: Founding GC, CCO and Secretary (2021-2024). Manifest: Founding CLO and CCO. Affirm: product/regulatory counsel leadership (2016-2020), team from three to eight attorneys. Facebook: Associate General Counsel, Portal (2020-2021). Georgia Tech Research Scientist I (2004-2006), AI/NLP document classification and automated redaction. M.S. CS Georgia Tech, J.D. Northwestern. Seventeen years is cumulative practice. The pull-quote line is deck copy written in founder voice, not a transcribed quotation - confirm before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ACC 2026 Chief Legal Officers Survey Key Findings, page 2, finding 05. 1,049 participants, 20 industries, 43 countries. Commercial interpretation only: departments adopting AI while expecting stable headcount makes the way AI supports existing lawyers a timely buying choice. Does not establish an unserved market or proven demand for Themis.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founder experience and four exploratory counsel interviews. First legal hires and product counsel on lean technology/fintech teams have broad questions, limited specialist support and a founder-reachable professional network. No signed pilot or pipeline count is claimed. Interviewees confirmed heavy existing use of Claude and ChatGPT.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Lean Canvas v4 pricing: $400/seat/month, billed monthly, one seat or more, no required annual commitment or setup fee. Capacity illustration: $400 / $250 per hour = 1.6 hours/month = 96 minutes/month / four weeks = 24 minutes/week. The $250/hour is a modeling assumption. IMPORTANT CHANGE FROM v12: the 80% gross margin target has been removed from the deck entirely at the founder's direction - there is no production usage and therefore no cost basis from which to calculate it. Unit economics are presented as an open question this raise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Population source: ACC 2025 analysis of 2024 BLS employment data - about 145,000 U.S. in-house lawyers. Revenue model: 145,000 x $400 x 12 = $696,000,000/year at full adoption with constant pricing. CHANGE FROM v12: the 21,000-seat / $100.8M 'scale illustration' has been dropped from the main deck because it implies a 14.5% share of the entire U.S. in-house bar; it survives only in the appendix pricing table. The beachhead is deliberately presented without a count rather than with an invented one. The outside-counsel-spend comparison is directional and unsized; do not quote a figure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working local prototype and four exploratory interviews. Design-partner and pilot commitments are drawn from meeting notes in output/research/raw/interviews/in-house-counsel/ - one participant explicitly agreed to serve as design partner and pilot user; another agreed to pilot the tool if the founder proceeds and to determine annual AI/cloud spend; a third offered an introduction. Per that directory's README, participant names and direct quotations must NOT be published without approval, so the deck describes them by role only. Both commitments are verbal, unpriced and contingent on release. No paid traction exists. Targets recalculated at $400 pricing: 50 x $400 x 12 = $240,000 annual run rate, not cumulative recognized revenue. Repeat-use target: 60% of activated pilot lawyers who complete a first matter start a second distinct matter within 30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$1.5m pre-seed and 18-month period, not a committed round or a finalized term sheet. Capital supports founder focus, founding technical delivery, customer development and pilot delivery. Technical leadership remains an open role. Closing line is the exact founder-approved positioning. No proven time saving or investment return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sources checked September 2026. Harvey already emphasizes judgment and adaptation to customer playbooks and preferences. Legora markets legal research, agents and in-house use. CoCounsel combines legal work assistance with research; access varies by plan. GC AI provides in-house skills and Word editing and sells individual seats. Do not claim competitors only produce answers or cannot ask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 population source: acc.com US In-house Counsel Population Statistics. Themis proposal: $400 monthly, no annual term; the $4,800 row annualizes continued use rather than imposing an annual purchase. Harvey terms from a single Reddit buyer report, source reddit-163 in output/research/raw/legal-ai-reddit-source-corpus.jsonl, live quote verified; one quote cannot establish universal contract minimums. GC AI public Individual price is $500/month per gc.ai/pricing.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budget carried from v11: 900,000 + 180,000 + 150,000 + 120,000 + 150,000 = 1,500,000. Average 18-month envelope including contingency is $83,333/month. At $400/month, 50 paid seats yield $20,000 MRR ($240,000 annualized), materially below that envelope - stated openly on the slide so the gap is not a discovery in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50F"/>
        </a:solidFill>
      </p:bgPr>
    </p:bg>
    <p:spTree>
      <p:nvGrpSpPr>
        <p:cNvPr id="1" name=""/>
        <p:cNvGrpSpPr/>
        <p:nvPr/>
      </p:nvGrpSpPr>
      <p:grpSpPr>
        <a:xfrm>
          <a:off x="0" y="0"/>
          <a:ext cx="0" cy="0"/>
          <a:chOff x="0" y="0"/>
          <a:chExt cx="0" cy="0"/>
        </a:xfrm>
      </p:grpSpPr>
      <p:pic>
        <p:nvPicPr>
          <p:cNvPr id="2" name="Image 0" descr="/Users/bharris/Programs/counsel-os-mvp/output/deck/assets/bright-editorial/cover-flashlight-bw.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6172200" cy="6858000"/>
          </a:xfrm>
          <a:prstGeom prst="rect">
            <a:avLst/>
          </a:prstGeom>
          <a:solidFill>
            <a:srgbClr val="16150F"/>
          </a:solidFill>
          <a:ln w="12700">
            <a:solidFill>
              <a:srgbClr val="16150F"/>
            </a:solidFill>
            <a:prstDash val="solid"/>
          </a:ln>
        </p:spPr>
      </p:sp>
      <p:sp>
        <p:nvSpPr>
          <p:cNvPr id="4" name="Text 1"/>
          <p:cNvSpPr txBox="1"/>
          <p:nvPr/>
        </p:nvSpPr>
        <p:spPr>
          <a:xfrm>
            <a:off x="685800" y="868680"/>
            <a:ext cx="4937760" cy="365760"/>
          </a:xfrm>
          <a:prstGeom prst="rect">
            <a:avLst/>
          </a:prstGeom>
          <a:noFill/>
          <a:ln/>
        </p:spPr>
        <p:txBody>
          <a:bodyPr wrap="square" lIns="0" tIns="0" rIns="0" bIns="0" rtlCol="0" anchor="ctr"/>
          <a:lstStyle/>
          <a:p>
            <a:pPr indent="0" marL="0">
              <a:buNone/>
            </a:pPr>
            <a:r>
              <a:rPr lang="en-US" sz="1500" b="1" spc="700" kern="0" dirty="0">
                <a:solidFill>
                  <a:srgbClr val="E0A008"/>
                </a:solidFill>
                <a:latin typeface="Calibri" pitchFamily="34" charset="0"/>
                <a:ea typeface="Calibri" pitchFamily="34" charset="-122"/>
                <a:cs typeface="Calibri" pitchFamily="34" charset="-120"/>
              </a:rPr>
              <a:t>THEMIS</a:t>
            </a:r>
            <a:endParaRPr lang="en-US" sz="1500" dirty="0"/>
          </a:p>
        </p:txBody>
      </p:sp>
      <p:sp>
        <p:nvSpPr>
          <p:cNvPr id="5" name="Text 2"/>
          <p:cNvSpPr txBox="1"/>
          <p:nvPr/>
        </p:nvSpPr>
        <p:spPr>
          <a:xfrm>
            <a:off x="685800" y="1508760"/>
            <a:ext cx="5120640" cy="18288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AI companion</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for in-house counsel</a:t>
            </a:r>
            <a:endParaRPr lang="en-US" sz="4000" dirty="0"/>
          </a:p>
        </p:txBody>
      </p:sp>
      <p:sp>
        <p:nvSpPr>
          <p:cNvPr id="6" name="Text 3"/>
          <p:cNvSpPr txBox="1"/>
          <p:nvPr/>
        </p:nvSpPr>
        <p:spPr>
          <a:xfrm>
            <a:off x="685800" y="3611880"/>
            <a:ext cx="4892040" cy="1371600"/>
          </a:xfrm>
          <a:prstGeom prst="rect">
            <a:avLst/>
          </a:prstGeom>
          <a:noFill/>
          <a:ln/>
        </p:spPr>
        <p:txBody>
          <a:bodyPr wrap="square" lIns="0" tIns="0" rIns="0" bIns="0" rtlCol="0" anchor="ctr"/>
          <a:lstStyle/>
          <a:p>
            <a:pPr indent="0" marL="0">
              <a:lnSpc>
                <a:spcPts val="2200"/>
              </a:lnSpc>
              <a:buNone/>
            </a:pPr>
            <a:r>
              <a:rPr lang="en-US" sz="1450" dirty="0">
                <a:solidFill>
                  <a:srgbClr val="DCD7CB"/>
                </a:solidFill>
                <a:latin typeface="Calibri" pitchFamily="34" charset="0"/>
                <a:ea typeface="Calibri" pitchFamily="34" charset="-122"/>
                <a:cs typeface="Calibri" pitchFamily="34" charset="-120"/>
              </a:rPr>
              <a:t>Themis prepares the matter — the facts, the options, the assumptions and what the request left out — so the lawyer can reach the decision and be present in the room.</a:t>
            </a:r>
            <a:endParaRPr lang="en-US" sz="1450" dirty="0"/>
          </a:p>
        </p:txBody>
      </p:sp>
      <p:sp>
        <p:nvSpPr>
          <p:cNvPr id="7" name="Text 4"/>
          <p:cNvSpPr txBox="1"/>
          <p:nvPr/>
        </p:nvSpPr>
        <p:spPr>
          <a:xfrm>
            <a:off x="685800" y="5760720"/>
            <a:ext cx="4572000" cy="731520"/>
          </a:xfrm>
          <a:prstGeom prst="rect">
            <a:avLst/>
          </a:prstGeom>
          <a:noFill/>
          <a:ln/>
        </p:spPr>
        <p:txBody>
          <a:bodyPr wrap="square" lIns="0" tIns="0" rIns="0" bIns="0" rtlCol="0" anchor="ctr"/>
          <a:lstStyle/>
          <a:p>
            <a:pPr indent="0" marL="0">
              <a:lnSpc>
                <a:spcPts val="1700"/>
              </a:lnSpc>
              <a:buNone/>
            </a:pPr>
            <a:r>
              <a:rPr lang="en-US" sz="1150" dirty="0">
                <a:solidFill>
                  <a:srgbClr val="8F8879"/>
                </a:solidFill>
                <a:latin typeface="Calibri" pitchFamily="34" charset="0"/>
                <a:ea typeface="Calibri" pitchFamily="34" charset="-122"/>
                <a:cs typeface="Calibri" pitchFamily="34" charset="-120"/>
              </a:rPr>
              <a:t>Brian Harris  ·  Founder</a:t>
            </a:r>
            <a:endParaRPr lang="en-US" sz="1150" dirty="0"/>
          </a:p>
          <a:p>
            <a:pPr indent="0" marL="0">
              <a:lnSpc>
                <a:spcPts val="1700"/>
              </a:lnSpc>
              <a:buNone/>
            </a:pPr>
            <a:r>
              <a:rPr lang="en-US" sz="1150" dirty="0">
                <a:solidFill>
                  <a:srgbClr val="8F8879"/>
                </a:solidFill>
                <a:latin typeface="Calibri" pitchFamily="34" charset="0"/>
                <a:ea typeface="Calibri" pitchFamily="34" charset="-122"/>
                <a:cs typeface="Calibri" pitchFamily="34" charset="-120"/>
              </a:rPr>
              <a:t>Pre-seed  ·  September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50F"/>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7772400" cy="310896"/>
          </a:xfrm>
          <a:prstGeom prst="rect">
            <a:avLst/>
          </a:prstGeom>
          <a:noFill/>
          <a:ln/>
        </p:spPr>
        <p:txBody>
          <a:bodyPr wrap="square" lIns="0" tIns="0" rIns="0" bIns="0" rtlCol="0" anchor="ctr"/>
          <a:lstStyle/>
          <a:p>
            <a:pPr indent="0" marL="0">
              <a:buNone/>
            </a:pPr>
            <a:r>
              <a:rPr lang="en-US" sz="1050" b="1" spc="220" kern="0" dirty="0">
                <a:solidFill>
                  <a:srgbClr val="E0A008"/>
                </a:solidFill>
                <a:latin typeface="Calibri" pitchFamily="34" charset="0"/>
                <a:ea typeface="Calibri" pitchFamily="34" charset="-122"/>
                <a:cs typeface="Calibri" pitchFamily="34" charset="-120"/>
              </a:rPr>
              <a:t>THE PROBLEM</a:t>
            </a:r>
            <a:endParaRPr lang="en-US" sz="1050" dirty="0"/>
          </a:p>
        </p:txBody>
      </p:sp>
      <p:sp>
        <p:nvSpPr>
          <p:cNvPr id="4" name="Text 2"/>
          <p:cNvSpPr txBox="1"/>
          <p:nvPr/>
        </p:nvSpPr>
        <p:spPr>
          <a:xfrm>
            <a:off x="10408615" y="347472"/>
            <a:ext cx="1097280" cy="310896"/>
          </a:xfrm>
          <a:prstGeom prst="rect">
            <a:avLst/>
          </a:prstGeom>
          <a:noFill/>
          <a:ln/>
        </p:spPr>
        <p:txBody>
          <a:bodyPr wrap="square" lIns="0" tIns="0" rIns="0" bIns="0" rtlCol="0" anchor="ctr"/>
          <a:lstStyle/>
          <a:p>
            <a:pPr algn="r" indent="0" marL="0">
              <a:buNone/>
            </a:pPr>
            <a:r>
              <a:rPr lang="en-US" sz="1050" b="1" spc="150" kern="0" dirty="0">
                <a:solidFill>
                  <a:srgbClr val="8F8879"/>
                </a:solidFill>
                <a:latin typeface="Calibri" pitchFamily="34" charset="0"/>
                <a:ea typeface="Calibri" pitchFamily="34" charset="-122"/>
                <a:cs typeface="Calibri" pitchFamily="34" charset="-120"/>
              </a:rPr>
              <a:t>02</a:t>
            </a:r>
            <a:endParaRPr lang="en-US" sz="1050" dirty="0"/>
          </a:p>
        </p:txBody>
      </p:sp>
      <p:sp>
        <p:nvSpPr>
          <p:cNvPr id="5" name="Text 3"/>
          <p:cNvSpPr txBox="1"/>
          <p:nvPr/>
        </p:nvSpPr>
        <p:spPr>
          <a:xfrm>
            <a:off x="685800" y="841248"/>
            <a:ext cx="10820095" cy="960120"/>
          </a:xfrm>
          <a:prstGeom prst="rect">
            <a:avLst/>
          </a:prstGeom>
          <a:noFill/>
          <a:ln/>
        </p:spPr>
        <p:txBody>
          <a:bodyPr wrap="square" lIns="0" tIns="0" rIns="0" bIns="0" rtlCol="0" anchor="t"/>
          <a:lstStyle/>
          <a:p>
            <a:pPr indent="0" marL="0">
              <a:lnSpc>
                <a:spcPts val="3800"/>
              </a:lnSpc>
              <a:buNone/>
            </a:pPr>
            <a:r>
              <a:rPr lang="en-US" sz="3300" b="1" dirty="0">
                <a:solidFill>
                  <a:srgbClr val="FFFFFF"/>
                </a:solidFill>
                <a:latin typeface="Cambria" pitchFamily="34" charset="0"/>
                <a:ea typeface="Cambria" pitchFamily="34" charset="-122"/>
                <a:cs typeface="Cambria" pitchFamily="34" charset="-120"/>
              </a:rPr>
              <a:t>The business needs an answer.</a:t>
            </a:r>
            <a:endParaRPr lang="en-US" sz="3300" dirty="0"/>
          </a:p>
          <a:p>
            <a:pPr indent="0" marL="0">
              <a:lnSpc>
                <a:spcPts val="3800"/>
              </a:lnSpc>
              <a:buNone/>
            </a:pPr>
            <a:r>
              <a:rPr lang="en-US" sz="3300" b="1" dirty="0">
                <a:solidFill>
                  <a:srgbClr val="FFFFFF"/>
                </a:solidFill>
                <a:latin typeface="Cambria" pitchFamily="34" charset="0"/>
                <a:ea typeface="Cambria" pitchFamily="34" charset="-122"/>
                <a:cs typeface="Cambria" pitchFamily="34" charset="-120"/>
              </a:rPr>
              <a:t>The lawyer has to find the question first.</a:t>
            </a:r>
            <a:endParaRPr lang="en-US" sz="3300" dirty="0"/>
          </a:p>
        </p:txBody>
      </p:sp>
      <p:sp>
        <p:nvSpPr>
          <p:cNvPr id="6" name="Shape 4"/>
          <p:cNvSpPr/>
          <p:nvPr/>
        </p:nvSpPr>
        <p:spPr>
          <a:xfrm>
            <a:off x="685800" y="2148840"/>
            <a:ext cx="4892040" cy="2514600"/>
          </a:xfrm>
          <a:prstGeom prst="roundRect">
            <a:avLst>
              <a:gd name="adj" fmla="val 2182"/>
            </a:avLst>
          </a:prstGeom>
          <a:solidFill>
            <a:srgbClr val="24221A"/>
          </a:solidFill>
          <a:ln w="9525">
            <a:solidFill>
              <a:srgbClr val="3A362B"/>
            </a:solidFill>
            <a:prstDash val="solid"/>
          </a:ln>
        </p:spPr>
      </p:sp>
      <p:sp>
        <p:nvSpPr>
          <p:cNvPr id="7" name="Text 5"/>
          <p:cNvSpPr txBox="1"/>
          <p:nvPr/>
        </p:nvSpPr>
        <p:spPr>
          <a:xfrm>
            <a:off x="1005840" y="2377440"/>
            <a:ext cx="4206240" cy="237744"/>
          </a:xfrm>
          <a:prstGeom prst="rect">
            <a:avLst/>
          </a:prstGeom>
          <a:noFill/>
          <a:ln/>
        </p:spPr>
        <p:txBody>
          <a:bodyPr wrap="square" lIns="0" tIns="0" rIns="0" bIns="0" rtlCol="0" anchor="ctr"/>
          <a:lstStyle/>
          <a:p>
            <a:pPr indent="0" marL="0">
              <a:buNone/>
            </a:pPr>
            <a:r>
              <a:rPr lang="en-US" sz="950" b="1" spc="180" kern="0" dirty="0">
                <a:solidFill>
                  <a:srgbClr val="E0A008"/>
                </a:solidFill>
                <a:latin typeface="Calibri" pitchFamily="34" charset="0"/>
                <a:ea typeface="Calibri" pitchFamily="34" charset="-122"/>
                <a:cs typeface="Calibri" pitchFamily="34" charset="-120"/>
              </a:rPr>
              <a:t>THE REQUEST</a:t>
            </a:r>
            <a:endParaRPr lang="en-US" sz="950" dirty="0"/>
          </a:p>
        </p:txBody>
      </p:sp>
      <p:sp>
        <p:nvSpPr>
          <p:cNvPr id="8" name="Text 6"/>
          <p:cNvSpPr txBox="1"/>
          <p:nvPr/>
        </p:nvSpPr>
        <p:spPr>
          <a:xfrm>
            <a:off x="1005840" y="2697480"/>
            <a:ext cx="4251960" cy="914400"/>
          </a:xfrm>
          <a:prstGeom prst="rect">
            <a:avLst/>
          </a:prstGeom>
          <a:noFill/>
          <a:ln/>
        </p:spPr>
        <p:txBody>
          <a:bodyPr wrap="square" lIns="0" tIns="0" rIns="0" bIns="0" rtlCol="0" anchor="t"/>
          <a:lstStyle/>
          <a:p>
            <a:pPr algn="l" indent="0" marL="0">
              <a:lnSpc>
                <a:spcPts val="2300"/>
              </a:lnSpc>
              <a:buNone/>
            </a:pPr>
            <a:r>
              <a:rPr lang="en-US" sz="1650" i="1" dirty="0">
                <a:solidFill>
                  <a:srgbClr val="FFFFFF"/>
                </a:solidFill>
                <a:latin typeface="Cambria" pitchFamily="34" charset="0"/>
                <a:ea typeface="Cambria" pitchFamily="34" charset="-122"/>
                <a:cs typeface="Cambria" pitchFamily="34" charset="-120"/>
              </a:rPr>
              <a:t>“Can we reuse two years of customer transaction data for card and lending offers?”</a:t>
            </a:r>
            <a:endParaRPr lang="en-US" sz="1650" dirty="0"/>
          </a:p>
        </p:txBody>
      </p:sp>
      <p:sp>
        <p:nvSpPr>
          <p:cNvPr id="9" name="Text 7"/>
          <p:cNvSpPr txBox="1"/>
          <p:nvPr/>
        </p:nvSpPr>
        <p:spPr>
          <a:xfrm>
            <a:off x="1005840" y="3703320"/>
            <a:ext cx="4251960" cy="822960"/>
          </a:xfrm>
          <a:prstGeom prst="rect">
            <a:avLst/>
          </a:prstGeom>
          <a:noFill/>
          <a:ln/>
        </p:spPr>
        <p:txBody>
          <a:bodyPr wrap="square" lIns="0" tIns="0" rIns="0" bIns="0" rtlCol="0" anchor="t"/>
          <a:lstStyle/>
          <a:p>
            <a:pPr algn="l" indent="0" marL="0">
              <a:lnSpc>
                <a:spcPts val="1700"/>
              </a:lnSpc>
              <a:buNone/>
            </a:pPr>
            <a:r>
              <a:rPr lang="en-US" sz="1200" dirty="0">
                <a:solidFill>
                  <a:srgbClr val="8F8879"/>
                </a:solidFill>
                <a:latin typeface="Calibri" pitchFamily="34" charset="0"/>
                <a:ea typeface="Calibri" pitchFamily="34" charset="-122"/>
                <a:cs typeface="Calibri" pitchFamily="34" charset="-120"/>
              </a:rPr>
              <a:t>It does not say which customers, under which consent, or that the data-aggregator contract renews in three weeks.</a:t>
            </a:r>
            <a:endParaRPr lang="en-US" sz="1200" dirty="0"/>
          </a:p>
        </p:txBody>
      </p:sp>
      <p:sp>
        <p:nvSpPr>
          <p:cNvPr id="10" name="Text 8"/>
          <p:cNvSpPr txBox="1"/>
          <p:nvPr/>
        </p:nvSpPr>
        <p:spPr>
          <a:xfrm>
            <a:off x="6080760" y="2212848"/>
            <a:ext cx="5440680" cy="237744"/>
          </a:xfrm>
          <a:prstGeom prst="rect">
            <a:avLst/>
          </a:prstGeom>
          <a:noFill/>
          <a:ln/>
        </p:spPr>
        <p:txBody>
          <a:bodyPr wrap="square" lIns="0" tIns="0" rIns="0" bIns="0" rtlCol="0" anchor="ctr"/>
          <a:lstStyle/>
          <a:p>
            <a:pPr indent="0" marL="0">
              <a:buNone/>
            </a:pPr>
            <a:r>
              <a:rPr lang="en-US" sz="950" b="1" spc="180" kern="0" dirty="0">
                <a:solidFill>
                  <a:srgbClr val="E0A008"/>
                </a:solidFill>
                <a:latin typeface="Calibri" pitchFamily="34" charset="0"/>
                <a:ea typeface="Calibri" pitchFamily="34" charset="-122"/>
                <a:cs typeface="Calibri" pitchFamily="34" charset="-120"/>
              </a:rPr>
              <a:t>THE WORK BEFORE THE ADVICE</a:t>
            </a:r>
            <a:endParaRPr lang="en-US" sz="950" dirty="0"/>
          </a:p>
        </p:txBody>
      </p:sp>
      <p:sp>
        <p:nvSpPr>
          <p:cNvPr id="11" name="Text 9"/>
          <p:cNvSpPr txBox="1"/>
          <p:nvPr/>
        </p:nvSpPr>
        <p:spPr>
          <a:xfrm>
            <a:off x="6080760" y="2560320"/>
            <a:ext cx="457200" cy="310896"/>
          </a:xfrm>
          <a:prstGeom prst="rect">
            <a:avLst/>
          </a:prstGeom>
          <a:noFill/>
          <a:ln/>
        </p:spPr>
        <p:txBody>
          <a:bodyPr wrap="square" lIns="0" tIns="0" rIns="0" bIns="0" rtlCol="0" anchor="ctr"/>
          <a:lstStyle/>
          <a:p>
            <a:pPr indent="0" marL="0">
              <a:buNone/>
            </a:pPr>
            <a:r>
              <a:rPr lang="en-US" sz="1500" b="1" dirty="0">
                <a:solidFill>
                  <a:srgbClr val="E0A008"/>
                </a:solidFill>
                <a:latin typeface="Cambria" pitchFamily="34" charset="0"/>
                <a:ea typeface="Cambria" pitchFamily="34" charset="-122"/>
                <a:cs typeface="Cambria" pitchFamily="34" charset="-120"/>
              </a:rPr>
              <a:t>1</a:t>
            </a:r>
            <a:endParaRPr lang="en-US" sz="1500" dirty="0"/>
          </a:p>
        </p:txBody>
      </p:sp>
      <p:sp>
        <p:nvSpPr>
          <p:cNvPr id="12" name="Text 10"/>
          <p:cNvSpPr txBox="1"/>
          <p:nvPr/>
        </p:nvSpPr>
        <p:spPr>
          <a:xfrm>
            <a:off x="6501384" y="2578608"/>
            <a:ext cx="5020056" cy="822960"/>
          </a:xfrm>
          <a:prstGeom prst="rect">
            <a:avLst/>
          </a:prstGeom>
          <a:noFill/>
          <a:ln/>
        </p:spPr>
        <p:txBody>
          <a:bodyPr wrap="square" lIns="0" tIns="0" rIns="0" bIns="0" rtlCol="0" anchor="t"/>
          <a:lstStyle/>
          <a:p>
            <a:pPr indent="0" marL="0">
              <a:lnSpc>
                <a:spcPts val="1750"/>
              </a:lnSpc>
              <a:buNone/>
            </a:pPr>
            <a:r>
              <a:rPr lang="en-US" sz="1250" b="1" dirty="0">
                <a:solidFill>
                  <a:srgbClr val="FFFFFF"/>
                </a:solidFill>
                <a:latin typeface="Calibri" pitchFamily="34" charset="0"/>
                <a:ea typeface="Calibri" pitchFamily="34" charset="-122"/>
                <a:cs typeface="Calibri" pitchFamily="34" charset="-120"/>
              </a:rPr>
              <a:t>Reconstruct  </a:t>
            </a:r>
            <a:pPr indent="0" marL="0">
              <a:lnSpc>
                <a:spcPts val="1750"/>
              </a:lnSpc>
              <a:buNone/>
            </a:pPr>
            <a:r>
              <a:rPr lang="en-US" sz="1250" dirty="0">
                <a:solidFill>
                  <a:srgbClr val="DCD7CB"/>
                </a:solidFill>
                <a:latin typeface="Calibri" pitchFamily="34" charset="0"/>
                <a:ea typeface="Calibri" pitchFamily="34" charset="-122"/>
                <a:cs typeface="Calibri" pitchFamily="34" charset="-120"/>
              </a:rPr>
              <a:t>the facts that change the analysis.</a:t>
            </a:r>
            <a:endParaRPr lang="en-US" sz="1250" dirty="0"/>
          </a:p>
        </p:txBody>
      </p:sp>
      <p:sp>
        <p:nvSpPr>
          <p:cNvPr id="13" name="Text 11"/>
          <p:cNvSpPr txBox="1"/>
          <p:nvPr/>
        </p:nvSpPr>
        <p:spPr>
          <a:xfrm>
            <a:off x="6080760" y="3127248"/>
            <a:ext cx="457200" cy="310896"/>
          </a:xfrm>
          <a:prstGeom prst="rect">
            <a:avLst/>
          </a:prstGeom>
          <a:noFill/>
          <a:ln/>
        </p:spPr>
        <p:txBody>
          <a:bodyPr wrap="square" lIns="0" tIns="0" rIns="0" bIns="0" rtlCol="0" anchor="ctr"/>
          <a:lstStyle/>
          <a:p>
            <a:pPr indent="0" marL="0">
              <a:buNone/>
            </a:pPr>
            <a:r>
              <a:rPr lang="en-US" sz="1500" b="1" dirty="0">
                <a:solidFill>
                  <a:srgbClr val="E0A008"/>
                </a:solidFill>
                <a:latin typeface="Cambria" pitchFamily="34" charset="0"/>
                <a:ea typeface="Cambria" pitchFamily="34" charset="-122"/>
                <a:cs typeface="Cambria" pitchFamily="34" charset="-120"/>
              </a:rPr>
              <a:t>2</a:t>
            </a:r>
            <a:endParaRPr lang="en-US" sz="1500" dirty="0"/>
          </a:p>
        </p:txBody>
      </p:sp>
      <p:sp>
        <p:nvSpPr>
          <p:cNvPr id="14" name="Text 12"/>
          <p:cNvSpPr txBox="1"/>
          <p:nvPr/>
        </p:nvSpPr>
        <p:spPr>
          <a:xfrm>
            <a:off x="6501384" y="3145536"/>
            <a:ext cx="5020056" cy="822960"/>
          </a:xfrm>
          <a:prstGeom prst="rect">
            <a:avLst/>
          </a:prstGeom>
          <a:noFill/>
          <a:ln/>
        </p:spPr>
        <p:txBody>
          <a:bodyPr wrap="square" lIns="0" tIns="0" rIns="0" bIns="0" rtlCol="0" anchor="t"/>
          <a:lstStyle/>
          <a:p>
            <a:pPr indent="0" marL="0">
              <a:lnSpc>
                <a:spcPts val="1750"/>
              </a:lnSpc>
              <a:buNone/>
            </a:pPr>
            <a:r>
              <a:rPr lang="en-US" sz="1250" b="1" dirty="0">
                <a:solidFill>
                  <a:srgbClr val="FFFFFF"/>
                </a:solidFill>
                <a:latin typeface="Calibri" pitchFamily="34" charset="0"/>
                <a:ea typeface="Calibri" pitchFamily="34" charset="-122"/>
                <a:cs typeface="Calibri" pitchFamily="34" charset="-120"/>
              </a:rPr>
              <a:t>Research  </a:t>
            </a:r>
            <a:pPr indent="0" marL="0">
              <a:lnSpc>
                <a:spcPts val="1750"/>
              </a:lnSpc>
              <a:buNone/>
            </a:pPr>
            <a:r>
              <a:rPr lang="en-US" sz="1250" dirty="0">
                <a:solidFill>
                  <a:srgbClr val="DCD7CB"/>
                </a:solidFill>
                <a:latin typeface="Calibri" pitchFamily="34" charset="0"/>
                <a:ea typeface="Calibri" pitchFamily="34" charset="-122"/>
                <a:cs typeface="Calibri" pitchFamily="34" charset="-120"/>
              </a:rPr>
              <a:t>an issue outside the lawyer’s depth.</a:t>
            </a:r>
            <a:endParaRPr lang="en-US" sz="1250" dirty="0"/>
          </a:p>
        </p:txBody>
      </p:sp>
      <p:sp>
        <p:nvSpPr>
          <p:cNvPr id="15" name="Text 13"/>
          <p:cNvSpPr txBox="1"/>
          <p:nvPr/>
        </p:nvSpPr>
        <p:spPr>
          <a:xfrm>
            <a:off x="6080760" y="3694176"/>
            <a:ext cx="457200" cy="310896"/>
          </a:xfrm>
          <a:prstGeom prst="rect">
            <a:avLst/>
          </a:prstGeom>
          <a:noFill/>
          <a:ln/>
        </p:spPr>
        <p:txBody>
          <a:bodyPr wrap="square" lIns="0" tIns="0" rIns="0" bIns="0" rtlCol="0" anchor="ctr"/>
          <a:lstStyle/>
          <a:p>
            <a:pPr indent="0" marL="0">
              <a:buNone/>
            </a:pPr>
            <a:r>
              <a:rPr lang="en-US" sz="1500" b="1" dirty="0">
                <a:solidFill>
                  <a:srgbClr val="E0A008"/>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6501384" y="3712464"/>
            <a:ext cx="5020056" cy="822960"/>
          </a:xfrm>
          <a:prstGeom prst="rect">
            <a:avLst/>
          </a:prstGeom>
          <a:noFill/>
          <a:ln/>
        </p:spPr>
        <p:txBody>
          <a:bodyPr wrap="square" lIns="0" tIns="0" rIns="0" bIns="0" rtlCol="0" anchor="t"/>
          <a:lstStyle/>
          <a:p>
            <a:pPr indent="0" marL="0">
              <a:lnSpc>
                <a:spcPts val="1750"/>
              </a:lnSpc>
              <a:buNone/>
            </a:pPr>
            <a:r>
              <a:rPr lang="en-US" sz="1250" b="1" dirty="0">
                <a:solidFill>
                  <a:srgbClr val="FFFFFF"/>
                </a:solidFill>
                <a:latin typeface="Calibri" pitchFamily="34" charset="0"/>
                <a:ea typeface="Calibri" pitchFamily="34" charset="-122"/>
                <a:cs typeface="Calibri" pitchFamily="34" charset="-120"/>
              </a:rPr>
              <a:t>Work out  </a:t>
            </a:r>
            <a:pPr indent="0" marL="0">
              <a:lnSpc>
                <a:spcPts val="1750"/>
              </a:lnSpc>
              <a:buNone/>
            </a:pPr>
            <a:r>
              <a:rPr lang="en-US" sz="1250" dirty="0">
                <a:solidFill>
                  <a:srgbClr val="DCD7CB"/>
                </a:solidFill>
                <a:latin typeface="Calibri" pitchFamily="34" charset="0"/>
                <a:ea typeface="Calibri" pitchFamily="34" charset="-122"/>
                <a:cs typeface="Calibri" pitchFamily="34" charset="-120"/>
              </a:rPr>
              <a:t>the options and what separates them.</a:t>
            </a:r>
            <a:endParaRPr lang="en-US" sz="1250" dirty="0"/>
          </a:p>
        </p:txBody>
      </p:sp>
      <p:sp>
        <p:nvSpPr>
          <p:cNvPr id="17" name="Text 15"/>
          <p:cNvSpPr txBox="1"/>
          <p:nvPr/>
        </p:nvSpPr>
        <p:spPr>
          <a:xfrm>
            <a:off x="6080760" y="4261104"/>
            <a:ext cx="457200" cy="310896"/>
          </a:xfrm>
          <a:prstGeom prst="rect">
            <a:avLst/>
          </a:prstGeom>
          <a:noFill/>
          <a:ln/>
        </p:spPr>
        <p:txBody>
          <a:bodyPr wrap="square" lIns="0" tIns="0" rIns="0" bIns="0" rtlCol="0" anchor="ctr"/>
          <a:lstStyle/>
          <a:p>
            <a:pPr indent="0" marL="0">
              <a:buNone/>
            </a:pPr>
            <a:r>
              <a:rPr lang="en-US" sz="1500" b="1" dirty="0">
                <a:solidFill>
                  <a:srgbClr val="E0A008"/>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6501384" y="4279392"/>
            <a:ext cx="5020056" cy="822960"/>
          </a:xfrm>
          <a:prstGeom prst="rect">
            <a:avLst/>
          </a:prstGeom>
          <a:noFill/>
          <a:ln/>
        </p:spPr>
        <p:txBody>
          <a:bodyPr wrap="square" lIns="0" tIns="0" rIns="0" bIns="0" rtlCol="0" anchor="t"/>
          <a:lstStyle/>
          <a:p>
            <a:pPr indent="0" marL="0">
              <a:lnSpc>
                <a:spcPts val="1750"/>
              </a:lnSpc>
              <a:buNone/>
            </a:pPr>
            <a:r>
              <a:rPr lang="en-US" sz="1250" b="1" dirty="0">
                <a:solidFill>
                  <a:srgbClr val="FFFFFF"/>
                </a:solidFill>
                <a:latin typeface="Calibri" pitchFamily="34" charset="0"/>
                <a:ea typeface="Calibri" pitchFamily="34" charset="-122"/>
                <a:cs typeface="Calibri" pitchFamily="34" charset="-120"/>
              </a:rPr>
              <a:t>Translate  </a:t>
            </a:r>
            <a:pPr indent="0" marL="0">
              <a:lnSpc>
                <a:spcPts val="1750"/>
              </a:lnSpc>
              <a:buNone/>
            </a:pPr>
            <a:r>
              <a:rPr lang="en-US" sz="1250" dirty="0">
                <a:solidFill>
                  <a:srgbClr val="DCD7CB"/>
                </a:solidFill>
                <a:latin typeface="Calibri" pitchFamily="34" charset="0"/>
                <a:ea typeface="Calibri" pitchFamily="34" charset="-122"/>
                <a:cs typeface="Calibri" pitchFamily="34" charset="-120"/>
              </a:rPr>
              <a:t>it into advice the business can act on.</a:t>
            </a:r>
            <a:endParaRPr lang="en-US" sz="1250" dirty="0"/>
          </a:p>
        </p:txBody>
      </p:sp>
      <p:sp>
        <p:nvSpPr>
          <p:cNvPr id="19" name="Shape 17"/>
          <p:cNvSpPr/>
          <p:nvPr/>
        </p:nvSpPr>
        <p:spPr>
          <a:xfrm>
            <a:off x="685800" y="5074920"/>
            <a:ext cx="10820095" cy="10973"/>
          </a:xfrm>
          <a:prstGeom prst="rect">
            <a:avLst/>
          </a:prstGeom>
          <a:solidFill>
            <a:srgbClr val="3A362B"/>
          </a:solidFill>
          <a:ln w="12700">
            <a:solidFill>
              <a:srgbClr val="3A362B"/>
            </a:solidFill>
            <a:prstDash val="solid"/>
          </a:ln>
        </p:spPr>
      </p:sp>
      <p:sp>
        <p:nvSpPr>
          <p:cNvPr id="20" name="Text 18"/>
          <p:cNvSpPr txBox="1"/>
          <p:nvPr/>
        </p:nvSpPr>
        <p:spPr>
          <a:xfrm>
            <a:off x="685800" y="5257800"/>
            <a:ext cx="1737360" cy="777240"/>
          </a:xfrm>
          <a:prstGeom prst="rect">
            <a:avLst/>
          </a:prstGeom>
          <a:noFill/>
          <a:ln/>
        </p:spPr>
        <p:txBody>
          <a:bodyPr wrap="square" lIns="0" tIns="0" rIns="0" bIns="0" rtlCol="0" anchor="ctr"/>
          <a:lstStyle/>
          <a:p>
            <a:pPr indent="0" marL="0">
              <a:buNone/>
            </a:pPr>
            <a:r>
              <a:rPr lang="en-US" sz="4400" b="1" dirty="0">
                <a:solidFill>
                  <a:srgbClr val="E0A008"/>
                </a:solidFill>
                <a:latin typeface="Cambria" pitchFamily="34" charset="0"/>
                <a:ea typeface="Cambria" pitchFamily="34" charset="-122"/>
                <a:cs typeface="Cambria" pitchFamily="34" charset="-120"/>
              </a:rPr>
              <a:t>20%</a:t>
            </a:r>
            <a:endParaRPr lang="en-US" sz="4400" dirty="0"/>
          </a:p>
        </p:txBody>
      </p:sp>
      <p:sp>
        <p:nvSpPr>
          <p:cNvPr id="21" name="Text 19"/>
          <p:cNvSpPr txBox="1"/>
          <p:nvPr/>
        </p:nvSpPr>
        <p:spPr>
          <a:xfrm>
            <a:off x="2560320" y="5321808"/>
            <a:ext cx="8869680" cy="777240"/>
          </a:xfrm>
          <a:prstGeom prst="rect">
            <a:avLst/>
          </a:prstGeom>
          <a:noFill/>
          <a:ln/>
        </p:spPr>
        <p:txBody>
          <a:bodyPr wrap="square" lIns="0" tIns="0" rIns="0" bIns="0" rtlCol="0" anchor="t"/>
          <a:lstStyle/>
          <a:p>
            <a:pPr algn="l" indent="0" marL="0">
              <a:lnSpc>
                <a:spcPts val="1800"/>
              </a:lnSpc>
              <a:buNone/>
            </a:pPr>
            <a:r>
              <a:rPr lang="en-US" sz="1300" dirty="0">
                <a:solidFill>
                  <a:srgbClr val="DCD7CB"/>
                </a:solidFill>
                <a:latin typeface="Calibri" pitchFamily="34" charset="0"/>
                <a:ea typeface="Calibri" pitchFamily="34" charset="-122"/>
                <a:cs typeface="Calibri" pitchFamily="34" charset="-120"/>
              </a:rPr>
              <a:t>of a general counsel’s time goes to drafting. The rest is meetings, business context, and the risks they are expected to see coming before anyone asks.</a:t>
            </a:r>
            <a:endParaRPr lang="en-US" sz="1300" dirty="0"/>
          </a:p>
        </p:txBody>
      </p:sp>
      <p:sp>
        <p:nvSpPr>
          <p:cNvPr id="22" name="Text 20"/>
          <p:cNvSpPr txBox="1"/>
          <p:nvPr/>
        </p:nvSpPr>
        <p:spPr>
          <a:xfrm>
            <a:off x="685800" y="6382512"/>
            <a:ext cx="10820095" cy="329184"/>
          </a:xfrm>
          <a:prstGeom prst="rect">
            <a:avLst/>
          </a:prstGeom>
          <a:noFill/>
          <a:ln/>
        </p:spPr>
        <p:txBody>
          <a:bodyPr wrap="square" lIns="0" tIns="0" rIns="0" bIns="0" rtlCol="0" anchor="t"/>
          <a:lstStyle/>
          <a:p>
            <a:pPr indent="0" marL="0">
              <a:buNone/>
            </a:pPr>
            <a:r>
              <a:rPr lang="en-US" sz="950" i="1" dirty="0">
                <a:solidFill>
                  <a:srgbClr val="8F8879"/>
                </a:solidFill>
                <a:latin typeface="Calibri" pitchFamily="34" charset="0"/>
                <a:ea typeface="Calibri" pitchFamily="34" charset="-122"/>
                <a:cs typeface="Calibri" pitchFamily="34" charset="-120"/>
              </a:rPr>
              <a:t>Illustrative request, not a customer quote. Time estimate is one general counsel’s own account, from four in-house counsel interviews conducted August 2026.</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7772400" cy="310896"/>
          </a:xfrm>
          <a:prstGeom prst="rect">
            <a:avLst/>
          </a:prstGeom>
          <a:noFill/>
          <a:ln/>
        </p:spPr>
        <p:txBody>
          <a:bodyPr wrap="square" lIns="0" tIns="0" rIns="0" bIns="0" rtlCol="0" anchor="ctr"/>
          <a:lstStyle/>
          <a:p>
            <a:pPr indent="0" marL="0">
              <a:buNone/>
            </a:pPr>
            <a:r>
              <a:rPr lang="en-US" sz="1050" b="1" spc="220" kern="0" dirty="0">
                <a:solidFill>
                  <a:srgbClr val="9A6F05"/>
                </a:solidFill>
                <a:latin typeface="Calibri" pitchFamily="34" charset="0"/>
                <a:ea typeface="Calibri" pitchFamily="34" charset="-122"/>
                <a:cs typeface="Calibri" pitchFamily="34" charset="-120"/>
              </a:rPr>
              <a:t>THE PRODUCT</a:t>
            </a:r>
            <a:endParaRPr lang="en-US" sz="1050" dirty="0"/>
          </a:p>
        </p:txBody>
      </p:sp>
      <p:sp>
        <p:nvSpPr>
          <p:cNvPr id="4" name="Text 2"/>
          <p:cNvSpPr txBox="1"/>
          <p:nvPr/>
        </p:nvSpPr>
        <p:spPr>
          <a:xfrm>
            <a:off x="10408615" y="347472"/>
            <a:ext cx="1097280" cy="310896"/>
          </a:xfrm>
          <a:prstGeom prst="rect">
            <a:avLst/>
          </a:prstGeom>
          <a:noFill/>
          <a:ln/>
        </p:spPr>
        <p:txBody>
          <a:bodyPr wrap="square" lIns="0" tIns="0" rIns="0" bIns="0" rtlCol="0" anchor="ctr"/>
          <a:lstStyle/>
          <a:p>
            <a:pPr algn="r" indent="0" marL="0">
              <a:buNone/>
            </a:pPr>
            <a:r>
              <a:rPr lang="en-US" sz="1050" b="1" spc="150" kern="0" dirty="0">
                <a:solidFill>
                  <a:srgbClr val="6E6759"/>
                </a:solidFill>
                <a:latin typeface="Calibri" pitchFamily="34" charset="0"/>
                <a:ea typeface="Calibri" pitchFamily="34" charset="-122"/>
                <a:cs typeface="Calibri" pitchFamily="34" charset="-120"/>
              </a:rPr>
              <a:t>03</a:t>
            </a:r>
            <a:endParaRPr lang="en-US" sz="1050" dirty="0"/>
          </a:p>
        </p:txBody>
      </p:sp>
      <p:sp>
        <p:nvSpPr>
          <p:cNvPr id="5" name="Text 3"/>
          <p:cNvSpPr txBox="1"/>
          <p:nvPr/>
        </p:nvSpPr>
        <p:spPr>
          <a:xfrm>
            <a:off x="685800" y="841248"/>
            <a:ext cx="10820095" cy="960120"/>
          </a:xfrm>
          <a:prstGeom prst="rect">
            <a:avLst/>
          </a:prstGeom>
          <a:noFill/>
          <a:ln/>
        </p:spPr>
        <p:txBody>
          <a:bodyPr wrap="square" lIns="0" tIns="0" rIns="0" bIns="0" rtlCol="0" anchor="t"/>
          <a:lstStyle/>
          <a:p>
            <a:pPr indent="0" marL="0">
              <a:lnSpc>
                <a:spcPts val="3800"/>
              </a:lnSpc>
              <a:buNone/>
            </a:pPr>
            <a:r>
              <a:rPr lang="en-US" sz="3300" b="1" dirty="0">
                <a:solidFill>
                  <a:srgbClr val="1B1A17"/>
                </a:solidFill>
                <a:latin typeface="Cambria" pitchFamily="34" charset="0"/>
                <a:ea typeface="Cambria" pitchFamily="34" charset="-122"/>
                <a:cs typeface="Cambria" pitchFamily="34" charset="-120"/>
              </a:rPr>
              <a:t>Themis prepares the matter.</a:t>
            </a:r>
            <a:endParaRPr lang="en-US" sz="3300" dirty="0"/>
          </a:p>
          <a:p>
            <a:pPr indent="0" marL="0">
              <a:lnSpc>
                <a:spcPts val="3800"/>
              </a:lnSpc>
              <a:buNone/>
            </a:pPr>
            <a:r>
              <a:rPr lang="en-US" sz="3300" b="1" dirty="0">
                <a:solidFill>
                  <a:srgbClr val="1B1A17"/>
                </a:solidFill>
                <a:latin typeface="Cambria" pitchFamily="34" charset="0"/>
                <a:ea typeface="Cambria" pitchFamily="34" charset="-122"/>
                <a:cs typeface="Cambria" pitchFamily="34" charset="-120"/>
              </a:rPr>
              <a:t>The lawyer explores the answer space.</a:t>
            </a:r>
            <a:endParaRPr lang="en-US" sz="3300" dirty="0"/>
          </a:p>
        </p:txBody>
      </p:sp>
      <p:sp>
        <p:nvSpPr>
          <p:cNvPr id="6" name="Shape 4"/>
          <p:cNvSpPr/>
          <p:nvPr/>
        </p:nvSpPr>
        <p:spPr>
          <a:xfrm>
            <a:off x="685800" y="2148840"/>
            <a:ext cx="3401568" cy="2560320"/>
          </a:xfrm>
          <a:prstGeom prst="roundRect">
            <a:avLst>
              <a:gd name="adj" fmla="val 2143"/>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sp>
        <p:nvSpPr>
          <p:cNvPr id="7" name="Text 5"/>
          <p:cNvSpPr txBox="1"/>
          <p:nvPr/>
        </p:nvSpPr>
        <p:spPr>
          <a:xfrm>
            <a:off x="996696" y="2395728"/>
            <a:ext cx="914400" cy="457200"/>
          </a:xfrm>
          <a:prstGeom prst="rect">
            <a:avLst/>
          </a:prstGeom>
          <a:noFill/>
          <a:ln/>
        </p:spPr>
        <p:txBody>
          <a:bodyPr wrap="square" lIns="0" tIns="0" rIns="0" bIns="0" rtlCol="0" anchor="ctr"/>
          <a:lstStyle/>
          <a:p>
            <a:pPr indent="0" marL="0">
              <a:buNone/>
            </a:pPr>
            <a:r>
              <a:rPr lang="en-US" sz="2600" b="1" dirty="0">
                <a:solidFill>
                  <a:srgbClr val="E0A008"/>
                </a:solidFill>
                <a:latin typeface="Cambria" pitchFamily="34" charset="0"/>
                <a:ea typeface="Cambria" pitchFamily="34" charset="-122"/>
                <a:cs typeface="Cambria" pitchFamily="34" charset="-120"/>
              </a:rPr>
              <a:t>01</a:t>
            </a:r>
            <a:endParaRPr lang="en-US" sz="2600" dirty="0"/>
          </a:p>
        </p:txBody>
      </p:sp>
      <p:sp>
        <p:nvSpPr>
          <p:cNvPr id="8" name="Text 6"/>
          <p:cNvSpPr txBox="1"/>
          <p:nvPr/>
        </p:nvSpPr>
        <p:spPr>
          <a:xfrm>
            <a:off x="996696" y="2944368"/>
            <a:ext cx="2779776" cy="365760"/>
          </a:xfrm>
          <a:prstGeom prst="rect">
            <a:avLst/>
          </a:prstGeom>
          <a:noFill/>
          <a:ln/>
        </p:spPr>
        <p:txBody>
          <a:bodyPr wrap="square" lIns="0" tIns="0" rIns="0" bIns="0" rtlCol="0" anchor="t"/>
          <a:lstStyle/>
          <a:p>
            <a:pPr algn="l" indent="0" marL="0">
              <a:lnSpc>
                <a:spcPts val="1900"/>
              </a:lnSpc>
              <a:buNone/>
            </a:pPr>
            <a:r>
              <a:rPr lang="en-US" sz="1600" b="1" dirty="0">
                <a:solidFill>
                  <a:srgbClr val="1B1A17"/>
                </a:solidFill>
                <a:latin typeface="Calibri" pitchFamily="34" charset="0"/>
                <a:ea typeface="Calibri" pitchFamily="34" charset="-122"/>
                <a:cs typeface="Calibri" pitchFamily="34" charset="-120"/>
              </a:rPr>
              <a:t>Prepare</a:t>
            </a:r>
            <a:endParaRPr lang="en-US" sz="1600" dirty="0"/>
          </a:p>
        </p:txBody>
      </p:sp>
      <p:sp>
        <p:nvSpPr>
          <p:cNvPr id="9" name="Text 7"/>
          <p:cNvSpPr txBox="1"/>
          <p:nvPr/>
        </p:nvSpPr>
        <p:spPr>
          <a:xfrm>
            <a:off x="996696" y="3401568"/>
            <a:ext cx="2779776" cy="1463040"/>
          </a:xfrm>
          <a:prstGeom prst="rect">
            <a:avLst/>
          </a:prstGeom>
          <a:noFill/>
          <a:ln/>
        </p:spPr>
        <p:txBody>
          <a:bodyPr wrap="square" lIns="0" tIns="0" rIns="0" bIns="0" rtlCol="0" anchor="t"/>
          <a:lstStyle/>
          <a:p>
            <a:pPr algn="l" indent="0" marL="0">
              <a:lnSpc>
                <a:spcPts val="1800"/>
              </a:lnSpc>
              <a:buNone/>
            </a:pPr>
            <a:r>
              <a:rPr lang="en-US" sz="1250" dirty="0">
                <a:solidFill>
                  <a:srgbClr val="6E6759"/>
                </a:solidFill>
                <a:latin typeface="Calibri" pitchFamily="34" charset="0"/>
                <a:ea typeface="Calibri" pitchFamily="34" charset="-122"/>
                <a:cs typeface="Calibri" pitchFamily="34" charset="-120"/>
              </a:rPr>
              <a:t>A half-formed request becomes a matter: the purpose, the facts, the participants, the deadline — and an explicit list of what the request left out.</a:t>
            </a:r>
            <a:endParaRPr lang="en-US" sz="1250" dirty="0"/>
          </a:p>
        </p:txBody>
      </p:sp>
      <p:sp>
        <p:nvSpPr>
          <p:cNvPr id="10" name="Shape 8"/>
          <p:cNvSpPr/>
          <p:nvPr/>
        </p:nvSpPr>
        <p:spPr>
          <a:xfrm>
            <a:off x="4398264" y="2148840"/>
            <a:ext cx="3401568" cy="2560320"/>
          </a:xfrm>
          <a:prstGeom prst="roundRect">
            <a:avLst>
              <a:gd name="adj" fmla="val 2143"/>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sp>
        <p:nvSpPr>
          <p:cNvPr id="11" name="Text 9"/>
          <p:cNvSpPr txBox="1"/>
          <p:nvPr/>
        </p:nvSpPr>
        <p:spPr>
          <a:xfrm>
            <a:off x="4709160" y="2395728"/>
            <a:ext cx="914400" cy="457200"/>
          </a:xfrm>
          <a:prstGeom prst="rect">
            <a:avLst/>
          </a:prstGeom>
          <a:noFill/>
          <a:ln/>
        </p:spPr>
        <p:txBody>
          <a:bodyPr wrap="square" lIns="0" tIns="0" rIns="0" bIns="0" rtlCol="0" anchor="ctr"/>
          <a:lstStyle/>
          <a:p>
            <a:pPr indent="0" marL="0">
              <a:buNone/>
            </a:pPr>
            <a:r>
              <a:rPr lang="en-US" sz="2600" b="1" dirty="0">
                <a:solidFill>
                  <a:srgbClr val="E0A008"/>
                </a:solidFill>
                <a:latin typeface="Cambria" pitchFamily="34" charset="0"/>
                <a:ea typeface="Cambria" pitchFamily="34" charset="-122"/>
                <a:cs typeface="Cambria" pitchFamily="34" charset="-120"/>
              </a:rPr>
              <a:t>02</a:t>
            </a:r>
            <a:endParaRPr lang="en-US" sz="2600" dirty="0"/>
          </a:p>
        </p:txBody>
      </p:sp>
      <p:sp>
        <p:nvSpPr>
          <p:cNvPr id="12" name="Text 10"/>
          <p:cNvSpPr txBox="1"/>
          <p:nvPr/>
        </p:nvSpPr>
        <p:spPr>
          <a:xfrm>
            <a:off x="4709160" y="2944368"/>
            <a:ext cx="2779776" cy="365760"/>
          </a:xfrm>
          <a:prstGeom prst="rect">
            <a:avLst/>
          </a:prstGeom>
          <a:noFill/>
          <a:ln/>
        </p:spPr>
        <p:txBody>
          <a:bodyPr wrap="square" lIns="0" tIns="0" rIns="0" bIns="0" rtlCol="0" anchor="t"/>
          <a:lstStyle/>
          <a:p>
            <a:pPr algn="l" indent="0" marL="0">
              <a:lnSpc>
                <a:spcPts val="1900"/>
              </a:lnSpc>
              <a:buNone/>
            </a:pPr>
            <a:r>
              <a:rPr lang="en-US" sz="1600" b="1" dirty="0">
                <a:solidFill>
                  <a:srgbClr val="1B1A17"/>
                </a:solidFill>
                <a:latin typeface="Calibri" pitchFamily="34" charset="0"/>
                <a:ea typeface="Calibri" pitchFamily="34" charset="-122"/>
                <a:cs typeface="Calibri" pitchFamily="34" charset="-120"/>
              </a:rPr>
              <a:t>Explore</a:t>
            </a:r>
            <a:endParaRPr lang="en-US" sz="1600" dirty="0"/>
          </a:p>
        </p:txBody>
      </p:sp>
      <p:sp>
        <p:nvSpPr>
          <p:cNvPr id="13" name="Text 11"/>
          <p:cNvSpPr txBox="1"/>
          <p:nvPr/>
        </p:nvSpPr>
        <p:spPr>
          <a:xfrm>
            <a:off x="4709160" y="3401568"/>
            <a:ext cx="2779776" cy="1463040"/>
          </a:xfrm>
          <a:prstGeom prst="rect">
            <a:avLst/>
          </a:prstGeom>
          <a:noFill/>
          <a:ln/>
        </p:spPr>
        <p:txBody>
          <a:bodyPr wrap="square" lIns="0" tIns="0" rIns="0" bIns="0" rtlCol="0" anchor="t"/>
          <a:lstStyle/>
          <a:p>
            <a:pPr algn="l" indent="0" marL="0">
              <a:lnSpc>
                <a:spcPts val="1800"/>
              </a:lnSpc>
              <a:buNone/>
            </a:pPr>
            <a:r>
              <a:rPr lang="en-US" sz="1250" dirty="0">
                <a:solidFill>
                  <a:srgbClr val="6E6759"/>
                </a:solidFill>
                <a:latin typeface="Calibri" pitchFamily="34" charset="0"/>
                <a:ea typeface="Calibri" pitchFamily="34" charset="-122"/>
                <a:cs typeface="Calibri" pitchFamily="34" charset="-120"/>
              </a:rPr>
              <a:t>Research and drafts arrive with the material assumptions visible, the options set side by side, and the questions that would change the answer.</a:t>
            </a:r>
            <a:endParaRPr lang="en-US" sz="1250" dirty="0"/>
          </a:p>
        </p:txBody>
      </p:sp>
      <p:sp>
        <p:nvSpPr>
          <p:cNvPr id="14" name="Shape 12"/>
          <p:cNvSpPr/>
          <p:nvPr/>
        </p:nvSpPr>
        <p:spPr>
          <a:xfrm>
            <a:off x="8110728" y="2148840"/>
            <a:ext cx="3401568" cy="2560320"/>
          </a:xfrm>
          <a:prstGeom prst="roundRect">
            <a:avLst>
              <a:gd name="adj" fmla="val 2143"/>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sp>
        <p:nvSpPr>
          <p:cNvPr id="15" name="Text 13"/>
          <p:cNvSpPr txBox="1"/>
          <p:nvPr/>
        </p:nvSpPr>
        <p:spPr>
          <a:xfrm>
            <a:off x="8421624" y="2395728"/>
            <a:ext cx="914400" cy="457200"/>
          </a:xfrm>
          <a:prstGeom prst="rect">
            <a:avLst/>
          </a:prstGeom>
          <a:noFill/>
          <a:ln/>
        </p:spPr>
        <p:txBody>
          <a:bodyPr wrap="square" lIns="0" tIns="0" rIns="0" bIns="0" rtlCol="0" anchor="ctr"/>
          <a:lstStyle/>
          <a:p>
            <a:pPr indent="0" marL="0">
              <a:buNone/>
            </a:pPr>
            <a:r>
              <a:rPr lang="en-US" sz="2600" b="1" dirty="0">
                <a:solidFill>
                  <a:srgbClr val="E0A008"/>
                </a:solidFill>
                <a:latin typeface="Cambria" pitchFamily="34" charset="0"/>
                <a:ea typeface="Cambria" pitchFamily="34" charset="-122"/>
                <a:cs typeface="Cambria" pitchFamily="34" charset="-120"/>
              </a:rPr>
              <a:t>03</a:t>
            </a:r>
            <a:endParaRPr lang="en-US" sz="2600" dirty="0"/>
          </a:p>
        </p:txBody>
      </p:sp>
      <p:sp>
        <p:nvSpPr>
          <p:cNvPr id="16" name="Text 14"/>
          <p:cNvSpPr txBox="1"/>
          <p:nvPr/>
        </p:nvSpPr>
        <p:spPr>
          <a:xfrm>
            <a:off x="8421624" y="2944368"/>
            <a:ext cx="2779776" cy="365760"/>
          </a:xfrm>
          <a:prstGeom prst="rect">
            <a:avLst/>
          </a:prstGeom>
          <a:noFill/>
          <a:ln/>
        </p:spPr>
        <p:txBody>
          <a:bodyPr wrap="square" lIns="0" tIns="0" rIns="0" bIns="0" rtlCol="0" anchor="t"/>
          <a:lstStyle/>
          <a:p>
            <a:pPr algn="l" indent="0" marL="0">
              <a:lnSpc>
                <a:spcPts val="1900"/>
              </a:lnSpc>
              <a:buNone/>
            </a:pPr>
            <a:r>
              <a:rPr lang="en-US" sz="1600" b="1" dirty="0">
                <a:solidFill>
                  <a:srgbClr val="1B1A17"/>
                </a:solidFill>
                <a:latin typeface="Calibri" pitchFamily="34" charset="0"/>
                <a:ea typeface="Calibri" pitchFamily="34" charset="-122"/>
                <a:cs typeface="Calibri" pitchFamily="34" charset="-120"/>
              </a:rPr>
              <a:t>Decide</a:t>
            </a:r>
            <a:endParaRPr lang="en-US" sz="1600" dirty="0"/>
          </a:p>
        </p:txBody>
      </p:sp>
      <p:sp>
        <p:nvSpPr>
          <p:cNvPr id="17" name="Text 15"/>
          <p:cNvSpPr txBox="1"/>
          <p:nvPr/>
        </p:nvSpPr>
        <p:spPr>
          <a:xfrm>
            <a:off x="8421624" y="3401568"/>
            <a:ext cx="2779776" cy="1463040"/>
          </a:xfrm>
          <a:prstGeom prst="rect">
            <a:avLst/>
          </a:prstGeom>
          <a:noFill/>
          <a:ln/>
        </p:spPr>
        <p:txBody>
          <a:bodyPr wrap="square" lIns="0" tIns="0" rIns="0" bIns="0" rtlCol="0" anchor="t"/>
          <a:lstStyle/>
          <a:p>
            <a:pPr algn="l" indent="0" marL="0">
              <a:lnSpc>
                <a:spcPts val="1800"/>
              </a:lnSpc>
              <a:buNone/>
            </a:pPr>
            <a:r>
              <a:rPr lang="en-US" sz="1250" dirty="0">
                <a:solidFill>
                  <a:srgbClr val="6E6759"/>
                </a:solidFill>
                <a:latin typeface="Calibri" pitchFamily="34" charset="0"/>
                <a:ea typeface="Calibri" pitchFamily="34" charset="-122"/>
                <a:cs typeface="Calibri" pitchFamily="34" charset="-120"/>
              </a:rPr>
              <a:t>The lawyer records the decision. Themis keeps the reasoning, the alternatives considered, and the basis, attached to the matter.</a:t>
            </a:r>
            <a:endParaRPr lang="en-US" sz="1250" dirty="0"/>
          </a:p>
        </p:txBody>
      </p:sp>
      <p:sp>
        <p:nvSpPr>
          <p:cNvPr id="18" name="Shape 16"/>
          <p:cNvSpPr/>
          <p:nvPr/>
        </p:nvSpPr>
        <p:spPr>
          <a:xfrm>
            <a:off x="685800" y="5029200"/>
            <a:ext cx="10820095" cy="822960"/>
          </a:xfrm>
          <a:prstGeom prst="roundRect">
            <a:avLst>
              <a:gd name="adj" fmla="val 6667"/>
            </a:avLst>
          </a:prstGeom>
          <a:solidFill>
            <a:srgbClr val="FBF3DC"/>
          </a:solidFill>
          <a:ln w="12700">
            <a:solidFill>
              <a:srgbClr val="FBF3DC"/>
            </a:solidFill>
            <a:prstDash val="solid"/>
          </a:ln>
        </p:spPr>
      </p:sp>
      <p:sp>
        <p:nvSpPr>
          <p:cNvPr id="19" name="Shape 17"/>
          <p:cNvSpPr/>
          <p:nvPr/>
        </p:nvSpPr>
        <p:spPr>
          <a:xfrm>
            <a:off x="1005840" y="5394960"/>
            <a:ext cx="96012" cy="96012"/>
          </a:xfrm>
          <a:prstGeom prst="rect">
            <a:avLst/>
          </a:prstGeom>
          <a:solidFill>
            <a:srgbClr val="E0A008"/>
          </a:solidFill>
          <a:ln w="12700">
            <a:solidFill>
              <a:srgbClr val="E0A008"/>
            </a:solidFill>
            <a:prstDash val="solid"/>
          </a:ln>
        </p:spPr>
      </p:sp>
      <p:sp>
        <p:nvSpPr>
          <p:cNvPr id="20" name="Text 18"/>
          <p:cNvSpPr txBox="1"/>
          <p:nvPr/>
        </p:nvSpPr>
        <p:spPr>
          <a:xfrm>
            <a:off x="1252728" y="5248656"/>
            <a:ext cx="9905695" cy="457200"/>
          </a:xfrm>
          <a:prstGeom prst="rect">
            <a:avLst/>
          </a:prstGeom>
          <a:noFill/>
          <a:ln/>
        </p:spPr>
        <p:txBody>
          <a:bodyPr wrap="square" lIns="0" tIns="0" rIns="0" bIns="0" rtlCol="0" anchor="ctr"/>
          <a:lstStyle/>
          <a:p>
            <a:pPr algn="l" indent="0" marL="0">
              <a:lnSpc>
                <a:spcPts val="1900"/>
              </a:lnSpc>
              <a:buNone/>
            </a:pPr>
            <a:r>
              <a:rPr lang="en-US" sz="1600" i="1" dirty="0">
                <a:solidFill>
                  <a:srgbClr val="1B1A17"/>
                </a:solidFill>
                <a:latin typeface="Cambria" pitchFamily="34" charset="0"/>
                <a:ea typeface="Cambria" pitchFamily="34" charset="-122"/>
                <a:cs typeface="Cambria" pitchFamily="34" charset="-120"/>
              </a:rPr>
              <a:t>The lawyer directs the inquiry and owns the decision. Themis does the preparation.</a:t>
            </a:r>
            <a:endParaRPr lang="en-US" sz="1600" dirty="0"/>
          </a:p>
        </p:txBody>
      </p:sp>
      <p:sp>
        <p:nvSpPr>
          <p:cNvPr id="21" name="Text 19"/>
          <p:cNvSpPr txBox="1"/>
          <p:nvPr/>
        </p:nvSpPr>
        <p:spPr>
          <a:xfrm>
            <a:off x="685800" y="6382512"/>
            <a:ext cx="10820095" cy="329184"/>
          </a:xfrm>
          <a:prstGeom prst="rect">
            <a:avLst/>
          </a:prstGeom>
          <a:noFill/>
          <a:ln/>
        </p:spPr>
        <p:txBody>
          <a:bodyPr wrap="square" lIns="0" tIns="0" rIns="0" bIns="0" rtlCol="0" anchor="t"/>
          <a:lstStyle/>
          <a:p>
            <a:pPr indent="0" marL="0">
              <a:buNone/>
            </a:pPr>
            <a:r>
              <a:rPr lang="en-US" sz="950" i="1" dirty="0">
                <a:solidFill>
                  <a:srgbClr val="6E6759"/>
                </a:solidFill>
                <a:latin typeface="Calibri" pitchFamily="34" charset="0"/>
                <a:ea typeface="Calibri" pitchFamily="34" charset="-122"/>
                <a:cs typeface="Calibri" pitchFamily="34" charset="-120"/>
              </a:rPr>
              <a:t>Working prototype supports matters, research, editable work product and recorded decisions. Reliable unprompted issue discovery remains an outcome to validate.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7772400" cy="310896"/>
          </a:xfrm>
          <a:prstGeom prst="rect">
            <a:avLst/>
          </a:prstGeom>
          <a:noFill/>
          <a:ln/>
        </p:spPr>
        <p:txBody>
          <a:bodyPr wrap="square" lIns="0" tIns="0" rIns="0" bIns="0" rtlCol="0" anchor="ctr"/>
          <a:lstStyle/>
          <a:p>
            <a:pPr indent="0" marL="0">
              <a:buNone/>
            </a:pPr>
            <a:r>
              <a:rPr lang="en-US" sz="1050" b="1" spc="220" kern="0" dirty="0">
                <a:solidFill>
                  <a:srgbClr val="9A6F05"/>
                </a:solidFill>
                <a:latin typeface="Calibri" pitchFamily="34" charset="0"/>
                <a:ea typeface="Calibri" pitchFamily="34" charset="-122"/>
                <a:cs typeface="Calibri" pitchFamily="34" charset="-120"/>
              </a:rPr>
              <a:t>THE PRODUCT, LIVE</a:t>
            </a:r>
            <a:endParaRPr lang="en-US" sz="1050" dirty="0"/>
          </a:p>
        </p:txBody>
      </p:sp>
      <p:sp>
        <p:nvSpPr>
          <p:cNvPr id="4" name="Text 2"/>
          <p:cNvSpPr txBox="1"/>
          <p:nvPr/>
        </p:nvSpPr>
        <p:spPr>
          <a:xfrm>
            <a:off x="10408615" y="347472"/>
            <a:ext cx="1097280" cy="310896"/>
          </a:xfrm>
          <a:prstGeom prst="rect">
            <a:avLst/>
          </a:prstGeom>
          <a:noFill/>
          <a:ln/>
        </p:spPr>
        <p:txBody>
          <a:bodyPr wrap="square" lIns="0" tIns="0" rIns="0" bIns="0" rtlCol="0" anchor="ctr"/>
          <a:lstStyle/>
          <a:p>
            <a:pPr algn="r" indent="0" marL="0">
              <a:buNone/>
            </a:pPr>
            <a:r>
              <a:rPr lang="en-US" sz="1050" b="1" spc="150" kern="0" dirty="0">
                <a:solidFill>
                  <a:srgbClr val="6E6759"/>
                </a:solidFill>
                <a:latin typeface="Calibri" pitchFamily="34" charset="0"/>
                <a:ea typeface="Calibri" pitchFamily="34" charset="-122"/>
                <a:cs typeface="Calibri" pitchFamily="34" charset="-120"/>
              </a:rPr>
              <a:t>04</a:t>
            </a:r>
            <a:endParaRPr lang="en-US" sz="1050" dirty="0"/>
          </a:p>
        </p:txBody>
      </p:sp>
      <p:sp>
        <p:nvSpPr>
          <p:cNvPr id="5" name="Text 3"/>
          <p:cNvSpPr txBox="1"/>
          <p:nvPr/>
        </p:nvSpPr>
        <p:spPr>
          <a:xfrm>
            <a:off x="685800" y="841248"/>
            <a:ext cx="10820095" cy="548640"/>
          </a:xfrm>
          <a:prstGeom prst="rect">
            <a:avLst/>
          </a:prstGeom>
          <a:noFill/>
          <a:ln/>
        </p:spPr>
        <p:txBody>
          <a:bodyPr wrap="square" lIns="0" tIns="0" rIns="0" bIns="0" rtlCol="0" anchor="t"/>
          <a:lstStyle/>
          <a:p>
            <a:pPr indent="0" marL="0">
              <a:lnSpc>
                <a:spcPts val="3800"/>
              </a:lnSpc>
              <a:buNone/>
            </a:pPr>
            <a:r>
              <a:rPr lang="en-US" sz="3300" b="1" dirty="0">
                <a:solidFill>
                  <a:srgbClr val="1B1A17"/>
                </a:solidFill>
                <a:latin typeface="Cambria" pitchFamily="34" charset="0"/>
                <a:ea typeface="Cambria" pitchFamily="34" charset="-122"/>
                <a:cs typeface="Cambria" pitchFamily="34" charset="-120"/>
              </a:rPr>
              <a:t>A half-formed request in. A prepared matter out.</a:t>
            </a:r>
            <a:endParaRPr lang="en-US" sz="3300" dirty="0"/>
          </a:p>
        </p:txBody>
      </p:sp>
      <p:sp>
        <p:nvSpPr>
          <p:cNvPr id="6" name="Text 4"/>
          <p:cNvSpPr txBox="1"/>
          <p:nvPr/>
        </p:nvSpPr>
        <p:spPr>
          <a:xfrm>
            <a:off x="685800" y="1627632"/>
            <a:ext cx="7863840" cy="237744"/>
          </a:xfrm>
          <a:prstGeom prst="rect">
            <a:avLst/>
          </a:prstGeom>
          <a:noFill/>
          <a:ln/>
        </p:spPr>
        <p:txBody>
          <a:bodyPr wrap="square" lIns="0" tIns="0" rIns="0" bIns="0" rtlCol="0" anchor="ctr"/>
          <a:lstStyle/>
          <a:p>
            <a:pPr indent="0" marL="0">
              <a:buNone/>
            </a:pPr>
            <a:r>
              <a:rPr lang="en-US" sz="900" b="1" spc="110" kern="0" dirty="0">
                <a:solidFill>
                  <a:srgbClr val="6E6759"/>
                </a:solidFill>
                <a:latin typeface="Calibri" pitchFamily="34" charset="0"/>
                <a:ea typeface="Calibri" pitchFamily="34" charset="-122"/>
                <a:cs typeface="Calibri" pitchFamily="34" charset="-120"/>
              </a:rPr>
              <a:t>MATTER  ·  RELAY: OPEN-BANKING REAUTHENTICATION AND DATA USE  ·  WAITING ON YOUR JUDGMENT</a:t>
            </a:r>
            <a:endParaRPr lang="en-US" sz="900" dirty="0"/>
          </a:p>
        </p:txBody>
      </p:sp>
      <p:sp>
        <p:nvSpPr>
          <p:cNvPr id="7" name="Shape 5"/>
          <p:cNvSpPr/>
          <p:nvPr/>
        </p:nvSpPr>
        <p:spPr>
          <a:xfrm>
            <a:off x="649224" y="1920240"/>
            <a:ext cx="7936992" cy="3588189"/>
          </a:xfrm>
          <a:prstGeom prst="roundRect">
            <a:avLst>
              <a:gd name="adj" fmla="val 1529"/>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pic>
        <p:nvPicPr>
          <p:cNvPr id="8" name="Image 0" descr="matter-crop.png">    </p:cNvPr>
          <p:cNvPicPr>
            <a:picLocks noChangeAspect="1"/>
          </p:cNvPicPr>
          <p:nvPr/>
        </p:nvPicPr>
        <p:blipFill>
          <a:blip r:embed="rId1"/>
          <a:stretch>
            <a:fillRect/>
          </a:stretch>
        </p:blipFill>
        <p:spPr>
          <a:xfrm>
            <a:off x="685800" y="1956816"/>
            <a:ext cx="7863840" cy="3515037"/>
          </a:xfrm>
          <a:prstGeom prst="rect">
            <a:avLst/>
          </a:prstGeom>
        </p:spPr>
      </p:pic>
      <p:sp>
        <p:nvSpPr>
          <p:cNvPr id="9" name="Text 6"/>
          <p:cNvSpPr txBox="1"/>
          <p:nvPr/>
        </p:nvSpPr>
        <p:spPr>
          <a:xfrm>
            <a:off x="8796528" y="1956816"/>
            <a:ext cx="2724912" cy="237744"/>
          </a:xfrm>
          <a:prstGeom prst="rect">
            <a:avLst/>
          </a:prstGeom>
          <a:noFill/>
          <a:ln/>
        </p:spPr>
        <p:txBody>
          <a:bodyPr wrap="square" lIns="0" tIns="0" rIns="0" bIns="0" rtlCol="0" anchor="ctr"/>
          <a:lstStyle/>
          <a:p>
            <a:pPr indent="0" marL="0">
              <a:buNone/>
            </a:pPr>
            <a:r>
              <a:rPr lang="en-US" sz="950" b="1" spc="180" kern="0" dirty="0">
                <a:solidFill>
                  <a:srgbClr val="9A6F05"/>
                </a:solidFill>
                <a:latin typeface="Calibri" pitchFamily="34" charset="0"/>
                <a:ea typeface="Calibri" pitchFamily="34" charset="-122"/>
                <a:cs typeface="Calibri" pitchFamily="34" charset="-120"/>
              </a:rPr>
              <a:t>WHAT IT SEPARATED</a:t>
            </a:r>
            <a:endParaRPr lang="en-US" sz="950" dirty="0"/>
          </a:p>
        </p:txBody>
      </p:sp>
      <p:sp>
        <p:nvSpPr>
          <p:cNvPr id="10" name="Text 7"/>
          <p:cNvSpPr txBox="1"/>
          <p:nvPr/>
        </p:nvSpPr>
        <p:spPr>
          <a:xfrm>
            <a:off x="8796528" y="2267712"/>
            <a:ext cx="2724912" cy="1234440"/>
          </a:xfrm>
          <a:prstGeom prst="rect">
            <a:avLst/>
          </a:prstGeom>
          <a:noFill/>
          <a:ln/>
        </p:spPr>
        <p:txBody>
          <a:bodyPr wrap="square" lIns="0" tIns="0" rIns="0" bIns="0" rtlCol="0" anchor="t"/>
          <a:lstStyle/>
          <a:p>
            <a:pPr algn="l" indent="0" marL="0">
              <a:lnSpc>
                <a:spcPts val="1650"/>
              </a:lnSpc>
              <a:buNone/>
            </a:pPr>
            <a:r>
              <a:rPr lang="en-US" sz="1150" dirty="0">
                <a:solidFill>
                  <a:srgbClr val="1B1A17"/>
                </a:solidFill>
                <a:latin typeface="Calibri" pitchFamily="34" charset="0"/>
                <a:ea typeface="Calibri" pitchFamily="34" charset="-122"/>
                <a:cs typeface="Calibri" pitchFamily="34" charset="-120"/>
              </a:rPr>
              <a:t>One request, two different uses: keeping existing bank connections alive, and mining two years of transaction history for card and lending offers.</a:t>
            </a:r>
            <a:endParaRPr lang="en-US" sz="1150" dirty="0"/>
          </a:p>
        </p:txBody>
      </p:sp>
      <p:sp>
        <p:nvSpPr>
          <p:cNvPr id="11" name="Text 8"/>
          <p:cNvSpPr txBox="1"/>
          <p:nvPr/>
        </p:nvSpPr>
        <p:spPr>
          <a:xfrm>
            <a:off x="8796528" y="3364992"/>
            <a:ext cx="2724912" cy="237744"/>
          </a:xfrm>
          <a:prstGeom prst="rect">
            <a:avLst/>
          </a:prstGeom>
          <a:noFill/>
          <a:ln/>
        </p:spPr>
        <p:txBody>
          <a:bodyPr wrap="square" lIns="0" tIns="0" rIns="0" bIns="0" rtlCol="0" anchor="ctr"/>
          <a:lstStyle/>
          <a:p>
            <a:pPr indent="0" marL="0">
              <a:buNone/>
            </a:pPr>
            <a:r>
              <a:rPr lang="en-US" sz="950" b="1" spc="180" kern="0" dirty="0">
                <a:solidFill>
                  <a:srgbClr val="9A6F05"/>
                </a:solidFill>
                <a:latin typeface="Calibri" pitchFamily="34" charset="0"/>
                <a:ea typeface="Calibri" pitchFamily="34" charset="-122"/>
                <a:cs typeface="Calibri" pitchFamily="34" charset="-120"/>
              </a:rPr>
              <a:t>WHAT IT SURFACED</a:t>
            </a:r>
            <a:endParaRPr lang="en-US" sz="950" dirty="0"/>
          </a:p>
        </p:txBody>
      </p:sp>
      <p:sp>
        <p:nvSpPr>
          <p:cNvPr id="12" name="Text 9"/>
          <p:cNvSpPr txBox="1"/>
          <p:nvPr/>
        </p:nvSpPr>
        <p:spPr>
          <a:xfrm>
            <a:off x="8796528" y="3675888"/>
            <a:ext cx="2724912" cy="1234440"/>
          </a:xfrm>
          <a:prstGeom prst="rect">
            <a:avLst/>
          </a:prstGeom>
          <a:noFill/>
          <a:ln/>
        </p:spPr>
        <p:txBody>
          <a:bodyPr wrap="square" lIns="0" tIns="0" rIns="0" bIns="0" rtlCol="0" anchor="t"/>
          <a:lstStyle/>
          <a:p>
            <a:pPr algn="l" indent="0" marL="0">
              <a:lnSpc>
                <a:spcPts val="1650"/>
              </a:lnSpc>
              <a:buNone/>
            </a:pPr>
            <a:r>
              <a:rPr lang="en-US" sz="1150" dirty="0">
                <a:solidFill>
                  <a:srgbClr val="1B1A17"/>
                </a:solidFill>
                <a:latin typeface="Calibri" pitchFamily="34" charset="0"/>
                <a:ea typeface="Calibri" pitchFamily="34" charset="-122"/>
                <a:cs typeface="Calibri" pitchFamily="34" charset="-120"/>
              </a:rPr>
              <a:t>The question the business never asked — when must 280,000 customers reauthorize, and does marketing use need its own consent?</a:t>
            </a:r>
            <a:endParaRPr lang="en-US" sz="1150" dirty="0"/>
          </a:p>
        </p:txBody>
      </p:sp>
      <p:sp>
        <p:nvSpPr>
          <p:cNvPr id="13" name="Text 10"/>
          <p:cNvSpPr txBox="1"/>
          <p:nvPr/>
        </p:nvSpPr>
        <p:spPr>
          <a:xfrm>
            <a:off x="8796528" y="4773168"/>
            <a:ext cx="2724912" cy="237744"/>
          </a:xfrm>
          <a:prstGeom prst="rect">
            <a:avLst/>
          </a:prstGeom>
          <a:noFill/>
          <a:ln/>
        </p:spPr>
        <p:txBody>
          <a:bodyPr wrap="square" lIns="0" tIns="0" rIns="0" bIns="0" rtlCol="0" anchor="ctr"/>
          <a:lstStyle/>
          <a:p>
            <a:pPr indent="0" marL="0">
              <a:buNone/>
            </a:pPr>
            <a:r>
              <a:rPr lang="en-US" sz="950" b="1" spc="180" kern="0" dirty="0">
                <a:solidFill>
                  <a:srgbClr val="9A6F05"/>
                </a:solidFill>
                <a:latin typeface="Calibri" pitchFamily="34" charset="0"/>
                <a:ea typeface="Calibri" pitchFamily="34" charset="-122"/>
                <a:cs typeface="Calibri" pitchFamily="34" charset="-120"/>
              </a:rPr>
              <a:t>WHAT IT LEFT TO THE LAWYER</a:t>
            </a:r>
            <a:endParaRPr lang="en-US" sz="950" dirty="0"/>
          </a:p>
        </p:txBody>
      </p:sp>
      <p:sp>
        <p:nvSpPr>
          <p:cNvPr id="14" name="Text 11"/>
          <p:cNvSpPr txBox="1"/>
          <p:nvPr/>
        </p:nvSpPr>
        <p:spPr>
          <a:xfrm>
            <a:off x="8796528" y="5084064"/>
            <a:ext cx="2724912" cy="1234440"/>
          </a:xfrm>
          <a:prstGeom prst="rect">
            <a:avLst/>
          </a:prstGeom>
          <a:noFill/>
          <a:ln/>
        </p:spPr>
        <p:txBody>
          <a:bodyPr wrap="square" lIns="0" tIns="0" rIns="0" bIns="0" rtlCol="0" anchor="t"/>
          <a:lstStyle/>
          <a:p>
            <a:pPr algn="l" indent="0" marL="0">
              <a:lnSpc>
                <a:spcPts val="1650"/>
              </a:lnSpc>
              <a:buNone/>
            </a:pPr>
            <a:r>
              <a:rPr lang="en-US" sz="1150" dirty="0">
                <a:solidFill>
                  <a:srgbClr val="1B1A17"/>
                </a:solidFill>
                <a:latin typeface="Calibri" pitchFamily="34" charset="0"/>
                <a:ea typeface="Calibri" pitchFamily="34" charset="-122"/>
                <a:cs typeface="Calibri" pitchFamily="34" charset="-120"/>
              </a:rPr>
              <a:t>The decision, and the reason for it, recorded on the matter.</a:t>
            </a:r>
            <a:endParaRPr lang="en-US" sz="1150" dirty="0"/>
          </a:p>
        </p:txBody>
      </p:sp>
      <p:sp>
        <p:nvSpPr>
          <p:cNvPr id="15" name="Shape 12"/>
          <p:cNvSpPr/>
          <p:nvPr/>
        </p:nvSpPr>
        <p:spPr>
          <a:xfrm>
            <a:off x="685800" y="5669280"/>
            <a:ext cx="10820095" cy="566928"/>
          </a:xfrm>
          <a:prstGeom prst="roundRect">
            <a:avLst>
              <a:gd name="adj" fmla="val 9677"/>
            </a:avLst>
          </a:prstGeom>
          <a:solidFill>
            <a:srgbClr val="FBF3DC"/>
          </a:solidFill>
          <a:ln w="12700">
            <a:solidFill>
              <a:srgbClr val="FBF3DC"/>
            </a:solidFill>
            <a:prstDash val="solid"/>
          </a:ln>
        </p:spPr>
      </p:sp>
      <p:sp>
        <p:nvSpPr>
          <p:cNvPr id="16" name="Text 13"/>
          <p:cNvSpPr txBox="1"/>
          <p:nvPr/>
        </p:nvSpPr>
        <p:spPr>
          <a:xfrm>
            <a:off x="1069848" y="5779008"/>
            <a:ext cx="10051999" cy="365760"/>
          </a:xfrm>
          <a:prstGeom prst="rect">
            <a:avLst/>
          </a:prstGeom>
          <a:noFill/>
          <a:ln/>
        </p:spPr>
        <p:txBody>
          <a:bodyPr wrap="square" lIns="0" tIns="0" rIns="0" bIns="0" rtlCol="0" anchor="t"/>
          <a:lstStyle/>
          <a:p>
            <a:pPr algn="l" indent="0" marL="0">
              <a:lnSpc>
                <a:spcPts val="1900"/>
              </a:lnSpc>
              <a:buNone/>
            </a:pPr>
            <a:r>
              <a:rPr lang="en-US" sz="1500" i="1" dirty="0">
                <a:solidFill>
                  <a:srgbClr val="1B1A17"/>
                </a:solidFill>
                <a:latin typeface="Cambria" pitchFamily="34" charset="0"/>
                <a:ea typeface="Cambria" pitchFamily="34" charset="-122"/>
                <a:cs typeface="Cambria" pitchFamily="34" charset="-120"/>
              </a:rPr>
              <a:t>The lawyer never had to brief the matter. It was prepared before they opened it.</a:t>
            </a:r>
            <a:endParaRPr lang="en-US" sz="1500" dirty="0"/>
          </a:p>
        </p:txBody>
      </p:sp>
      <p:sp>
        <p:nvSpPr>
          <p:cNvPr id="17" name="Text 14"/>
          <p:cNvSpPr txBox="1"/>
          <p:nvPr/>
        </p:nvSpPr>
        <p:spPr>
          <a:xfrm>
            <a:off x="685800" y="6382512"/>
            <a:ext cx="10820095" cy="329184"/>
          </a:xfrm>
          <a:prstGeom prst="rect">
            <a:avLst/>
          </a:prstGeom>
          <a:noFill/>
          <a:ln/>
        </p:spPr>
        <p:txBody>
          <a:bodyPr wrap="square" lIns="0" tIns="0" rIns="0" bIns="0" rtlCol="0" anchor="t"/>
          <a:lstStyle/>
          <a:p>
            <a:pPr indent="0" marL="0">
              <a:buNone/>
            </a:pPr>
            <a:r>
              <a:rPr lang="en-US" sz="950" i="1" dirty="0">
                <a:solidFill>
                  <a:srgbClr val="6E6759"/>
                </a:solidFill>
                <a:latin typeface="Calibri" pitchFamily="34" charset="0"/>
                <a:ea typeface="Calibri" pitchFamily="34" charset="-122"/>
                <a:cs typeface="Calibri" pitchFamily="34" charset="-120"/>
              </a:rPr>
              <a:t>Working prototype, seeded with fictional matter data. This illustrates the preparation Themis produces; it is not a validated legal conclusion and does not establish that Themis found the issues unaided.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50F"/>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7772400" cy="310896"/>
          </a:xfrm>
          <a:prstGeom prst="rect">
            <a:avLst/>
          </a:prstGeom>
          <a:noFill/>
          <a:ln/>
        </p:spPr>
        <p:txBody>
          <a:bodyPr wrap="square" lIns="0" tIns="0" rIns="0" bIns="0" rtlCol="0" anchor="ctr"/>
          <a:lstStyle/>
          <a:p>
            <a:pPr indent="0" marL="0">
              <a:buNone/>
            </a:pPr>
            <a:r>
              <a:rPr lang="en-US" sz="1050" b="1" spc="220" kern="0" dirty="0">
                <a:solidFill>
                  <a:srgbClr val="E0A008"/>
                </a:solidFill>
                <a:latin typeface="Calibri" pitchFamily="34" charset="0"/>
                <a:ea typeface="Calibri" pitchFamily="34" charset="-122"/>
                <a:cs typeface="Calibri" pitchFamily="34" charset="-120"/>
              </a:rPr>
              <a:t>WHY WE WIN</a:t>
            </a:r>
            <a:endParaRPr lang="en-US" sz="1050" dirty="0"/>
          </a:p>
        </p:txBody>
      </p:sp>
      <p:sp>
        <p:nvSpPr>
          <p:cNvPr id="4" name="Text 2"/>
          <p:cNvSpPr txBox="1"/>
          <p:nvPr/>
        </p:nvSpPr>
        <p:spPr>
          <a:xfrm>
            <a:off x="10408615" y="347472"/>
            <a:ext cx="1097280" cy="310896"/>
          </a:xfrm>
          <a:prstGeom prst="rect">
            <a:avLst/>
          </a:prstGeom>
          <a:noFill/>
          <a:ln/>
        </p:spPr>
        <p:txBody>
          <a:bodyPr wrap="square" lIns="0" tIns="0" rIns="0" bIns="0" rtlCol="0" anchor="ctr"/>
          <a:lstStyle/>
          <a:p>
            <a:pPr algn="r" indent="0" marL="0">
              <a:buNone/>
            </a:pPr>
            <a:r>
              <a:rPr lang="en-US" sz="1050" b="1" spc="150" kern="0" dirty="0">
                <a:solidFill>
                  <a:srgbClr val="8F8879"/>
                </a:solidFill>
                <a:latin typeface="Calibri" pitchFamily="34" charset="0"/>
                <a:ea typeface="Calibri" pitchFamily="34" charset="-122"/>
                <a:cs typeface="Calibri" pitchFamily="34" charset="-120"/>
              </a:rPr>
              <a:t>05</a:t>
            </a:r>
            <a:endParaRPr lang="en-US" sz="1050" dirty="0"/>
          </a:p>
        </p:txBody>
      </p:sp>
      <p:sp>
        <p:nvSpPr>
          <p:cNvPr id="5" name="Text 3"/>
          <p:cNvSpPr txBox="1"/>
          <p:nvPr/>
        </p:nvSpPr>
        <p:spPr>
          <a:xfrm>
            <a:off x="685800" y="841248"/>
            <a:ext cx="10820095" cy="960120"/>
          </a:xfrm>
          <a:prstGeom prst="rect">
            <a:avLst/>
          </a:prstGeom>
          <a:noFill/>
          <a:ln/>
        </p:spPr>
        <p:txBody>
          <a:bodyPr wrap="square" lIns="0" tIns="0" rIns="0" bIns="0" rtlCol="0" anchor="t"/>
          <a:lstStyle/>
          <a:p>
            <a:pPr indent="0" marL="0">
              <a:lnSpc>
                <a:spcPts val="3800"/>
              </a:lnSpc>
              <a:buNone/>
            </a:pPr>
            <a:r>
              <a:rPr lang="en-US" sz="3300" b="1" dirty="0">
                <a:solidFill>
                  <a:srgbClr val="FFFFFF"/>
                </a:solidFill>
                <a:latin typeface="Cambria" pitchFamily="34" charset="0"/>
                <a:ea typeface="Cambria" pitchFamily="34" charset="-122"/>
                <a:cs typeface="Cambria" pitchFamily="34" charset="-120"/>
              </a:rPr>
              <a:t>Everyone else ships the answer.</a:t>
            </a:r>
            <a:endParaRPr lang="en-US" sz="3300" dirty="0"/>
          </a:p>
          <a:p>
            <a:pPr indent="0" marL="0">
              <a:lnSpc>
                <a:spcPts val="3800"/>
              </a:lnSpc>
              <a:buNone/>
            </a:pPr>
            <a:r>
              <a:rPr lang="en-US" sz="3300" b="1" dirty="0">
                <a:solidFill>
                  <a:srgbClr val="FFFFFF"/>
                </a:solidFill>
                <a:latin typeface="Cambria" pitchFamily="34" charset="0"/>
                <a:ea typeface="Cambria" pitchFamily="34" charset="-122"/>
                <a:cs typeface="Cambria" pitchFamily="34" charset="-120"/>
              </a:rPr>
              <a:t>Themis prepares the matter.</a:t>
            </a:r>
            <a:endParaRPr lang="en-US" sz="3300" dirty="0"/>
          </a:p>
        </p:txBody>
      </p:sp>
      <p:sp>
        <p:nvSpPr>
          <p:cNvPr id="6" name="Shape 4"/>
          <p:cNvSpPr/>
          <p:nvPr/>
        </p:nvSpPr>
        <p:spPr>
          <a:xfrm>
            <a:off x="5989320" y="1993392"/>
            <a:ext cx="5513832" cy="4041648"/>
          </a:xfrm>
          <a:prstGeom prst="roundRect">
            <a:avLst>
              <a:gd name="adj" fmla="val 1357"/>
            </a:avLst>
          </a:prstGeom>
          <a:solidFill>
            <a:srgbClr val="24221A"/>
          </a:solidFill>
          <a:ln w="9525">
            <a:solidFill>
              <a:srgbClr val="3A362B"/>
            </a:solidFill>
            <a:prstDash val="solid"/>
          </a:ln>
        </p:spPr>
      </p:sp>
      <p:sp>
        <p:nvSpPr>
          <p:cNvPr id="7" name="Text 5"/>
          <p:cNvSpPr txBox="1"/>
          <p:nvPr/>
        </p:nvSpPr>
        <p:spPr>
          <a:xfrm>
            <a:off x="685800" y="2212848"/>
            <a:ext cx="4892040" cy="237744"/>
          </a:xfrm>
          <a:prstGeom prst="rect">
            <a:avLst/>
          </a:prstGeom>
          <a:noFill/>
          <a:ln/>
        </p:spPr>
        <p:txBody>
          <a:bodyPr wrap="square" lIns="0" tIns="0" rIns="0" bIns="0" rtlCol="0" anchor="ctr"/>
          <a:lstStyle/>
          <a:p>
            <a:pPr indent="0" marL="0">
              <a:buNone/>
            </a:pPr>
            <a:r>
              <a:rPr lang="en-US" sz="950" b="1" spc="180" kern="0" dirty="0">
                <a:solidFill>
                  <a:srgbClr val="E0A008"/>
                </a:solidFill>
                <a:latin typeface="Calibri" pitchFamily="34" charset="0"/>
                <a:ea typeface="Calibri" pitchFamily="34" charset="-122"/>
                <a:cs typeface="Calibri" pitchFamily="34" charset="-120"/>
              </a:rPr>
              <a:t>THE DIFFERENCE</a:t>
            </a:r>
            <a:endParaRPr lang="en-US" sz="950" dirty="0"/>
          </a:p>
        </p:txBody>
      </p:sp>
      <p:sp>
        <p:nvSpPr>
          <p:cNvPr id="8" name="Shape 6"/>
          <p:cNvSpPr/>
          <p:nvPr/>
        </p:nvSpPr>
        <p:spPr>
          <a:xfrm>
            <a:off x="685800" y="2651760"/>
            <a:ext cx="86868" cy="86868"/>
          </a:xfrm>
          <a:prstGeom prst="rect">
            <a:avLst/>
          </a:prstGeom>
          <a:solidFill>
            <a:srgbClr val="5F5AC0"/>
          </a:solidFill>
          <a:ln w="12700">
            <a:solidFill>
              <a:srgbClr val="5F5AC0"/>
            </a:solidFill>
            <a:prstDash val="solid"/>
          </a:ln>
        </p:spPr>
      </p:sp>
      <p:sp>
        <p:nvSpPr>
          <p:cNvPr id="9" name="Text 7"/>
          <p:cNvSpPr txBox="1"/>
          <p:nvPr/>
        </p:nvSpPr>
        <p:spPr>
          <a:xfrm>
            <a:off x="923544" y="2578608"/>
            <a:ext cx="4654296" cy="274320"/>
          </a:xfrm>
          <a:prstGeom prst="rect">
            <a:avLst/>
          </a:prstGeom>
          <a:noFill/>
          <a:ln/>
        </p:spPr>
        <p:txBody>
          <a:bodyPr wrap="square" lIns="0" tIns="0" rIns="0" bIns="0" rtlCol="0" anchor="t"/>
          <a:lstStyle/>
          <a:p>
            <a:pPr algn="l" indent="0" marL="0">
              <a:lnSpc>
                <a:spcPts val="1900"/>
              </a:lnSpc>
              <a:buNone/>
            </a:pPr>
            <a:r>
              <a:rPr lang="en-US" sz="1300" b="1" dirty="0">
                <a:solidFill>
                  <a:srgbClr val="FFFFFF"/>
                </a:solidFill>
                <a:latin typeface="Calibri" pitchFamily="34" charset="0"/>
                <a:ea typeface="Calibri" pitchFamily="34" charset="-122"/>
                <a:cs typeface="Calibri" pitchFamily="34" charset="-120"/>
              </a:rPr>
              <a:t>General assistants</a:t>
            </a:r>
            <a:endParaRPr lang="en-US" sz="1300" dirty="0"/>
          </a:p>
        </p:txBody>
      </p:sp>
      <p:sp>
        <p:nvSpPr>
          <p:cNvPr id="10" name="Text 8"/>
          <p:cNvSpPr txBox="1"/>
          <p:nvPr/>
        </p:nvSpPr>
        <p:spPr>
          <a:xfrm>
            <a:off x="923544" y="2880360"/>
            <a:ext cx="4654296" cy="1005840"/>
          </a:xfrm>
          <a:prstGeom prst="rect">
            <a:avLst/>
          </a:prstGeom>
          <a:noFill/>
          <a:ln/>
        </p:spPr>
        <p:txBody>
          <a:bodyPr wrap="square" lIns="0" tIns="0" rIns="0" bIns="0" rtlCol="0" anchor="t"/>
          <a:lstStyle/>
          <a:p>
            <a:pPr algn="l" indent="0" marL="0">
              <a:lnSpc>
                <a:spcPts val="1700"/>
              </a:lnSpc>
              <a:buNone/>
            </a:pPr>
            <a:r>
              <a:rPr lang="en-US" sz="1200" dirty="0">
                <a:solidFill>
                  <a:srgbClr val="DCD7CB"/>
                </a:solidFill>
                <a:latin typeface="Calibri" pitchFamily="34" charset="0"/>
                <a:ea typeface="Calibri" pitchFamily="34" charset="-122"/>
                <a:cs typeface="Calibri" pitchFamily="34" charset="-120"/>
              </a:rPr>
              <a:t>Claude and ChatGPT are powerful and already on the lawyer’s desk. The lawyer still has to design the system and rebuild the context every time.</a:t>
            </a:r>
            <a:endParaRPr lang="en-US" sz="1200" dirty="0"/>
          </a:p>
        </p:txBody>
      </p:sp>
      <p:sp>
        <p:nvSpPr>
          <p:cNvPr id="11" name="Shape 9"/>
          <p:cNvSpPr/>
          <p:nvPr/>
        </p:nvSpPr>
        <p:spPr>
          <a:xfrm>
            <a:off x="685800" y="3858768"/>
            <a:ext cx="86868" cy="86868"/>
          </a:xfrm>
          <a:prstGeom prst="rect">
            <a:avLst/>
          </a:prstGeom>
          <a:solidFill>
            <a:srgbClr val="A8A296"/>
          </a:solidFill>
          <a:ln w="12700">
            <a:solidFill>
              <a:srgbClr val="A8A296"/>
            </a:solidFill>
            <a:prstDash val="solid"/>
          </a:ln>
        </p:spPr>
      </p:sp>
      <p:sp>
        <p:nvSpPr>
          <p:cNvPr id="12" name="Text 10"/>
          <p:cNvSpPr txBox="1"/>
          <p:nvPr/>
        </p:nvSpPr>
        <p:spPr>
          <a:xfrm>
            <a:off x="923544" y="3785616"/>
            <a:ext cx="4654296" cy="274320"/>
          </a:xfrm>
          <a:prstGeom prst="rect">
            <a:avLst/>
          </a:prstGeom>
          <a:noFill/>
          <a:ln/>
        </p:spPr>
        <p:txBody>
          <a:bodyPr wrap="square" lIns="0" tIns="0" rIns="0" bIns="0" rtlCol="0" anchor="t"/>
          <a:lstStyle/>
          <a:p>
            <a:pPr algn="l" indent="0" marL="0">
              <a:lnSpc>
                <a:spcPts val="1900"/>
              </a:lnSpc>
              <a:buNone/>
            </a:pPr>
            <a:r>
              <a:rPr lang="en-US" sz="1300" b="1" dirty="0">
                <a:solidFill>
                  <a:srgbClr val="FFFFFF"/>
                </a:solidFill>
                <a:latin typeface="Calibri" pitchFamily="34" charset="0"/>
                <a:ea typeface="Calibri" pitchFamily="34" charset="-122"/>
                <a:cs typeface="Calibri" pitchFamily="34" charset="-120"/>
              </a:rPr>
              <a:t>Legal platforms</a:t>
            </a:r>
            <a:endParaRPr lang="en-US" sz="1300" dirty="0"/>
          </a:p>
        </p:txBody>
      </p:sp>
      <p:sp>
        <p:nvSpPr>
          <p:cNvPr id="13" name="Text 11"/>
          <p:cNvSpPr txBox="1"/>
          <p:nvPr/>
        </p:nvSpPr>
        <p:spPr>
          <a:xfrm>
            <a:off x="923544" y="4087368"/>
            <a:ext cx="4654296" cy="1005840"/>
          </a:xfrm>
          <a:prstGeom prst="rect">
            <a:avLst/>
          </a:prstGeom>
          <a:noFill/>
          <a:ln/>
        </p:spPr>
        <p:txBody>
          <a:bodyPr wrap="square" lIns="0" tIns="0" rIns="0" bIns="0" rtlCol="0" anchor="t"/>
          <a:lstStyle/>
          <a:p>
            <a:pPr algn="l" indent="0" marL="0">
              <a:lnSpc>
                <a:spcPts val="1700"/>
              </a:lnSpc>
              <a:buNone/>
            </a:pPr>
            <a:r>
              <a:rPr lang="en-US" sz="1200" dirty="0">
                <a:solidFill>
                  <a:srgbClr val="DCD7CB"/>
                </a:solidFill>
                <a:latin typeface="Calibri" pitchFamily="34" charset="0"/>
                <a:ea typeface="Calibri" pitchFamily="34" charset="-122"/>
                <a:cs typeface="Calibri" pitchFamily="34" charset="-120"/>
              </a:rPr>
              <a:t>Harvey, Legora, CoCounsel and GC AI produce strong work product — built for firms and departments with the staff to run them.</a:t>
            </a:r>
            <a:endParaRPr lang="en-US" sz="1200" dirty="0"/>
          </a:p>
        </p:txBody>
      </p:sp>
      <p:sp>
        <p:nvSpPr>
          <p:cNvPr id="14" name="Shape 12"/>
          <p:cNvSpPr/>
          <p:nvPr/>
        </p:nvSpPr>
        <p:spPr>
          <a:xfrm>
            <a:off x="521208" y="4791456"/>
            <a:ext cx="5166360" cy="1234440"/>
          </a:xfrm>
          <a:prstGeom prst="roundRect">
            <a:avLst>
              <a:gd name="adj" fmla="val 4444"/>
            </a:avLst>
          </a:prstGeom>
          <a:solidFill>
            <a:srgbClr val="2E2712"/>
          </a:solidFill>
          <a:ln w="9525">
            <a:solidFill>
              <a:srgbClr val="5A4A18"/>
            </a:solidFill>
            <a:prstDash val="solid"/>
          </a:ln>
        </p:spPr>
      </p:sp>
      <p:sp>
        <p:nvSpPr>
          <p:cNvPr id="15" name="Shape 13"/>
          <p:cNvSpPr/>
          <p:nvPr/>
        </p:nvSpPr>
        <p:spPr>
          <a:xfrm>
            <a:off x="685800" y="5065776"/>
            <a:ext cx="86868" cy="86868"/>
          </a:xfrm>
          <a:prstGeom prst="rect">
            <a:avLst/>
          </a:prstGeom>
          <a:solidFill>
            <a:srgbClr val="E0A008"/>
          </a:solidFill>
          <a:ln w="12700">
            <a:solidFill>
              <a:srgbClr val="E0A008"/>
            </a:solidFill>
            <a:prstDash val="solid"/>
          </a:ln>
        </p:spPr>
      </p:sp>
      <p:sp>
        <p:nvSpPr>
          <p:cNvPr id="16" name="Text 14"/>
          <p:cNvSpPr txBox="1"/>
          <p:nvPr/>
        </p:nvSpPr>
        <p:spPr>
          <a:xfrm>
            <a:off x="923544" y="4992624"/>
            <a:ext cx="4654296" cy="274320"/>
          </a:xfrm>
          <a:prstGeom prst="rect">
            <a:avLst/>
          </a:prstGeom>
          <a:noFill/>
          <a:ln/>
        </p:spPr>
        <p:txBody>
          <a:bodyPr wrap="square" lIns="0" tIns="0" rIns="0" bIns="0" rtlCol="0" anchor="t"/>
          <a:lstStyle/>
          <a:p>
            <a:pPr algn="l" indent="0" marL="0">
              <a:lnSpc>
                <a:spcPts val="1900"/>
              </a:lnSpc>
              <a:buNone/>
            </a:pPr>
            <a:r>
              <a:rPr lang="en-US" sz="1300" b="1" dirty="0">
                <a:solidFill>
                  <a:srgbClr val="FFFFFF"/>
                </a:solidFill>
                <a:latin typeface="Calibri" pitchFamily="34" charset="0"/>
                <a:ea typeface="Calibri" pitchFamily="34" charset="-122"/>
                <a:cs typeface="Calibri" pitchFamily="34" charset="-120"/>
              </a:rPr>
              <a:t>Themis</a:t>
            </a:r>
            <a:endParaRPr lang="en-US" sz="1300" dirty="0"/>
          </a:p>
        </p:txBody>
      </p:sp>
      <p:sp>
        <p:nvSpPr>
          <p:cNvPr id="17" name="Text 15"/>
          <p:cNvSpPr txBox="1"/>
          <p:nvPr/>
        </p:nvSpPr>
        <p:spPr>
          <a:xfrm>
            <a:off x="923544" y="5294376"/>
            <a:ext cx="4654296" cy="1005840"/>
          </a:xfrm>
          <a:prstGeom prst="rect">
            <a:avLst/>
          </a:prstGeom>
          <a:noFill/>
          <a:ln/>
        </p:spPr>
        <p:txBody>
          <a:bodyPr wrap="square" lIns="0" tIns="0" rIns="0" bIns="0" rtlCol="0" anchor="t"/>
          <a:lstStyle/>
          <a:p>
            <a:pPr algn="l" indent="0" marL="0">
              <a:lnSpc>
                <a:spcPts val="1700"/>
              </a:lnSpc>
              <a:buNone/>
            </a:pPr>
            <a:r>
              <a:rPr lang="en-US" sz="1200" dirty="0">
                <a:solidFill>
                  <a:srgbClr val="DCD7CB"/>
                </a:solidFill>
                <a:latin typeface="Calibri" pitchFamily="34" charset="0"/>
                <a:ea typeface="Calibri" pitchFamily="34" charset="-122"/>
                <a:cs typeface="Calibri" pitchFamily="34" charset="-120"/>
              </a:rPr>
              <a:t>The matter is already prepared when the lawyer opens it. One lawyer. No configuration.</a:t>
            </a:r>
            <a:endParaRPr lang="en-US" sz="1200" dirty="0"/>
          </a:p>
        </p:txBody>
      </p:sp>
      <p:sp>
        <p:nvSpPr>
          <p:cNvPr id="18" name="Text 16"/>
          <p:cNvSpPr txBox="1"/>
          <p:nvPr/>
        </p:nvSpPr>
        <p:spPr>
          <a:xfrm>
            <a:off x="6355080" y="2212848"/>
            <a:ext cx="4892040" cy="237744"/>
          </a:xfrm>
          <a:prstGeom prst="rect">
            <a:avLst/>
          </a:prstGeom>
          <a:noFill/>
          <a:ln/>
        </p:spPr>
        <p:txBody>
          <a:bodyPr wrap="square" lIns="0" tIns="0" rIns="0" bIns="0" rtlCol="0" anchor="ctr"/>
          <a:lstStyle/>
          <a:p>
            <a:pPr indent="0" marL="0">
              <a:buNone/>
            </a:pPr>
            <a:r>
              <a:rPr lang="en-US" sz="950" b="1" spc="180" kern="0" dirty="0">
                <a:solidFill>
                  <a:srgbClr val="E0A008"/>
                </a:solidFill>
                <a:latin typeface="Calibri" pitchFamily="34" charset="0"/>
                <a:ea typeface="Calibri" pitchFamily="34" charset="-122"/>
                <a:cs typeface="Calibri" pitchFamily="34" charset="-120"/>
              </a:rPr>
              <a:t>WHY IT COMPOUNDS</a:t>
            </a:r>
            <a:endParaRPr lang="en-US" sz="950" dirty="0"/>
          </a:p>
        </p:txBody>
      </p:sp>
      <p:sp>
        <p:nvSpPr>
          <p:cNvPr id="19" name="Text 17"/>
          <p:cNvSpPr txBox="1"/>
          <p:nvPr/>
        </p:nvSpPr>
        <p:spPr>
          <a:xfrm>
            <a:off x="6355080" y="2578608"/>
            <a:ext cx="4892040" cy="292608"/>
          </a:xfrm>
          <a:prstGeom prst="rect">
            <a:avLst/>
          </a:prstGeom>
          <a:noFill/>
          <a:ln/>
        </p:spPr>
        <p:txBody>
          <a:bodyPr wrap="square" lIns="0" tIns="0" rIns="0" bIns="0" rtlCol="0" anchor="t"/>
          <a:lstStyle/>
          <a:p>
            <a:pPr algn="l" indent="0" marL="0">
              <a:lnSpc>
                <a:spcPts val="1900"/>
              </a:lnSpc>
              <a:buNone/>
            </a:pPr>
            <a:r>
              <a:rPr lang="en-US" sz="1300" b="1" dirty="0">
                <a:solidFill>
                  <a:srgbClr val="FFFFFF"/>
                </a:solidFill>
                <a:latin typeface="Calibri" pitchFamily="34" charset="0"/>
                <a:ea typeface="Calibri" pitchFamily="34" charset="-122"/>
                <a:cs typeface="Calibri" pitchFamily="34" charset="-120"/>
              </a:rPr>
              <a:t>Every matter leaves a record.</a:t>
            </a:r>
            <a:endParaRPr lang="en-US" sz="1300" dirty="0"/>
          </a:p>
        </p:txBody>
      </p:sp>
      <p:sp>
        <p:nvSpPr>
          <p:cNvPr id="20" name="Text 18"/>
          <p:cNvSpPr txBox="1"/>
          <p:nvPr/>
        </p:nvSpPr>
        <p:spPr>
          <a:xfrm>
            <a:off x="6355080" y="2880360"/>
            <a:ext cx="4892040" cy="1005840"/>
          </a:xfrm>
          <a:prstGeom prst="rect">
            <a:avLst/>
          </a:prstGeom>
          <a:noFill/>
          <a:ln/>
        </p:spPr>
        <p:txBody>
          <a:bodyPr wrap="square" lIns="0" tIns="0" rIns="0" bIns="0" rtlCol="0" anchor="t"/>
          <a:lstStyle/>
          <a:p>
            <a:pPr algn="l" indent="0" marL="0">
              <a:lnSpc>
                <a:spcPts val="1700"/>
              </a:lnSpc>
              <a:buNone/>
            </a:pPr>
            <a:r>
              <a:rPr lang="en-US" sz="1200" dirty="0">
                <a:solidFill>
                  <a:srgbClr val="DCD7CB"/>
                </a:solidFill>
                <a:latin typeface="Calibri" pitchFamily="34" charset="0"/>
                <a:ea typeface="Calibri" pitchFamily="34" charset="-122"/>
                <a:cs typeface="Calibri" pitchFamily="34" charset="-120"/>
              </a:rPr>
              <a:t>The facts, the assumptions, the options considered, the decision — and the reason for it.</a:t>
            </a:r>
            <a:endParaRPr lang="en-US" sz="1200" dirty="0"/>
          </a:p>
        </p:txBody>
      </p:sp>
      <p:sp>
        <p:nvSpPr>
          <p:cNvPr id="21" name="Text 19"/>
          <p:cNvSpPr txBox="1"/>
          <p:nvPr/>
        </p:nvSpPr>
        <p:spPr>
          <a:xfrm>
            <a:off x="6355080" y="3785616"/>
            <a:ext cx="4892040" cy="292608"/>
          </a:xfrm>
          <a:prstGeom prst="rect">
            <a:avLst/>
          </a:prstGeom>
          <a:noFill/>
          <a:ln/>
        </p:spPr>
        <p:txBody>
          <a:bodyPr wrap="square" lIns="0" tIns="0" rIns="0" bIns="0" rtlCol="0" anchor="t"/>
          <a:lstStyle/>
          <a:p>
            <a:pPr algn="l" indent="0" marL="0">
              <a:lnSpc>
                <a:spcPts val="1900"/>
              </a:lnSpc>
              <a:buNone/>
            </a:pPr>
            <a:r>
              <a:rPr lang="en-US" sz="1300" b="1" dirty="0">
                <a:solidFill>
                  <a:srgbClr val="FFFFFF"/>
                </a:solidFill>
                <a:latin typeface="Calibri" pitchFamily="34" charset="0"/>
                <a:ea typeface="Calibri" pitchFamily="34" charset="-122"/>
                <a:cs typeface="Calibri" pitchFamily="34" charset="-120"/>
              </a:rPr>
              <a:t>The record is the lawyer’s own precedent library.</a:t>
            </a:r>
            <a:endParaRPr lang="en-US" sz="1300" dirty="0"/>
          </a:p>
        </p:txBody>
      </p:sp>
      <p:sp>
        <p:nvSpPr>
          <p:cNvPr id="22" name="Text 20"/>
          <p:cNvSpPr txBox="1"/>
          <p:nvPr/>
        </p:nvSpPr>
        <p:spPr>
          <a:xfrm>
            <a:off x="6355080" y="4087368"/>
            <a:ext cx="4892040" cy="1005840"/>
          </a:xfrm>
          <a:prstGeom prst="rect">
            <a:avLst/>
          </a:prstGeom>
          <a:noFill/>
          <a:ln/>
        </p:spPr>
        <p:txBody>
          <a:bodyPr wrap="square" lIns="0" tIns="0" rIns="0" bIns="0" rtlCol="0" anchor="t"/>
          <a:lstStyle/>
          <a:p>
            <a:pPr algn="l" indent="0" marL="0">
              <a:lnSpc>
                <a:spcPts val="1700"/>
              </a:lnSpc>
              <a:buNone/>
            </a:pPr>
            <a:r>
              <a:rPr lang="en-US" sz="1200" dirty="0">
                <a:solidFill>
                  <a:srgbClr val="DCD7CB"/>
                </a:solidFill>
                <a:latin typeface="Calibri" pitchFamily="34" charset="0"/>
                <a:ea typeface="Calibri" pitchFamily="34" charset="-122"/>
                <a:cs typeface="Calibri" pitchFamily="34" charset="-120"/>
              </a:rPr>
              <a:t>It is not in the model, it is not in the vendor, and it does not transfer when they switch.</a:t>
            </a:r>
            <a:endParaRPr lang="en-US" sz="1200" dirty="0"/>
          </a:p>
        </p:txBody>
      </p:sp>
      <p:sp>
        <p:nvSpPr>
          <p:cNvPr id="23" name="Text 21"/>
          <p:cNvSpPr txBox="1"/>
          <p:nvPr/>
        </p:nvSpPr>
        <p:spPr>
          <a:xfrm>
            <a:off x="6355080" y="4992624"/>
            <a:ext cx="4892040" cy="292608"/>
          </a:xfrm>
          <a:prstGeom prst="rect">
            <a:avLst/>
          </a:prstGeom>
          <a:noFill/>
          <a:ln/>
        </p:spPr>
        <p:txBody>
          <a:bodyPr wrap="square" lIns="0" tIns="0" rIns="0" bIns="0" rtlCol="0" anchor="t"/>
          <a:lstStyle/>
          <a:p>
            <a:pPr algn="l" indent="0" marL="0">
              <a:lnSpc>
                <a:spcPts val="1900"/>
              </a:lnSpc>
              <a:buNone/>
            </a:pPr>
            <a:r>
              <a:rPr lang="en-US" sz="1300" b="1" dirty="0">
                <a:solidFill>
                  <a:srgbClr val="FFFFFF"/>
                </a:solidFill>
                <a:latin typeface="Calibri" pitchFamily="34" charset="0"/>
                <a:ea typeface="Calibri" pitchFamily="34" charset="-122"/>
                <a:cs typeface="Calibri" pitchFamily="34" charset="-120"/>
              </a:rPr>
              <a:t>Recommendation and recorded decision stay separate.</a:t>
            </a:r>
            <a:endParaRPr lang="en-US" sz="1300" dirty="0"/>
          </a:p>
        </p:txBody>
      </p:sp>
      <p:sp>
        <p:nvSpPr>
          <p:cNvPr id="24" name="Text 22"/>
          <p:cNvSpPr txBox="1"/>
          <p:nvPr/>
        </p:nvSpPr>
        <p:spPr>
          <a:xfrm>
            <a:off x="6355080" y="5294376"/>
            <a:ext cx="4892040" cy="1005840"/>
          </a:xfrm>
          <a:prstGeom prst="rect">
            <a:avLst/>
          </a:prstGeom>
          <a:noFill/>
          <a:ln/>
        </p:spPr>
        <p:txBody>
          <a:bodyPr wrap="square" lIns="0" tIns="0" rIns="0" bIns="0" rtlCol="0" anchor="t"/>
          <a:lstStyle/>
          <a:p>
            <a:pPr algn="l" indent="0" marL="0">
              <a:lnSpc>
                <a:spcPts val="1700"/>
              </a:lnSpc>
              <a:buNone/>
            </a:pPr>
            <a:r>
              <a:rPr lang="en-US" sz="1200" dirty="0">
                <a:solidFill>
                  <a:srgbClr val="DCD7CB"/>
                </a:solidFill>
                <a:latin typeface="Calibri" pitchFamily="34" charset="0"/>
                <a:ea typeface="Calibri" pitchFamily="34" charset="-122"/>
                <a:cs typeface="Calibri" pitchFamily="34" charset="-120"/>
              </a:rPr>
              <a:t>That is an architecture choice, not a feature, and it is not something a general answer engine retrofits.</a:t>
            </a:r>
            <a:endParaRPr lang="en-US" sz="1200" dirty="0"/>
          </a:p>
        </p:txBody>
      </p:sp>
      <p:sp>
        <p:nvSpPr>
          <p:cNvPr id="25" name="Text 23"/>
          <p:cNvSpPr txBox="1"/>
          <p:nvPr/>
        </p:nvSpPr>
        <p:spPr>
          <a:xfrm>
            <a:off x="685800" y="6382512"/>
            <a:ext cx="10820095" cy="329184"/>
          </a:xfrm>
          <a:prstGeom prst="rect">
            <a:avLst/>
          </a:prstGeom>
          <a:noFill/>
          <a:ln/>
        </p:spPr>
        <p:txBody>
          <a:bodyPr wrap="square" lIns="0" tIns="0" rIns="0" bIns="0" rtlCol="0" anchor="t"/>
          <a:lstStyle/>
          <a:p>
            <a:pPr indent="0" marL="0">
              <a:buNone/>
            </a:pPr>
            <a:r>
              <a:rPr lang="en-US" sz="950" i="1" dirty="0">
                <a:solidFill>
                  <a:srgbClr val="8F8879"/>
                </a:solidFill>
                <a:latin typeface="Calibri" pitchFamily="34" charset="0"/>
                <a:ea typeface="Calibri" pitchFamily="34" charset="-122"/>
                <a:cs typeface="Calibri" pitchFamily="34" charset="-120"/>
              </a:rPr>
              <a:t>Feature overlap with these alternatives is substantial and several already market judgment support and playbook adaptation. Positioning comparison, not a controlled benchmark. Detail at slide 13.</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7772400" cy="310896"/>
          </a:xfrm>
          <a:prstGeom prst="rect">
            <a:avLst/>
          </a:prstGeom>
          <a:noFill/>
          <a:ln/>
        </p:spPr>
        <p:txBody>
          <a:bodyPr wrap="square" lIns="0" tIns="0" rIns="0" bIns="0" rtlCol="0" anchor="ctr"/>
          <a:lstStyle/>
          <a:p>
            <a:pPr indent="0" marL="0">
              <a:buNone/>
            </a:pPr>
            <a:r>
              <a:rPr lang="en-US" sz="1050" b="1" spc="220" kern="0" dirty="0">
                <a:solidFill>
                  <a:srgbClr val="9A6F05"/>
                </a:solidFill>
                <a:latin typeface="Calibri" pitchFamily="34" charset="0"/>
                <a:ea typeface="Calibri" pitchFamily="34" charset="-122"/>
                <a:cs typeface="Calibri" pitchFamily="34" charset="-120"/>
              </a:rPr>
              <a:t>WHY US</a:t>
            </a:r>
            <a:endParaRPr lang="en-US" sz="1050" dirty="0"/>
          </a:p>
        </p:txBody>
      </p:sp>
      <p:sp>
        <p:nvSpPr>
          <p:cNvPr id="4" name="Text 2"/>
          <p:cNvSpPr txBox="1"/>
          <p:nvPr/>
        </p:nvSpPr>
        <p:spPr>
          <a:xfrm>
            <a:off x="10408615" y="347472"/>
            <a:ext cx="1097280" cy="310896"/>
          </a:xfrm>
          <a:prstGeom prst="rect">
            <a:avLst/>
          </a:prstGeom>
          <a:noFill/>
          <a:ln/>
        </p:spPr>
        <p:txBody>
          <a:bodyPr wrap="square" lIns="0" tIns="0" rIns="0" bIns="0" rtlCol="0" anchor="ctr"/>
          <a:lstStyle/>
          <a:p>
            <a:pPr algn="r" indent="0" marL="0">
              <a:buNone/>
            </a:pPr>
            <a:r>
              <a:rPr lang="en-US" sz="1050" b="1" spc="150" kern="0" dirty="0">
                <a:solidFill>
                  <a:srgbClr val="6E6759"/>
                </a:solidFill>
                <a:latin typeface="Calibri" pitchFamily="34" charset="0"/>
                <a:ea typeface="Calibri" pitchFamily="34" charset="-122"/>
                <a:cs typeface="Calibri" pitchFamily="34" charset="-120"/>
              </a:rPr>
              <a:t>06</a:t>
            </a:r>
            <a:endParaRPr lang="en-US" sz="1050" dirty="0"/>
          </a:p>
        </p:txBody>
      </p:sp>
      <p:sp>
        <p:nvSpPr>
          <p:cNvPr id="5" name="Text 3"/>
          <p:cNvSpPr txBox="1"/>
          <p:nvPr/>
        </p:nvSpPr>
        <p:spPr>
          <a:xfrm>
            <a:off x="685800" y="841248"/>
            <a:ext cx="10820095" cy="548640"/>
          </a:xfrm>
          <a:prstGeom prst="rect">
            <a:avLst/>
          </a:prstGeom>
          <a:noFill/>
          <a:ln/>
        </p:spPr>
        <p:txBody>
          <a:bodyPr wrap="square" lIns="0" tIns="0" rIns="0" bIns="0" rtlCol="0" anchor="t"/>
          <a:lstStyle/>
          <a:p>
            <a:pPr indent="0" marL="0">
              <a:lnSpc>
                <a:spcPts val="3800"/>
              </a:lnSpc>
              <a:buNone/>
            </a:pPr>
            <a:r>
              <a:rPr lang="en-US" sz="3300" b="1" dirty="0">
                <a:solidFill>
                  <a:srgbClr val="1B1A17"/>
                </a:solidFill>
                <a:latin typeface="Cambria" pitchFamily="34" charset="0"/>
                <a:ea typeface="Cambria" pitchFamily="34" charset="-122"/>
                <a:cs typeface="Cambria" pitchFamily="34" charset="-120"/>
              </a:rPr>
              <a:t>Built by the buyer.</a:t>
            </a:r>
            <a:endParaRPr lang="en-US" sz="3300" dirty="0"/>
          </a:p>
        </p:txBody>
      </p:sp>
      <p:sp>
        <p:nvSpPr>
          <p:cNvPr id="6" name="Shape 4"/>
          <p:cNvSpPr/>
          <p:nvPr/>
        </p:nvSpPr>
        <p:spPr>
          <a:xfrm>
            <a:off x="685800" y="1783080"/>
            <a:ext cx="3520440" cy="3246120"/>
          </a:xfrm>
          <a:prstGeom prst="roundRect">
            <a:avLst>
              <a:gd name="adj" fmla="val 1690"/>
            </a:avLst>
          </a:prstGeom>
          <a:solidFill>
            <a:srgbClr val="F1EDE3"/>
          </a:solidFill>
          <a:ln w="9525">
            <a:solidFill>
              <a:srgbClr val="E3DED3"/>
            </a:solidFill>
            <a:prstDash val="solid"/>
          </a:ln>
        </p:spPr>
      </p:sp>
      <p:sp>
        <p:nvSpPr>
          <p:cNvPr id="7" name="Text 5"/>
          <p:cNvSpPr txBox="1"/>
          <p:nvPr/>
        </p:nvSpPr>
        <p:spPr>
          <a:xfrm>
            <a:off x="1005840" y="2057400"/>
            <a:ext cx="2926080" cy="457200"/>
          </a:xfrm>
          <a:prstGeom prst="rect">
            <a:avLst/>
          </a:prstGeom>
          <a:noFill/>
          <a:ln/>
        </p:spPr>
        <p:txBody>
          <a:bodyPr wrap="square" lIns="0" tIns="0" rIns="0" bIns="0" rtlCol="0" anchor="ctr"/>
          <a:lstStyle/>
          <a:p>
            <a:pPr indent="0" marL="0">
              <a:buNone/>
            </a:pPr>
            <a:r>
              <a:rPr lang="en-US" sz="2700" b="1" dirty="0">
                <a:solidFill>
                  <a:srgbClr val="1B1A17"/>
                </a:solidFill>
                <a:latin typeface="Cambria" pitchFamily="34" charset="0"/>
                <a:ea typeface="Cambria" pitchFamily="34" charset="-122"/>
                <a:cs typeface="Cambria" pitchFamily="34" charset="-120"/>
              </a:rPr>
              <a:t>Brian Harris</a:t>
            </a:r>
            <a:endParaRPr lang="en-US" sz="2700" dirty="0"/>
          </a:p>
        </p:txBody>
      </p:sp>
      <p:sp>
        <p:nvSpPr>
          <p:cNvPr id="8" name="Text 6"/>
          <p:cNvSpPr txBox="1"/>
          <p:nvPr/>
        </p:nvSpPr>
        <p:spPr>
          <a:xfrm>
            <a:off x="1005840" y="2542032"/>
            <a:ext cx="2926080" cy="274320"/>
          </a:xfrm>
          <a:prstGeom prst="rect">
            <a:avLst/>
          </a:prstGeom>
          <a:noFill/>
          <a:ln/>
        </p:spPr>
        <p:txBody>
          <a:bodyPr wrap="square" lIns="0" tIns="0" rIns="0" bIns="0" rtlCol="0" anchor="t"/>
          <a:lstStyle/>
          <a:p>
            <a:pPr algn="l" indent="0" marL="0">
              <a:lnSpc>
                <a:spcPts val="1900"/>
              </a:lnSpc>
              <a:buNone/>
            </a:pPr>
            <a:r>
              <a:rPr lang="en-US" sz="1250" dirty="0">
                <a:solidFill>
                  <a:srgbClr val="6E6759"/>
                </a:solidFill>
                <a:latin typeface="Calibri" pitchFamily="34" charset="0"/>
                <a:ea typeface="Calibri" pitchFamily="34" charset="-122"/>
                <a:cs typeface="Calibri" pitchFamily="34" charset="-120"/>
              </a:rPr>
              <a:t>Sole founder</a:t>
            </a:r>
            <a:endParaRPr lang="en-US" sz="1250" dirty="0"/>
          </a:p>
        </p:txBody>
      </p:sp>
      <p:sp>
        <p:nvSpPr>
          <p:cNvPr id="9" name="Text 7"/>
          <p:cNvSpPr txBox="1"/>
          <p:nvPr/>
        </p:nvSpPr>
        <p:spPr>
          <a:xfrm>
            <a:off x="1005840" y="3063240"/>
            <a:ext cx="2926080" cy="640080"/>
          </a:xfrm>
          <a:prstGeom prst="rect">
            <a:avLst/>
          </a:prstGeom>
          <a:noFill/>
          <a:ln/>
        </p:spPr>
        <p:txBody>
          <a:bodyPr wrap="square" lIns="0" tIns="0" rIns="0" bIns="0" rtlCol="0" anchor="ctr"/>
          <a:lstStyle/>
          <a:p>
            <a:pPr indent="0" marL="0">
              <a:buNone/>
            </a:pPr>
            <a:r>
              <a:rPr lang="en-US" sz="3800" b="1" dirty="0">
                <a:solidFill>
                  <a:srgbClr val="9A6F05"/>
                </a:solidFill>
                <a:latin typeface="Cambria" pitchFamily="34" charset="0"/>
                <a:ea typeface="Cambria" pitchFamily="34" charset="-122"/>
                <a:cs typeface="Cambria" pitchFamily="34" charset="-120"/>
              </a:rPr>
              <a:t>17 years</a:t>
            </a:r>
            <a:endParaRPr lang="en-US" sz="3800" dirty="0"/>
          </a:p>
        </p:txBody>
      </p:sp>
      <p:sp>
        <p:nvSpPr>
          <p:cNvPr id="10" name="Text 8"/>
          <p:cNvSpPr txBox="1"/>
          <p:nvPr/>
        </p:nvSpPr>
        <p:spPr>
          <a:xfrm>
            <a:off x="1005840" y="3794760"/>
            <a:ext cx="2880360" cy="914400"/>
          </a:xfrm>
          <a:prstGeom prst="rect">
            <a:avLst/>
          </a:prstGeom>
          <a:noFill/>
          <a:ln/>
        </p:spPr>
        <p:txBody>
          <a:bodyPr wrap="square" lIns="0" tIns="0" rIns="0" bIns="0" rtlCol="0" anchor="t"/>
          <a:lstStyle/>
          <a:p>
            <a:pPr algn="l" indent="0" marL="0">
              <a:lnSpc>
                <a:spcPts val="1750"/>
              </a:lnSpc>
              <a:buNone/>
            </a:pPr>
            <a:r>
              <a:rPr lang="en-US" sz="1250" dirty="0">
                <a:solidFill>
                  <a:srgbClr val="1B1A17"/>
                </a:solidFill>
                <a:latin typeface="Calibri" pitchFamily="34" charset="0"/>
                <a:ea typeface="Calibri" pitchFamily="34" charset="-122"/>
                <a:cs typeface="Calibri" pitchFamily="34" charset="-120"/>
              </a:rPr>
              <a:t>practicing law, including two founding general counsel roles and product counsel at scale.</a:t>
            </a:r>
            <a:endParaRPr lang="en-US" sz="1250" dirty="0"/>
          </a:p>
        </p:txBody>
      </p:sp>
      <p:sp>
        <p:nvSpPr>
          <p:cNvPr id="11" name="Shape 9"/>
          <p:cNvSpPr/>
          <p:nvPr/>
        </p:nvSpPr>
        <p:spPr>
          <a:xfrm>
            <a:off x="4617720" y="1929384"/>
            <a:ext cx="86868" cy="86868"/>
          </a:xfrm>
          <a:prstGeom prst="rect">
            <a:avLst/>
          </a:prstGeom>
          <a:solidFill>
            <a:srgbClr val="E0A008"/>
          </a:solidFill>
          <a:ln w="12700">
            <a:solidFill>
              <a:srgbClr val="E0A008"/>
            </a:solidFill>
            <a:prstDash val="solid"/>
          </a:ln>
        </p:spPr>
      </p:sp>
      <p:sp>
        <p:nvSpPr>
          <p:cNvPr id="12" name="Text 10"/>
          <p:cNvSpPr txBox="1"/>
          <p:nvPr/>
        </p:nvSpPr>
        <p:spPr>
          <a:xfrm>
            <a:off x="4855464" y="1847088"/>
            <a:ext cx="6665976" cy="256032"/>
          </a:xfrm>
          <a:prstGeom prst="rect">
            <a:avLst/>
          </a:prstGeom>
          <a:noFill/>
          <a:ln/>
        </p:spPr>
        <p:txBody>
          <a:bodyPr wrap="square" lIns="0" tIns="0" rIns="0" bIns="0" rtlCol="0" anchor="t"/>
          <a:lstStyle/>
          <a:p>
            <a:pPr algn="l" indent="0" marL="0">
              <a:lnSpc>
                <a:spcPts val="1900"/>
              </a:lnSpc>
              <a:buNone/>
            </a:pPr>
            <a:r>
              <a:rPr lang="en-US" sz="1000" b="1" dirty="0">
                <a:solidFill>
                  <a:srgbClr val="9A6F05"/>
                </a:solidFill>
                <a:latin typeface="Calibri" pitchFamily="34" charset="0"/>
                <a:ea typeface="Calibri" pitchFamily="34" charset="-122"/>
                <a:cs typeface="Calibri" pitchFamily="34" charset="-120"/>
              </a:rPr>
              <a:t>SETTLE  ·  MANIFEST</a:t>
            </a:r>
            <a:endParaRPr lang="en-US" sz="1000" dirty="0"/>
          </a:p>
        </p:txBody>
      </p:sp>
      <p:sp>
        <p:nvSpPr>
          <p:cNvPr id="13" name="Text 11"/>
          <p:cNvSpPr txBox="1"/>
          <p:nvPr/>
        </p:nvSpPr>
        <p:spPr>
          <a:xfrm>
            <a:off x="4855464" y="2121408"/>
            <a:ext cx="6665976" cy="566928"/>
          </a:xfrm>
          <a:prstGeom prst="rect">
            <a:avLst/>
          </a:prstGeom>
          <a:noFill/>
          <a:ln/>
        </p:spPr>
        <p:txBody>
          <a:bodyPr wrap="square" lIns="0" tIns="0" rIns="0" bIns="0" rtlCol="0" anchor="t"/>
          <a:lstStyle/>
          <a:p>
            <a:pPr algn="l" indent="0" marL="0">
              <a:lnSpc>
                <a:spcPts val="1750"/>
              </a:lnSpc>
              <a:buNone/>
            </a:pPr>
            <a:r>
              <a:rPr lang="en-US" sz="1250" dirty="0">
                <a:solidFill>
                  <a:srgbClr val="1B1A17"/>
                </a:solidFill>
                <a:latin typeface="Calibri" pitchFamily="34" charset="0"/>
                <a:ea typeface="Calibri" pitchFamily="34" charset="-122"/>
                <a:cs typeface="Calibri" pitchFamily="34" charset="-120"/>
              </a:rPr>
              <a:t>Founding General Counsel and Chief Compliance Officer, then founding Chief Legal Officer. Built both legal and compliance functions from zero.</a:t>
            </a:r>
            <a:endParaRPr lang="en-US" sz="1250" dirty="0"/>
          </a:p>
        </p:txBody>
      </p:sp>
      <p:sp>
        <p:nvSpPr>
          <p:cNvPr id="14" name="Shape 12"/>
          <p:cNvSpPr/>
          <p:nvPr/>
        </p:nvSpPr>
        <p:spPr>
          <a:xfrm>
            <a:off x="4617720" y="2798064"/>
            <a:ext cx="86868" cy="86868"/>
          </a:xfrm>
          <a:prstGeom prst="rect">
            <a:avLst/>
          </a:prstGeom>
          <a:solidFill>
            <a:srgbClr val="E0A008"/>
          </a:solidFill>
          <a:ln w="12700">
            <a:solidFill>
              <a:srgbClr val="E0A008"/>
            </a:solidFill>
            <a:prstDash val="solid"/>
          </a:ln>
        </p:spPr>
      </p:sp>
      <p:sp>
        <p:nvSpPr>
          <p:cNvPr id="15" name="Text 13"/>
          <p:cNvSpPr txBox="1"/>
          <p:nvPr/>
        </p:nvSpPr>
        <p:spPr>
          <a:xfrm>
            <a:off x="4855464" y="2715768"/>
            <a:ext cx="6665976" cy="256032"/>
          </a:xfrm>
          <a:prstGeom prst="rect">
            <a:avLst/>
          </a:prstGeom>
          <a:noFill/>
          <a:ln/>
        </p:spPr>
        <p:txBody>
          <a:bodyPr wrap="square" lIns="0" tIns="0" rIns="0" bIns="0" rtlCol="0" anchor="t"/>
          <a:lstStyle/>
          <a:p>
            <a:pPr algn="l" indent="0" marL="0">
              <a:lnSpc>
                <a:spcPts val="1900"/>
              </a:lnSpc>
              <a:buNone/>
            </a:pPr>
            <a:r>
              <a:rPr lang="en-US" sz="1000" b="1" dirty="0">
                <a:solidFill>
                  <a:srgbClr val="9A6F05"/>
                </a:solidFill>
                <a:latin typeface="Calibri" pitchFamily="34" charset="0"/>
                <a:ea typeface="Calibri" pitchFamily="34" charset="-122"/>
                <a:cs typeface="Calibri" pitchFamily="34" charset="-120"/>
              </a:rPr>
              <a:t>AFFIRM</a:t>
            </a:r>
            <a:endParaRPr lang="en-US" sz="1000" dirty="0"/>
          </a:p>
        </p:txBody>
      </p:sp>
      <p:sp>
        <p:nvSpPr>
          <p:cNvPr id="16" name="Text 14"/>
          <p:cNvSpPr txBox="1"/>
          <p:nvPr/>
        </p:nvSpPr>
        <p:spPr>
          <a:xfrm>
            <a:off x="4855464" y="2990088"/>
            <a:ext cx="6665976" cy="566928"/>
          </a:xfrm>
          <a:prstGeom prst="rect">
            <a:avLst/>
          </a:prstGeom>
          <a:noFill/>
          <a:ln/>
        </p:spPr>
        <p:txBody>
          <a:bodyPr wrap="square" lIns="0" tIns="0" rIns="0" bIns="0" rtlCol="0" anchor="t"/>
          <a:lstStyle/>
          <a:p>
            <a:pPr algn="l" indent="0" marL="0">
              <a:lnSpc>
                <a:spcPts val="1750"/>
              </a:lnSpc>
              <a:buNone/>
            </a:pPr>
            <a:r>
              <a:rPr lang="en-US" sz="1250" dirty="0">
                <a:solidFill>
                  <a:srgbClr val="1B1A17"/>
                </a:solidFill>
                <a:latin typeface="Calibri" pitchFamily="34" charset="0"/>
                <a:ea typeface="Calibri" pitchFamily="34" charset="-122"/>
                <a:cs typeface="Calibri" pitchFamily="34" charset="-120"/>
              </a:rPr>
              <a:t>Product and regulatory counsel leadership through a fintech scale-up. Grew the team from three attorneys to eight.</a:t>
            </a:r>
            <a:endParaRPr lang="en-US" sz="1250" dirty="0"/>
          </a:p>
        </p:txBody>
      </p:sp>
      <p:sp>
        <p:nvSpPr>
          <p:cNvPr id="17" name="Shape 15"/>
          <p:cNvSpPr/>
          <p:nvPr/>
        </p:nvSpPr>
        <p:spPr>
          <a:xfrm>
            <a:off x="4617720" y="3666744"/>
            <a:ext cx="86868" cy="86868"/>
          </a:xfrm>
          <a:prstGeom prst="rect">
            <a:avLst/>
          </a:prstGeom>
          <a:solidFill>
            <a:srgbClr val="E0A008"/>
          </a:solidFill>
          <a:ln w="12700">
            <a:solidFill>
              <a:srgbClr val="E0A008"/>
            </a:solidFill>
            <a:prstDash val="solid"/>
          </a:ln>
        </p:spPr>
      </p:sp>
      <p:sp>
        <p:nvSpPr>
          <p:cNvPr id="18" name="Text 16"/>
          <p:cNvSpPr txBox="1"/>
          <p:nvPr/>
        </p:nvSpPr>
        <p:spPr>
          <a:xfrm>
            <a:off x="4855464" y="3584448"/>
            <a:ext cx="6665976" cy="256032"/>
          </a:xfrm>
          <a:prstGeom prst="rect">
            <a:avLst/>
          </a:prstGeom>
          <a:noFill/>
          <a:ln/>
        </p:spPr>
        <p:txBody>
          <a:bodyPr wrap="square" lIns="0" tIns="0" rIns="0" bIns="0" rtlCol="0" anchor="t"/>
          <a:lstStyle/>
          <a:p>
            <a:pPr algn="l" indent="0" marL="0">
              <a:lnSpc>
                <a:spcPts val="1900"/>
              </a:lnSpc>
              <a:buNone/>
            </a:pPr>
            <a:r>
              <a:rPr lang="en-US" sz="1000" b="1" dirty="0">
                <a:solidFill>
                  <a:srgbClr val="9A6F05"/>
                </a:solidFill>
                <a:latin typeface="Calibri" pitchFamily="34" charset="0"/>
                <a:ea typeface="Calibri" pitchFamily="34" charset="-122"/>
                <a:cs typeface="Calibri" pitchFamily="34" charset="-120"/>
              </a:rPr>
              <a:t>FACEBOOK PORTAL</a:t>
            </a:r>
            <a:endParaRPr lang="en-US" sz="1000" dirty="0"/>
          </a:p>
        </p:txBody>
      </p:sp>
      <p:sp>
        <p:nvSpPr>
          <p:cNvPr id="19" name="Text 17"/>
          <p:cNvSpPr txBox="1"/>
          <p:nvPr/>
        </p:nvSpPr>
        <p:spPr>
          <a:xfrm>
            <a:off x="4855464" y="3858768"/>
            <a:ext cx="6665976" cy="566928"/>
          </a:xfrm>
          <a:prstGeom prst="rect">
            <a:avLst/>
          </a:prstGeom>
          <a:noFill/>
          <a:ln/>
        </p:spPr>
        <p:txBody>
          <a:bodyPr wrap="square" lIns="0" tIns="0" rIns="0" bIns="0" rtlCol="0" anchor="t"/>
          <a:lstStyle/>
          <a:p>
            <a:pPr algn="l" indent="0" marL="0">
              <a:lnSpc>
                <a:spcPts val="1750"/>
              </a:lnSpc>
              <a:buNone/>
            </a:pPr>
            <a:r>
              <a:rPr lang="en-US" sz="1250" dirty="0">
                <a:solidFill>
                  <a:srgbClr val="1B1A17"/>
                </a:solidFill>
                <a:latin typeface="Calibri" pitchFamily="34" charset="0"/>
                <a:ea typeface="Calibri" pitchFamily="34" charset="-122"/>
                <a:cs typeface="Calibri" pitchFamily="34" charset="-120"/>
              </a:rPr>
              <a:t>Associate General Counsel. Advised product teams through launches and regulatory review.</a:t>
            </a:r>
            <a:endParaRPr lang="en-US" sz="1250" dirty="0"/>
          </a:p>
        </p:txBody>
      </p:sp>
      <p:sp>
        <p:nvSpPr>
          <p:cNvPr id="20" name="Shape 18"/>
          <p:cNvSpPr/>
          <p:nvPr/>
        </p:nvSpPr>
        <p:spPr>
          <a:xfrm>
            <a:off x="4617720" y="4535424"/>
            <a:ext cx="86868" cy="86868"/>
          </a:xfrm>
          <a:prstGeom prst="rect">
            <a:avLst/>
          </a:prstGeom>
          <a:solidFill>
            <a:srgbClr val="E0A008"/>
          </a:solidFill>
          <a:ln w="12700">
            <a:solidFill>
              <a:srgbClr val="E0A008"/>
            </a:solidFill>
            <a:prstDash val="solid"/>
          </a:ln>
        </p:spPr>
      </p:sp>
      <p:sp>
        <p:nvSpPr>
          <p:cNvPr id="21" name="Text 19"/>
          <p:cNvSpPr txBox="1"/>
          <p:nvPr/>
        </p:nvSpPr>
        <p:spPr>
          <a:xfrm>
            <a:off x="4855464" y="4453128"/>
            <a:ext cx="6665976" cy="256032"/>
          </a:xfrm>
          <a:prstGeom prst="rect">
            <a:avLst/>
          </a:prstGeom>
          <a:noFill/>
          <a:ln/>
        </p:spPr>
        <p:txBody>
          <a:bodyPr wrap="square" lIns="0" tIns="0" rIns="0" bIns="0" rtlCol="0" anchor="t"/>
          <a:lstStyle/>
          <a:p>
            <a:pPr algn="l" indent="0" marL="0">
              <a:lnSpc>
                <a:spcPts val="1900"/>
              </a:lnSpc>
              <a:buNone/>
            </a:pPr>
            <a:r>
              <a:rPr lang="en-US" sz="1000" b="1" dirty="0">
                <a:solidFill>
                  <a:srgbClr val="9A6F05"/>
                </a:solidFill>
                <a:latin typeface="Calibri" pitchFamily="34" charset="0"/>
                <a:ea typeface="Calibri" pitchFamily="34" charset="-122"/>
                <a:cs typeface="Calibri" pitchFamily="34" charset="-120"/>
              </a:rPr>
              <a:t>GEORGIA TECH  ·  NORTHWESTERN</a:t>
            </a:r>
            <a:endParaRPr lang="en-US" sz="1000" dirty="0"/>
          </a:p>
        </p:txBody>
      </p:sp>
      <p:sp>
        <p:nvSpPr>
          <p:cNvPr id="22" name="Text 20"/>
          <p:cNvSpPr txBox="1"/>
          <p:nvPr/>
        </p:nvSpPr>
        <p:spPr>
          <a:xfrm>
            <a:off x="4855464" y="4727448"/>
            <a:ext cx="6665976" cy="566928"/>
          </a:xfrm>
          <a:prstGeom prst="rect">
            <a:avLst/>
          </a:prstGeom>
          <a:noFill/>
          <a:ln/>
        </p:spPr>
        <p:txBody>
          <a:bodyPr wrap="square" lIns="0" tIns="0" rIns="0" bIns="0" rtlCol="0" anchor="t"/>
          <a:lstStyle/>
          <a:p>
            <a:pPr algn="l" indent="0" marL="0">
              <a:lnSpc>
                <a:spcPts val="1750"/>
              </a:lnSpc>
              <a:buNone/>
            </a:pPr>
            <a:r>
              <a:rPr lang="en-US" sz="1250" dirty="0">
                <a:solidFill>
                  <a:srgbClr val="1B1A17"/>
                </a:solidFill>
                <a:latin typeface="Calibri" pitchFamily="34" charset="0"/>
                <a:ea typeface="Calibri" pitchFamily="34" charset="-122"/>
                <a:cs typeface="Calibri" pitchFamily="34" charset="-120"/>
              </a:rPr>
              <a:t>AI research in document classification and automated redaction. M.S. Computer Science. J.D.</a:t>
            </a:r>
            <a:endParaRPr lang="en-US" sz="1250" dirty="0"/>
          </a:p>
        </p:txBody>
      </p:sp>
      <p:sp>
        <p:nvSpPr>
          <p:cNvPr id="23" name="Shape 21"/>
          <p:cNvSpPr/>
          <p:nvPr/>
        </p:nvSpPr>
        <p:spPr>
          <a:xfrm>
            <a:off x="685800" y="5285232"/>
            <a:ext cx="10820095" cy="10973"/>
          </a:xfrm>
          <a:prstGeom prst="rect">
            <a:avLst/>
          </a:prstGeom>
          <a:solidFill>
            <a:srgbClr val="E3DED3"/>
          </a:solidFill>
          <a:ln w="12700">
            <a:solidFill>
              <a:srgbClr val="E3DED3"/>
            </a:solidFill>
            <a:prstDash val="solid"/>
          </a:ln>
        </p:spPr>
      </p:sp>
      <p:sp>
        <p:nvSpPr>
          <p:cNvPr id="24" name="Text 22"/>
          <p:cNvSpPr txBox="1"/>
          <p:nvPr/>
        </p:nvSpPr>
        <p:spPr>
          <a:xfrm>
            <a:off x="685800" y="5468112"/>
            <a:ext cx="6309360" cy="457200"/>
          </a:xfrm>
          <a:prstGeom prst="rect">
            <a:avLst/>
          </a:prstGeom>
          <a:noFill/>
          <a:ln/>
        </p:spPr>
        <p:txBody>
          <a:bodyPr wrap="square" lIns="0" tIns="0" rIns="0" bIns="0" rtlCol="0" anchor="t"/>
          <a:lstStyle/>
          <a:p>
            <a:pPr algn="l" indent="0" marL="0">
              <a:lnSpc>
                <a:spcPts val="1900"/>
              </a:lnSpc>
              <a:buNone/>
            </a:pPr>
            <a:r>
              <a:rPr lang="en-US" sz="1600" i="1" dirty="0">
                <a:solidFill>
                  <a:srgbClr val="1B1A17"/>
                </a:solidFill>
                <a:latin typeface="Cambria" pitchFamily="34" charset="0"/>
                <a:ea typeface="Cambria" pitchFamily="34" charset="-122"/>
                <a:cs typeface="Cambria" pitchFamily="34" charset="-120"/>
              </a:rPr>
              <a:t>The first legal hire has no one to ask. I have done that job twice.</a:t>
            </a:r>
            <a:endParaRPr lang="en-US" sz="1600" dirty="0"/>
          </a:p>
        </p:txBody>
      </p:sp>
      <p:sp>
        <p:nvSpPr>
          <p:cNvPr id="25" name="Text 23"/>
          <p:cNvSpPr txBox="1"/>
          <p:nvPr/>
        </p:nvSpPr>
        <p:spPr>
          <a:xfrm>
            <a:off x="7406640" y="5532120"/>
            <a:ext cx="4096512" cy="457200"/>
          </a:xfrm>
          <a:prstGeom prst="rect">
            <a:avLst/>
          </a:prstGeom>
          <a:noFill/>
          <a:ln/>
        </p:spPr>
        <p:txBody>
          <a:bodyPr wrap="square" lIns="0" tIns="0" rIns="0" bIns="0" rtlCol="0" anchor="t"/>
          <a:lstStyle/>
          <a:p>
            <a:pPr algn="r" indent="0" marL="0">
              <a:lnSpc>
                <a:spcPts val="1900"/>
              </a:lnSpc>
              <a:buNone/>
            </a:pPr>
            <a:r>
              <a:rPr lang="en-US" sz="1200" dirty="0">
                <a:solidFill>
                  <a:srgbClr val="6E6759"/>
                </a:solidFill>
                <a:latin typeface="Calibri" pitchFamily="34" charset="0"/>
                <a:ea typeface="Calibri" pitchFamily="34" charset="-122"/>
                <a:cs typeface="Calibri" pitchFamily="34" charset="-120"/>
              </a:rPr>
              <a:t>A founding engineer is the first hire this round funds.</a:t>
            </a:r>
            <a:endParaRPr lang="en-US" sz="1200" dirty="0"/>
          </a:p>
        </p:txBody>
      </p:sp>
      <p:sp>
        <p:nvSpPr>
          <p:cNvPr id="26" name="Text 24"/>
          <p:cNvSpPr txBox="1"/>
          <p:nvPr/>
        </p:nvSpPr>
        <p:spPr>
          <a:xfrm>
            <a:off x="685800" y="6382512"/>
            <a:ext cx="10820095" cy="329184"/>
          </a:xfrm>
          <a:prstGeom prst="rect">
            <a:avLst/>
          </a:prstGeom>
          <a:noFill/>
          <a:ln/>
        </p:spPr>
        <p:txBody>
          <a:bodyPr wrap="square" lIns="0" tIns="0" rIns="0" bIns="0" rtlCol="0" anchor="t"/>
          <a:lstStyle/>
          <a:p>
            <a:pPr indent="0" marL="0">
              <a:buNone/>
            </a:pPr>
            <a:r>
              <a:rPr lang="en-US" sz="950" i="1" dirty="0">
                <a:solidFill>
                  <a:srgbClr val="6E6759"/>
                </a:solidFill>
                <a:latin typeface="Calibri" pitchFamily="34" charset="0"/>
                <a:ea typeface="Calibri" pitchFamily="34" charset="-122"/>
                <a:cs typeface="Calibri" pitchFamily="34" charset="-120"/>
              </a:rPr>
              <a:t>Résumé dated January 2026. Settle 2021–2024; Manifest founding CLO/CCO; Affirm 2016–2020; Facebook Portal 2020–2021; Georgia Tech Research Scientist 2004–2006.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7772400" cy="310896"/>
          </a:xfrm>
          <a:prstGeom prst="rect">
            <a:avLst/>
          </a:prstGeom>
          <a:noFill/>
          <a:ln/>
        </p:spPr>
        <p:txBody>
          <a:bodyPr wrap="square" lIns="0" tIns="0" rIns="0" bIns="0" rtlCol="0" anchor="ctr"/>
          <a:lstStyle/>
          <a:p>
            <a:pPr indent="0" marL="0">
              <a:buNone/>
            </a:pPr>
            <a:r>
              <a:rPr lang="en-US" sz="1050" b="1" spc="220" kern="0" dirty="0">
                <a:solidFill>
                  <a:srgbClr val="9A6F05"/>
                </a:solidFill>
                <a:latin typeface="Calibri" pitchFamily="34" charset="0"/>
                <a:ea typeface="Calibri" pitchFamily="34" charset="-122"/>
                <a:cs typeface="Calibri" pitchFamily="34" charset="-120"/>
              </a:rPr>
              <a:t>WHY NOW</a:t>
            </a:r>
            <a:endParaRPr lang="en-US" sz="1050" dirty="0"/>
          </a:p>
        </p:txBody>
      </p:sp>
      <p:sp>
        <p:nvSpPr>
          <p:cNvPr id="4" name="Text 2"/>
          <p:cNvSpPr txBox="1"/>
          <p:nvPr/>
        </p:nvSpPr>
        <p:spPr>
          <a:xfrm>
            <a:off x="10408615" y="347472"/>
            <a:ext cx="1097280" cy="310896"/>
          </a:xfrm>
          <a:prstGeom prst="rect">
            <a:avLst/>
          </a:prstGeom>
          <a:noFill/>
          <a:ln/>
        </p:spPr>
        <p:txBody>
          <a:bodyPr wrap="square" lIns="0" tIns="0" rIns="0" bIns="0" rtlCol="0" anchor="ctr"/>
          <a:lstStyle/>
          <a:p>
            <a:pPr algn="r" indent="0" marL="0">
              <a:buNone/>
            </a:pPr>
            <a:r>
              <a:rPr lang="en-US" sz="1050" b="1" spc="150" kern="0" dirty="0">
                <a:solidFill>
                  <a:srgbClr val="6E6759"/>
                </a:solidFill>
                <a:latin typeface="Calibri" pitchFamily="34" charset="0"/>
                <a:ea typeface="Calibri" pitchFamily="34" charset="-122"/>
                <a:cs typeface="Calibri" pitchFamily="34" charset="-120"/>
              </a:rPr>
              <a:t>07</a:t>
            </a:r>
            <a:endParaRPr lang="en-US" sz="1050" dirty="0"/>
          </a:p>
        </p:txBody>
      </p:sp>
      <p:sp>
        <p:nvSpPr>
          <p:cNvPr id="5" name="Text 3"/>
          <p:cNvSpPr txBox="1"/>
          <p:nvPr/>
        </p:nvSpPr>
        <p:spPr>
          <a:xfrm>
            <a:off x="685800" y="841248"/>
            <a:ext cx="10820095" cy="960120"/>
          </a:xfrm>
          <a:prstGeom prst="rect">
            <a:avLst/>
          </a:prstGeom>
          <a:noFill/>
          <a:ln/>
        </p:spPr>
        <p:txBody>
          <a:bodyPr wrap="square" lIns="0" tIns="0" rIns="0" bIns="0" rtlCol="0" anchor="t"/>
          <a:lstStyle/>
          <a:p>
            <a:pPr indent="0" marL="0">
              <a:lnSpc>
                <a:spcPts val="3800"/>
              </a:lnSpc>
              <a:buNone/>
            </a:pPr>
            <a:r>
              <a:rPr lang="en-US" sz="3300" b="1" dirty="0">
                <a:solidFill>
                  <a:srgbClr val="1B1A17"/>
                </a:solidFill>
                <a:latin typeface="Cambria" pitchFamily="34" charset="0"/>
                <a:ea typeface="Cambria" pitchFamily="34" charset="-122"/>
                <a:cs typeface="Cambria" pitchFamily="34" charset="-120"/>
              </a:rPr>
              <a:t>Legal teams are deciding how AI fits —</a:t>
            </a:r>
            <a:endParaRPr lang="en-US" sz="3300" dirty="0"/>
          </a:p>
          <a:p>
            <a:pPr indent="0" marL="0">
              <a:lnSpc>
                <a:spcPts val="3800"/>
              </a:lnSpc>
              <a:buNone/>
            </a:pPr>
            <a:r>
              <a:rPr lang="en-US" sz="3300" b="1" dirty="0">
                <a:solidFill>
                  <a:srgbClr val="1B1A17"/>
                </a:solidFill>
                <a:latin typeface="Cambria" pitchFamily="34" charset="0"/>
                <a:ea typeface="Cambria" pitchFamily="34" charset="-122"/>
                <a:cs typeface="Cambria" pitchFamily="34" charset="-120"/>
              </a:rPr>
              <a:t>with the headcount they already have.</a:t>
            </a:r>
            <a:endParaRPr lang="en-US" sz="3300" dirty="0"/>
          </a:p>
        </p:txBody>
      </p:sp>
      <p:sp>
        <p:nvSpPr>
          <p:cNvPr id="6" name="Shape 4"/>
          <p:cNvSpPr/>
          <p:nvPr/>
        </p:nvSpPr>
        <p:spPr>
          <a:xfrm>
            <a:off x="685800" y="2240280"/>
            <a:ext cx="5257800" cy="1600200"/>
          </a:xfrm>
          <a:prstGeom prst="roundRect">
            <a:avLst>
              <a:gd name="adj" fmla="val 3429"/>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sp>
        <p:nvSpPr>
          <p:cNvPr id="7" name="Text 5"/>
          <p:cNvSpPr txBox="1"/>
          <p:nvPr/>
        </p:nvSpPr>
        <p:spPr>
          <a:xfrm>
            <a:off x="1051560" y="2359152"/>
            <a:ext cx="4526280" cy="914400"/>
          </a:xfrm>
          <a:prstGeom prst="rect">
            <a:avLst/>
          </a:prstGeom>
          <a:noFill/>
          <a:ln/>
        </p:spPr>
        <p:txBody>
          <a:bodyPr wrap="square" lIns="0" tIns="0" rIns="0" bIns="0" rtlCol="0" anchor="ctr"/>
          <a:lstStyle/>
          <a:p>
            <a:pPr indent="0" marL="0">
              <a:buNone/>
            </a:pPr>
            <a:r>
              <a:rPr lang="en-US" sz="5000" b="1" dirty="0">
                <a:solidFill>
                  <a:srgbClr val="9A6F05"/>
                </a:solidFill>
                <a:latin typeface="Cambria" pitchFamily="34" charset="0"/>
                <a:ea typeface="Cambria" pitchFamily="34" charset="-122"/>
                <a:cs typeface="Cambria" pitchFamily="34" charset="-120"/>
              </a:rPr>
              <a:t>36%</a:t>
            </a:r>
            <a:endParaRPr lang="en-US" sz="5000" dirty="0"/>
          </a:p>
        </p:txBody>
      </p:sp>
      <p:sp>
        <p:nvSpPr>
          <p:cNvPr id="8" name="Text 6"/>
          <p:cNvSpPr txBox="1"/>
          <p:nvPr/>
        </p:nvSpPr>
        <p:spPr>
          <a:xfrm>
            <a:off x="1051560" y="3227832"/>
            <a:ext cx="4526280" cy="777240"/>
          </a:xfrm>
          <a:prstGeom prst="rect">
            <a:avLst/>
          </a:prstGeom>
          <a:noFill/>
          <a:ln/>
        </p:spPr>
        <p:txBody>
          <a:bodyPr wrap="square" lIns="0" tIns="0" rIns="0" bIns="0" rtlCol="0" anchor="t"/>
          <a:lstStyle/>
          <a:p>
            <a:pPr indent="0" marL="0">
              <a:lnSpc>
                <a:spcPts val="1700"/>
              </a:lnSpc>
              <a:buNone/>
            </a:pPr>
            <a:r>
              <a:rPr lang="en-US" sz="1250" dirty="0">
                <a:solidFill>
                  <a:srgbClr val="1B1A17"/>
                </a:solidFill>
                <a:latin typeface="Calibri" pitchFamily="34" charset="0"/>
                <a:ea typeface="Calibri" pitchFamily="34" charset="-122"/>
                <a:cs typeface="Calibri" pitchFamily="34" charset="-120"/>
              </a:rPr>
              <a:t>of surveyed legal departments are actively deploying generative AI.</a:t>
            </a:r>
            <a:endParaRPr lang="en-US" sz="1250" dirty="0"/>
          </a:p>
        </p:txBody>
      </p:sp>
      <p:sp>
        <p:nvSpPr>
          <p:cNvPr id="9" name="Shape 7"/>
          <p:cNvSpPr/>
          <p:nvPr/>
        </p:nvSpPr>
        <p:spPr>
          <a:xfrm>
            <a:off x="6245352" y="2240280"/>
            <a:ext cx="5257800" cy="1600200"/>
          </a:xfrm>
          <a:prstGeom prst="roundRect">
            <a:avLst>
              <a:gd name="adj" fmla="val 3429"/>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sp>
        <p:nvSpPr>
          <p:cNvPr id="10" name="Text 8"/>
          <p:cNvSpPr txBox="1"/>
          <p:nvPr/>
        </p:nvSpPr>
        <p:spPr>
          <a:xfrm>
            <a:off x="6611112" y="2359152"/>
            <a:ext cx="4526280" cy="914400"/>
          </a:xfrm>
          <a:prstGeom prst="rect">
            <a:avLst/>
          </a:prstGeom>
          <a:noFill/>
          <a:ln/>
        </p:spPr>
        <p:txBody>
          <a:bodyPr wrap="square" lIns="0" tIns="0" rIns="0" bIns="0" rtlCol="0" anchor="ctr"/>
          <a:lstStyle/>
          <a:p>
            <a:pPr indent="0" marL="0">
              <a:buNone/>
            </a:pPr>
            <a:r>
              <a:rPr lang="en-US" sz="5000" b="1" dirty="0">
                <a:solidFill>
                  <a:srgbClr val="9A6F05"/>
                </a:solidFill>
                <a:latin typeface="Cambria" pitchFamily="34" charset="0"/>
                <a:ea typeface="Cambria" pitchFamily="34" charset="-122"/>
                <a:cs typeface="Cambria" pitchFamily="34" charset="-120"/>
              </a:rPr>
              <a:t>63%</a:t>
            </a:r>
            <a:endParaRPr lang="en-US" sz="5000" dirty="0"/>
          </a:p>
        </p:txBody>
      </p:sp>
      <p:sp>
        <p:nvSpPr>
          <p:cNvPr id="11" name="Text 9"/>
          <p:cNvSpPr txBox="1"/>
          <p:nvPr/>
        </p:nvSpPr>
        <p:spPr>
          <a:xfrm>
            <a:off x="6611112" y="3227832"/>
            <a:ext cx="4526280" cy="777240"/>
          </a:xfrm>
          <a:prstGeom prst="rect">
            <a:avLst/>
          </a:prstGeom>
          <a:noFill/>
          <a:ln/>
        </p:spPr>
        <p:txBody>
          <a:bodyPr wrap="square" lIns="0" tIns="0" rIns="0" bIns="0" rtlCol="0" anchor="t"/>
          <a:lstStyle/>
          <a:p>
            <a:pPr indent="0" marL="0">
              <a:lnSpc>
                <a:spcPts val="1700"/>
              </a:lnSpc>
              <a:buNone/>
            </a:pPr>
            <a:r>
              <a:rPr lang="en-US" sz="1250" dirty="0">
                <a:solidFill>
                  <a:srgbClr val="1B1A17"/>
                </a:solidFill>
                <a:latin typeface="Calibri" pitchFamily="34" charset="0"/>
                <a:ea typeface="Calibri" pitchFamily="34" charset="-122"/>
                <a:cs typeface="Calibri" pitchFamily="34" charset="-120"/>
              </a:rPr>
              <a:t>of surveyed chief legal officers expect their headcount to stay flat.</a:t>
            </a:r>
            <a:endParaRPr lang="en-US" sz="1250" dirty="0"/>
          </a:p>
        </p:txBody>
      </p:sp>
      <p:sp>
        <p:nvSpPr>
          <p:cNvPr id="12" name="Shape 10"/>
          <p:cNvSpPr/>
          <p:nvPr/>
        </p:nvSpPr>
        <p:spPr>
          <a:xfrm>
            <a:off x="685800" y="4206240"/>
            <a:ext cx="10820095" cy="1463040"/>
          </a:xfrm>
          <a:prstGeom prst="roundRect">
            <a:avLst>
              <a:gd name="adj" fmla="val 3750"/>
            </a:avLst>
          </a:prstGeom>
          <a:solidFill>
            <a:srgbClr val="FBF3DC"/>
          </a:solidFill>
          <a:ln w="12700">
            <a:solidFill>
              <a:srgbClr val="FBF3DC"/>
            </a:solidFill>
            <a:prstDash val="solid"/>
          </a:ln>
        </p:spPr>
      </p:sp>
      <p:sp>
        <p:nvSpPr>
          <p:cNvPr id="13" name="Text 11"/>
          <p:cNvSpPr txBox="1"/>
          <p:nvPr/>
        </p:nvSpPr>
        <p:spPr>
          <a:xfrm>
            <a:off x="1097280" y="4617720"/>
            <a:ext cx="9997135" cy="731520"/>
          </a:xfrm>
          <a:prstGeom prst="rect">
            <a:avLst/>
          </a:prstGeom>
          <a:noFill/>
          <a:ln/>
        </p:spPr>
        <p:txBody>
          <a:bodyPr wrap="square" lIns="0" tIns="0" rIns="0" bIns="0" rtlCol="0" anchor="t"/>
          <a:lstStyle/>
          <a:p>
            <a:pPr algn="l" indent="0" marL="0">
              <a:lnSpc>
                <a:spcPts val="2400"/>
              </a:lnSpc>
              <a:buNone/>
            </a:pPr>
            <a:r>
              <a:rPr lang="en-US" sz="1700" i="1" dirty="0">
                <a:solidFill>
                  <a:srgbClr val="1B1A17"/>
                </a:solidFill>
                <a:latin typeface="Cambria" pitchFamily="34" charset="0"/>
                <a:ea typeface="Cambria" pitchFamily="34" charset="-122"/>
                <a:cs typeface="Cambria" pitchFamily="34" charset="-120"/>
              </a:rPr>
              <a:t>Budget is moving to tools, not to hiring. The seat goes to whatever makes the lawyer already in the room measurably more capable.</a:t>
            </a:r>
            <a:endParaRPr lang="en-US" sz="1700" dirty="0"/>
          </a:p>
        </p:txBody>
      </p:sp>
      <p:sp>
        <p:nvSpPr>
          <p:cNvPr id="14" name="Text 12"/>
          <p:cNvSpPr txBox="1"/>
          <p:nvPr/>
        </p:nvSpPr>
        <p:spPr>
          <a:xfrm>
            <a:off x="685800" y="6382512"/>
            <a:ext cx="10820095" cy="329184"/>
          </a:xfrm>
          <a:prstGeom prst="rect">
            <a:avLst/>
          </a:prstGeom>
          <a:noFill/>
          <a:ln/>
        </p:spPr>
        <p:txBody>
          <a:bodyPr wrap="square" lIns="0" tIns="0" rIns="0" bIns="0" rtlCol="0" anchor="t"/>
          <a:lstStyle/>
          <a:p>
            <a:pPr indent="0" marL="0">
              <a:buNone/>
            </a:pPr>
            <a:r>
              <a:rPr lang="en-US" sz="950" i="1" dirty="0">
                <a:solidFill>
                  <a:srgbClr val="6E6759"/>
                </a:solidFill>
                <a:latin typeface="Calibri" pitchFamily="34" charset="0"/>
                <a:ea typeface="Calibri" pitchFamily="34" charset="-122"/>
                <a:cs typeface="Calibri" pitchFamily="34" charset="-120"/>
              </a:rPr>
              <a:t>ACC 2026 Chief Legal Officers Survey, 1,049 participants across 43 countries. The survey is not restricted to small teams or the United States, and does not establish that the need is unserved.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7772400" cy="310896"/>
          </a:xfrm>
          <a:prstGeom prst="rect">
            <a:avLst/>
          </a:prstGeom>
          <a:noFill/>
          <a:ln/>
        </p:spPr>
        <p:txBody>
          <a:bodyPr wrap="square" lIns="0" tIns="0" rIns="0" bIns="0" rtlCol="0" anchor="ctr"/>
          <a:lstStyle/>
          <a:p>
            <a:pPr indent="0" marL="0">
              <a:buNone/>
            </a:pPr>
            <a:r>
              <a:rPr lang="en-US" sz="1050" b="1" spc="220" kern="0" dirty="0">
                <a:solidFill>
                  <a:srgbClr val="9A6F05"/>
                </a:solidFill>
                <a:latin typeface="Calibri" pitchFamily="34" charset="0"/>
                <a:ea typeface="Calibri" pitchFamily="34" charset="-122"/>
                <a:cs typeface="Calibri" pitchFamily="34" charset="-120"/>
              </a:rPr>
              <a:t>GO TO MARKET</a:t>
            </a:r>
            <a:endParaRPr lang="en-US" sz="1050" dirty="0"/>
          </a:p>
        </p:txBody>
      </p:sp>
      <p:sp>
        <p:nvSpPr>
          <p:cNvPr id="4" name="Text 2"/>
          <p:cNvSpPr txBox="1"/>
          <p:nvPr/>
        </p:nvSpPr>
        <p:spPr>
          <a:xfrm>
            <a:off x="10408615" y="347472"/>
            <a:ext cx="1097280" cy="310896"/>
          </a:xfrm>
          <a:prstGeom prst="rect">
            <a:avLst/>
          </a:prstGeom>
          <a:noFill/>
          <a:ln/>
        </p:spPr>
        <p:txBody>
          <a:bodyPr wrap="square" lIns="0" tIns="0" rIns="0" bIns="0" rtlCol="0" anchor="ctr"/>
          <a:lstStyle/>
          <a:p>
            <a:pPr algn="r" indent="0" marL="0">
              <a:buNone/>
            </a:pPr>
            <a:r>
              <a:rPr lang="en-US" sz="1050" b="1" spc="150" kern="0" dirty="0">
                <a:solidFill>
                  <a:srgbClr val="6E6759"/>
                </a:solidFill>
                <a:latin typeface="Calibri" pitchFamily="34" charset="0"/>
                <a:ea typeface="Calibri" pitchFamily="34" charset="-122"/>
                <a:cs typeface="Calibri" pitchFamily="34" charset="-120"/>
              </a:rPr>
              <a:t>08</a:t>
            </a:r>
            <a:endParaRPr lang="en-US" sz="1050" dirty="0"/>
          </a:p>
        </p:txBody>
      </p:sp>
      <p:sp>
        <p:nvSpPr>
          <p:cNvPr id="5" name="Text 3"/>
          <p:cNvSpPr txBox="1"/>
          <p:nvPr/>
        </p:nvSpPr>
        <p:spPr>
          <a:xfrm>
            <a:off x="685800" y="841248"/>
            <a:ext cx="10820095" cy="548640"/>
          </a:xfrm>
          <a:prstGeom prst="rect">
            <a:avLst/>
          </a:prstGeom>
          <a:noFill/>
          <a:ln/>
        </p:spPr>
        <p:txBody>
          <a:bodyPr wrap="square" lIns="0" tIns="0" rIns="0" bIns="0" rtlCol="0" anchor="t"/>
          <a:lstStyle/>
          <a:p>
            <a:pPr indent="0" marL="0">
              <a:lnSpc>
                <a:spcPts val="3800"/>
              </a:lnSpc>
              <a:buNone/>
            </a:pPr>
            <a:r>
              <a:rPr lang="en-US" sz="3300" b="1" dirty="0">
                <a:solidFill>
                  <a:srgbClr val="1B1A17"/>
                </a:solidFill>
                <a:latin typeface="Cambria" pitchFamily="34" charset="0"/>
                <a:ea typeface="Cambria" pitchFamily="34" charset="-122"/>
                <a:cs typeface="Cambria" pitchFamily="34" charset="-120"/>
              </a:rPr>
              <a:t>The first legal hire is the first buyer.</a:t>
            </a:r>
            <a:endParaRPr lang="en-US" sz="3300" dirty="0"/>
          </a:p>
        </p:txBody>
      </p:sp>
      <p:sp>
        <p:nvSpPr>
          <p:cNvPr id="6" name="Shape 4"/>
          <p:cNvSpPr/>
          <p:nvPr/>
        </p:nvSpPr>
        <p:spPr>
          <a:xfrm>
            <a:off x="685800" y="1783080"/>
            <a:ext cx="3401568" cy="3017520"/>
          </a:xfrm>
          <a:prstGeom prst="roundRect">
            <a:avLst>
              <a:gd name="adj" fmla="val 1818"/>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sp>
        <p:nvSpPr>
          <p:cNvPr id="7" name="Text 5"/>
          <p:cNvSpPr txBox="1"/>
          <p:nvPr/>
        </p:nvSpPr>
        <p:spPr>
          <a:xfrm>
            <a:off x="996696" y="2029968"/>
            <a:ext cx="2779776" cy="237744"/>
          </a:xfrm>
          <a:prstGeom prst="rect">
            <a:avLst/>
          </a:prstGeom>
          <a:noFill/>
          <a:ln/>
        </p:spPr>
        <p:txBody>
          <a:bodyPr wrap="square" lIns="0" tIns="0" rIns="0" bIns="0" rtlCol="0" anchor="ctr"/>
          <a:lstStyle/>
          <a:p>
            <a:pPr indent="0" marL="0">
              <a:buNone/>
            </a:pPr>
            <a:r>
              <a:rPr lang="en-US" sz="950" b="1" spc="180" kern="0" dirty="0">
                <a:solidFill>
                  <a:srgbClr val="9A6F05"/>
                </a:solidFill>
                <a:latin typeface="Calibri" pitchFamily="34" charset="0"/>
                <a:ea typeface="Calibri" pitchFamily="34" charset="-122"/>
                <a:cs typeface="Calibri" pitchFamily="34" charset="-120"/>
              </a:rPr>
              <a:t>WHO</a:t>
            </a:r>
            <a:endParaRPr lang="en-US" sz="950" dirty="0"/>
          </a:p>
        </p:txBody>
      </p:sp>
      <p:sp>
        <p:nvSpPr>
          <p:cNvPr id="8" name="Shape 6"/>
          <p:cNvSpPr/>
          <p:nvPr/>
        </p:nvSpPr>
        <p:spPr>
          <a:xfrm>
            <a:off x="996696" y="2514600"/>
            <a:ext cx="68580" cy="68580"/>
          </a:xfrm>
          <a:prstGeom prst="rect">
            <a:avLst/>
          </a:prstGeom>
          <a:solidFill>
            <a:srgbClr val="E0A008"/>
          </a:solidFill>
          <a:ln w="12700">
            <a:solidFill>
              <a:srgbClr val="E0A008"/>
            </a:solidFill>
            <a:prstDash val="solid"/>
          </a:ln>
        </p:spPr>
      </p:sp>
      <p:sp>
        <p:nvSpPr>
          <p:cNvPr id="9" name="Text 7"/>
          <p:cNvSpPr txBox="1"/>
          <p:nvPr/>
        </p:nvSpPr>
        <p:spPr>
          <a:xfrm>
            <a:off x="1197864" y="2432304"/>
            <a:ext cx="2578608" cy="777240"/>
          </a:xfrm>
          <a:prstGeom prst="rect">
            <a:avLst/>
          </a:prstGeom>
          <a:noFill/>
          <a:ln/>
        </p:spPr>
        <p:txBody>
          <a:bodyPr wrap="square" lIns="0" tIns="0" rIns="0" bIns="0" rtlCol="0" anchor="t"/>
          <a:lstStyle/>
          <a:p>
            <a:pPr algn="l" indent="0" marL="0">
              <a:lnSpc>
                <a:spcPts val="1700"/>
              </a:lnSpc>
              <a:buNone/>
            </a:pPr>
            <a:r>
              <a:rPr lang="en-US" sz="1200" dirty="0">
                <a:solidFill>
                  <a:srgbClr val="1B1A17"/>
                </a:solidFill>
                <a:latin typeface="Calibri" pitchFamily="34" charset="0"/>
                <a:ea typeface="Calibri" pitchFamily="34" charset="-122"/>
                <a:cs typeface="Calibri" pitchFamily="34" charset="-120"/>
              </a:rPr>
              <a:t>Solo general counsel and first product counsel at U.S. technology and fintech companies.</a:t>
            </a:r>
            <a:endParaRPr lang="en-US" sz="1200" dirty="0"/>
          </a:p>
        </p:txBody>
      </p:sp>
      <p:sp>
        <p:nvSpPr>
          <p:cNvPr id="10" name="Shape 8"/>
          <p:cNvSpPr/>
          <p:nvPr/>
        </p:nvSpPr>
        <p:spPr>
          <a:xfrm>
            <a:off x="996696" y="3300984"/>
            <a:ext cx="68580" cy="68580"/>
          </a:xfrm>
          <a:prstGeom prst="rect">
            <a:avLst/>
          </a:prstGeom>
          <a:solidFill>
            <a:srgbClr val="E0A008"/>
          </a:solidFill>
          <a:ln w="12700">
            <a:solidFill>
              <a:srgbClr val="E0A008"/>
            </a:solidFill>
            <a:prstDash val="solid"/>
          </a:ln>
        </p:spPr>
      </p:sp>
      <p:sp>
        <p:nvSpPr>
          <p:cNvPr id="11" name="Text 9"/>
          <p:cNvSpPr txBox="1"/>
          <p:nvPr/>
        </p:nvSpPr>
        <p:spPr>
          <a:xfrm>
            <a:off x="1197864" y="3218688"/>
            <a:ext cx="2578608" cy="777240"/>
          </a:xfrm>
          <a:prstGeom prst="rect">
            <a:avLst/>
          </a:prstGeom>
          <a:noFill/>
          <a:ln/>
        </p:spPr>
        <p:txBody>
          <a:bodyPr wrap="square" lIns="0" tIns="0" rIns="0" bIns="0" rtlCol="0" anchor="t"/>
          <a:lstStyle/>
          <a:p>
            <a:pPr algn="l" indent="0" marL="0">
              <a:lnSpc>
                <a:spcPts val="1700"/>
              </a:lnSpc>
              <a:buNone/>
            </a:pPr>
            <a:r>
              <a:rPr lang="en-US" sz="1200" dirty="0">
                <a:solidFill>
                  <a:srgbClr val="1B1A17"/>
                </a:solidFill>
                <a:latin typeface="Calibri" pitchFamily="34" charset="0"/>
                <a:ea typeface="Calibri" pitchFamily="34" charset="-122"/>
                <a:cs typeface="Calibri" pitchFamily="34" charset="-120"/>
              </a:rPr>
              <a:t>Frequent launches, no research support, and no one else in the building to ask.</a:t>
            </a:r>
            <a:endParaRPr lang="en-US" sz="1200" dirty="0"/>
          </a:p>
        </p:txBody>
      </p:sp>
      <p:sp>
        <p:nvSpPr>
          <p:cNvPr id="12" name="Shape 10"/>
          <p:cNvSpPr/>
          <p:nvPr/>
        </p:nvSpPr>
        <p:spPr>
          <a:xfrm>
            <a:off x="996696" y="4087368"/>
            <a:ext cx="68580" cy="68580"/>
          </a:xfrm>
          <a:prstGeom prst="rect">
            <a:avLst/>
          </a:prstGeom>
          <a:solidFill>
            <a:srgbClr val="E0A008"/>
          </a:solidFill>
          <a:ln w="12700">
            <a:solidFill>
              <a:srgbClr val="E0A008"/>
            </a:solidFill>
            <a:prstDash val="solid"/>
          </a:ln>
        </p:spPr>
      </p:sp>
      <p:sp>
        <p:nvSpPr>
          <p:cNvPr id="13" name="Text 11"/>
          <p:cNvSpPr txBox="1"/>
          <p:nvPr/>
        </p:nvSpPr>
        <p:spPr>
          <a:xfrm>
            <a:off x="1197864" y="4005072"/>
            <a:ext cx="2578608" cy="777240"/>
          </a:xfrm>
          <a:prstGeom prst="rect">
            <a:avLst/>
          </a:prstGeom>
          <a:noFill/>
          <a:ln/>
        </p:spPr>
        <p:txBody>
          <a:bodyPr wrap="square" lIns="0" tIns="0" rIns="0" bIns="0" rtlCol="0" anchor="t"/>
          <a:lstStyle/>
          <a:p>
            <a:pPr algn="l" indent="0" marL="0">
              <a:lnSpc>
                <a:spcPts val="1700"/>
              </a:lnSpc>
              <a:buNone/>
            </a:pPr>
            <a:r>
              <a:rPr lang="en-US" sz="1200" dirty="0">
                <a:solidFill>
                  <a:srgbClr val="1B1A17"/>
                </a:solidFill>
                <a:latin typeface="Calibri" pitchFamily="34" charset="0"/>
                <a:ea typeface="Calibri" pitchFamily="34" charset="-122"/>
                <a:cs typeface="Calibri" pitchFamily="34" charset="-120"/>
              </a:rPr>
              <a:t>Already paying for Claude or ChatGPT on a departmental card.</a:t>
            </a:r>
            <a:endParaRPr lang="en-US" sz="1200" dirty="0"/>
          </a:p>
        </p:txBody>
      </p:sp>
      <p:sp>
        <p:nvSpPr>
          <p:cNvPr id="14" name="Shape 12"/>
          <p:cNvSpPr/>
          <p:nvPr/>
        </p:nvSpPr>
        <p:spPr>
          <a:xfrm>
            <a:off x="4398264" y="1783080"/>
            <a:ext cx="3401568" cy="3017520"/>
          </a:xfrm>
          <a:prstGeom prst="roundRect">
            <a:avLst>
              <a:gd name="adj" fmla="val 1818"/>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sp>
        <p:nvSpPr>
          <p:cNvPr id="15" name="Text 13"/>
          <p:cNvSpPr txBox="1"/>
          <p:nvPr/>
        </p:nvSpPr>
        <p:spPr>
          <a:xfrm>
            <a:off x="4709160" y="2029968"/>
            <a:ext cx="2779776" cy="237744"/>
          </a:xfrm>
          <a:prstGeom prst="rect">
            <a:avLst/>
          </a:prstGeom>
          <a:noFill/>
          <a:ln/>
        </p:spPr>
        <p:txBody>
          <a:bodyPr wrap="square" lIns="0" tIns="0" rIns="0" bIns="0" rtlCol="0" anchor="ctr"/>
          <a:lstStyle/>
          <a:p>
            <a:pPr indent="0" marL="0">
              <a:buNone/>
            </a:pPr>
            <a:r>
              <a:rPr lang="en-US" sz="950" b="1" spc="180" kern="0" dirty="0">
                <a:solidFill>
                  <a:srgbClr val="9A6F05"/>
                </a:solidFill>
                <a:latin typeface="Calibri" pitchFamily="34" charset="0"/>
                <a:ea typeface="Calibri" pitchFamily="34" charset="-122"/>
                <a:cs typeface="Calibri" pitchFamily="34" charset="-120"/>
              </a:rPr>
              <a:t>WHY THEY TRY</a:t>
            </a:r>
            <a:endParaRPr lang="en-US" sz="950" dirty="0"/>
          </a:p>
        </p:txBody>
      </p:sp>
      <p:sp>
        <p:nvSpPr>
          <p:cNvPr id="16" name="Shape 14"/>
          <p:cNvSpPr/>
          <p:nvPr/>
        </p:nvSpPr>
        <p:spPr>
          <a:xfrm>
            <a:off x="4709160" y="2514600"/>
            <a:ext cx="68580" cy="68580"/>
          </a:xfrm>
          <a:prstGeom prst="rect">
            <a:avLst/>
          </a:prstGeom>
          <a:solidFill>
            <a:srgbClr val="E0A008"/>
          </a:solidFill>
          <a:ln w="12700">
            <a:solidFill>
              <a:srgbClr val="E0A008"/>
            </a:solidFill>
            <a:prstDash val="solid"/>
          </a:ln>
        </p:spPr>
      </p:sp>
      <p:sp>
        <p:nvSpPr>
          <p:cNvPr id="17" name="Text 15"/>
          <p:cNvSpPr txBox="1"/>
          <p:nvPr/>
        </p:nvSpPr>
        <p:spPr>
          <a:xfrm>
            <a:off x="4910328" y="2432304"/>
            <a:ext cx="2578608" cy="777240"/>
          </a:xfrm>
          <a:prstGeom prst="rect">
            <a:avLst/>
          </a:prstGeom>
          <a:noFill/>
          <a:ln/>
        </p:spPr>
        <p:txBody>
          <a:bodyPr wrap="square" lIns="0" tIns="0" rIns="0" bIns="0" rtlCol="0" anchor="t"/>
          <a:lstStyle/>
          <a:p>
            <a:pPr algn="l" indent="0" marL="0">
              <a:lnSpc>
                <a:spcPts val="1700"/>
              </a:lnSpc>
              <a:buNone/>
            </a:pPr>
            <a:r>
              <a:rPr lang="en-US" sz="1200" dirty="0">
                <a:solidFill>
                  <a:srgbClr val="1B1A17"/>
                </a:solidFill>
                <a:latin typeface="Calibri" pitchFamily="34" charset="0"/>
                <a:ea typeface="Calibri" pitchFamily="34" charset="-122"/>
                <a:cs typeface="Calibri" pitchFamily="34" charset="-120"/>
              </a:rPr>
              <a:t>A live matter that is larger than the bandwidth they have for it.</a:t>
            </a:r>
            <a:endParaRPr lang="en-US" sz="1200" dirty="0"/>
          </a:p>
        </p:txBody>
      </p:sp>
      <p:sp>
        <p:nvSpPr>
          <p:cNvPr id="18" name="Shape 16"/>
          <p:cNvSpPr/>
          <p:nvPr/>
        </p:nvSpPr>
        <p:spPr>
          <a:xfrm>
            <a:off x="4709160" y="3300984"/>
            <a:ext cx="68580" cy="68580"/>
          </a:xfrm>
          <a:prstGeom prst="rect">
            <a:avLst/>
          </a:prstGeom>
          <a:solidFill>
            <a:srgbClr val="E0A008"/>
          </a:solidFill>
          <a:ln w="12700">
            <a:solidFill>
              <a:srgbClr val="E0A008"/>
            </a:solidFill>
            <a:prstDash val="solid"/>
          </a:ln>
        </p:spPr>
      </p:sp>
      <p:sp>
        <p:nvSpPr>
          <p:cNvPr id="19" name="Text 17"/>
          <p:cNvSpPr txBox="1"/>
          <p:nvPr/>
        </p:nvSpPr>
        <p:spPr>
          <a:xfrm>
            <a:off x="4910328" y="3218688"/>
            <a:ext cx="2578608" cy="777240"/>
          </a:xfrm>
          <a:prstGeom prst="rect">
            <a:avLst/>
          </a:prstGeom>
          <a:noFill/>
          <a:ln/>
        </p:spPr>
        <p:txBody>
          <a:bodyPr wrap="square" lIns="0" tIns="0" rIns="0" bIns="0" rtlCol="0" anchor="t"/>
          <a:lstStyle/>
          <a:p>
            <a:pPr algn="l" indent="0" marL="0">
              <a:lnSpc>
                <a:spcPts val="1700"/>
              </a:lnSpc>
              <a:buNone/>
            </a:pPr>
            <a:r>
              <a:rPr lang="en-US" sz="1200" dirty="0">
                <a:solidFill>
                  <a:srgbClr val="1B1A17"/>
                </a:solidFill>
                <a:latin typeface="Calibri" pitchFamily="34" charset="0"/>
                <a:ea typeface="Calibri" pitchFamily="34" charset="-122"/>
                <a:cs typeface="Calibri" pitchFamily="34" charset="-120"/>
              </a:rPr>
              <a:t>They can start on one seat, this month, without a procurement cycle or an annual commitment.</a:t>
            </a:r>
            <a:endParaRPr lang="en-US" sz="1200" dirty="0"/>
          </a:p>
        </p:txBody>
      </p:sp>
      <p:sp>
        <p:nvSpPr>
          <p:cNvPr id="20" name="Shape 18"/>
          <p:cNvSpPr/>
          <p:nvPr/>
        </p:nvSpPr>
        <p:spPr>
          <a:xfrm>
            <a:off x="4709160" y="4087368"/>
            <a:ext cx="68580" cy="68580"/>
          </a:xfrm>
          <a:prstGeom prst="rect">
            <a:avLst/>
          </a:prstGeom>
          <a:solidFill>
            <a:srgbClr val="E0A008"/>
          </a:solidFill>
          <a:ln w="12700">
            <a:solidFill>
              <a:srgbClr val="E0A008"/>
            </a:solidFill>
            <a:prstDash val="solid"/>
          </a:ln>
        </p:spPr>
      </p:sp>
      <p:sp>
        <p:nvSpPr>
          <p:cNvPr id="21" name="Text 19"/>
          <p:cNvSpPr txBox="1"/>
          <p:nvPr/>
        </p:nvSpPr>
        <p:spPr>
          <a:xfrm>
            <a:off x="4910328" y="4005072"/>
            <a:ext cx="2578608" cy="777240"/>
          </a:xfrm>
          <a:prstGeom prst="rect">
            <a:avLst/>
          </a:prstGeom>
          <a:noFill/>
          <a:ln/>
        </p:spPr>
        <p:txBody>
          <a:bodyPr wrap="square" lIns="0" tIns="0" rIns="0" bIns="0" rtlCol="0" anchor="t"/>
          <a:lstStyle/>
          <a:p>
            <a:pPr algn="l" indent="0" marL="0">
              <a:lnSpc>
                <a:spcPts val="1700"/>
              </a:lnSpc>
              <a:buNone/>
            </a:pPr>
            <a:r>
              <a:rPr lang="en-US" sz="1200" dirty="0">
                <a:solidFill>
                  <a:srgbClr val="1B1A17"/>
                </a:solidFill>
                <a:latin typeface="Calibri" pitchFamily="34" charset="0"/>
                <a:ea typeface="Calibri" pitchFamily="34" charset="-122"/>
                <a:cs typeface="Calibri" pitchFamily="34" charset="-120"/>
              </a:rPr>
              <a:t>The first matter is the demo.</a:t>
            </a:r>
            <a:endParaRPr lang="en-US" sz="1200" dirty="0"/>
          </a:p>
        </p:txBody>
      </p:sp>
      <p:sp>
        <p:nvSpPr>
          <p:cNvPr id="22" name="Shape 20"/>
          <p:cNvSpPr/>
          <p:nvPr/>
        </p:nvSpPr>
        <p:spPr>
          <a:xfrm>
            <a:off x="8110728" y="1783080"/>
            <a:ext cx="3401568" cy="3017520"/>
          </a:xfrm>
          <a:prstGeom prst="roundRect">
            <a:avLst>
              <a:gd name="adj" fmla="val 1818"/>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sp>
        <p:nvSpPr>
          <p:cNvPr id="23" name="Text 21"/>
          <p:cNvSpPr txBox="1"/>
          <p:nvPr/>
        </p:nvSpPr>
        <p:spPr>
          <a:xfrm>
            <a:off x="8421624" y="2029968"/>
            <a:ext cx="2779776" cy="237744"/>
          </a:xfrm>
          <a:prstGeom prst="rect">
            <a:avLst/>
          </a:prstGeom>
          <a:noFill/>
          <a:ln/>
        </p:spPr>
        <p:txBody>
          <a:bodyPr wrap="square" lIns="0" tIns="0" rIns="0" bIns="0" rtlCol="0" anchor="ctr"/>
          <a:lstStyle/>
          <a:p>
            <a:pPr indent="0" marL="0">
              <a:buNone/>
            </a:pPr>
            <a:r>
              <a:rPr lang="en-US" sz="950" b="1" spc="180" kern="0" dirty="0">
                <a:solidFill>
                  <a:srgbClr val="9A6F05"/>
                </a:solidFill>
                <a:latin typeface="Calibri" pitchFamily="34" charset="0"/>
                <a:ea typeface="Calibri" pitchFamily="34" charset="-122"/>
                <a:cs typeface="Calibri" pitchFamily="34" charset="-120"/>
              </a:rPr>
              <a:t>HOW THEY ARRIVE</a:t>
            </a:r>
            <a:endParaRPr lang="en-US" sz="950" dirty="0"/>
          </a:p>
        </p:txBody>
      </p:sp>
      <p:sp>
        <p:nvSpPr>
          <p:cNvPr id="24" name="Shape 22"/>
          <p:cNvSpPr/>
          <p:nvPr/>
        </p:nvSpPr>
        <p:spPr>
          <a:xfrm>
            <a:off x="8421624" y="2514600"/>
            <a:ext cx="68580" cy="68580"/>
          </a:xfrm>
          <a:prstGeom prst="rect">
            <a:avLst/>
          </a:prstGeom>
          <a:solidFill>
            <a:srgbClr val="E0A008"/>
          </a:solidFill>
          <a:ln w="12700">
            <a:solidFill>
              <a:srgbClr val="E0A008"/>
            </a:solidFill>
            <a:prstDash val="solid"/>
          </a:ln>
        </p:spPr>
      </p:sp>
      <p:sp>
        <p:nvSpPr>
          <p:cNvPr id="25" name="Text 23"/>
          <p:cNvSpPr txBox="1"/>
          <p:nvPr/>
        </p:nvSpPr>
        <p:spPr>
          <a:xfrm>
            <a:off x="8622792" y="2432304"/>
            <a:ext cx="2578608" cy="777240"/>
          </a:xfrm>
          <a:prstGeom prst="rect">
            <a:avLst/>
          </a:prstGeom>
          <a:noFill/>
          <a:ln/>
        </p:spPr>
        <p:txBody>
          <a:bodyPr wrap="square" lIns="0" tIns="0" rIns="0" bIns="0" rtlCol="0" anchor="t"/>
          <a:lstStyle/>
          <a:p>
            <a:pPr algn="l" indent="0" marL="0">
              <a:lnSpc>
                <a:spcPts val="1700"/>
              </a:lnSpc>
              <a:buNone/>
            </a:pPr>
            <a:r>
              <a:rPr lang="en-US" sz="1200" dirty="0">
                <a:solidFill>
                  <a:srgbClr val="1B1A17"/>
                </a:solidFill>
                <a:latin typeface="Calibri" pitchFamily="34" charset="0"/>
                <a:ea typeface="Calibri" pitchFamily="34" charset="-122"/>
                <a:cs typeface="Calibri" pitchFamily="34" charset="-120"/>
              </a:rPr>
              <a:t>The founder’s counsel network opens the first pilots.</a:t>
            </a:r>
            <a:endParaRPr lang="en-US" sz="1200" dirty="0"/>
          </a:p>
        </p:txBody>
      </p:sp>
      <p:sp>
        <p:nvSpPr>
          <p:cNvPr id="26" name="Shape 24"/>
          <p:cNvSpPr/>
          <p:nvPr/>
        </p:nvSpPr>
        <p:spPr>
          <a:xfrm>
            <a:off x="8421624" y="3300984"/>
            <a:ext cx="68580" cy="68580"/>
          </a:xfrm>
          <a:prstGeom prst="rect">
            <a:avLst/>
          </a:prstGeom>
          <a:solidFill>
            <a:srgbClr val="E0A008"/>
          </a:solidFill>
          <a:ln w="12700">
            <a:solidFill>
              <a:srgbClr val="E0A008"/>
            </a:solidFill>
            <a:prstDash val="solid"/>
          </a:ln>
        </p:spPr>
      </p:sp>
      <p:sp>
        <p:nvSpPr>
          <p:cNvPr id="27" name="Text 25"/>
          <p:cNvSpPr txBox="1"/>
          <p:nvPr/>
        </p:nvSpPr>
        <p:spPr>
          <a:xfrm>
            <a:off x="8622792" y="3218688"/>
            <a:ext cx="2578608" cy="777240"/>
          </a:xfrm>
          <a:prstGeom prst="rect">
            <a:avLst/>
          </a:prstGeom>
          <a:noFill/>
          <a:ln/>
        </p:spPr>
        <p:txBody>
          <a:bodyPr wrap="square" lIns="0" tIns="0" rIns="0" bIns="0" rtlCol="0" anchor="t"/>
          <a:lstStyle/>
          <a:p>
            <a:pPr algn="l" indent="0" marL="0">
              <a:lnSpc>
                <a:spcPts val="1700"/>
              </a:lnSpc>
              <a:buNone/>
            </a:pPr>
            <a:r>
              <a:rPr lang="en-US" sz="1200" dirty="0">
                <a:solidFill>
                  <a:srgbClr val="1B1A17"/>
                </a:solidFill>
                <a:latin typeface="Calibri" pitchFamily="34" charset="0"/>
                <a:ea typeface="Calibri" pitchFamily="34" charset="-122"/>
                <a:cs typeface="Calibri" pitchFamily="34" charset="-120"/>
              </a:rPr>
              <a:t>Useful work on a real matter earns the next matter.</a:t>
            </a:r>
            <a:endParaRPr lang="en-US" sz="1200" dirty="0"/>
          </a:p>
        </p:txBody>
      </p:sp>
      <p:sp>
        <p:nvSpPr>
          <p:cNvPr id="28" name="Shape 26"/>
          <p:cNvSpPr/>
          <p:nvPr/>
        </p:nvSpPr>
        <p:spPr>
          <a:xfrm>
            <a:off x="8421624" y="4087368"/>
            <a:ext cx="68580" cy="68580"/>
          </a:xfrm>
          <a:prstGeom prst="rect">
            <a:avLst/>
          </a:prstGeom>
          <a:solidFill>
            <a:srgbClr val="E0A008"/>
          </a:solidFill>
          <a:ln w="12700">
            <a:solidFill>
              <a:srgbClr val="E0A008"/>
            </a:solidFill>
            <a:prstDash val="solid"/>
          </a:ln>
        </p:spPr>
      </p:sp>
      <p:sp>
        <p:nvSpPr>
          <p:cNvPr id="29" name="Text 27"/>
          <p:cNvSpPr txBox="1"/>
          <p:nvPr/>
        </p:nvSpPr>
        <p:spPr>
          <a:xfrm>
            <a:off x="8622792" y="4005072"/>
            <a:ext cx="2578608" cy="777240"/>
          </a:xfrm>
          <a:prstGeom prst="rect">
            <a:avLst/>
          </a:prstGeom>
          <a:noFill/>
          <a:ln/>
        </p:spPr>
        <p:txBody>
          <a:bodyPr wrap="square" lIns="0" tIns="0" rIns="0" bIns="0" rtlCol="0" anchor="t"/>
          <a:lstStyle/>
          <a:p>
            <a:pPr algn="l" indent="0" marL="0">
              <a:lnSpc>
                <a:spcPts val="1700"/>
              </a:lnSpc>
              <a:buNone/>
            </a:pPr>
            <a:r>
              <a:rPr lang="en-US" sz="1200" dirty="0">
                <a:solidFill>
                  <a:srgbClr val="1B1A17"/>
                </a:solidFill>
                <a:latin typeface="Calibri" pitchFamily="34" charset="0"/>
                <a:ea typeface="Calibri" pitchFamily="34" charset="-122"/>
                <a:cs typeface="Calibri" pitchFamily="34" charset="-120"/>
              </a:rPr>
              <a:t>Paid use earns a referral or a second seat on the same team.</a:t>
            </a:r>
            <a:endParaRPr lang="en-US" sz="1200" dirty="0"/>
          </a:p>
        </p:txBody>
      </p:sp>
      <p:sp>
        <p:nvSpPr>
          <p:cNvPr id="30" name="Shape 28"/>
          <p:cNvSpPr/>
          <p:nvPr/>
        </p:nvSpPr>
        <p:spPr>
          <a:xfrm>
            <a:off x="685800" y="5074920"/>
            <a:ext cx="10820095" cy="868680"/>
          </a:xfrm>
          <a:prstGeom prst="roundRect">
            <a:avLst>
              <a:gd name="adj" fmla="val 6316"/>
            </a:avLst>
          </a:prstGeom>
          <a:solidFill>
            <a:srgbClr val="16150F"/>
          </a:solidFill>
          <a:ln w="12700">
            <a:solidFill>
              <a:srgbClr val="16150F"/>
            </a:solidFill>
            <a:prstDash val="solid"/>
          </a:ln>
        </p:spPr>
      </p:sp>
      <p:sp>
        <p:nvSpPr>
          <p:cNvPr id="31" name="Text 29"/>
          <p:cNvSpPr txBox="1"/>
          <p:nvPr/>
        </p:nvSpPr>
        <p:spPr>
          <a:xfrm>
            <a:off x="1069848" y="5257800"/>
            <a:ext cx="4572000" cy="237744"/>
          </a:xfrm>
          <a:prstGeom prst="rect">
            <a:avLst/>
          </a:prstGeom>
          <a:noFill/>
          <a:ln/>
        </p:spPr>
        <p:txBody>
          <a:bodyPr wrap="square" lIns="0" tIns="0" rIns="0" bIns="0" rtlCol="0" anchor="ctr"/>
          <a:lstStyle/>
          <a:p>
            <a:pPr indent="0" marL="0">
              <a:buNone/>
            </a:pPr>
            <a:r>
              <a:rPr lang="en-US" sz="950" b="1" spc="180" kern="0" dirty="0">
                <a:solidFill>
                  <a:srgbClr val="E0A008"/>
                </a:solidFill>
                <a:latin typeface="Calibri" pitchFamily="34" charset="0"/>
                <a:ea typeface="Calibri" pitchFamily="34" charset="-122"/>
                <a:cs typeface="Calibri" pitchFamily="34" charset="-120"/>
              </a:rPr>
              <a:t>FIRST 90 DAYS AFTER PILOT ACCESS</a:t>
            </a:r>
            <a:endParaRPr lang="en-US" sz="950" dirty="0"/>
          </a:p>
        </p:txBody>
      </p:sp>
      <p:sp>
        <p:nvSpPr>
          <p:cNvPr id="32" name="Text 30"/>
          <p:cNvSpPr txBox="1"/>
          <p:nvPr/>
        </p:nvSpPr>
        <p:spPr>
          <a:xfrm>
            <a:off x="1069848" y="5513832"/>
            <a:ext cx="10051999" cy="365760"/>
          </a:xfrm>
          <a:prstGeom prst="rect">
            <a:avLst/>
          </a:prstGeom>
          <a:noFill/>
          <a:ln/>
        </p:spPr>
        <p:txBody>
          <a:bodyPr wrap="square" lIns="0" tIns="0" rIns="0" bIns="0" rtlCol="0" anchor="t"/>
          <a:lstStyle/>
          <a:p>
            <a:pPr algn="l" indent="0" marL="0">
              <a:lnSpc>
                <a:spcPts val="1900"/>
              </a:lnSpc>
              <a:buNone/>
            </a:pPr>
            <a:r>
              <a:rPr lang="en-US" sz="1600" b="1" dirty="0">
                <a:solidFill>
                  <a:srgbClr val="FFFFFF"/>
                </a:solidFill>
                <a:latin typeface="Cambria" pitchFamily="34" charset="0"/>
                <a:ea typeface="Cambria" pitchFamily="34" charset="-122"/>
                <a:cs typeface="Cambria" pitchFamily="34" charset="-120"/>
              </a:rPr>
              <a:t>20 qualified conversations        10 pilot lawyers        5 paying lawyers</a:t>
            </a:r>
            <a:endParaRPr lang="en-US" sz="1600" dirty="0"/>
          </a:p>
        </p:txBody>
      </p:sp>
      <p:sp>
        <p:nvSpPr>
          <p:cNvPr id="33" name="Text 31"/>
          <p:cNvSpPr txBox="1"/>
          <p:nvPr/>
        </p:nvSpPr>
        <p:spPr>
          <a:xfrm>
            <a:off x="685800" y="6382512"/>
            <a:ext cx="10820095" cy="329184"/>
          </a:xfrm>
          <a:prstGeom prst="rect">
            <a:avLst/>
          </a:prstGeom>
          <a:noFill/>
          <a:ln/>
        </p:spPr>
        <p:txBody>
          <a:bodyPr wrap="square" lIns="0" tIns="0" rIns="0" bIns="0" rtlCol="0" anchor="t"/>
          <a:lstStyle/>
          <a:p>
            <a:pPr indent="0" marL="0">
              <a:buNone/>
            </a:pPr>
            <a:r>
              <a:rPr lang="en-US" sz="950" i="1" dirty="0">
                <a:solidFill>
                  <a:srgbClr val="6E6759"/>
                </a:solidFill>
                <a:latin typeface="Calibri" pitchFamily="34" charset="0"/>
                <a:ea typeface="Calibri" pitchFamily="34" charset="-122"/>
                <a:cs typeface="Calibri" pitchFamily="34" charset="-120"/>
              </a:rPr>
              <a:t>Segment, buying trigger and channel are business choices, not measured market shares. No channel partnership or pipeline count is claimed. The 90-day targets begin when pilot access is ready.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7772400" cy="310896"/>
          </a:xfrm>
          <a:prstGeom prst="rect">
            <a:avLst/>
          </a:prstGeom>
          <a:noFill/>
          <a:ln/>
        </p:spPr>
        <p:txBody>
          <a:bodyPr wrap="square" lIns="0" tIns="0" rIns="0" bIns="0" rtlCol="0" anchor="ctr"/>
          <a:lstStyle/>
          <a:p>
            <a:pPr indent="0" marL="0">
              <a:buNone/>
            </a:pPr>
            <a:r>
              <a:rPr lang="en-US" sz="1050" b="1" spc="220" kern="0" dirty="0">
                <a:solidFill>
                  <a:srgbClr val="9A6F05"/>
                </a:solidFill>
                <a:latin typeface="Calibri" pitchFamily="34" charset="0"/>
                <a:ea typeface="Calibri" pitchFamily="34" charset="-122"/>
                <a:cs typeface="Calibri" pitchFamily="34" charset="-120"/>
              </a:rPr>
              <a:t>BUSINESS MODEL</a:t>
            </a:r>
            <a:endParaRPr lang="en-US" sz="1050" dirty="0"/>
          </a:p>
        </p:txBody>
      </p:sp>
      <p:sp>
        <p:nvSpPr>
          <p:cNvPr id="4" name="Text 2"/>
          <p:cNvSpPr txBox="1"/>
          <p:nvPr/>
        </p:nvSpPr>
        <p:spPr>
          <a:xfrm>
            <a:off x="10408615" y="347472"/>
            <a:ext cx="1097280" cy="310896"/>
          </a:xfrm>
          <a:prstGeom prst="rect">
            <a:avLst/>
          </a:prstGeom>
          <a:noFill/>
          <a:ln/>
        </p:spPr>
        <p:txBody>
          <a:bodyPr wrap="square" lIns="0" tIns="0" rIns="0" bIns="0" rtlCol="0" anchor="ctr"/>
          <a:lstStyle/>
          <a:p>
            <a:pPr algn="r" indent="0" marL="0">
              <a:buNone/>
            </a:pPr>
            <a:r>
              <a:rPr lang="en-US" sz="1050" b="1" spc="150" kern="0" dirty="0">
                <a:solidFill>
                  <a:srgbClr val="6E6759"/>
                </a:solidFill>
                <a:latin typeface="Calibri" pitchFamily="34" charset="0"/>
                <a:ea typeface="Calibri" pitchFamily="34" charset="-122"/>
                <a:cs typeface="Calibri" pitchFamily="34" charset="-120"/>
              </a:rPr>
              <a:t>09</a:t>
            </a:r>
            <a:endParaRPr lang="en-US" sz="1050" dirty="0"/>
          </a:p>
        </p:txBody>
      </p:sp>
      <p:sp>
        <p:nvSpPr>
          <p:cNvPr id="5" name="Text 3"/>
          <p:cNvSpPr txBox="1"/>
          <p:nvPr/>
        </p:nvSpPr>
        <p:spPr>
          <a:xfrm>
            <a:off x="685800" y="841248"/>
            <a:ext cx="10820095" cy="548640"/>
          </a:xfrm>
          <a:prstGeom prst="rect">
            <a:avLst/>
          </a:prstGeom>
          <a:noFill/>
          <a:ln/>
        </p:spPr>
        <p:txBody>
          <a:bodyPr wrap="square" lIns="0" tIns="0" rIns="0" bIns="0" rtlCol="0" anchor="t"/>
          <a:lstStyle/>
          <a:p>
            <a:pPr indent="0" marL="0">
              <a:lnSpc>
                <a:spcPts val="3800"/>
              </a:lnSpc>
              <a:buNone/>
            </a:pPr>
            <a:r>
              <a:rPr lang="en-US" sz="3300" b="1" dirty="0">
                <a:solidFill>
                  <a:srgbClr val="1B1A17"/>
                </a:solidFill>
                <a:latin typeface="Cambria" pitchFamily="34" charset="0"/>
                <a:ea typeface="Cambria" pitchFamily="34" charset="-122"/>
                <a:cs typeface="Cambria" pitchFamily="34" charset="-120"/>
              </a:rPr>
              <a:t>$400 a month. One seat. No contract.</a:t>
            </a:r>
            <a:endParaRPr lang="en-US" sz="3300" dirty="0"/>
          </a:p>
        </p:txBody>
      </p:sp>
      <p:sp>
        <p:nvSpPr>
          <p:cNvPr id="6" name="Shape 4"/>
          <p:cNvSpPr/>
          <p:nvPr/>
        </p:nvSpPr>
        <p:spPr>
          <a:xfrm>
            <a:off x="685800" y="1783080"/>
            <a:ext cx="3401568" cy="3246120"/>
          </a:xfrm>
          <a:prstGeom prst="roundRect">
            <a:avLst>
              <a:gd name="adj" fmla="val 1690"/>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sp>
        <p:nvSpPr>
          <p:cNvPr id="7" name="Text 5"/>
          <p:cNvSpPr txBox="1"/>
          <p:nvPr/>
        </p:nvSpPr>
        <p:spPr>
          <a:xfrm>
            <a:off x="996696" y="2011680"/>
            <a:ext cx="2743200" cy="868680"/>
          </a:xfrm>
          <a:prstGeom prst="rect">
            <a:avLst/>
          </a:prstGeom>
          <a:noFill/>
          <a:ln/>
        </p:spPr>
        <p:txBody>
          <a:bodyPr wrap="square" lIns="0" tIns="0" rIns="0" bIns="0" rtlCol="0" anchor="ctr"/>
          <a:lstStyle/>
          <a:p>
            <a:pPr indent="0" marL="0">
              <a:buNone/>
            </a:pPr>
            <a:r>
              <a:rPr lang="en-US" sz="5000" b="1" dirty="0">
                <a:solidFill>
                  <a:srgbClr val="9A6F05"/>
                </a:solidFill>
                <a:latin typeface="Cambria" pitchFamily="34" charset="0"/>
                <a:ea typeface="Cambria" pitchFamily="34" charset="-122"/>
                <a:cs typeface="Cambria" pitchFamily="34" charset="-120"/>
              </a:rPr>
              <a:t>$400</a:t>
            </a:r>
            <a:endParaRPr lang="en-US" sz="5000" dirty="0"/>
          </a:p>
        </p:txBody>
      </p:sp>
      <p:sp>
        <p:nvSpPr>
          <p:cNvPr id="8" name="Text 6"/>
          <p:cNvSpPr txBox="1"/>
          <p:nvPr/>
        </p:nvSpPr>
        <p:spPr>
          <a:xfrm>
            <a:off x="996696" y="2907792"/>
            <a:ext cx="2743200" cy="274320"/>
          </a:xfrm>
          <a:prstGeom prst="rect">
            <a:avLst/>
          </a:prstGeom>
          <a:noFill/>
          <a:ln/>
        </p:spPr>
        <p:txBody>
          <a:bodyPr wrap="square" lIns="0" tIns="0" rIns="0" bIns="0" rtlCol="0" anchor="t"/>
          <a:lstStyle/>
          <a:p>
            <a:pPr algn="l" indent="0" marL="0">
              <a:lnSpc>
                <a:spcPts val="1900"/>
              </a:lnSpc>
              <a:buNone/>
            </a:pPr>
            <a:r>
              <a:rPr lang="en-US" sz="1300" b="1" dirty="0">
                <a:solidFill>
                  <a:srgbClr val="1B1A17"/>
                </a:solidFill>
                <a:latin typeface="Calibri" pitchFamily="34" charset="0"/>
                <a:ea typeface="Calibri" pitchFamily="34" charset="-122"/>
                <a:cs typeface="Calibri" pitchFamily="34" charset="-120"/>
              </a:rPr>
              <a:t>per lawyer, per month</a:t>
            </a:r>
            <a:endParaRPr lang="en-US" sz="1300" dirty="0"/>
          </a:p>
        </p:txBody>
      </p:sp>
      <p:sp>
        <p:nvSpPr>
          <p:cNvPr id="9" name="Shape 7"/>
          <p:cNvSpPr/>
          <p:nvPr/>
        </p:nvSpPr>
        <p:spPr>
          <a:xfrm>
            <a:off x="996696" y="3438144"/>
            <a:ext cx="68580" cy="68580"/>
          </a:xfrm>
          <a:prstGeom prst="rect">
            <a:avLst/>
          </a:prstGeom>
          <a:solidFill>
            <a:srgbClr val="E0A008"/>
          </a:solidFill>
          <a:ln w="12700">
            <a:solidFill>
              <a:srgbClr val="E0A008"/>
            </a:solidFill>
            <a:prstDash val="solid"/>
          </a:ln>
        </p:spPr>
      </p:sp>
      <p:sp>
        <p:nvSpPr>
          <p:cNvPr id="10" name="Text 8"/>
          <p:cNvSpPr txBox="1"/>
          <p:nvPr/>
        </p:nvSpPr>
        <p:spPr>
          <a:xfrm>
            <a:off x="1197864" y="3364992"/>
            <a:ext cx="2651760" cy="274320"/>
          </a:xfrm>
          <a:prstGeom prst="rect">
            <a:avLst/>
          </a:prstGeom>
          <a:noFill/>
          <a:ln/>
        </p:spPr>
        <p:txBody>
          <a:bodyPr wrap="square" lIns="0" tIns="0" rIns="0" bIns="0" rtlCol="0" anchor="t"/>
          <a:lstStyle/>
          <a:p>
            <a:pPr algn="l" indent="0" marL="0">
              <a:lnSpc>
                <a:spcPts val="1900"/>
              </a:lnSpc>
              <a:buNone/>
            </a:pPr>
            <a:r>
              <a:rPr lang="en-US" sz="1250" dirty="0">
                <a:solidFill>
                  <a:srgbClr val="6E6759"/>
                </a:solidFill>
                <a:latin typeface="Calibri" pitchFamily="34" charset="0"/>
                <a:ea typeface="Calibri" pitchFamily="34" charset="-122"/>
                <a:cs typeface="Calibri" pitchFamily="34" charset="-120"/>
              </a:rPr>
              <a:t>Monthly billing</a:t>
            </a:r>
            <a:endParaRPr lang="en-US" sz="1250" dirty="0"/>
          </a:p>
        </p:txBody>
      </p:sp>
      <p:sp>
        <p:nvSpPr>
          <p:cNvPr id="11" name="Shape 9"/>
          <p:cNvSpPr/>
          <p:nvPr/>
        </p:nvSpPr>
        <p:spPr>
          <a:xfrm>
            <a:off x="996696" y="3803904"/>
            <a:ext cx="68580" cy="68580"/>
          </a:xfrm>
          <a:prstGeom prst="rect">
            <a:avLst/>
          </a:prstGeom>
          <a:solidFill>
            <a:srgbClr val="E0A008"/>
          </a:solidFill>
          <a:ln w="12700">
            <a:solidFill>
              <a:srgbClr val="E0A008"/>
            </a:solidFill>
            <a:prstDash val="solid"/>
          </a:ln>
        </p:spPr>
      </p:sp>
      <p:sp>
        <p:nvSpPr>
          <p:cNvPr id="12" name="Text 10"/>
          <p:cNvSpPr txBox="1"/>
          <p:nvPr/>
        </p:nvSpPr>
        <p:spPr>
          <a:xfrm>
            <a:off x="1197864" y="3730752"/>
            <a:ext cx="2651760" cy="274320"/>
          </a:xfrm>
          <a:prstGeom prst="rect">
            <a:avLst/>
          </a:prstGeom>
          <a:noFill/>
          <a:ln/>
        </p:spPr>
        <p:txBody>
          <a:bodyPr wrap="square" lIns="0" tIns="0" rIns="0" bIns="0" rtlCol="0" anchor="t"/>
          <a:lstStyle/>
          <a:p>
            <a:pPr algn="l" indent="0" marL="0">
              <a:lnSpc>
                <a:spcPts val="1900"/>
              </a:lnSpc>
              <a:buNone/>
            </a:pPr>
            <a:r>
              <a:rPr lang="en-US" sz="1250" dirty="0">
                <a:solidFill>
                  <a:srgbClr val="6E6759"/>
                </a:solidFill>
                <a:latin typeface="Calibri" pitchFamily="34" charset="0"/>
                <a:ea typeface="Calibri" pitchFamily="34" charset="-122"/>
                <a:cs typeface="Calibri" pitchFamily="34" charset="-120"/>
              </a:rPr>
              <a:t>Start with a single seat</a:t>
            </a:r>
            <a:endParaRPr lang="en-US" sz="1250" dirty="0"/>
          </a:p>
        </p:txBody>
      </p:sp>
      <p:sp>
        <p:nvSpPr>
          <p:cNvPr id="13" name="Shape 11"/>
          <p:cNvSpPr/>
          <p:nvPr/>
        </p:nvSpPr>
        <p:spPr>
          <a:xfrm>
            <a:off x="996696" y="4169664"/>
            <a:ext cx="68580" cy="68580"/>
          </a:xfrm>
          <a:prstGeom prst="rect">
            <a:avLst/>
          </a:prstGeom>
          <a:solidFill>
            <a:srgbClr val="E0A008"/>
          </a:solidFill>
          <a:ln w="12700">
            <a:solidFill>
              <a:srgbClr val="E0A008"/>
            </a:solidFill>
            <a:prstDash val="solid"/>
          </a:ln>
        </p:spPr>
      </p:sp>
      <p:sp>
        <p:nvSpPr>
          <p:cNvPr id="14" name="Text 12"/>
          <p:cNvSpPr txBox="1"/>
          <p:nvPr/>
        </p:nvSpPr>
        <p:spPr>
          <a:xfrm>
            <a:off x="1197864" y="4096512"/>
            <a:ext cx="2651760" cy="274320"/>
          </a:xfrm>
          <a:prstGeom prst="rect">
            <a:avLst/>
          </a:prstGeom>
          <a:noFill/>
          <a:ln/>
        </p:spPr>
        <p:txBody>
          <a:bodyPr wrap="square" lIns="0" tIns="0" rIns="0" bIns="0" rtlCol="0" anchor="t"/>
          <a:lstStyle/>
          <a:p>
            <a:pPr algn="l" indent="0" marL="0">
              <a:lnSpc>
                <a:spcPts val="1900"/>
              </a:lnSpc>
              <a:buNone/>
            </a:pPr>
            <a:r>
              <a:rPr lang="en-US" sz="1250" dirty="0">
                <a:solidFill>
                  <a:srgbClr val="6E6759"/>
                </a:solidFill>
                <a:latin typeface="Calibri" pitchFamily="34" charset="0"/>
                <a:ea typeface="Calibri" pitchFamily="34" charset="-122"/>
                <a:cs typeface="Calibri" pitchFamily="34" charset="-120"/>
              </a:rPr>
              <a:t>No setup fee</a:t>
            </a:r>
            <a:endParaRPr lang="en-US" sz="1250" dirty="0"/>
          </a:p>
        </p:txBody>
      </p:sp>
      <p:sp>
        <p:nvSpPr>
          <p:cNvPr id="15" name="Shape 13"/>
          <p:cNvSpPr/>
          <p:nvPr/>
        </p:nvSpPr>
        <p:spPr>
          <a:xfrm>
            <a:off x="996696" y="4535424"/>
            <a:ext cx="68580" cy="68580"/>
          </a:xfrm>
          <a:prstGeom prst="rect">
            <a:avLst/>
          </a:prstGeom>
          <a:solidFill>
            <a:srgbClr val="E0A008"/>
          </a:solidFill>
          <a:ln w="12700">
            <a:solidFill>
              <a:srgbClr val="E0A008"/>
            </a:solidFill>
            <a:prstDash val="solid"/>
          </a:ln>
        </p:spPr>
      </p:sp>
      <p:sp>
        <p:nvSpPr>
          <p:cNvPr id="16" name="Text 14"/>
          <p:cNvSpPr txBox="1"/>
          <p:nvPr/>
        </p:nvSpPr>
        <p:spPr>
          <a:xfrm>
            <a:off x="1197864" y="4462272"/>
            <a:ext cx="2651760" cy="274320"/>
          </a:xfrm>
          <a:prstGeom prst="rect">
            <a:avLst/>
          </a:prstGeom>
          <a:noFill/>
          <a:ln/>
        </p:spPr>
        <p:txBody>
          <a:bodyPr wrap="square" lIns="0" tIns="0" rIns="0" bIns="0" rtlCol="0" anchor="t"/>
          <a:lstStyle/>
          <a:p>
            <a:pPr algn="l" indent="0" marL="0">
              <a:lnSpc>
                <a:spcPts val="1900"/>
              </a:lnSpc>
              <a:buNone/>
            </a:pPr>
            <a:r>
              <a:rPr lang="en-US" sz="1250" dirty="0">
                <a:solidFill>
                  <a:srgbClr val="6E6759"/>
                </a:solidFill>
                <a:latin typeface="Calibri" pitchFamily="34" charset="0"/>
                <a:ea typeface="Calibri" pitchFamily="34" charset="-122"/>
                <a:cs typeface="Calibri" pitchFamily="34" charset="-120"/>
              </a:rPr>
              <a:t>No annual commitment</a:t>
            </a:r>
            <a:endParaRPr lang="en-US" sz="1250" dirty="0"/>
          </a:p>
        </p:txBody>
      </p:sp>
      <p:sp>
        <p:nvSpPr>
          <p:cNvPr id="17" name="Shape 15"/>
          <p:cNvSpPr/>
          <p:nvPr/>
        </p:nvSpPr>
        <p:spPr>
          <a:xfrm>
            <a:off x="4398264" y="1783080"/>
            <a:ext cx="3401568" cy="3246120"/>
          </a:xfrm>
          <a:prstGeom prst="roundRect">
            <a:avLst>
              <a:gd name="adj" fmla="val 1690"/>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sp>
        <p:nvSpPr>
          <p:cNvPr id="18" name="Text 16"/>
          <p:cNvSpPr txBox="1"/>
          <p:nvPr/>
        </p:nvSpPr>
        <p:spPr>
          <a:xfrm>
            <a:off x="4709160" y="2011680"/>
            <a:ext cx="2834640" cy="868680"/>
          </a:xfrm>
          <a:prstGeom prst="rect">
            <a:avLst/>
          </a:prstGeom>
          <a:noFill/>
          <a:ln/>
        </p:spPr>
        <p:txBody>
          <a:bodyPr wrap="square" lIns="0" tIns="0" rIns="0" bIns="0" rtlCol="0" anchor="ctr"/>
          <a:lstStyle/>
          <a:p>
            <a:pPr indent="0" marL="0">
              <a:buNone/>
            </a:pPr>
            <a:r>
              <a:rPr lang="en-US" sz="5000" b="1" dirty="0">
                <a:solidFill>
                  <a:srgbClr val="9A6F05"/>
                </a:solidFill>
                <a:latin typeface="Cambria" pitchFamily="34" charset="0"/>
                <a:ea typeface="Cambria" pitchFamily="34" charset="-122"/>
                <a:cs typeface="Cambria" pitchFamily="34" charset="-120"/>
              </a:rPr>
              <a:t>24 min</a:t>
            </a:r>
            <a:endParaRPr lang="en-US" sz="5000" dirty="0"/>
          </a:p>
        </p:txBody>
      </p:sp>
      <p:sp>
        <p:nvSpPr>
          <p:cNvPr id="19" name="Text 17"/>
          <p:cNvSpPr txBox="1"/>
          <p:nvPr/>
        </p:nvSpPr>
        <p:spPr>
          <a:xfrm>
            <a:off x="4709160" y="2907792"/>
            <a:ext cx="2743200" cy="274320"/>
          </a:xfrm>
          <a:prstGeom prst="rect">
            <a:avLst/>
          </a:prstGeom>
          <a:noFill/>
          <a:ln/>
        </p:spPr>
        <p:txBody>
          <a:bodyPr wrap="square" lIns="0" tIns="0" rIns="0" bIns="0" rtlCol="0" anchor="t"/>
          <a:lstStyle/>
          <a:p>
            <a:pPr algn="l" indent="0" marL="0">
              <a:lnSpc>
                <a:spcPts val="1900"/>
              </a:lnSpc>
              <a:buNone/>
            </a:pPr>
            <a:r>
              <a:rPr lang="en-US" sz="1300" b="1" dirty="0">
                <a:solidFill>
                  <a:srgbClr val="1B1A17"/>
                </a:solidFill>
                <a:latin typeface="Calibri" pitchFamily="34" charset="0"/>
                <a:ea typeface="Calibri" pitchFamily="34" charset="-122"/>
                <a:cs typeface="Calibri" pitchFamily="34" charset="-120"/>
              </a:rPr>
              <a:t>a week</a:t>
            </a:r>
            <a:endParaRPr lang="en-US" sz="1300" dirty="0"/>
          </a:p>
        </p:txBody>
      </p:sp>
      <p:sp>
        <p:nvSpPr>
          <p:cNvPr id="20" name="Text 18"/>
          <p:cNvSpPr txBox="1"/>
          <p:nvPr/>
        </p:nvSpPr>
        <p:spPr>
          <a:xfrm>
            <a:off x="4709160" y="3364992"/>
            <a:ext cx="2788920" cy="1463040"/>
          </a:xfrm>
          <a:prstGeom prst="rect">
            <a:avLst/>
          </a:prstGeom>
          <a:noFill/>
          <a:ln/>
        </p:spPr>
        <p:txBody>
          <a:bodyPr wrap="square" lIns="0" tIns="0" rIns="0" bIns="0" rtlCol="0" anchor="t"/>
          <a:lstStyle/>
          <a:p>
            <a:pPr algn="l" indent="0" marL="0">
              <a:lnSpc>
                <a:spcPts val="1800"/>
              </a:lnSpc>
              <a:buNone/>
            </a:pPr>
            <a:r>
              <a:rPr lang="en-US" sz="1250" dirty="0">
                <a:solidFill>
                  <a:srgbClr val="6E6759"/>
                </a:solidFill>
                <a:latin typeface="Calibri" pitchFamily="34" charset="0"/>
                <a:ea typeface="Calibri" pitchFamily="34" charset="-122"/>
                <a:cs typeface="Calibri" pitchFamily="34" charset="-120"/>
              </a:rPr>
              <a:t>At an assumed $250 per lawyer hour, twenty-four minutes a week of recovered capacity covers the price of the seat.</a:t>
            </a:r>
            <a:endParaRPr lang="en-US" sz="1250" dirty="0"/>
          </a:p>
          <a:p>
            <a:pPr algn="l" indent="0" marL="0">
              <a:lnSpc>
                <a:spcPts val="1800"/>
              </a:lnSpc>
              <a:buNone/>
            </a:pPr>
            <a:endParaRPr lang="en-US" sz="1250" dirty="0"/>
          </a:p>
          <a:p>
            <a:pPr algn="l" indent="0" marL="0">
              <a:lnSpc>
                <a:spcPts val="1800"/>
              </a:lnSpc>
              <a:buNone/>
            </a:pPr>
            <a:r>
              <a:rPr lang="en-US" sz="1250" dirty="0">
                <a:solidFill>
                  <a:srgbClr val="6E6759"/>
                </a:solidFill>
                <a:latin typeface="Calibri" pitchFamily="34" charset="0"/>
                <a:ea typeface="Calibri" pitchFamily="34" charset="-122"/>
                <a:cs typeface="Calibri" pitchFamily="34" charset="-120"/>
              </a:rPr>
              <a:t>That is the bar the product has to clear, and it is deliberately a low one.</a:t>
            </a:r>
            <a:endParaRPr lang="en-US" sz="1250" dirty="0"/>
          </a:p>
        </p:txBody>
      </p:sp>
      <p:sp>
        <p:nvSpPr>
          <p:cNvPr id="21" name="Shape 19"/>
          <p:cNvSpPr/>
          <p:nvPr/>
        </p:nvSpPr>
        <p:spPr>
          <a:xfrm>
            <a:off x="8110728" y="1783080"/>
            <a:ext cx="3401568" cy="3246120"/>
          </a:xfrm>
          <a:prstGeom prst="roundRect">
            <a:avLst>
              <a:gd name="adj" fmla="val 1690"/>
            </a:avLst>
          </a:prstGeom>
          <a:solidFill>
            <a:srgbClr val="FBF3DC"/>
          </a:solidFill>
          <a:ln w="9525">
            <a:solidFill>
              <a:srgbClr val="E8D9A8"/>
            </a:solidFill>
            <a:prstDash val="solid"/>
          </a:ln>
          <a:effectLst>
            <a:outerShdw sx="100000" sy="100000" kx="0" ky="0" algn="bl" rotWithShape="0" blurRad="101600" dist="19050" dir="5400000">
              <a:srgbClr val="8C8577">
                <a:alpha val="16000"/>
              </a:srgbClr>
            </a:outerShdw>
          </a:effectLst>
        </p:spPr>
      </p:sp>
      <p:sp>
        <p:nvSpPr>
          <p:cNvPr id="22" name="Text 20"/>
          <p:cNvSpPr txBox="1"/>
          <p:nvPr/>
        </p:nvSpPr>
        <p:spPr>
          <a:xfrm>
            <a:off x="8421624" y="2057400"/>
            <a:ext cx="2788920" cy="237744"/>
          </a:xfrm>
          <a:prstGeom prst="rect">
            <a:avLst/>
          </a:prstGeom>
          <a:noFill/>
          <a:ln/>
        </p:spPr>
        <p:txBody>
          <a:bodyPr wrap="square" lIns="0" tIns="0" rIns="0" bIns="0" rtlCol="0" anchor="ctr"/>
          <a:lstStyle/>
          <a:p>
            <a:pPr indent="0" marL="0">
              <a:buNone/>
            </a:pPr>
            <a:r>
              <a:rPr lang="en-US" sz="950" b="1" spc="180" kern="0" dirty="0">
                <a:solidFill>
                  <a:srgbClr val="9A6F05"/>
                </a:solidFill>
                <a:latin typeface="Calibri" pitchFamily="34" charset="0"/>
                <a:ea typeface="Calibri" pitchFamily="34" charset="-122"/>
                <a:cs typeface="Calibri" pitchFamily="34" charset="-120"/>
              </a:rPr>
              <a:t>WHAT WE HAVE NOT MEASURED</a:t>
            </a:r>
            <a:endParaRPr lang="en-US" sz="950" dirty="0"/>
          </a:p>
        </p:txBody>
      </p:sp>
      <p:sp>
        <p:nvSpPr>
          <p:cNvPr id="23" name="Text 21"/>
          <p:cNvSpPr txBox="1"/>
          <p:nvPr/>
        </p:nvSpPr>
        <p:spPr>
          <a:xfrm>
            <a:off x="8421624" y="2395728"/>
            <a:ext cx="2788920" cy="2377440"/>
          </a:xfrm>
          <a:prstGeom prst="rect">
            <a:avLst/>
          </a:prstGeom>
          <a:noFill/>
          <a:ln/>
        </p:spPr>
        <p:txBody>
          <a:bodyPr wrap="square" lIns="0" tIns="0" rIns="0" bIns="0" rtlCol="0" anchor="t"/>
          <a:lstStyle/>
          <a:p>
            <a:pPr algn="l" indent="0" marL="0">
              <a:lnSpc>
                <a:spcPts val="1800"/>
              </a:lnSpc>
              <a:buNone/>
            </a:pPr>
            <a:r>
              <a:rPr lang="en-US" sz="1250" dirty="0">
                <a:solidFill>
                  <a:srgbClr val="1B1A17"/>
                </a:solidFill>
                <a:latin typeface="Calibri" pitchFamily="34" charset="0"/>
                <a:ea typeface="Calibri" pitchFamily="34" charset="-122"/>
                <a:cs typeface="Calibri" pitchFamily="34" charset="-120"/>
              </a:rPr>
              <a:t>We have no production usage, so we have no cost basis. Model, research and hosting cost per matter is unknown.</a:t>
            </a:r>
            <a:endParaRPr lang="en-US" sz="1250" dirty="0"/>
          </a:p>
          <a:p>
            <a:pPr algn="l" indent="0" marL="0">
              <a:lnSpc>
                <a:spcPts val="1800"/>
              </a:lnSpc>
              <a:buNone/>
            </a:pPr>
            <a:endParaRPr lang="en-US" sz="1250" dirty="0"/>
          </a:p>
          <a:p>
            <a:pPr algn="l" indent="0" marL="0">
              <a:lnSpc>
                <a:spcPts val="1800"/>
              </a:lnSpc>
              <a:buNone/>
            </a:pPr>
            <a:r>
              <a:rPr lang="en-US" sz="1250" dirty="0">
                <a:solidFill>
                  <a:srgbClr val="1B1A17"/>
                </a:solidFill>
                <a:latin typeface="Calibri" pitchFamily="34" charset="0"/>
                <a:ea typeface="Calibri" pitchFamily="34" charset="-122"/>
                <a:cs typeface="Calibri" pitchFamily="34" charset="-120"/>
              </a:rPr>
              <a:t>We are not claiming a gross margin. Establishing real unit economics is a deliverable of this raise, not an assumption inside it.</a:t>
            </a:r>
            <a:endParaRPr lang="en-US" sz="1250" dirty="0"/>
          </a:p>
        </p:txBody>
      </p:sp>
      <p:sp>
        <p:nvSpPr>
          <p:cNvPr id="24" name="Shape 22"/>
          <p:cNvSpPr/>
          <p:nvPr/>
        </p:nvSpPr>
        <p:spPr>
          <a:xfrm>
            <a:off x="685800" y="5349240"/>
            <a:ext cx="10820095" cy="10973"/>
          </a:xfrm>
          <a:prstGeom prst="rect">
            <a:avLst/>
          </a:prstGeom>
          <a:solidFill>
            <a:srgbClr val="E3DED3"/>
          </a:solidFill>
          <a:ln w="12700">
            <a:solidFill>
              <a:srgbClr val="E3DED3"/>
            </a:solidFill>
            <a:prstDash val="solid"/>
          </a:ln>
        </p:spPr>
      </p:sp>
      <p:sp>
        <p:nvSpPr>
          <p:cNvPr id="25" name="Text 23"/>
          <p:cNvSpPr txBox="1"/>
          <p:nvPr/>
        </p:nvSpPr>
        <p:spPr>
          <a:xfrm>
            <a:off x="685800" y="5532120"/>
            <a:ext cx="10820095" cy="457200"/>
          </a:xfrm>
          <a:prstGeom prst="rect">
            <a:avLst/>
          </a:prstGeom>
          <a:noFill/>
          <a:ln/>
        </p:spPr>
        <p:txBody>
          <a:bodyPr wrap="square" lIns="0" tIns="0" rIns="0" bIns="0" rtlCol="0" anchor="t"/>
          <a:lstStyle/>
          <a:p>
            <a:pPr algn="l" indent="0" marL="0">
              <a:lnSpc>
                <a:spcPts val="1900"/>
              </a:lnSpc>
              <a:buNone/>
            </a:pPr>
            <a:r>
              <a:rPr lang="en-US" sz="1550" i="1" dirty="0">
                <a:solidFill>
                  <a:srgbClr val="1B1A17"/>
                </a:solidFill>
                <a:latin typeface="Cambria" pitchFamily="34" charset="0"/>
                <a:ea typeface="Cambria" pitchFamily="34" charset="-122"/>
                <a:cs typeface="Cambria" pitchFamily="34" charset="-120"/>
              </a:rPr>
              <a:t>One seat is the entry point, not the ceiling. Expansion is a second seat on the same team, then the department.</a:t>
            </a:r>
            <a:endParaRPr lang="en-US" sz="1550" dirty="0"/>
          </a:p>
        </p:txBody>
      </p:sp>
      <p:sp>
        <p:nvSpPr>
          <p:cNvPr id="26" name="Text 24"/>
          <p:cNvSpPr txBox="1"/>
          <p:nvPr/>
        </p:nvSpPr>
        <p:spPr>
          <a:xfrm>
            <a:off x="685800" y="6382512"/>
            <a:ext cx="10820095" cy="329184"/>
          </a:xfrm>
          <a:prstGeom prst="rect">
            <a:avLst/>
          </a:prstGeom>
          <a:noFill/>
          <a:ln/>
        </p:spPr>
        <p:txBody>
          <a:bodyPr wrap="square" lIns="0" tIns="0" rIns="0" bIns="0" rtlCol="0" anchor="t"/>
          <a:lstStyle/>
          <a:p>
            <a:pPr indent="0" marL="0">
              <a:buNone/>
            </a:pPr>
            <a:r>
              <a:rPr lang="en-US" sz="950" i="1" dirty="0">
                <a:solidFill>
                  <a:srgbClr val="6E6759"/>
                </a:solidFill>
                <a:latin typeface="Calibri" pitchFamily="34" charset="0"/>
                <a:ea typeface="Calibri" pitchFamily="34" charset="-122"/>
                <a:cs typeface="Calibri" pitchFamily="34" charset="-120"/>
              </a:rPr>
              <a:t>$250 per hour is a modeling assumption, not a measured rate. Recovered capacity is not cash savings and no return on investment is implied. Pricing is proposed and untested in the market.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50F"/>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7772400" cy="310896"/>
          </a:xfrm>
          <a:prstGeom prst="rect">
            <a:avLst/>
          </a:prstGeom>
          <a:noFill/>
          <a:ln/>
        </p:spPr>
        <p:txBody>
          <a:bodyPr wrap="square" lIns="0" tIns="0" rIns="0" bIns="0" rtlCol="0" anchor="ctr"/>
          <a:lstStyle/>
          <a:p>
            <a:pPr indent="0" marL="0">
              <a:buNone/>
            </a:pPr>
            <a:r>
              <a:rPr lang="en-US" sz="1050" b="1" spc="220" kern="0" dirty="0">
                <a:solidFill>
                  <a:srgbClr val="E0A008"/>
                </a:solidFill>
                <a:latin typeface="Calibri" pitchFamily="34" charset="0"/>
                <a:ea typeface="Calibri" pitchFamily="34" charset="-122"/>
                <a:cs typeface="Calibri" pitchFamily="34" charset="-120"/>
              </a:rPr>
              <a:t>MARKET</a:t>
            </a:r>
            <a:endParaRPr lang="en-US" sz="1050" dirty="0"/>
          </a:p>
        </p:txBody>
      </p:sp>
      <p:sp>
        <p:nvSpPr>
          <p:cNvPr id="4" name="Text 2"/>
          <p:cNvSpPr txBox="1"/>
          <p:nvPr/>
        </p:nvSpPr>
        <p:spPr>
          <a:xfrm>
            <a:off x="10408615" y="347472"/>
            <a:ext cx="1097280" cy="310896"/>
          </a:xfrm>
          <a:prstGeom prst="rect">
            <a:avLst/>
          </a:prstGeom>
          <a:noFill/>
          <a:ln/>
        </p:spPr>
        <p:txBody>
          <a:bodyPr wrap="square" lIns="0" tIns="0" rIns="0" bIns="0" rtlCol="0" anchor="ctr"/>
          <a:lstStyle/>
          <a:p>
            <a:pPr algn="r" indent="0" marL="0">
              <a:buNone/>
            </a:pPr>
            <a:r>
              <a:rPr lang="en-US" sz="1050" b="1" spc="150" kern="0" dirty="0">
                <a:solidFill>
                  <a:srgbClr val="8F8879"/>
                </a:solidFill>
                <a:latin typeface="Calibri" pitchFamily="34" charset="0"/>
                <a:ea typeface="Calibri" pitchFamily="34" charset="-122"/>
                <a:cs typeface="Calibri" pitchFamily="34" charset="-120"/>
              </a:rPr>
              <a:t>10</a:t>
            </a:r>
            <a:endParaRPr lang="en-US" sz="1050" dirty="0"/>
          </a:p>
        </p:txBody>
      </p:sp>
      <p:sp>
        <p:nvSpPr>
          <p:cNvPr id="5" name="Text 3"/>
          <p:cNvSpPr txBox="1"/>
          <p:nvPr/>
        </p:nvSpPr>
        <p:spPr>
          <a:xfrm>
            <a:off x="685800" y="841248"/>
            <a:ext cx="10820095" cy="960120"/>
          </a:xfrm>
          <a:prstGeom prst="rect">
            <a:avLst/>
          </a:prstGeom>
          <a:noFill/>
          <a:ln/>
        </p:spPr>
        <p:txBody>
          <a:bodyPr wrap="square" lIns="0" tIns="0" rIns="0" bIns="0" rtlCol="0" anchor="t"/>
          <a:lstStyle/>
          <a:p>
            <a:pPr indent="0" marL="0">
              <a:lnSpc>
                <a:spcPts val="3600"/>
              </a:lnSpc>
              <a:buNone/>
            </a:pPr>
            <a:r>
              <a:rPr lang="en-US" sz="3100" b="1" dirty="0">
                <a:solidFill>
                  <a:srgbClr val="FFFFFF"/>
                </a:solidFill>
                <a:latin typeface="Cambria" pitchFamily="34" charset="0"/>
                <a:ea typeface="Cambria" pitchFamily="34" charset="-122"/>
                <a:cs typeface="Cambria" pitchFamily="34" charset="-120"/>
              </a:rPr>
              <a:t>Start with one lawyer.</a:t>
            </a:r>
            <a:endParaRPr lang="en-US" sz="3100" dirty="0"/>
          </a:p>
          <a:p>
            <a:pPr indent="0" marL="0">
              <a:lnSpc>
                <a:spcPts val="3600"/>
              </a:lnSpc>
              <a:buNone/>
            </a:pPr>
            <a:r>
              <a:rPr lang="en-US" sz="3100" b="1" dirty="0">
                <a:solidFill>
                  <a:srgbClr val="FFFFFF"/>
                </a:solidFill>
                <a:latin typeface="Cambria" pitchFamily="34" charset="0"/>
                <a:ea typeface="Cambria" pitchFamily="34" charset="-122"/>
                <a:cs typeface="Cambria" pitchFamily="34" charset="-120"/>
              </a:rPr>
              <a:t>The seat market is $696M before anyone buys a second.</a:t>
            </a:r>
            <a:endParaRPr lang="en-US" sz="3100" dirty="0"/>
          </a:p>
        </p:txBody>
      </p:sp>
      <p:sp>
        <p:nvSpPr>
          <p:cNvPr id="6" name="Shape 4"/>
          <p:cNvSpPr/>
          <p:nvPr/>
        </p:nvSpPr>
        <p:spPr>
          <a:xfrm>
            <a:off x="685800" y="2286000"/>
            <a:ext cx="3401568" cy="3291840"/>
          </a:xfrm>
          <a:prstGeom prst="roundRect">
            <a:avLst>
              <a:gd name="adj" fmla="val 1667"/>
            </a:avLst>
          </a:prstGeom>
          <a:solidFill>
            <a:srgbClr val="24221A"/>
          </a:solidFill>
          <a:ln w="9525">
            <a:solidFill>
              <a:srgbClr val="3A362B"/>
            </a:solidFill>
            <a:prstDash val="solid"/>
          </a:ln>
        </p:spPr>
      </p:sp>
      <p:sp>
        <p:nvSpPr>
          <p:cNvPr id="7" name="Text 5"/>
          <p:cNvSpPr txBox="1"/>
          <p:nvPr/>
        </p:nvSpPr>
        <p:spPr>
          <a:xfrm>
            <a:off x="996696" y="2487168"/>
            <a:ext cx="914400" cy="365760"/>
          </a:xfrm>
          <a:prstGeom prst="rect">
            <a:avLst/>
          </a:prstGeom>
          <a:noFill/>
          <a:ln/>
        </p:spPr>
        <p:txBody>
          <a:bodyPr wrap="square" lIns="0" tIns="0" rIns="0" bIns="0" rtlCol="0" anchor="ctr"/>
          <a:lstStyle/>
          <a:p>
            <a:pPr indent="0" marL="0">
              <a:buNone/>
            </a:pPr>
            <a:r>
              <a:rPr lang="en-US" sz="1800" b="1" dirty="0">
                <a:solidFill>
                  <a:srgbClr val="E0A008"/>
                </a:solidFill>
                <a:latin typeface="Cambria" pitchFamily="34" charset="0"/>
                <a:ea typeface="Cambria" pitchFamily="34" charset="-122"/>
                <a:cs typeface="Cambria" pitchFamily="34" charset="-120"/>
              </a:rPr>
              <a:t>01</a:t>
            </a:r>
            <a:endParaRPr lang="en-US" sz="1800" dirty="0"/>
          </a:p>
        </p:txBody>
      </p:sp>
      <p:sp>
        <p:nvSpPr>
          <p:cNvPr id="8" name="Text 6"/>
          <p:cNvSpPr txBox="1"/>
          <p:nvPr/>
        </p:nvSpPr>
        <p:spPr>
          <a:xfrm>
            <a:off x="996696" y="2907792"/>
            <a:ext cx="2779776" cy="320040"/>
          </a:xfrm>
          <a:prstGeom prst="rect">
            <a:avLst/>
          </a:prstGeom>
          <a:noFill/>
          <a:ln/>
        </p:spPr>
        <p:txBody>
          <a:bodyPr wrap="square" lIns="0" tIns="0" rIns="0" bIns="0" rtlCol="0" anchor="t"/>
          <a:lstStyle/>
          <a:p>
            <a:pPr algn="l" indent="0" marL="0">
              <a:lnSpc>
                <a:spcPts val="1900"/>
              </a:lnSpc>
              <a:buNone/>
            </a:pPr>
            <a:r>
              <a:rPr lang="en-US" sz="1500" b="1" dirty="0">
                <a:solidFill>
                  <a:srgbClr val="FFFFFF"/>
                </a:solidFill>
                <a:latin typeface="Calibri" pitchFamily="34" charset="0"/>
                <a:ea typeface="Calibri" pitchFamily="34" charset="-122"/>
                <a:cs typeface="Calibri" pitchFamily="34" charset="-120"/>
              </a:rPr>
              <a:t>Beachhead</a:t>
            </a:r>
            <a:endParaRPr lang="en-US" sz="1500" dirty="0"/>
          </a:p>
        </p:txBody>
      </p:sp>
      <p:sp>
        <p:nvSpPr>
          <p:cNvPr id="9" name="Text 7"/>
          <p:cNvSpPr txBox="1"/>
          <p:nvPr/>
        </p:nvSpPr>
        <p:spPr>
          <a:xfrm>
            <a:off x="996696" y="3346704"/>
            <a:ext cx="2779776" cy="1188720"/>
          </a:xfrm>
          <a:prstGeom prst="rect">
            <a:avLst/>
          </a:prstGeom>
          <a:noFill/>
          <a:ln/>
        </p:spPr>
        <p:txBody>
          <a:bodyPr wrap="square" lIns="0" tIns="0" rIns="0" bIns="0" rtlCol="0" anchor="t"/>
          <a:lstStyle/>
          <a:p>
            <a:pPr algn="l" indent="0" marL="0">
              <a:lnSpc>
                <a:spcPts val="1750"/>
              </a:lnSpc>
              <a:buNone/>
            </a:pPr>
            <a:r>
              <a:rPr lang="en-US" sz="1250" dirty="0">
                <a:solidFill>
                  <a:srgbClr val="DCD7CB"/>
                </a:solidFill>
                <a:latin typeface="Calibri" pitchFamily="34" charset="0"/>
                <a:ea typeface="Calibri" pitchFamily="34" charset="-122"/>
                <a:cs typeface="Calibri" pitchFamily="34" charset="-120"/>
              </a:rPr>
              <a:t>Solo general counsel and small product legal teams at U.S. technology and fintech companies.</a:t>
            </a:r>
            <a:endParaRPr lang="en-US" sz="1250" dirty="0"/>
          </a:p>
        </p:txBody>
      </p:sp>
      <p:sp>
        <p:nvSpPr>
          <p:cNvPr id="10" name="Text 8"/>
          <p:cNvSpPr txBox="1"/>
          <p:nvPr/>
        </p:nvSpPr>
        <p:spPr>
          <a:xfrm>
            <a:off x="996696" y="4617720"/>
            <a:ext cx="2779776" cy="822960"/>
          </a:xfrm>
          <a:prstGeom prst="rect">
            <a:avLst/>
          </a:prstGeom>
          <a:noFill/>
          <a:ln/>
        </p:spPr>
        <p:txBody>
          <a:bodyPr wrap="square" lIns="0" tIns="0" rIns="0" bIns="0" rtlCol="0" anchor="t"/>
          <a:lstStyle/>
          <a:p>
            <a:pPr algn="l" indent="0" marL="0">
              <a:lnSpc>
                <a:spcPts val="1600"/>
              </a:lnSpc>
              <a:buNone/>
            </a:pPr>
            <a:r>
              <a:rPr lang="en-US" sz="1150" dirty="0">
                <a:solidFill>
                  <a:srgbClr val="8F8879"/>
                </a:solidFill>
                <a:latin typeface="Calibri" pitchFamily="34" charset="0"/>
                <a:ea typeface="Calibri" pitchFamily="34" charset="-122"/>
                <a:cs typeface="Calibri" pitchFamily="34" charset="-120"/>
              </a:rPr>
              <a:t>We are not claiming a count for this segment. Sizing it credibly is part of what this raise buys.</a:t>
            </a:r>
            <a:endParaRPr lang="en-US" sz="1150" dirty="0"/>
          </a:p>
        </p:txBody>
      </p:sp>
      <p:sp>
        <p:nvSpPr>
          <p:cNvPr id="11" name="Shape 9"/>
          <p:cNvSpPr/>
          <p:nvPr/>
        </p:nvSpPr>
        <p:spPr>
          <a:xfrm>
            <a:off x="4398264" y="2286000"/>
            <a:ext cx="3401568" cy="3291840"/>
          </a:xfrm>
          <a:prstGeom prst="roundRect">
            <a:avLst>
              <a:gd name="adj" fmla="val 1667"/>
            </a:avLst>
          </a:prstGeom>
          <a:solidFill>
            <a:srgbClr val="2E2712"/>
          </a:solidFill>
          <a:ln w="9525">
            <a:solidFill>
              <a:srgbClr val="5A4A18"/>
            </a:solidFill>
            <a:prstDash val="solid"/>
          </a:ln>
        </p:spPr>
      </p:sp>
      <p:sp>
        <p:nvSpPr>
          <p:cNvPr id="12" name="Text 10"/>
          <p:cNvSpPr txBox="1"/>
          <p:nvPr/>
        </p:nvSpPr>
        <p:spPr>
          <a:xfrm>
            <a:off x="4709160" y="2487168"/>
            <a:ext cx="914400" cy="365760"/>
          </a:xfrm>
          <a:prstGeom prst="rect">
            <a:avLst/>
          </a:prstGeom>
          <a:noFill/>
          <a:ln/>
        </p:spPr>
        <p:txBody>
          <a:bodyPr wrap="square" lIns="0" tIns="0" rIns="0" bIns="0" rtlCol="0" anchor="ctr"/>
          <a:lstStyle/>
          <a:p>
            <a:pPr indent="0" marL="0">
              <a:buNone/>
            </a:pPr>
            <a:r>
              <a:rPr lang="en-US" sz="1800" b="1" dirty="0">
                <a:solidFill>
                  <a:srgbClr val="E0A008"/>
                </a:solidFill>
                <a:latin typeface="Cambria" pitchFamily="34" charset="0"/>
                <a:ea typeface="Cambria" pitchFamily="34" charset="-122"/>
                <a:cs typeface="Cambria" pitchFamily="34" charset="-120"/>
              </a:rPr>
              <a:t>02</a:t>
            </a:r>
            <a:endParaRPr lang="en-US" sz="1800" dirty="0"/>
          </a:p>
        </p:txBody>
      </p:sp>
      <p:sp>
        <p:nvSpPr>
          <p:cNvPr id="13" name="Text 11"/>
          <p:cNvSpPr txBox="1"/>
          <p:nvPr/>
        </p:nvSpPr>
        <p:spPr>
          <a:xfrm>
            <a:off x="4709160" y="2907792"/>
            <a:ext cx="2779776" cy="320040"/>
          </a:xfrm>
          <a:prstGeom prst="rect">
            <a:avLst/>
          </a:prstGeom>
          <a:noFill/>
          <a:ln/>
        </p:spPr>
        <p:txBody>
          <a:bodyPr wrap="square" lIns="0" tIns="0" rIns="0" bIns="0" rtlCol="0" anchor="t"/>
          <a:lstStyle/>
          <a:p>
            <a:pPr algn="l" indent="0" marL="0">
              <a:lnSpc>
                <a:spcPts val="1900"/>
              </a:lnSpc>
              <a:buNone/>
            </a:pPr>
            <a:r>
              <a:rPr lang="en-US" sz="1500" b="1" dirty="0">
                <a:solidFill>
                  <a:srgbClr val="FFFFFF"/>
                </a:solidFill>
                <a:latin typeface="Calibri" pitchFamily="34" charset="0"/>
                <a:ea typeface="Calibri" pitchFamily="34" charset="-122"/>
                <a:cs typeface="Calibri" pitchFamily="34" charset="-120"/>
              </a:rPr>
              <a:t>The seat market</a:t>
            </a:r>
            <a:endParaRPr lang="en-US" sz="1500" dirty="0"/>
          </a:p>
        </p:txBody>
      </p:sp>
      <p:sp>
        <p:nvSpPr>
          <p:cNvPr id="14" name="Text 12"/>
          <p:cNvSpPr txBox="1"/>
          <p:nvPr/>
        </p:nvSpPr>
        <p:spPr>
          <a:xfrm>
            <a:off x="4709160" y="3310128"/>
            <a:ext cx="2779776" cy="777240"/>
          </a:xfrm>
          <a:prstGeom prst="rect">
            <a:avLst/>
          </a:prstGeom>
          <a:noFill/>
          <a:ln/>
        </p:spPr>
        <p:txBody>
          <a:bodyPr wrap="square" lIns="0" tIns="0" rIns="0" bIns="0" rtlCol="0" anchor="ctr"/>
          <a:lstStyle/>
          <a:p>
            <a:pPr indent="0" marL="0">
              <a:buNone/>
            </a:pPr>
            <a:r>
              <a:rPr lang="en-US" sz="4200" b="1" dirty="0">
                <a:solidFill>
                  <a:srgbClr val="E0A008"/>
                </a:solidFill>
                <a:latin typeface="Cambria" pitchFamily="34" charset="0"/>
                <a:ea typeface="Cambria" pitchFamily="34" charset="-122"/>
                <a:cs typeface="Cambria" pitchFamily="34" charset="-120"/>
              </a:rPr>
              <a:t>$696M</a:t>
            </a:r>
            <a:endParaRPr lang="en-US" sz="4200" dirty="0"/>
          </a:p>
        </p:txBody>
      </p:sp>
      <p:sp>
        <p:nvSpPr>
          <p:cNvPr id="15" name="Text 13"/>
          <p:cNvSpPr txBox="1"/>
          <p:nvPr/>
        </p:nvSpPr>
        <p:spPr>
          <a:xfrm>
            <a:off x="4709160" y="4160520"/>
            <a:ext cx="2779776" cy="731520"/>
          </a:xfrm>
          <a:prstGeom prst="rect">
            <a:avLst/>
          </a:prstGeom>
          <a:noFill/>
          <a:ln/>
        </p:spPr>
        <p:txBody>
          <a:bodyPr wrap="square" lIns="0" tIns="0" rIns="0" bIns="0" rtlCol="0" anchor="t"/>
          <a:lstStyle/>
          <a:p>
            <a:pPr algn="l" indent="0" marL="0">
              <a:lnSpc>
                <a:spcPts val="1750"/>
              </a:lnSpc>
              <a:buNone/>
            </a:pPr>
            <a:r>
              <a:rPr lang="en-US" sz="1250" dirty="0">
                <a:solidFill>
                  <a:srgbClr val="DCD7CB"/>
                </a:solidFill>
                <a:latin typeface="Calibri" pitchFamily="34" charset="0"/>
                <a:ea typeface="Calibri" pitchFamily="34" charset="-122"/>
                <a:cs typeface="Calibri" pitchFamily="34" charset="-120"/>
              </a:rPr>
              <a:t>145,000 U.S. in-house lawyers × $4,800 a year, in annual subscription revenue.</a:t>
            </a:r>
            <a:endParaRPr lang="en-US" sz="1250" dirty="0"/>
          </a:p>
        </p:txBody>
      </p:sp>
      <p:sp>
        <p:nvSpPr>
          <p:cNvPr id="16" name="Text 14"/>
          <p:cNvSpPr txBox="1"/>
          <p:nvPr/>
        </p:nvSpPr>
        <p:spPr>
          <a:xfrm>
            <a:off x="4709160" y="4892040"/>
            <a:ext cx="2779776" cy="548640"/>
          </a:xfrm>
          <a:prstGeom prst="rect">
            <a:avLst/>
          </a:prstGeom>
          <a:noFill/>
          <a:ln/>
        </p:spPr>
        <p:txBody>
          <a:bodyPr wrap="square" lIns="0" tIns="0" rIns="0" bIns="0" rtlCol="0" anchor="t"/>
          <a:lstStyle/>
          <a:p>
            <a:pPr algn="l" indent="0" marL="0">
              <a:lnSpc>
                <a:spcPts val="1600"/>
              </a:lnSpc>
              <a:buNone/>
            </a:pPr>
            <a:r>
              <a:rPr lang="en-US" sz="1150" dirty="0">
                <a:solidFill>
                  <a:srgbClr val="8F8879"/>
                </a:solidFill>
                <a:latin typeface="Calibri" pitchFamily="34" charset="0"/>
                <a:ea typeface="Calibri" pitchFamily="34" charset="-122"/>
                <a:cs typeface="Calibri" pitchFamily="34" charset="-120"/>
              </a:rPr>
              <a:t>Full adoption at a constant price. Not a forecast.</a:t>
            </a:r>
            <a:endParaRPr lang="en-US" sz="1150" dirty="0"/>
          </a:p>
        </p:txBody>
      </p:sp>
      <p:sp>
        <p:nvSpPr>
          <p:cNvPr id="17" name="Shape 15"/>
          <p:cNvSpPr/>
          <p:nvPr/>
        </p:nvSpPr>
        <p:spPr>
          <a:xfrm>
            <a:off x="8110728" y="2286000"/>
            <a:ext cx="3401568" cy="3291840"/>
          </a:xfrm>
          <a:prstGeom prst="roundRect">
            <a:avLst>
              <a:gd name="adj" fmla="val 1667"/>
            </a:avLst>
          </a:prstGeom>
          <a:solidFill>
            <a:srgbClr val="24221A"/>
          </a:solidFill>
          <a:ln w="9525">
            <a:solidFill>
              <a:srgbClr val="3A362B"/>
            </a:solidFill>
            <a:prstDash val="solid"/>
          </a:ln>
        </p:spPr>
      </p:sp>
      <p:sp>
        <p:nvSpPr>
          <p:cNvPr id="18" name="Text 16"/>
          <p:cNvSpPr txBox="1"/>
          <p:nvPr/>
        </p:nvSpPr>
        <p:spPr>
          <a:xfrm>
            <a:off x="8421624" y="2487168"/>
            <a:ext cx="914400" cy="365760"/>
          </a:xfrm>
          <a:prstGeom prst="rect">
            <a:avLst/>
          </a:prstGeom>
          <a:noFill/>
          <a:ln/>
        </p:spPr>
        <p:txBody>
          <a:bodyPr wrap="square" lIns="0" tIns="0" rIns="0" bIns="0" rtlCol="0" anchor="ctr"/>
          <a:lstStyle/>
          <a:p>
            <a:pPr indent="0" marL="0">
              <a:buNone/>
            </a:pPr>
            <a:r>
              <a:rPr lang="en-US" sz="1800" b="1" dirty="0">
                <a:solidFill>
                  <a:srgbClr val="E0A008"/>
                </a:solidFill>
                <a:latin typeface="Cambria" pitchFamily="34" charset="0"/>
                <a:ea typeface="Cambria" pitchFamily="34" charset="-122"/>
                <a:cs typeface="Cambria" pitchFamily="34" charset="-120"/>
              </a:rPr>
              <a:t>03</a:t>
            </a:r>
            <a:endParaRPr lang="en-US" sz="1800" dirty="0"/>
          </a:p>
        </p:txBody>
      </p:sp>
      <p:sp>
        <p:nvSpPr>
          <p:cNvPr id="19" name="Text 17"/>
          <p:cNvSpPr txBox="1"/>
          <p:nvPr/>
        </p:nvSpPr>
        <p:spPr>
          <a:xfrm>
            <a:off x="8421624" y="2907792"/>
            <a:ext cx="2779776" cy="320040"/>
          </a:xfrm>
          <a:prstGeom prst="rect">
            <a:avLst/>
          </a:prstGeom>
          <a:noFill/>
          <a:ln/>
        </p:spPr>
        <p:txBody>
          <a:bodyPr wrap="square" lIns="0" tIns="0" rIns="0" bIns="0" rtlCol="0" anchor="t"/>
          <a:lstStyle/>
          <a:p>
            <a:pPr algn="l" indent="0" marL="0">
              <a:lnSpc>
                <a:spcPts val="1900"/>
              </a:lnSpc>
              <a:buNone/>
            </a:pPr>
            <a:r>
              <a:rPr lang="en-US" sz="1500" b="1" dirty="0">
                <a:solidFill>
                  <a:srgbClr val="FFFFFF"/>
                </a:solidFill>
                <a:latin typeface="Calibri" pitchFamily="34" charset="0"/>
                <a:ea typeface="Calibri" pitchFamily="34" charset="-122"/>
                <a:cs typeface="Calibri" pitchFamily="34" charset="-120"/>
              </a:rPr>
              <a:t>Expansion</a:t>
            </a:r>
            <a:endParaRPr lang="en-US" sz="1500" dirty="0"/>
          </a:p>
        </p:txBody>
      </p:sp>
      <p:sp>
        <p:nvSpPr>
          <p:cNvPr id="20" name="Text 18"/>
          <p:cNvSpPr txBox="1"/>
          <p:nvPr/>
        </p:nvSpPr>
        <p:spPr>
          <a:xfrm>
            <a:off x="8421624" y="3346704"/>
            <a:ext cx="2779776" cy="1188720"/>
          </a:xfrm>
          <a:prstGeom prst="rect">
            <a:avLst/>
          </a:prstGeom>
          <a:noFill/>
          <a:ln/>
        </p:spPr>
        <p:txBody>
          <a:bodyPr wrap="square" lIns="0" tIns="0" rIns="0" bIns="0" rtlCol="0" anchor="t"/>
          <a:lstStyle/>
          <a:p>
            <a:pPr algn="l" indent="0" marL="0">
              <a:lnSpc>
                <a:spcPts val="1750"/>
              </a:lnSpc>
              <a:buNone/>
            </a:pPr>
            <a:r>
              <a:rPr lang="en-US" sz="1250" dirty="0">
                <a:solidFill>
                  <a:srgbClr val="DCD7CB"/>
                </a:solidFill>
                <a:latin typeface="Calibri" pitchFamily="34" charset="0"/>
                <a:ea typeface="Calibri" pitchFamily="34" charset="-122"/>
                <a:cs typeface="Calibri" pitchFamily="34" charset="-120"/>
              </a:rPr>
              <a:t>A second seat on the same team, then the department.</a:t>
            </a:r>
            <a:endParaRPr lang="en-US" sz="1250" dirty="0"/>
          </a:p>
        </p:txBody>
      </p:sp>
      <p:sp>
        <p:nvSpPr>
          <p:cNvPr id="21" name="Text 19"/>
          <p:cNvSpPr txBox="1"/>
          <p:nvPr/>
        </p:nvSpPr>
        <p:spPr>
          <a:xfrm>
            <a:off x="8421624" y="4617720"/>
            <a:ext cx="2779776" cy="822960"/>
          </a:xfrm>
          <a:prstGeom prst="rect">
            <a:avLst/>
          </a:prstGeom>
          <a:noFill/>
          <a:ln/>
        </p:spPr>
        <p:txBody>
          <a:bodyPr wrap="square" lIns="0" tIns="0" rIns="0" bIns="0" rtlCol="0" anchor="t"/>
          <a:lstStyle/>
          <a:p>
            <a:pPr algn="l" indent="0" marL="0">
              <a:lnSpc>
                <a:spcPts val="1600"/>
              </a:lnSpc>
              <a:buNone/>
            </a:pPr>
            <a:r>
              <a:rPr lang="en-US" sz="1150" dirty="0">
                <a:solidFill>
                  <a:srgbClr val="8F8879"/>
                </a:solidFill>
                <a:latin typeface="Calibri" pitchFamily="34" charset="0"/>
                <a:ea typeface="Calibri" pitchFamily="34" charset="-122"/>
                <a:cs typeface="Calibri" pitchFamily="34" charset="-120"/>
              </a:rPr>
              <a:t>The budget Themis ultimately competes for is outside counsel spend, which dwarfs the seat market.</a:t>
            </a:r>
            <a:endParaRPr lang="en-US" sz="1150" dirty="0"/>
          </a:p>
        </p:txBody>
      </p:sp>
      <p:sp>
        <p:nvSpPr>
          <p:cNvPr id="22" name="Text 20"/>
          <p:cNvSpPr txBox="1"/>
          <p:nvPr/>
        </p:nvSpPr>
        <p:spPr>
          <a:xfrm>
            <a:off x="685800" y="5897880"/>
            <a:ext cx="10820095" cy="329184"/>
          </a:xfrm>
          <a:prstGeom prst="rect">
            <a:avLst/>
          </a:prstGeom>
          <a:noFill/>
          <a:ln/>
        </p:spPr>
        <p:txBody>
          <a:bodyPr wrap="square" lIns="0" tIns="0" rIns="0" bIns="0" rtlCol="0" anchor="t"/>
          <a:lstStyle/>
          <a:p>
            <a:pPr indent="0" marL="0">
              <a:buNone/>
            </a:pPr>
            <a:r>
              <a:rPr lang="en-US" sz="950" i="1" dirty="0">
                <a:solidFill>
                  <a:srgbClr val="8F8879"/>
                </a:solidFill>
                <a:latin typeface="Calibri" pitchFamily="34" charset="0"/>
                <a:ea typeface="Calibri" pitchFamily="34" charset="-122"/>
                <a:cs typeface="Calibri" pitchFamily="34" charset="-120"/>
              </a:rPr>
              <a:t>$696M models full adoption at a constant price. It is not a forecast and no obtainable share is claimed. Population: ACC 2025 analysis of 2024 BLS employment data. Pricing is proposed.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7772400" cy="310896"/>
          </a:xfrm>
          <a:prstGeom prst="rect">
            <a:avLst/>
          </a:prstGeom>
          <a:noFill/>
          <a:ln/>
        </p:spPr>
        <p:txBody>
          <a:bodyPr wrap="square" lIns="0" tIns="0" rIns="0" bIns="0" rtlCol="0" anchor="ctr"/>
          <a:lstStyle/>
          <a:p>
            <a:pPr indent="0" marL="0">
              <a:buNone/>
            </a:pPr>
            <a:r>
              <a:rPr lang="en-US" sz="1050" b="1" spc="220" kern="0" dirty="0">
                <a:solidFill>
                  <a:srgbClr val="9A6F05"/>
                </a:solidFill>
                <a:latin typeface="Calibri" pitchFamily="34" charset="0"/>
                <a:ea typeface="Calibri" pitchFamily="34" charset="-122"/>
                <a:cs typeface="Calibri" pitchFamily="34" charset="-120"/>
              </a:rPr>
              <a:t>WHERE WE ARE</a:t>
            </a:r>
            <a:endParaRPr lang="en-US" sz="1050" dirty="0"/>
          </a:p>
        </p:txBody>
      </p:sp>
      <p:sp>
        <p:nvSpPr>
          <p:cNvPr id="4" name="Text 2"/>
          <p:cNvSpPr txBox="1"/>
          <p:nvPr/>
        </p:nvSpPr>
        <p:spPr>
          <a:xfrm>
            <a:off x="10408615" y="347472"/>
            <a:ext cx="1097280" cy="310896"/>
          </a:xfrm>
          <a:prstGeom prst="rect">
            <a:avLst/>
          </a:prstGeom>
          <a:noFill/>
          <a:ln/>
        </p:spPr>
        <p:txBody>
          <a:bodyPr wrap="square" lIns="0" tIns="0" rIns="0" bIns="0" rtlCol="0" anchor="ctr"/>
          <a:lstStyle/>
          <a:p>
            <a:pPr algn="r" indent="0" marL="0">
              <a:buNone/>
            </a:pPr>
            <a:r>
              <a:rPr lang="en-US" sz="1050" b="1" spc="150" kern="0" dirty="0">
                <a:solidFill>
                  <a:srgbClr val="6E6759"/>
                </a:solidFill>
                <a:latin typeface="Calibri" pitchFamily="34" charset="0"/>
                <a:ea typeface="Calibri" pitchFamily="34" charset="-122"/>
                <a:cs typeface="Calibri" pitchFamily="34" charset="-120"/>
              </a:rPr>
              <a:t>11</a:t>
            </a:r>
            <a:endParaRPr lang="en-US" sz="1050" dirty="0"/>
          </a:p>
        </p:txBody>
      </p:sp>
      <p:sp>
        <p:nvSpPr>
          <p:cNvPr id="5" name="Text 3"/>
          <p:cNvSpPr txBox="1"/>
          <p:nvPr/>
        </p:nvSpPr>
        <p:spPr>
          <a:xfrm>
            <a:off x="685800" y="841248"/>
            <a:ext cx="10820095" cy="548640"/>
          </a:xfrm>
          <a:prstGeom prst="rect">
            <a:avLst/>
          </a:prstGeom>
          <a:noFill/>
          <a:ln/>
        </p:spPr>
        <p:txBody>
          <a:bodyPr wrap="square" lIns="0" tIns="0" rIns="0" bIns="0" rtlCol="0" anchor="t"/>
          <a:lstStyle/>
          <a:p>
            <a:pPr indent="0" marL="0">
              <a:lnSpc>
                <a:spcPts val="3800"/>
              </a:lnSpc>
              <a:buNone/>
            </a:pPr>
            <a:r>
              <a:rPr lang="en-US" sz="3300" b="1" dirty="0">
                <a:solidFill>
                  <a:srgbClr val="1B1A17"/>
                </a:solidFill>
                <a:latin typeface="Cambria" pitchFamily="34" charset="0"/>
                <a:ea typeface="Cambria" pitchFamily="34" charset="-122"/>
                <a:cs typeface="Cambria" pitchFamily="34" charset="-120"/>
              </a:rPr>
              <a:t>The prototype works. Two lawyers have asked to pilot it.</a:t>
            </a:r>
            <a:endParaRPr lang="en-US" sz="3300" dirty="0"/>
          </a:p>
        </p:txBody>
      </p:sp>
      <p:sp>
        <p:nvSpPr>
          <p:cNvPr id="6" name="Shape 4"/>
          <p:cNvSpPr/>
          <p:nvPr/>
        </p:nvSpPr>
        <p:spPr>
          <a:xfrm>
            <a:off x="685800" y="1783080"/>
            <a:ext cx="3401568" cy="3063240"/>
          </a:xfrm>
          <a:prstGeom prst="roundRect">
            <a:avLst>
              <a:gd name="adj" fmla="val 1791"/>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sp>
        <p:nvSpPr>
          <p:cNvPr id="7" name="Shape 5"/>
          <p:cNvSpPr/>
          <p:nvPr/>
        </p:nvSpPr>
        <p:spPr>
          <a:xfrm>
            <a:off x="996696" y="2066544"/>
            <a:ext cx="86868" cy="86868"/>
          </a:xfrm>
          <a:prstGeom prst="rect">
            <a:avLst/>
          </a:prstGeom>
          <a:solidFill>
            <a:srgbClr val="146B54"/>
          </a:solidFill>
          <a:ln w="12700">
            <a:solidFill>
              <a:srgbClr val="146B54"/>
            </a:solidFill>
            <a:prstDash val="solid"/>
          </a:ln>
        </p:spPr>
      </p:sp>
      <p:sp>
        <p:nvSpPr>
          <p:cNvPr id="8" name="Text 6"/>
          <p:cNvSpPr txBox="1"/>
          <p:nvPr/>
        </p:nvSpPr>
        <p:spPr>
          <a:xfrm>
            <a:off x="1234440" y="1975104"/>
            <a:ext cx="2578608" cy="237744"/>
          </a:xfrm>
          <a:prstGeom prst="rect">
            <a:avLst/>
          </a:prstGeom>
          <a:noFill/>
          <a:ln/>
        </p:spPr>
        <p:txBody>
          <a:bodyPr wrap="square" lIns="0" tIns="0" rIns="0" bIns="0" rtlCol="0" anchor="ctr"/>
          <a:lstStyle/>
          <a:p>
            <a:pPr indent="0" marL="0">
              <a:buNone/>
            </a:pPr>
            <a:r>
              <a:rPr lang="en-US" sz="950" b="1" spc="180" kern="0" dirty="0">
                <a:solidFill>
                  <a:srgbClr val="146B54"/>
                </a:solidFill>
                <a:latin typeface="Calibri" pitchFamily="34" charset="0"/>
                <a:ea typeface="Calibri" pitchFamily="34" charset="-122"/>
                <a:cs typeface="Calibri" pitchFamily="34" charset="-120"/>
              </a:rPr>
              <a:t>BUILT</a:t>
            </a:r>
            <a:endParaRPr lang="en-US" sz="950" dirty="0"/>
          </a:p>
        </p:txBody>
      </p:sp>
      <p:sp>
        <p:nvSpPr>
          <p:cNvPr id="9" name="Text 7"/>
          <p:cNvSpPr txBox="1"/>
          <p:nvPr/>
        </p:nvSpPr>
        <p:spPr>
          <a:xfrm>
            <a:off x="996696" y="2432304"/>
            <a:ext cx="2779776" cy="868680"/>
          </a:xfrm>
          <a:prstGeom prst="rect">
            <a:avLst/>
          </a:prstGeom>
          <a:noFill/>
          <a:ln/>
        </p:spPr>
        <p:txBody>
          <a:bodyPr wrap="square" lIns="0" tIns="0" rIns="0" bIns="0" rtlCol="0" anchor="t"/>
          <a:lstStyle/>
          <a:p>
            <a:pPr algn="l" indent="0" marL="0">
              <a:lnSpc>
                <a:spcPts val="1700"/>
              </a:lnSpc>
              <a:buNone/>
            </a:pPr>
            <a:r>
              <a:rPr lang="en-US" sz="1200" dirty="0">
                <a:solidFill>
                  <a:srgbClr val="1B1A17"/>
                </a:solidFill>
                <a:latin typeface="Calibri" pitchFamily="34" charset="0"/>
                <a:ea typeface="Calibri" pitchFamily="34" charset="-122"/>
                <a:cs typeface="Calibri" pitchFamily="34" charset="-120"/>
              </a:rPr>
              <a:t>A working prototype: intake, matters, research, editable work product and recorded decisions.</a:t>
            </a:r>
            <a:endParaRPr lang="en-US" sz="1200" dirty="0"/>
          </a:p>
        </p:txBody>
      </p:sp>
      <p:sp>
        <p:nvSpPr>
          <p:cNvPr id="10" name="Text 8"/>
          <p:cNvSpPr txBox="1"/>
          <p:nvPr/>
        </p:nvSpPr>
        <p:spPr>
          <a:xfrm>
            <a:off x="996696" y="3236976"/>
            <a:ext cx="2779776" cy="868680"/>
          </a:xfrm>
          <a:prstGeom prst="rect">
            <a:avLst/>
          </a:prstGeom>
          <a:noFill/>
          <a:ln/>
        </p:spPr>
        <p:txBody>
          <a:bodyPr wrap="square" lIns="0" tIns="0" rIns="0" bIns="0" rtlCol="0" anchor="t"/>
          <a:lstStyle/>
          <a:p>
            <a:pPr algn="l" indent="0" marL="0">
              <a:lnSpc>
                <a:spcPts val="1700"/>
              </a:lnSpc>
              <a:buNone/>
            </a:pPr>
            <a:r>
              <a:rPr lang="en-US" sz="1200" dirty="0">
                <a:solidFill>
                  <a:srgbClr val="1B1A17"/>
                </a:solidFill>
                <a:latin typeface="Calibri" pitchFamily="34" charset="0"/>
                <a:ea typeface="Calibri" pitchFamily="34" charset="-122"/>
                <a:cs typeface="Calibri" pitchFamily="34" charset="-120"/>
              </a:rPr>
              <a:t>Four in-house counsel discovery interviews, August 2026.</a:t>
            </a:r>
            <a:endParaRPr lang="en-US" sz="1200" dirty="0"/>
          </a:p>
        </p:txBody>
      </p:sp>
      <p:sp>
        <p:nvSpPr>
          <p:cNvPr id="11" name="Shape 9"/>
          <p:cNvSpPr/>
          <p:nvPr/>
        </p:nvSpPr>
        <p:spPr>
          <a:xfrm>
            <a:off x="4398264" y="1783080"/>
            <a:ext cx="3401568" cy="3063240"/>
          </a:xfrm>
          <a:prstGeom prst="roundRect">
            <a:avLst>
              <a:gd name="adj" fmla="val 1791"/>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sp>
        <p:nvSpPr>
          <p:cNvPr id="12" name="Shape 10"/>
          <p:cNvSpPr/>
          <p:nvPr/>
        </p:nvSpPr>
        <p:spPr>
          <a:xfrm>
            <a:off x="4709160" y="2066544"/>
            <a:ext cx="86868" cy="86868"/>
          </a:xfrm>
          <a:prstGeom prst="rect">
            <a:avLst/>
          </a:prstGeom>
          <a:solidFill>
            <a:srgbClr val="E0A008"/>
          </a:solidFill>
          <a:ln w="12700">
            <a:solidFill>
              <a:srgbClr val="E0A008"/>
            </a:solidFill>
            <a:prstDash val="solid"/>
          </a:ln>
        </p:spPr>
      </p:sp>
      <p:sp>
        <p:nvSpPr>
          <p:cNvPr id="13" name="Text 11"/>
          <p:cNvSpPr txBox="1"/>
          <p:nvPr/>
        </p:nvSpPr>
        <p:spPr>
          <a:xfrm>
            <a:off x="4946904" y="1975104"/>
            <a:ext cx="2578608" cy="237744"/>
          </a:xfrm>
          <a:prstGeom prst="rect">
            <a:avLst/>
          </a:prstGeom>
          <a:noFill/>
          <a:ln/>
        </p:spPr>
        <p:txBody>
          <a:bodyPr wrap="square" lIns="0" tIns="0" rIns="0" bIns="0" rtlCol="0" anchor="ctr"/>
          <a:lstStyle/>
          <a:p>
            <a:pPr indent="0" marL="0">
              <a:buNone/>
            </a:pPr>
            <a:r>
              <a:rPr lang="en-US" sz="950" b="1" spc="180" kern="0" dirty="0">
                <a:solidFill>
                  <a:srgbClr val="E0A008"/>
                </a:solidFill>
                <a:latin typeface="Calibri" pitchFamily="34" charset="0"/>
                <a:ea typeface="Calibri" pitchFamily="34" charset="-122"/>
                <a:cs typeface="Calibri" pitchFamily="34" charset="-120"/>
              </a:rPr>
              <a:t>SIGNAL</a:t>
            </a:r>
            <a:endParaRPr lang="en-US" sz="950" dirty="0"/>
          </a:p>
        </p:txBody>
      </p:sp>
      <p:sp>
        <p:nvSpPr>
          <p:cNvPr id="14" name="Text 12"/>
          <p:cNvSpPr txBox="1"/>
          <p:nvPr/>
        </p:nvSpPr>
        <p:spPr>
          <a:xfrm>
            <a:off x="4709160" y="2432304"/>
            <a:ext cx="2779776" cy="868680"/>
          </a:xfrm>
          <a:prstGeom prst="rect">
            <a:avLst/>
          </a:prstGeom>
          <a:noFill/>
          <a:ln/>
        </p:spPr>
        <p:txBody>
          <a:bodyPr wrap="square" lIns="0" tIns="0" rIns="0" bIns="0" rtlCol="0" anchor="t"/>
          <a:lstStyle/>
          <a:p>
            <a:pPr algn="l" indent="0" marL="0">
              <a:lnSpc>
                <a:spcPts val="1700"/>
              </a:lnSpc>
              <a:buNone/>
            </a:pPr>
            <a:r>
              <a:rPr lang="en-US" sz="1200" dirty="0">
                <a:solidFill>
                  <a:srgbClr val="1B1A17"/>
                </a:solidFill>
                <a:latin typeface="Calibri" pitchFamily="34" charset="0"/>
                <a:ea typeface="Calibri" pitchFamily="34" charset="-122"/>
                <a:cs typeface="Calibri" pitchFamily="34" charset="-120"/>
              </a:rPr>
              <a:t>A deputy general counsel at a consumer fintech agreed to serve as design partner and pilot user.</a:t>
            </a:r>
            <a:endParaRPr lang="en-US" sz="1200" dirty="0"/>
          </a:p>
        </p:txBody>
      </p:sp>
      <p:sp>
        <p:nvSpPr>
          <p:cNvPr id="15" name="Text 13"/>
          <p:cNvSpPr txBox="1"/>
          <p:nvPr/>
        </p:nvSpPr>
        <p:spPr>
          <a:xfrm>
            <a:off x="4709160" y="3236976"/>
            <a:ext cx="2779776" cy="868680"/>
          </a:xfrm>
          <a:prstGeom prst="rect">
            <a:avLst/>
          </a:prstGeom>
          <a:noFill/>
          <a:ln/>
        </p:spPr>
        <p:txBody>
          <a:bodyPr wrap="square" lIns="0" tIns="0" rIns="0" bIns="0" rtlCol="0" anchor="t"/>
          <a:lstStyle/>
          <a:p>
            <a:pPr algn="l" indent="0" marL="0">
              <a:lnSpc>
                <a:spcPts val="1700"/>
              </a:lnSpc>
              <a:buNone/>
            </a:pPr>
            <a:r>
              <a:rPr lang="en-US" sz="1200" dirty="0">
                <a:solidFill>
                  <a:srgbClr val="1B1A17"/>
                </a:solidFill>
                <a:latin typeface="Calibri" pitchFamily="34" charset="0"/>
                <a:ea typeface="Calibri" pitchFamily="34" charset="-122"/>
                <a:cs typeface="Calibri" pitchFamily="34" charset="-120"/>
              </a:rPr>
              <a:t>A head of legal at a data company committed to pilot on release and is scoping AI budget.</a:t>
            </a:r>
            <a:endParaRPr lang="en-US" sz="1200" dirty="0"/>
          </a:p>
        </p:txBody>
      </p:sp>
      <p:sp>
        <p:nvSpPr>
          <p:cNvPr id="16" name="Text 14"/>
          <p:cNvSpPr txBox="1"/>
          <p:nvPr/>
        </p:nvSpPr>
        <p:spPr>
          <a:xfrm>
            <a:off x="4709160" y="4041648"/>
            <a:ext cx="2779776" cy="868680"/>
          </a:xfrm>
          <a:prstGeom prst="rect">
            <a:avLst/>
          </a:prstGeom>
          <a:noFill/>
          <a:ln/>
        </p:spPr>
        <p:txBody>
          <a:bodyPr wrap="square" lIns="0" tIns="0" rIns="0" bIns="0" rtlCol="0" anchor="t"/>
          <a:lstStyle/>
          <a:p>
            <a:pPr algn="l" indent="0" marL="0">
              <a:lnSpc>
                <a:spcPts val="1700"/>
              </a:lnSpc>
              <a:buNone/>
            </a:pPr>
            <a:r>
              <a:rPr lang="en-US" sz="1200" dirty="0">
                <a:solidFill>
                  <a:srgbClr val="1B1A17"/>
                </a:solidFill>
                <a:latin typeface="Calibri" pitchFamily="34" charset="0"/>
                <a:ea typeface="Calibri" pitchFamily="34" charset="-122"/>
                <a:cs typeface="Calibri" pitchFamily="34" charset="-120"/>
              </a:rPr>
              <a:t>A third general counsel offered an introduction into the legal-AI operator network.</a:t>
            </a:r>
            <a:endParaRPr lang="en-US" sz="1200" dirty="0"/>
          </a:p>
        </p:txBody>
      </p:sp>
      <p:sp>
        <p:nvSpPr>
          <p:cNvPr id="17" name="Shape 15"/>
          <p:cNvSpPr/>
          <p:nvPr/>
        </p:nvSpPr>
        <p:spPr>
          <a:xfrm>
            <a:off x="8110728" y="1783080"/>
            <a:ext cx="3401568" cy="3063240"/>
          </a:xfrm>
          <a:prstGeom prst="roundRect">
            <a:avLst>
              <a:gd name="adj" fmla="val 1791"/>
            </a:avLst>
          </a:prstGeom>
          <a:solidFill>
            <a:srgbClr val="FFFEFB"/>
          </a:solidFill>
          <a:ln w="9525">
            <a:solidFill>
              <a:srgbClr val="E3DED3"/>
            </a:solidFill>
            <a:prstDash val="solid"/>
          </a:ln>
          <a:effectLst>
            <a:outerShdw sx="100000" sy="100000" kx="0" ky="0" algn="bl" rotWithShape="0" blurRad="101600" dist="19050" dir="5400000">
              <a:srgbClr val="8C8577">
                <a:alpha val="16000"/>
              </a:srgbClr>
            </a:outerShdw>
          </a:effectLst>
        </p:spPr>
      </p:sp>
      <p:sp>
        <p:nvSpPr>
          <p:cNvPr id="18" name="Shape 16"/>
          <p:cNvSpPr/>
          <p:nvPr/>
        </p:nvSpPr>
        <p:spPr>
          <a:xfrm>
            <a:off x="8421624" y="2066544"/>
            <a:ext cx="86868" cy="86868"/>
          </a:xfrm>
          <a:prstGeom prst="rect">
            <a:avLst/>
          </a:prstGeom>
          <a:solidFill>
            <a:srgbClr val="B33A20"/>
          </a:solidFill>
          <a:ln w="12700">
            <a:solidFill>
              <a:srgbClr val="B33A20"/>
            </a:solidFill>
            <a:prstDash val="solid"/>
          </a:ln>
        </p:spPr>
      </p:sp>
      <p:sp>
        <p:nvSpPr>
          <p:cNvPr id="19" name="Text 17"/>
          <p:cNvSpPr txBox="1"/>
          <p:nvPr/>
        </p:nvSpPr>
        <p:spPr>
          <a:xfrm>
            <a:off x="8659368" y="1975104"/>
            <a:ext cx="2578608" cy="237744"/>
          </a:xfrm>
          <a:prstGeom prst="rect">
            <a:avLst/>
          </a:prstGeom>
          <a:noFill/>
          <a:ln/>
        </p:spPr>
        <p:txBody>
          <a:bodyPr wrap="square" lIns="0" tIns="0" rIns="0" bIns="0" rtlCol="0" anchor="ctr"/>
          <a:lstStyle/>
          <a:p>
            <a:pPr indent="0" marL="0">
              <a:buNone/>
            </a:pPr>
            <a:r>
              <a:rPr lang="en-US" sz="950" b="1" spc="180" kern="0" dirty="0">
                <a:solidFill>
                  <a:srgbClr val="B33A20"/>
                </a:solidFill>
                <a:latin typeface="Calibri" pitchFamily="34" charset="0"/>
                <a:ea typeface="Calibri" pitchFamily="34" charset="-122"/>
                <a:cs typeface="Calibri" pitchFamily="34" charset="-120"/>
              </a:rPr>
              <a:t>NOT YET PROVEN</a:t>
            </a:r>
            <a:endParaRPr lang="en-US" sz="950" dirty="0"/>
          </a:p>
        </p:txBody>
      </p:sp>
      <p:sp>
        <p:nvSpPr>
          <p:cNvPr id="20" name="Text 18"/>
          <p:cNvSpPr txBox="1"/>
          <p:nvPr/>
        </p:nvSpPr>
        <p:spPr>
          <a:xfrm>
            <a:off x="8421624" y="2432304"/>
            <a:ext cx="2779776" cy="868680"/>
          </a:xfrm>
          <a:prstGeom prst="rect">
            <a:avLst/>
          </a:prstGeom>
          <a:noFill/>
          <a:ln/>
        </p:spPr>
        <p:txBody>
          <a:bodyPr wrap="square" lIns="0" tIns="0" rIns="0" bIns="0" rtlCol="0" anchor="t"/>
          <a:lstStyle/>
          <a:p>
            <a:pPr algn="l" indent="0" marL="0">
              <a:lnSpc>
                <a:spcPts val="1700"/>
              </a:lnSpc>
              <a:buNone/>
            </a:pPr>
            <a:r>
              <a:rPr lang="en-US" sz="1200" dirty="0">
                <a:solidFill>
                  <a:srgbClr val="1B1A17"/>
                </a:solidFill>
                <a:latin typeface="Calibri" pitchFamily="34" charset="0"/>
                <a:ea typeface="Calibri" pitchFamily="34" charset="-122"/>
                <a:cs typeface="Calibri" pitchFamily="34" charset="-120"/>
              </a:rPr>
              <a:t>No paying customer and no production usage.</a:t>
            </a:r>
            <a:endParaRPr lang="en-US" sz="1200" dirty="0"/>
          </a:p>
        </p:txBody>
      </p:sp>
      <p:sp>
        <p:nvSpPr>
          <p:cNvPr id="21" name="Text 19"/>
          <p:cNvSpPr txBox="1"/>
          <p:nvPr/>
        </p:nvSpPr>
        <p:spPr>
          <a:xfrm>
            <a:off x="8421624" y="3236976"/>
            <a:ext cx="2779776" cy="868680"/>
          </a:xfrm>
          <a:prstGeom prst="rect">
            <a:avLst/>
          </a:prstGeom>
          <a:noFill/>
          <a:ln/>
        </p:spPr>
        <p:txBody>
          <a:bodyPr wrap="square" lIns="0" tIns="0" rIns="0" bIns="0" rtlCol="0" anchor="t"/>
          <a:lstStyle/>
          <a:p>
            <a:pPr algn="l" indent="0" marL="0">
              <a:lnSpc>
                <a:spcPts val="1700"/>
              </a:lnSpc>
              <a:buNone/>
            </a:pPr>
            <a:r>
              <a:rPr lang="en-US" sz="1200" dirty="0">
                <a:solidFill>
                  <a:srgbClr val="1B1A17"/>
                </a:solidFill>
                <a:latin typeface="Calibri" pitchFamily="34" charset="0"/>
                <a:ea typeface="Calibri" pitchFamily="34" charset="-122"/>
                <a:cs typeface="Calibri" pitchFamily="34" charset="-120"/>
              </a:rPr>
              <a:t>No measured time saving and no delivery cost basis.</a:t>
            </a:r>
            <a:endParaRPr lang="en-US" sz="1200" dirty="0"/>
          </a:p>
        </p:txBody>
      </p:sp>
      <p:sp>
        <p:nvSpPr>
          <p:cNvPr id="22" name="Text 20"/>
          <p:cNvSpPr txBox="1"/>
          <p:nvPr/>
        </p:nvSpPr>
        <p:spPr>
          <a:xfrm>
            <a:off x="8421624" y="4041648"/>
            <a:ext cx="2779776" cy="868680"/>
          </a:xfrm>
          <a:prstGeom prst="rect">
            <a:avLst/>
          </a:prstGeom>
          <a:noFill/>
          <a:ln/>
        </p:spPr>
        <p:txBody>
          <a:bodyPr wrap="square" lIns="0" tIns="0" rIns="0" bIns="0" rtlCol="0" anchor="t"/>
          <a:lstStyle/>
          <a:p>
            <a:pPr algn="l" indent="0" marL="0">
              <a:lnSpc>
                <a:spcPts val="1700"/>
              </a:lnSpc>
              <a:buNone/>
            </a:pPr>
            <a:r>
              <a:rPr lang="en-US" sz="1200" dirty="0">
                <a:solidFill>
                  <a:srgbClr val="1B1A17"/>
                </a:solidFill>
                <a:latin typeface="Calibri" pitchFamily="34" charset="0"/>
                <a:ea typeface="Calibri" pitchFamily="34" charset="-122"/>
                <a:cs typeface="Calibri" pitchFamily="34" charset="-120"/>
              </a:rPr>
              <a:t>No evidence yet that a lawyer returns with a second matter.</a:t>
            </a:r>
            <a:endParaRPr lang="en-US" sz="1200" dirty="0"/>
          </a:p>
        </p:txBody>
      </p:sp>
      <p:sp>
        <p:nvSpPr>
          <p:cNvPr id="23" name="Shape 21"/>
          <p:cNvSpPr/>
          <p:nvPr/>
        </p:nvSpPr>
        <p:spPr>
          <a:xfrm>
            <a:off x="685800" y="5120640"/>
            <a:ext cx="10820095" cy="896112"/>
          </a:xfrm>
          <a:prstGeom prst="roundRect">
            <a:avLst>
              <a:gd name="adj" fmla="val 6122"/>
            </a:avLst>
          </a:prstGeom>
          <a:solidFill>
            <a:srgbClr val="16150F"/>
          </a:solidFill>
          <a:ln w="12700">
            <a:solidFill>
              <a:srgbClr val="16150F"/>
            </a:solidFill>
            <a:prstDash val="solid"/>
          </a:ln>
        </p:spPr>
      </p:sp>
      <p:sp>
        <p:nvSpPr>
          <p:cNvPr id="24" name="Text 22"/>
          <p:cNvSpPr txBox="1"/>
          <p:nvPr/>
        </p:nvSpPr>
        <p:spPr>
          <a:xfrm>
            <a:off x="1069848" y="5285232"/>
            <a:ext cx="3657600" cy="237744"/>
          </a:xfrm>
          <a:prstGeom prst="rect">
            <a:avLst/>
          </a:prstGeom>
          <a:noFill/>
          <a:ln/>
        </p:spPr>
        <p:txBody>
          <a:bodyPr wrap="square" lIns="0" tIns="0" rIns="0" bIns="0" rtlCol="0" anchor="ctr"/>
          <a:lstStyle/>
          <a:p>
            <a:pPr indent="0" marL="0">
              <a:buNone/>
            </a:pPr>
            <a:r>
              <a:rPr lang="en-US" sz="950" b="1" spc="180" kern="0" dirty="0">
                <a:solidFill>
                  <a:srgbClr val="E0A008"/>
                </a:solidFill>
                <a:latin typeface="Calibri" pitchFamily="34" charset="0"/>
                <a:ea typeface="Calibri" pitchFamily="34" charset="-122"/>
                <a:cs typeface="Calibri" pitchFamily="34" charset="-120"/>
              </a:rPr>
              <a:t>18-MONTH TARGETS</a:t>
            </a:r>
            <a:endParaRPr lang="en-US" sz="950" dirty="0"/>
          </a:p>
        </p:txBody>
      </p:sp>
      <p:sp>
        <p:nvSpPr>
          <p:cNvPr id="25" name="Text 23"/>
          <p:cNvSpPr txBox="1"/>
          <p:nvPr/>
        </p:nvSpPr>
        <p:spPr>
          <a:xfrm>
            <a:off x="1069848" y="5559552"/>
            <a:ext cx="10051999" cy="365760"/>
          </a:xfrm>
          <a:prstGeom prst="rect">
            <a:avLst/>
          </a:prstGeom>
          <a:noFill/>
          <a:ln/>
        </p:spPr>
        <p:txBody>
          <a:bodyPr wrap="square" lIns="0" tIns="0" rIns="0" bIns="0" rtlCol="0" anchor="t"/>
          <a:lstStyle/>
          <a:p>
            <a:pPr algn="l" indent="0" marL="0">
              <a:lnSpc>
                <a:spcPts val="1900"/>
              </a:lnSpc>
              <a:buNone/>
            </a:pPr>
            <a:r>
              <a:rPr lang="en-US" sz="1450" b="1" dirty="0">
                <a:solidFill>
                  <a:srgbClr val="FFFFFF"/>
                </a:solidFill>
                <a:latin typeface="Cambria" pitchFamily="34" charset="0"/>
                <a:ea typeface="Cambria" pitchFamily="34" charset="-122"/>
                <a:cs typeface="Cambria" pitchFamily="34" charset="-120"/>
              </a:rPr>
              <a:t>50 paying lawyers        $240K ARR        60% start a second matter within 30 days        25% less total preparation effort</a:t>
            </a:r>
            <a:endParaRPr lang="en-US" sz="1450" dirty="0"/>
          </a:p>
        </p:txBody>
      </p:sp>
      <p:sp>
        <p:nvSpPr>
          <p:cNvPr id="26" name="Text 24"/>
          <p:cNvSpPr txBox="1"/>
          <p:nvPr/>
        </p:nvSpPr>
        <p:spPr>
          <a:xfrm>
            <a:off x="685800" y="6382512"/>
            <a:ext cx="10820095" cy="329184"/>
          </a:xfrm>
          <a:prstGeom prst="rect">
            <a:avLst/>
          </a:prstGeom>
          <a:noFill/>
          <a:ln/>
        </p:spPr>
        <p:txBody>
          <a:bodyPr wrap="square" lIns="0" tIns="0" rIns="0" bIns="0" rtlCol="0" anchor="t"/>
          <a:lstStyle/>
          <a:p>
            <a:pPr indent="0" marL="0">
              <a:buNone/>
            </a:pPr>
            <a:r>
              <a:rPr lang="en-US" sz="950" i="1" dirty="0">
                <a:solidFill>
                  <a:srgbClr val="6E6759"/>
                </a:solidFill>
                <a:latin typeface="Calibri" pitchFamily="34" charset="0"/>
                <a:ea typeface="Calibri" pitchFamily="34" charset="-122"/>
                <a:cs typeface="Calibri" pitchFamily="34" charset="-120"/>
              </a:rPr>
              <a:t>Interview participants are anonymized pending their approval to be named. Pilot commitments are verbal and unpriced. Targets are plans, not results.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50F"/>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7772400" cy="310896"/>
          </a:xfrm>
          <a:prstGeom prst="rect">
            <a:avLst/>
          </a:prstGeom>
          <a:noFill/>
          <a:ln/>
        </p:spPr>
        <p:txBody>
          <a:bodyPr wrap="square" lIns="0" tIns="0" rIns="0" bIns="0" rtlCol="0" anchor="ctr"/>
          <a:lstStyle/>
          <a:p>
            <a:pPr indent="0" marL="0">
              <a:buNone/>
            </a:pPr>
            <a:r>
              <a:rPr lang="en-US" sz="1050" b="1" spc="220" kern="0" dirty="0">
                <a:solidFill>
                  <a:srgbClr val="E0A008"/>
                </a:solidFill>
                <a:latin typeface="Calibri" pitchFamily="34" charset="0"/>
                <a:ea typeface="Calibri" pitchFamily="34" charset="-122"/>
                <a:cs typeface="Calibri" pitchFamily="34" charset="-120"/>
              </a:rPr>
              <a:t>THE ASK</a:t>
            </a:r>
            <a:endParaRPr lang="en-US" sz="1050" dirty="0"/>
          </a:p>
        </p:txBody>
      </p:sp>
      <p:sp>
        <p:nvSpPr>
          <p:cNvPr id="4" name="Text 2"/>
          <p:cNvSpPr txBox="1"/>
          <p:nvPr/>
        </p:nvSpPr>
        <p:spPr>
          <a:xfrm>
            <a:off x="10408615" y="347472"/>
            <a:ext cx="1097280" cy="310896"/>
          </a:xfrm>
          <a:prstGeom prst="rect">
            <a:avLst/>
          </a:prstGeom>
          <a:noFill/>
          <a:ln/>
        </p:spPr>
        <p:txBody>
          <a:bodyPr wrap="square" lIns="0" tIns="0" rIns="0" bIns="0" rtlCol="0" anchor="ctr"/>
          <a:lstStyle/>
          <a:p>
            <a:pPr algn="r" indent="0" marL="0">
              <a:buNone/>
            </a:pPr>
            <a:r>
              <a:rPr lang="en-US" sz="1050" b="1" spc="150" kern="0" dirty="0">
                <a:solidFill>
                  <a:srgbClr val="8F8879"/>
                </a:solidFill>
                <a:latin typeface="Calibri" pitchFamily="34" charset="0"/>
                <a:ea typeface="Calibri" pitchFamily="34" charset="-122"/>
                <a:cs typeface="Calibri" pitchFamily="34" charset="-120"/>
              </a:rPr>
              <a:t>12</a:t>
            </a:r>
            <a:endParaRPr lang="en-US" sz="1050" dirty="0"/>
          </a:p>
        </p:txBody>
      </p:sp>
      <p:sp>
        <p:nvSpPr>
          <p:cNvPr id="5" name="Text 3"/>
          <p:cNvSpPr txBox="1"/>
          <p:nvPr/>
        </p:nvSpPr>
        <p:spPr>
          <a:xfrm>
            <a:off x="685800" y="841248"/>
            <a:ext cx="10820095" cy="960120"/>
          </a:xfrm>
          <a:prstGeom prst="rect">
            <a:avLst/>
          </a:prstGeom>
          <a:noFill/>
          <a:ln/>
        </p:spPr>
        <p:txBody>
          <a:bodyPr wrap="square" lIns="0" tIns="0" rIns="0" bIns="0" rtlCol="0" anchor="t"/>
          <a:lstStyle/>
          <a:p>
            <a:pPr indent="0" marL="0">
              <a:lnSpc>
                <a:spcPts val="3800"/>
              </a:lnSpc>
              <a:buNone/>
            </a:pPr>
            <a:r>
              <a:rPr lang="en-US" sz="3300" b="1" dirty="0">
                <a:solidFill>
                  <a:srgbClr val="FFFFFF"/>
                </a:solidFill>
                <a:latin typeface="Cambria" pitchFamily="34" charset="0"/>
                <a:ea typeface="Cambria" pitchFamily="34" charset="-122"/>
                <a:cs typeface="Cambria" pitchFamily="34" charset="-120"/>
              </a:rPr>
              <a:t>$1.5M to put a prepared matter in front of</a:t>
            </a:r>
            <a:endParaRPr lang="en-US" sz="3300" dirty="0"/>
          </a:p>
          <a:p>
            <a:pPr indent="0" marL="0">
              <a:lnSpc>
                <a:spcPts val="3800"/>
              </a:lnSpc>
              <a:buNone/>
            </a:pPr>
            <a:r>
              <a:rPr lang="en-US" sz="3300" b="1" dirty="0">
                <a:solidFill>
                  <a:srgbClr val="FFFFFF"/>
                </a:solidFill>
                <a:latin typeface="Cambria" pitchFamily="34" charset="0"/>
                <a:ea typeface="Cambria" pitchFamily="34" charset="-122"/>
                <a:cs typeface="Cambria" pitchFamily="34" charset="-120"/>
              </a:rPr>
              <a:t>every small-team lawyer.</a:t>
            </a:r>
            <a:endParaRPr lang="en-US" sz="3300" dirty="0"/>
          </a:p>
        </p:txBody>
      </p:sp>
      <p:sp>
        <p:nvSpPr>
          <p:cNvPr id="6" name="Shape 4"/>
          <p:cNvSpPr/>
          <p:nvPr/>
        </p:nvSpPr>
        <p:spPr>
          <a:xfrm>
            <a:off x="685800" y="2286000"/>
            <a:ext cx="4892040" cy="3200400"/>
          </a:xfrm>
          <a:prstGeom prst="roundRect">
            <a:avLst>
              <a:gd name="adj" fmla="val 1714"/>
            </a:avLst>
          </a:prstGeom>
          <a:solidFill>
            <a:srgbClr val="24221A"/>
          </a:solidFill>
          <a:ln w="9525">
            <a:solidFill>
              <a:srgbClr val="3A362B"/>
            </a:solidFill>
            <a:prstDash val="solid"/>
          </a:ln>
        </p:spPr>
      </p:sp>
      <p:sp>
        <p:nvSpPr>
          <p:cNvPr id="7" name="Text 5"/>
          <p:cNvSpPr txBox="1"/>
          <p:nvPr/>
        </p:nvSpPr>
        <p:spPr>
          <a:xfrm>
            <a:off x="1051560" y="2487168"/>
            <a:ext cx="2926080" cy="868680"/>
          </a:xfrm>
          <a:prstGeom prst="rect">
            <a:avLst/>
          </a:prstGeom>
          <a:noFill/>
          <a:ln/>
        </p:spPr>
        <p:txBody>
          <a:bodyPr wrap="square" lIns="0" tIns="0" rIns="0" bIns="0" rtlCol="0" anchor="ctr"/>
          <a:lstStyle/>
          <a:p>
            <a:pPr indent="0" marL="0">
              <a:buNone/>
            </a:pPr>
            <a:r>
              <a:rPr lang="en-US" sz="5000" b="1" dirty="0">
                <a:solidFill>
                  <a:srgbClr val="E0A008"/>
                </a:solidFill>
                <a:latin typeface="Cambria" pitchFamily="34" charset="0"/>
                <a:ea typeface="Cambria" pitchFamily="34" charset="-122"/>
                <a:cs typeface="Cambria" pitchFamily="34" charset="-120"/>
              </a:rPr>
              <a:t>$1.5M</a:t>
            </a:r>
            <a:endParaRPr lang="en-US" sz="5000" dirty="0"/>
          </a:p>
        </p:txBody>
      </p:sp>
      <p:sp>
        <p:nvSpPr>
          <p:cNvPr id="8" name="Text 6"/>
          <p:cNvSpPr txBox="1"/>
          <p:nvPr/>
        </p:nvSpPr>
        <p:spPr>
          <a:xfrm>
            <a:off x="1051560" y="3383280"/>
            <a:ext cx="4114800" cy="274320"/>
          </a:xfrm>
          <a:prstGeom prst="rect">
            <a:avLst/>
          </a:prstGeom>
          <a:noFill/>
          <a:ln/>
        </p:spPr>
        <p:txBody>
          <a:bodyPr wrap="square" lIns="0" tIns="0" rIns="0" bIns="0" rtlCol="0" anchor="t"/>
          <a:lstStyle/>
          <a:p>
            <a:pPr algn="l" indent="0" marL="0">
              <a:lnSpc>
                <a:spcPts val="1900"/>
              </a:lnSpc>
              <a:buNone/>
            </a:pPr>
            <a:r>
              <a:rPr lang="en-US" sz="1250" dirty="0">
                <a:solidFill>
                  <a:srgbClr val="DCD7CB"/>
                </a:solidFill>
                <a:latin typeface="Calibri" pitchFamily="34" charset="0"/>
                <a:ea typeface="Calibri" pitchFamily="34" charset="-122"/>
                <a:cs typeface="Calibri" pitchFamily="34" charset="-120"/>
              </a:rPr>
              <a:t>Pre-seed  ·  18 months of focused execution</a:t>
            </a:r>
            <a:endParaRPr lang="en-US" sz="1250" dirty="0"/>
          </a:p>
        </p:txBody>
      </p:sp>
      <p:sp>
        <p:nvSpPr>
          <p:cNvPr id="9" name="Text 7"/>
          <p:cNvSpPr txBox="1"/>
          <p:nvPr/>
        </p:nvSpPr>
        <p:spPr>
          <a:xfrm>
            <a:off x="1051560" y="3794760"/>
            <a:ext cx="4114800" cy="237744"/>
          </a:xfrm>
          <a:prstGeom prst="rect">
            <a:avLst/>
          </a:prstGeom>
          <a:noFill/>
          <a:ln/>
        </p:spPr>
        <p:txBody>
          <a:bodyPr wrap="square" lIns="0" tIns="0" rIns="0" bIns="0" rtlCol="0" anchor="ctr"/>
          <a:lstStyle/>
          <a:p>
            <a:pPr indent="0" marL="0">
              <a:buNone/>
            </a:pPr>
            <a:r>
              <a:rPr lang="en-US" sz="950" b="1" spc="180" kern="0" dirty="0">
                <a:solidFill>
                  <a:srgbClr val="E0A008"/>
                </a:solidFill>
                <a:latin typeface="Calibri" pitchFamily="34" charset="0"/>
                <a:ea typeface="Calibri" pitchFamily="34" charset="-122"/>
                <a:cs typeface="Calibri" pitchFamily="34" charset="-120"/>
              </a:rPr>
              <a:t>WHAT IT BUYS</a:t>
            </a:r>
            <a:endParaRPr lang="en-US" sz="950" dirty="0"/>
          </a:p>
        </p:txBody>
      </p:sp>
      <p:sp>
        <p:nvSpPr>
          <p:cNvPr id="10" name="Shape 8"/>
          <p:cNvSpPr/>
          <p:nvPr/>
        </p:nvSpPr>
        <p:spPr>
          <a:xfrm>
            <a:off x="1051560" y="4197096"/>
            <a:ext cx="68580" cy="68580"/>
          </a:xfrm>
          <a:prstGeom prst="rect">
            <a:avLst/>
          </a:prstGeom>
          <a:solidFill>
            <a:srgbClr val="E0A008"/>
          </a:solidFill>
          <a:ln w="12700">
            <a:solidFill>
              <a:srgbClr val="E0A008"/>
            </a:solidFill>
            <a:prstDash val="solid"/>
          </a:ln>
        </p:spPr>
      </p:sp>
      <p:sp>
        <p:nvSpPr>
          <p:cNvPr id="11" name="Text 9"/>
          <p:cNvSpPr txBox="1"/>
          <p:nvPr/>
        </p:nvSpPr>
        <p:spPr>
          <a:xfrm>
            <a:off x="1252728" y="4133088"/>
            <a:ext cx="3931920" cy="274320"/>
          </a:xfrm>
          <a:prstGeom prst="rect">
            <a:avLst/>
          </a:prstGeom>
          <a:noFill/>
          <a:ln/>
        </p:spPr>
        <p:txBody>
          <a:bodyPr wrap="square" lIns="0" tIns="0" rIns="0" bIns="0" rtlCol="0" anchor="t"/>
          <a:lstStyle/>
          <a:p>
            <a:pPr algn="l" indent="0" marL="0">
              <a:lnSpc>
                <a:spcPts val="1900"/>
              </a:lnSpc>
              <a:buNone/>
            </a:pPr>
            <a:r>
              <a:rPr lang="en-US" sz="1200" dirty="0">
                <a:solidFill>
                  <a:srgbClr val="DCD7CB"/>
                </a:solidFill>
                <a:latin typeface="Calibri" pitchFamily="34" charset="0"/>
                <a:ea typeface="Calibri" pitchFamily="34" charset="-122"/>
                <a:cs typeface="Calibri" pitchFamily="34" charset="-120"/>
              </a:rPr>
              <a:t>A founding technical team</a:t>
            </a:r>
            <a:endParaRPr lang="en-US" sz="1200" dirty="0"/>
          </a:p>
        </p:txBody>
      </p:sp>
      <p:sp>
        <p:nvSpPr>
          <p:cNvPr id="12" name="Shape 10"/>
          <p:cNvSpPr/>
          <p:nvPr/>
        </p:nvSpPr>
        <p:spPr>
          <a:xfrm>
            <a:off x="1051560" y="4507992"/>
            <a:ext cx="68580" cy="68580"/>
          </a:xfrm>
          <a:prstGeom prst="rect">
            <a:avLst/>
          </a:prstGeom>
          <a:solidFill>
            <a:srgbClr val="E0A008"/>
          </a:solidFill>
          <a:ln w="12700">
            <a:solidFill>
              <a:srgbClr val="E0A008"/>
            </a:solidFill>
            <a:prstDash val="solid"/>
          </a:ln>
        </p:spPr>
      </p:sp>
      <p:sp>
        <p:nvSpPr>
          <p:cNvPr id="13" name="Text 11"/>
          <p:cNvSpPr txBox="1"/>
          <p:nvPr/>
        </p:nvSpPr>
        <p:spPr>
          <a:xfrm>
            <a:off x="1252728" y="4443984"/>
            <a:ext cx="3931920" cy="274320"/>
          </a:xfrm>
          <a:prstGeom prst="rect">
            <a:avLst/>
          </a:prstGeom>
          <a:noFill/>
          <a:ln/>
        </p:spPr>
        <p:txBody>
          <a:bodyPr wrap="square" lIns="0" tIns="0" rIns="0" bIns="0" rtlCol="0" anchor="t"/>
          <a:lstStyle/>
          <a:p>
            <a:pPr algn="l" indent="0" marL="0">
              <a:lnSpc>
                <a:spcPts val="1900"/>
              </a:lnSpc>
              <a:buNone/>
            </a:pPr>
            <a:r>
              <a:rPr lang="en-US" sz="1200" dirty="0">
                <a:solidFill>
                  <a:srgbClr val="DCD7CB"/>
                </a:solidFill>
                <a:latin typeface="Calibri" pitchFamily="34" charset="0"/>
                <a:ea typeface="Calibri" pitchFamily="34" charset="-122"/>
                <a:cs typeface="Calibri" pitchFamily="34" charset="-120"/>
              </a:rPr>
              <a:t>Live use on real matters with working lawyers</a:t>
            </a:r>
            <a:endParaRPr lang="en-US" sz="1200" dirty="0"/>
          </a:p>
        </p:txBody>
      </p:sp>
      <p:sp>
        <p:nvSpPr>
          <p:cNvPr id="14" name="Shape 12"/>
          <p:cNvSpPr/>
          <p:nvPr/>
        </p:nvSpPr>
        <p:spPr>
          <a:xfrm>
            <a:off x="1051560" y="4818888"/>
            <a:ext cx="68580" cy="68580"/>
          </a:xfrm>
          <a:prstGeom prst="rect">
            <a:avLst/>
          </a:prstGeom>
          <a:solidFill>
            <a:srgbClr val="E0A008"/>
          </a:solidFill>
          <a:ln w="12700">
            <a:solidFill>
              <a:srgbClr val="E0A008"/>
            </a:solidFill>
            <a:prstDash val="solid"/>
          </a:ln>
        </p:spPr>
      </p:sp>
      <p:sp>
        <p:nvSpPr>
          <p:cNvPr id="15" name="Text 13"/>
          <p:cNvSpPr txBox="1"/>
          <p:nvPr/>
        </p:nvSpPr>
        <p:spPr>
          <a:xfrm>
            <a:off x="1252728" y="4754880"/>
            <a:ext cx="3931920" cy="274320"/>
          </a:xfrm>
          <a:prstGeom prst="rect">
            <a:avLst/>
          </a:prstGeom>
          <a:noFill/>
          <a:ln/>
        </p:spPr>
        <p:txBody>
          <a:bodyPr wrap="square" lIns="0" tIns="0" rIns="0" bIns="0" rtlCol="0" anchor="t"/>
          <a:lstStyle/>
          <a:p>
            <a:pPr algn="l" indent="0" marL="0">
              <a:lnSpc>
                <a:spcPts val="1900"/>
              </a:lnSpc>
              <a:buNone/>
            </a:pPr>
            <a:r>
              <a:rPr lang="en-US" sz="1200" dirty="0">
                <a:solidFill>
                  <a:srgbClr val="DCD7CB"/>
                </a:solidFill>
                <a:latin typeface="Calibri" pitchFamily="34" charset="0"/>
                <a:ea typeface="Calibri" pitchFamily="34" charset="-122"/>
                <a:cs typeface="Calibri" pitchFamily="34" charset="-120"/>
              </a:rPr>
              <a:t>A real cost basis and honest unit economics</a:t>
            </a:r>
            <a:endParaRPr lang="en-US" sz="1200" dirty="0"/>
          </a:p>
        </p:txBody>
      </p:sp>
      <p:sp>
        <p:nvSpPr>
          <p:cNvPr id="16" name="Shape 14"/>
          <p:cNvSpPr/>
          <p:nvPr/>
        </p:nvSpPr>
        <p:spPr>
          <a:xfrm>
            <a:off x="1051560" y="5129784"/>
            <a:ext cx="68580" cy="68580"/>
          </a:xfrm>
          <a:prstGeom prst="rect">
            <a:avLst/>
          </a:prstGeom>
          <a:solidFill>
            <a:srgbClr val="E0A008"/>
          </a:solidFill>
          <a:ln w="12700">
            <a:solidFill>
              <a:srgbClr val="E0A008"/>
            </a:solidFill>
            <a:prstDash val="solid"/>
          </a:ln>
        </p:spPr>
      </p:sp>
      <p:sp>
        <p:nvSpPr>
          <p:cNvPr id="17" name="Text 15"/>
          <p:cNvSpPr txBox="1"/>
          <p:nvPr/>
        </p:nvSpPr>
        <p:spPr>
          <a:xfrm>
            <a:off x="1252728" y="5065776"/>
            <a:ext cx="3931920" cy="274320"/>
          </a:xfrm>
          <a:prstGeom prst="rect">
            <a:avLst/>
          </a:prstGeom>
          <a:noFill/>
          <a:ln/>
        </p:spPr>
        <p:txBody>
          <a:bodyPr wrap="square" lIns="0" tIns="0" rIns="0" bIns="0" rtlCol="0" anchor="t"/>
          <a:lstStyle/>
          <a:p>
            <a:pPr algn="l" indent="0" marL="0">
              <a:lnSpc>
                <a:spcPts val="1900"/>
              </a:lnSpc>
              <a:buNone/>
            </a:pPr>
            <a:r>
              <a:rPr lang="en-US" sz="1200" dirty="0">
                <a:solidFill>
                  <a:srgbClr val="DCD7CB"/>
                </a:solidFill>
                <a:latin typeface="Calibri" pitchFamily="34" charset="0"/>
                <a:ea typeface="Calibri" pitchFamily="34" charset="-122"/>
                <a:cs typeface="Calibri" pitchFamily="34" charset="-120"/>
              </a:rPr>
              <a:t>Evidence that lawyers return and pay</a:t>
            </a:r>
            <a:endParaRPr lang="en-US" sz="1200" dirty="0"/>
          </a:p>
        </p:txBody>
      </p:sp>
      <p:sp>
        <p:nvSpPr>
          <p:cNvPr id="18" name="Text 16"/>
          <p:cNvSpPr txBox="1"/>
          <p:nvPr/>
        </p:nvSpPr>
        <p:spPr>
          <a:xfrm>
            <a:off x="6080760" y="2331720"/>
            <a:ext cx="5440680" cy="237744"/>
          </a:xfrm>
          <a:prstGeom prst="rect">
            <a:avLst/>
          </a:prstGeom>
          <a:noFill/>
          <a:ln/>
        </p:spPr>
        <p:txBody>
          <a:bodyPr wrap="square" lIns="0" tIns="0" rIns="0" bIns="0" rtlCol="0" anchor="ctr"/>
          <a:lstStyle/>
          <a:p>
            <a:pPr indent="0" marL="0">
              <a:buNone/>
            </a:pPr>
            <a:r>
              <a:rPr lang="en-US" sz="950" b="1" spc="180" kern="0" dirty="0">
                <a:solidFill>
                  <a:srgbClr val="E0A008"/>
                </a:solidFill>
                <a:latin typeface="Calibri" pitchFamily="34" charset="0"/>
                <a:ea typeface="Calibri" pitchFamily="34" charset="-122"/>
                <a:cs typeface="Calibri" pitchFamily="34" charset="-120"/>
              </a:rPr>
              <a:t>THE TEST THIS MONEY FUNDS</a:t>
            </a:r>
            <a:endParaRPr lang="en-US" sz="950" dirty="0"/>
          </a:p>
        </p:txBody>
      </p:sp>
      <p:sp>
        <p:nvSpPr>
          <p:cNvPr id="19" name="Text 17"/>
          <p:cNvSpPr txBox="1"/>
          <p:nvPr/>
        </p:nvSpPr>
        <p:spPr>
          <a:xfrm>
            <a:off x="6080760" y="2679192"/>
            <a:ext cx="457200" cy="310896"/>
          </a:xfrm>
          <a:prstGeom prst="rect">
            <a:avLst/>
          </a:prstGeom>
          <a:noFill/>
          <a:ln/>
        </p:spPr>
        <p:txBody>
          <a:bodyPr wrap="square" lIns="0" tIns="0" rIns="0" bIns="0" rtlCol="0" anchor="ctr"/>
          <a:lstStyle/>
          <a:p>
            <a:pPr indent="0" marL="0">
              <a:buNone/>
            </a:pPr>
            <a:r>
              <a:rPr lang="en-US" sz="1500" b="1" dirty="0">
                <a:solidFill>
                  <a:srgbClr val="E0A008"/>
                </a:solidFill>
                <a:latin typeface="Cambria" pitchFamily="34" charset="0"/>
                <a:ea typeface="Cambria" pitchFamily="34" charset="-122"/>
                <a:cs typeface="Cambria" pitchFamily="34" charset="-120"/>
              </a:rPr>
              <a:t>1</a:t>
            </a:r>
            <a:endParaRPr lang="en-US" sz="1500" dirty="0"/>
          </a:p>
        </p:txBody>
      </p:sp>
      <p:sp>
        <p:nvSpPr>
          <p:cNvPr id="20" name="Text 18"/>
          <p:cNvSpPr txBox="1"/>
          <p:nvPr/>
        </p:nvSpPr>
        <p:spPr>
          <a:xfrm>
            <a:off x="6501384" y="2697480"/>
            <a:ext cx="5020056" cy="822960"/>
          </a:xfrm>
          <a:prstGeom prst="rect">
            <a:avLst/>
          </a:prstGeom>
          <a:noFill/>
          <a:ln/>
        </p:spPr>
        <p:txBody>
          <a:bodyPr wrap="square" lIns="0" tIns="0" rIns="0" bIns="0" rtlCol="0" anchor="t"/>
          <a:lstStyle/>
          <a:p>
            <a:pPr indent="0" marL="0">
              <a:lnSpc>
                <a:spcPts val="1750"/>
              </a:lnSpc>
              <a:buNone/>
            </a:pPr>
            <a:r>
              <a:rPr lang="en-US" sz="1250" b="1" dirty="0">
                <a:solidFill>
                  <a:srgbClr val="FFFFFF"/>
                </a:solidFill>
                <a:latin typeface="Calibri" pitchFamily="34" charset="0"/>
                <a:ea typeface="Calibri" pitchFamily="34" charset="-122"/>
                <a:cs typeface="Calibri" pitchFamily="34" charset="-120"/>
              </a:rPr>
              <a:t>Lawyers use it  </a:t>
            </a:r>
            <a:pPr indent="0" marL="0">
              <a:lnSpc>
                <a:spcPts val="1750"/>
              </a:lnSpc>
              <a:buNone/>
            </a:pPr>
            <a:r>
              <a:rPr lang="en-US" sz="1250" dirty="0">
                <a:solidFill>
                  <a:srgbClr val="DCD7CB"/>
                </a:solidFill>
                <a:latin typeface="Calibri" pitchFamily="34" charset="0"/>
                <a:ea typeface="Calibri" pitchFamily="34" charset="-122"/>
                <a:cs typeface="Calibri" pitchFamily="34" charset="-120"/>
              </a:rPr>
              <a:t>on live matters, unprompted.</a:t>
            </a:r>
            <a:endParaRPr lang="en-US" sz="1250" dirty="0"/>
          </a:p>
        </p:txBody>
      </p:sp>
      <p:sp>
        <p:nvSpPr>
          <p:cNvPr id="21" name="Text 19"/>
          <p:cNvSpPr txBox="1"/>
          <p:nvPr/>
        </p:nvSpPr>
        <p:spPr>
          <a:xfrm>
            <a:off x="6080760" y="3227832"/>
            <a:ext cx="457200" cy="310896"/>
          </a:xfrm>
          <a:prstGeom prst="rect">
            <a:avLst/>
          </a:prstGeom>
          <a:noFill/>
          <a:ln/>
        </p:spPr>
        <p:txBody>
          <a:bodyPr wrap="square" lIns="0" tIns="0" rIns="0" bIns="0" rtlCol="0" anchor="ctr"/>
          <a:lstStyle/>
          <a:p>
            <a:pPr indent="0" marL="0">
              <a:buNone/>
            </a:pPr>
            <a:r>
              <a:rPr lang="en-US" sz="1500" b="1" dirty="0">
                <a:solidFill>
                  <a:srgbClr val="E0A008"/>
                </a:solidFill>
                <a:latin typeface="Cambria" pitchFamily="34" charset="0"/>
                <a:ea typeface="Cambria" pitchFamily="34" charset="-122"/>
                <a:cs typeface="Cambria" pitchFamily="34" charset="-120"/>
              </a:rPr>
              <a:t>2</a:t>
            </a:r>
            <a:endParaRPr lang="en-US" sz="1500" dirty="0"/>
          </a:p>
        </p:txBody>
      </p:sp>
      <p:sp>
        <p:nvSpPr>
          <p:cNvPr id="22" name="Text 20"/>
          <p:cNvSpPr txBox="1"/>
          <p:nvPr/>
        </p:nvSpPr>
        <p:spPr>
          <a:xfrm>
            <a:off x="6501384" y="3246120"/>
            <a:ext cx="5020056" cy="822960"/>
          </a:xfrm>
          <a:prstGeom prst="rect">
            <a:avLst/>
          </a:prstGeom>
          <a:noFill/>
          <a:ln/>
        </p:spPr>
        <p:txBody>
          <a:bodyPr wrap="square" lIns="0" tIns="0" rIns="0" bIns="0" rtlCol="0" anchor="t"/>
          <a:lstStyle/>
          <a:p>
            <a:pPr indent="0" marL="0">
              <a:lnSpc>
                <a:spcPts val="1750"/>
              </a:lnSpc>
              <a:buNone/>
            </a:pPr>
            <a:r>
              <a:rPr lang="en-US" sz="1250" b="1" dirty="0">
                <a:solidFill>
                  <a:srgbClr val="FFFFFF"/>
                </a:solidFill>
                <a:latin typeface="Calibri" pitchFamily="34" charset="0"/>
                <a:ea typeface="Calibri" pitchFamily="34" charset="-122"/>
                <a:cs typeface="Calibri" pitchFamily="34" charset="-120"/>
              </a:rPr>
              <a:t>They return  </a:t>
            </a:r>
            <a:pPr indent="0" marL="0">
              <a:lnSpc>
                <a:spcPts val="1750"/>
              </a:lnSpc>
              <a:buNone/>
            </a:pPr>
            <a:r>
              <a:rPr lang="en-US" sz="1250" dirty="0">
                <a:solidFill>
                  <a:srgbClr val="DCD7CB"/>
                </a:solidFill>
                <a:latin typeface="Calibri" pitchFamily="34" charset="0"/>
                <a:ea typeface="Calibri" pitchFamily="34" charset="-122"/>
                <a:cs typeface="Calibri" pitchFamily="34" charset="-120"/>
              </a:rPr>
              <a:t>with a second matter, and they pay.</a:t>
            </a:r>
            <a:endParaRPr lang="en-US" sz="1250" dirty="0"/>
          </a:p>
        </p:txBody>
      </p:sp>
      <p:sp>
        <p:nvSpPr>
          <p:cNvPr id="23" name="Text 21"/>
          <p:cNvSpPr txBox="1"/>
          <p:nvPr/>
        </p:nvSpPr>
        <p:spPr>
          <a:xfrm>
            <a:off x="6080760" y="3776472"/>
            <a:ext cx="457200" cy="310896"/>
          </a:xfrm>
          <a:prstGeom prst="rect">
            <a:avLst/>
          </a:prstGeom>
          <a:noFill/>
          <a:ln/>
        </p:spPr>
        <p:txBody>
          <a:bodyPr wrap="square" lIns="0" tIns="0" rIns="0" bIns="0" rtlCol="0" anchor="ctr"/>
          <a:lstStyle/>
          <a:p>
            <a:pPr indent="0" marL="0">
              <a:buNone/>
            </a:pPr>
            <a:r>
              <a:rPr lang="en-US" sz="1500" b="1" dirty="0">
                <a:solidFill>
                  <a:srgbClr val="E0A008"/>
                </a:solidFill>
                <a:latin typeface="Cambria" pitchFamily="34" charset="0"/>
                <a:ea typeface="Cambria" pitchFamily="34" charset="-122"/>
                <a:cs typeface="Cambria" pitchFamily="34" charset="-120"/>
              </a:rPr>
              <a:t>3</a:t>
            </a:r>
            <a:endParaRPr lang="en-US" sz="1500" dirty="0"/>
          </a:p>
        </p:txBody>
      </p:sp>
      <p:sp>
        <p:nvSpPr>
          <p:cNvPr id="24" name="Text 22"/>
          <p:cNvSpPr txBox="1"/>
          <p:nvPr/>
        </p:nvSpPr>
        <p:spPr>
          <a:xfrm>
            <a:off x="6501384" y="3794760"/>
            <a:ext cx="5020056" cy="822960"/>
          </a:xfrm>
          <a:prstGeom prst="rect">
            <a:avLst/>
          </a:prstGeom>
          <a:noFill/>
          <a:ln/>
        </p:spPr>
        <p:txBody>
          <a:bodyPr wrap="square" lIns="0" tIns="0" rIns="0" bIns="0" rtlCol="0" anchor="t"/>
          <a:lstStyle/>
          <a:p>
            <a:pPr indent="0" marL="0">
              <a:lnSpc>
                <a:spcPts val="1750"/>
              </a:lnSpc>
              <a:buNone/>
            </a:pPr>
            <a:r>
              <a:rPr lang="en-US" sz="1250" b="1" dirty="0">
                <a:solidFill>
                  <a:srgbClr val="FFFFFF"/>
                </a:solidFill>
                <a:latin typeface="Calibri" pitchFamily="34" charset="0"/>
                <a:ea typeface="Calibri" pitchFamily="34" charset="-122"/>
                <a:cs typeface="Calibri" pitchFamily="34" charset="-120"/>
              </a:rPr>
              <a:t>Total preparation effort falls  </a:t>
            </a:r>
            <a:pPr indent="0" marL="0">
              <a:lnSpc>
                <a:spcPts val="1750"/>
              </a:lnSpc>
              <a:buNone/>
            </a:pPr>
            <a:r>
              <a:rPr lang="en-US" sz="1250" dirty="0">
                <a:solidFill>
                  <a:srgbClr val="DCD7CB"/>
                </a:solidFill>
                <a:latin typeface="Calibri" pitchFamily="34" charset="0"/>
                <a:ea typeface="Calibri" pitchFamily="34" charset="-122"/>
                <a:cs typeface="Calibri" pitchFamily="34" charset="-120"/>
              </a:rPr>
              <a:t>against the tools they already use.</a:t>
            </a:r>
            <a:endParaRPr lang="en-US" sz="1250" dirty="0"/>
          </a:p>
        </p:txBody>
      </p:sp>
      <p:sp>
        <p:nvSpPr>
          <p:cNvPr id="25" name="Text 23"/>
          <p:cNvSpPr txBox="1"/>
          <p:nvPr/>
        </p:nvSpPr>
        <p:spPr>
          <a:xfrm>
            <a:off x="6080760" y="4325112"/>
            <a:ext cx="457200" cy="310896"/>
          </a:xfrm>
          <a:prstGeom prst="rect">
            <a:avLst/>
          </a:prstGeom>
          <a:noFill/>
          <a:ln/>
        </p:spPr>
        <p:txBody>
          <a:bodyPr wrap="square" lIns="0" tIns="0" rIns="0" bIns="0" rtlCol="0" anchor="ctr"/>
          <a:lstStyle/>
          <a:p>
            <a:pPr indent="0" marL="0">
              <a:buNone/>
            </a:pPr>
            <a:r>
              <a:rPr lang="en-US" sz="1500" b="1" dirty="0">
                <a:solidFill>
                  <a:srgbClr val="E0A008"/>
                </a:solidFill>
                <a:latin typeface="Cambria" pitchFamily="34" charset="0"/>
                <a:ea typeface="Cambria" pitchFamily="34" charset="-122"/>
                <a:cs typeface="Cambria" pitchFamily="34" charset="-120"/>
              </a:rPr>
              <a:t>4</a:t>
            </a:r>
            <a:endParaRPr lang="en-US" sz="1500" dirty="0"/>
          </a:p>
        </p:txBody>
      </p:sp>
      <p:sp>
        <p:nvSpPr>
          <p:cNvPr id="26" name="Text 24"/>
          <p:cNvSpPr txBox="1"/>
          <p:nvPr/>
        </p:nvSpPr>
        <p:spPr>
          <a:xfrm>
            <a:off x="6501384" y="4343400"/>
            <a:ext cx="5020056" cy="822960"/>
          </a:xfrm>
          <a:prstGeom prst="rect">
            <a:avLst/>
          </a:prstGeom>
          <a:noFill/>
          <a:ln/>
        </p:spPr>
        <p:txBody>
          <a:bodyPr wrap="square" lIns="0" tIns="0" rIns="0" bIns="0" rtlCol="0" anchor="t"/>
          <a:lstStyle/>
          <a:p>
            <a:pPr indent="0" marL="0">
              <a:lnSpc>
                <a:spcPts val="1750"/>
              </a:lnSpc>
              <a:buNone/>
            </a:pPr>
            <a:r>
              <a:rPr lang="en-US" sz="1250" b="1" dirty="0">
                <a:solidFill>
                  <a:srgbClr val="FFFFFF"/>
                </a:solidFill>
                <a:latin typeface="Calibri" pitchFamily="34" charset="0"/>
                <a:ea typeface="Calibri" pitchFamily="34" charset="-122"/>
                <a:cs typeface="Calibri" pitchFamily="34" charset="-120"/>
              </a:rPr>
              <a:t>Delivery cost  </a:t>
            </a:r>
            <a:pPr indent="0" marL="0">
              <a:lnSpc>
                <a:spcPts val="1750"/>
              </a:lnSpc>
              <a:buNone/>
            </a:pPr>
            <a:r>
              <a:rPr lang="en-US" sz="1250" dirty="0">
                <a:solidFill>
                  <a:srgbClr val="DCD7CB"/>
                </a:solidFill>
                <a:latin typeface="Calibri" pitchFamily="34" charset="0"/>
                <a:ea typeface="Calibri" pitchFamily="34" charset="-122"/>
                <a:cs typeface="Calibri" pitchFamily="34" charset="-120"/>
              </a:rPr>
              <a:t>supports the price.</a:t>
            </a:r>
            <a:endParaRPr lang="en-US" sz="1250" dirty="0"/>
          </a:p>
        </p:txBody>
      </p:sp>
      <p:sp>
        <p:nvSpPr>
          <p:cNvPr id="27" name="Shape 25"/>
          <p:cNvSpPr/>
          <p:nvPr/>
        </p:nvSpPr>
        <p:spPr>
          <a:xfrm>
            <a:off x="6080760" y="4956048"/>
            <a:ext cx="5440680" cy="10973"/>
          </a:xfrm>
          <a:prstGeom prst="rect">
            <a:avLst/>
          </a:prstGeom>
          <a:solidFill>
            <a:srgbClr val="3A362B"/>
          </a:solidFill>
          <a:ln w="12700">
            <a:solidFill>
              <a:srgbClr val="3A362B"/>
            </a:solidFill>
            <a:prstDash val="solid"/>
          </a:ln>
        </p:spPr>
      </p:sp>
      <p:sp>
        <p:nvSpPr>
          <p:cNvPr id="28" name="Text 26"/>
          <p:cNvSpPr txBox="1"/>
          <p:nvPr/>
        </p:nvSpPr>
        <p:spPr>
          <a:xfrm>
            <a:off x="6080760" y="5120640"/>
            <a:ext cx="5440680" cy="457200"/>
          </a:xfrm>
          <a:prstGeom prst="rect">
            <a:avLst/>
          </a:prstGeom>
          <a:noFill/>
          <a:ln/>
        </p:spPr>
        <p:txBody>
          <a:bodyPr wrap="square" lIns="0" tIns="0" rIns="0" bIns="0" rtlCol="0" anchor="t"/>
          <a:lstStyle/>
          <a:p>
            <a:pPr algn="l" indent="0" marL="0">
              <a:lnSpc>
                <a:spcPts val="1700"/>
              </a:lnSpc>
              <a:buNone/>
            </a:pPr>
            <a:r>
              <a:rPr lang="en-US" sz="1250" dirty="0">
                <a:solidFill>
                  <a:srgbClr val="DCD7CB"/>
                </a:solidFill>
                <a:latin typeface="Calibri" pitchFamily="34" charset="0"/>
                <a:ea typeface="Calibri" pitchFamily="34" charset="-122"/>
                <a:cs typeface="Calibri" pitchFamily="34" charset="-120"/>
              </a:rPr>
              <a:t>Pass that test and the next round is raised on retention evidence, not on a thesis.</a:t>
            </a:r>
            <a:endParaRPr lang="en-US" sz="1250" dirty="0"/>
          </a:p>
        </p:txBody>
      </p:sp>
      <p:sp>
        <p:nvSpPr>
          <p:cNvPr id="29" name="Text 27"/>
          <p:cNvSpPr txBox="1"/>
          <p:nvPr/>
        </p:nvSpPr>
        <p:spPr>
          <a:xfrm>
            <a:off x="685800" y="5650992"/>
            <a:ext cx="10820095" cy="603504"/>
          </a:xfrm>
          <a:prstGeom prst="rect">
            <a:avLst/>
          </a:prstGeom>
          <a:noFill/>
          <a:ln/>
        </p:spPr>
        <p:txBody>
          <a:bodyPr wrap="square" lIns="0" tIns="0" rIns="0" bIns="0" rtlCol="0" anchor="t"/>
          <a:lstStyle/>
          <a:p>
            <a:pPr indent="0" marL="0">
              <a:lnSpc>
                <a:spcPts val="2200"/>
              </a:lnSpc>
              <a:buNone/>
            </a:pPr>
            <a:r>
              <a:rPr lang="en-US" sz="1500" i="1" dirty="0">
                <a:solidFill>
                  <a:srgbClr val="E0A008"/>
                </a:solidFill>
                <a:latin typeface="Cambria" pitchFamily="34" charset="0"/>
                <a:ea typeface="Cambria" pitchFamily="34" charset="-122"/>
                <a:cs typeface="Cambria" pitchFamily="34" charset="-120"/>
              </a:rPr>
              <a:t>Themis equips lawyers to advise with confidence — and gives them more time to be present in the room, shaping business decisions.</a:t>
            </a:r>
            <a:endParaRPr lang="en-US" sz="1500" dirty="0"/>
          </a:p>
        </p:txBody>
      </p:sp>
      <p:sp>
        <p:nvSpPr>
          <p:cNvPr id="30" name="Text 28"/>
          <p:cNvSpPr txBox="1"/>
          <p:nvPr/>
        </p:nvSpPr>
        <p:spPr>
          <a:xfrm>
            <a:off x="685800" y="6446520"/>
            <a:ext cx="10820095" cy="329184"/>
          </a:xfrm>
          <a:prstGeom prst="rect">
            <a:avLst/>
          </a:prstGeom>
          <a:noFill/>
          <a:ln/>
        </p:spPr>
        <p:txBody>
          <a:bodyPr wrap="square" lIns="0" tIns="0" rIns="0" bIns="0" rtlCol="0" anchor="t"/>
          <a:lstStyle/>
          <a:p>
            <a:pPr indent="0" marL="0">
              <a:buNone/>
            </a:pPr>
            <a:r>
              <a:rPr lang="en-US" sz="950" i="1" dirty="0">
                <a:solidFill>
                  <a:srgbClr val="8F8879"/>
                </a:solidFill>
                <a:latin typeface="Calibri" pitchFamily="34" charset="0"/>
                <a:ea typeface="Calibri" pitchFamily="34" charset="-122"/>
                <a:cs typeface="Calibri" pitchFamily="34" charset="-120"/>
              </a:rPr>
              <a:t>Financing instrument, valuation, hiring sequence and founder compensation remain open. Use of funds at slide 15.</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7772400" cy="310896"/>
          </a:xfrm>
          <a:prstGeom prst="rect">
            <a:avLst/>
          </a:prstGeom>
          <a:noFill/>
          <a:ln/>
        </p:spPr>
        <p:txBody>
          <a:bodyPr wrap="square" lIns="0" tIns="0" rIns="0" bIns="0" rtlCol="0" anchor="ctr"/>
          <a:lstStyle/>
          <a:p>
            <a:pPr indent="0" marL="0">
              <a:buNone/>
            </a:pPr>
            <a:r>
              <a:rPr lang="en-US" sz="1050" b="1" spc="220" kern="0" dirty="0">
                <a:solidFill>
                  <a:srgbClr val="9A6F05"/>
                </a:solidFill>
                <a:latin typeface="Calibri" pitchFamily="34" charset="0"/>
                <a:ea typeface="Calibri" pitchFamily="34" charset="-122"/>
                <a:cs typeface="Calibri" pitchFamily="34" charset="-120"/>
              </a:rPr>
              <a:t>APPENDIX  ·  COMPETITIVE DETAIL</a:t>
            </a:r>
            <a:endParaRPr lang="en-US" sz="1050" dirty="0"/>
          </a:p>
        </p:txBody>
      </p:sp>
      <p:sp>
        <p:nvSpPr>
          <p:cNvPr id="4" name="Text 2"/>
          <p:cNvSpPr txBox="1"/>
          <p:nvPr/>
        </p:nvSpPr>
        <p:spPr>
          <a:xfrm>
            <a:off x="10408615" y="347472"/>
            <a:ext cx="1097280" cy="310896"/>
          </a:xfrm>
          <a:prstGeom prst="rect">
            <a:avLst/>
          </a:prstGeom>
          <a:noFill/>
          <a:ln/>
        </p:spPr>
        <p:txBody>
          <a:bodyPr wrap="square" lIns="0" tIns="0" rIns="0" bIns="0" rtlCol="0" anchor="ctr"/>
          <a:lstStyle/>
          <a:p>
            <a:pPr algn="r" indent="0" marL="0">
              <a:buNone/>
            </a:pPr>
            <a:r>
              <a:rPr lang="en-US" sz="1050" b="1" spc="150" kern="0" dirty="0">
                <a:solidFill>
                  <a:srgbClr val="6E6759"/>
                </a:solidFill>
                <a:latin typeface="Calibri" pitchFamily="34" charset="0"/>
                <a:ea typeface="Calibri" pitchFamily="34" charset="-122"/>
                <a:cs typeface="Calibri" pitchFamily="34" charset="-120"/>
              </a:rPr>
              <a:t>13</a:t>
            </a:r>
            <a:endParaRPr lang="en-US" sz="1050" dirty="0"/>
          </a:p>
        </p:txBody>
      </p:sp>
      <p:sp>
        <p:nvSpPr>
          <p:cNvPr id="5" name="Text 3"/>
          <p:cNvSpPr txBox="1"/>
          <p:nvPr/>
        </p:nvSpPr>
        <p:spPr>
          <a:xfrm>
            <a:off x="685800" y="841248"/>
            <a:ext cx="10820095" cy="548640"/>
          </a:xfrm>
          <a:prstGeom prst="rect">
            <a:avLst/>
          </a:prstGeom>
          <a:noFill/>
          <a:ln/>
        </p:spPr>
        <p:txBody>
          <a:bodyPr wrap="square" lIns="0" tIns="0" rIns="0" bIns="0" rtlCol="0" anchor="t"/>
          <a:lstStyle/>
          <a:p>
            <a:pPr indent="0" marL="0">
              <a:lnSpc>
                <a:spcPts val="3800"/>
              </a:lnSpc>
              <a:buNone/>
            </a:pPr>
            <a:r>
              <a:rPr lang="en-US" sz="3300" b="1" dirty="0">
                <a:solidFill>
                  <a:srgbClr val="1B1A17"/>
                </a:solidFill>
                <a:latin typeface="Cambria" pitchFamily="34" charset="0"/>
                <a:ea typeface="Cambria" pitchFamily="34" charset="-122"/>
                <a:cs typeface="Cambria" pitchFamily="34" charset="-120"/>
              </a:rPr>
              <a:t>The alternatives already do useful legal work.</a:t>
            </a:r>
            <a:endParaRPr lang="en-US" sz="3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20095" cy="914400"/>
        </p:xfrm>
        <a:graphic>
          <a:graphicData uri="http://schemas.openxmlformats.org/drawingml/2006/table">
            <a:tbl>
              <a:tblPr/>
              <a:tblGrid>
                <a:gridCol w="2377440"/>
                <a:gridCol w="4297680"/>
                <a:gridCol w="4144975"/>
              </a:tblGrid>
              <a:tr h="310896">
                <a:tc>
                  <a:txBody>
                    <a:bodyPr/>
                    <a:lstStyle/>
                    <a:p>
                      <a:pPr indent="0" marL="0">
                        <a:buNone/>
                      </a:pPr>
                      <a:r>
                        <a:rPr lang="en-US" sz="1050" b="1" spc="140" kern="0" dirty="0">
                          <a:solidFill>
                            <a:srgbClr val="9A6F05"/>
                          </a:solidFill>
                          <a:latin typeface="Calibri" pitchFamily="34" charset="0"/>
                          <a:ea typeface="Calibri" pitchFamily="34" charset="-122"/>
                          <a:cs typeface="Calibri" pitchFamily="34" charset="-120"/>
                        </a:rPr>
                        <a:t>Alternative</a:t>
                      </a:r>
                      <a:endParaRPr lang="en-US" sz="1050" dirty="0">
                        <a:latin typeface="Calibri" charset="0"/>
                        <a:ea typeface="Calibri" charset="0"/>
                        <a:cs typeface="Calibri" charset="0"/>
                      </a:endParaRPr>
                    </a:p>
                  </a:txBody>
                  <a:tcPr marL="146304" marR="146304" marT="146304" marB="146304" anchor="t">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indent="0" marL="0">
                        <a:buNone/>
                      </a:pPr>
                      <a:r>
                        <a:rPr lang="en-US" sz="1050" b="1" spc="140" kern="0" dirty="0">
                          <a:solidFill>
                            <a:srgbClr val="9A6F05"/>
                          </a:solidFill>
                          <a:latin typeface="Calibri" pitchFamily="34" charset="0"/>
                          <a:ea typeface="Calibri" pitchFamily="34" charset="-122"/>
                          <a:cs typeface="Calibri" pitchFamily="34" charset="-120"/>
                        </a:rPr>
                        <a:t>What it already does well</a:t>
                      </a:r>
                      <a:endParaRPr lang="en-US" sz="1050" dirty="0">
                        <a:latin typeface="Calibri" charset="0"/>
                        <a:ea typeface="Calibri" charset="0"/>
                        <a:cs typeface="Calibri" charset="0"/>
                      </a:endParaRPr>
                    </a:p>
                  </a:txBody>
                  <a:tcPr marL="146304" marR="146304" marT="146304" marB="146304" anchor="t">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indent="0" marL="0">
                        <a:buNone/>
                      </a:pPr>
                      <a:r>
                        <a:rPr lang="en-US" sz="1050" b="1" spc="140" kern="0" dirty="0">
                          <a:solidFill>
                            <a:srgbClr val="9A6F05"/>
                          </a:solidFill>
                          <a:latin typeface="Calibri" pitchFamily="34" charset="0"/>
                          <a:ea typeface="Calibri" pitchFamily="34" charset="-122"/>
                          <a:cs typeface="Calibri" pitchFamily="34" charset="-120"/>
                        </a:rPr>
                        <a:t>What Themis has to earn</a:t>
                      </a:r>
                      <a:endParaRPr lang="en-US" sz="1050" dirty="0">
                        <a:latin typeface="Calibri" charset="0"/>
                        <a:ea typeface="Calibri" charset="0"/>
                        <a:cs typeface="Calibri" charset="0"/>
                      </a:endParaRPr>
                    </a:p>
                  </a:txBody>
                  <a:tcPr marL="146304" marR="146304" marT="146304" marB="146304" anchor="t">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r>
              <a:tr h="1051560">
                <a:tc>
                  <a:txBody>
                    <a:bodyPr/>
                    <a:lstStyle/>
                    <a:p>
                      <a:pPr indent="0" marL="0">
                        <a:buNone/>
                      </a:pPr>
                      <a:r>
                        <a:rPr lang="en-US" sz="1200" b="1" dirty="0">
                          <a:solidFill>
                            <a:srgbClr val="1B1A17"/>
                          </a:solidFill>
                          <a:latin typeface="Calibri" pitchFamily="34" charset="0"/>
                          <a:ea typeface="Calibri" pitchFamily="34" charset="-122"/>
                          <a:cs typeface="Calibri" pitchFamily="34" charset="-120"/>
                        </a:rPr>
                        <a:t>Claude / ChatGPT</a:t>
                      </a:r>
                      <a:endParaRPr lang="en-US" sz="1200" dirty="0">
                        <a:latin typeface="Calibri" charset="0"/>
                        <a:ea typeface="Calibri" charset="0"/>
                        <a:cs typeface="Calibri" charset="0"/>
                      </a:endParaRPr>
                    </a:p>
                  </a:txBody>
                  <a:tcPr marL="146304" marR="146304" marT="146304" marB="146304" anchor="t">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indent="0" marL="0">
                        <a:buNone/>
                      </a:pPr>
                      <a:r>
                        <a:rPr lang="en-US" sz="1200" dirty="0">
                          <a:solidFill>
                            <a:srgbClr val="6E6759"/>
                          </a:solidFill>
                          <a:latin typeface="Calibri" pitchFamily="34" charset="0"/>
                          <a:ea typeface="Calibri" pitchFamily="34" charset="-122"/>
                          <a:cs typeface="Calibri" pitchFamily="34" charset="-120"/>
                        </a:rPr>
                        <a:t>Research, drafting, custom instructions and workflows. Claude ships a legal plugin configured to organizational playbooks.</a:t>
                      </a:r>
                      <a:endParaRPr lang="en-US" sz="1200" dirty="0">
                        <a:latin typeface="Calibri" charset="0"/>
                        <a:ea typeface="Calibri" charset="0"/>
                        <a:cs typeface="Calibri" charset="0"/>
                      </a:endParaRPr>
                    </a:p>
                  </a:txBody>
                  <a:tcPr marL="146304" marR="146304" marT="146304" marB="146304" anchor="t">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indent="0" marL="0">
                        <a:buNone/>
                      </a:pPr>
                      <a:r>
                        <a:rPr lang="en-US" sz="1200" dirty="0">
                          <a:solidFill>
                            <a:srgbClr val="6E6759"/>
                          </a:solidFill>
                          <a:latin typeface="Calibri" pitchFamily="34" charset="0"/>
                          <a:ea typeface="Calibri" pitchFamily="34" charset="-122"/>
                          <a:cs typeface="Calibri" pitchFamily="34" charset="-120"/>
                        </a:rPr>
                        <a:t>Less effort spent directing the matter, with the useful questions surfaced rather than prompted for.</a:t>
                      </a:r>
                      <a:endParaRPr lang="en-US" sz="1200" dirty="0">
                        <a:latin typeface="Calibri" charset="0"/>
                        <a:ea typeface="Calibri" charset="0"/>
                        <a:cs typeface="Calibri" charset="0"/>
                      </a:endParaRPr>
                    </a:p>
                  </a:txBody>
                  <a:tcPr marL="146304" marR="146304" marT="146304" marB="146304" anchor="t">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r>
              <a:tr h="1051560">
                <a:tc>
                  <a:txBody>
                    <a:bodyPr/>
                    <a:lstStyle/>
                    <a:p>
                      <a:pPr indent="0" marL="0">
                        <a:buNone/>
                      </a:pPr>
                      <a:r>
                        <a:rPr lang="en-US" sz="1200" b="1" dirty="0">
                          <a:solidFill>
                            <a:srgbClr val="1B1A17"/>
                          </a:solidFill>
                          <a:latin typeface="Calibri" pitchFamily="34" charset="0"/>
                          <a:ea typeface="Calibri" pitchFamily="34" charset="-122"/>
                          <a:cs typeface="Calibri" pitchFamily="34" charset="-120"/>
                        </a:rPr>
                        <a:t>Harvey / Legora</a:t>
                      </a:r>
                      <a:endParaRPr lang="en-US" sz="1200" dirty="0">
                        <a:latin typeface="Calibri" charset="0"/>
                        <a:ea typeface="Calibri" charset="0"/>
                        <a:cs typeface="Calibri" charset="0"/>
                      </a:endParaRPr>
                    </a:p>
                  </a:txBody>
                  <a:tcPr marL="146304" marR="146304" marT="146304" marB="146304" anchor="t">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indent="0" marL="0">
                        <a:buNone/>
                      </a:pPr>
                      <a:r>
                        <a:rPr lang="en-US" sz="1200" dirty="0">
                          <a:solidFill>
                            <a:srgbClr val="6E6759"/>
                          </a:solidFill>
                          <a:latin typeface="Calibri" pitchFamily="34" charset="0"/>
                          <a:ea typeface="Calibri" pitchFamily="34" charset="-122"/>
                          <a:cs typeface="Calibri" pitchFamily="34" charset="-120"/>
                        </a:rPr>
                        <a:t>Legal agents, research, document review, and work adapted to a customer’s own methods and preferences.</a:t>
                      </a:r>
                      <a:endParaRPr lang="en-US" sz="1200" dirty="0">
                        <a:latin typeface="Calibri" charset="0"/>
                        <a:ea typeface="Calibri" charset="0"/>
                        <a:cs typeface="Calibri" charset="0"/>
                      </a:endParaRPr>
                    </a:p>
                  </a:txBody>
                  <a:tcPr marL="146304" marR="146304" marT="146304" marB="146304" anchor="t">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indent="0" marL="0">
                        <a:buNone/>
                      </a:pPr>
                      <a:r>
                        <a:rPr lang="en-US" sz="1200" dirty="0">
                          <a:solidFill>
                            <a:srgbClr val="6E6759"/>
                          </a:solidFill>
                          <a:latin typeface="Calibri" pitchFamily="34" charset="0"/>
                          <a:ea typeface="Calibri" pitchFamily="34" charset="-122"/>
                          <a:cs typeface="Calibri" pitchFamily="34" charset="-120"/>
                        </a:rPr>
                        <a:t>A daily experience that fits a team of one, at a price and a commitment a single lawyer can approve.</a:t>
                      </a:r>
                      <a:endParaRPr lang="en-US" sz="1200" dirty="0">
                        <a:latin typeface="Calibri" charset="0"/>
                        <a:ea typeface="Calibri" charset="0"/>
                        <a:cs typeface="Calibri" charset="0"/>
                      </a:endParaRPr>
                    </a:p>
                  </a:txBody>
                  <a:tcPr marL="146304" marR="146304" marT="146304" marB="146304" anchor="t">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r>
              <a:tr h="1051560">
                <a:tc>
                  <a:txBody>
                    <a:bodyPr/>
                    <a:lstStyle/>
                    <a:p>
                      <a:pPr indent="0" marL="0">
                        <a:buNone/>
                      </a:pPr>
                      <a:r>
                        <a:rPr lang="en-US" sz="1200" b="1" dirty="0">
                          <a:solidFill>
                            <a:srgbClr val="1B1A17"/>
                          </a:solidFill>
                          <a:latin typeface="Calibri" pitchFamily="34" charset="0"/>
                          <a:ea typeface="Calibri" pitchFamily="34" charset="-122"/>
                          <a:cs typeface="Calibri" pitchFamily="34" charset="-120"/>
                        </a:rPr>
                        <a:t>CoCounsel / GC AI</a:t>
                      </a:r>
                      <a:endParaRPr lang="en-US" sz="1200" dirty="0">
                        <a:latin typeface="Calibri" charset="0"/>
                        <a:ea typeface="Calibri" charset="0"/>
                        <a:cs typeface="Calibri" charset="0"/>
                      </a:endParaRPr>
                    </a:p>
                  </a:txBody>
                  <a:tcPr marL="146304" marR="146304" marT="146304" marB="146304" anchor="t">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indent="0" marL="0">
                        <a:buNone/>
                      </a:pPr>
                      <a:r>
                        <a:rPr lang="en-US" sz="1200" dirty="0">
                          <a:solidFill>
                            <a:srgbClr val="6E6759"/>
                          </a:solidFill>
                          <a:latin typeface="Calibri" pitchFamily="34" charset="0"/>
                          <a:ea typeface="Calibri" pitchFamily="34" charset="-122"/>
                          <a:cs typeface="Calibri" pitchFamily="34" charset="-120"/>
                        </a:rPr>
                        <a:t>Legal work product and research. GC AI sells directly to in-house counsel, including individual seats.</a:t>
                      </a:r>
                      <a:endParaRPr lang="en-US" sz="1200" dirty="0">
                        <a:latin typeface="Calibri" charset="0"/>
                        <a:ea typeface="Calibri" charset="0"/>
                        <a:cs typeface="Calibri" charset="0"/>
                      </a:endParaRPr>
                    </a:p>
                  </a:txBody>
                  <a:tcPr marL="146304" marR="146304" marT="146304" marB="146304" anchor="t">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indent="0" marL="0">
                        <a:buNone/>
                      </a:pPr>
                      <a:r>
                        <a:rPr lang="en-US" sz="1200" dirty="0">
                          <a:solidFill>
                            <a:srgbClr val="6E6759"/>
                          </a:solidFill>
                          <a:latin typeface="Calibri" pitchFamily="34" charset="0"/>
                          <a:ea typeface="Calibri" pitchFamily="34" charset="-122"/>
                          <a:cs typeface="Calibri" pitchFamily="34" charset="-120"/>
                        </a:rPr>
                        <a:t>Better preparation on the buyer’s own live matters, not general capability on legal tasks.</a:t>
                      </a:r>
                      <a:endParaRPr lang="en-US" sz="1200" dirty="0">
                        <a:latin typeface="Calibri" charset="0"/>
                        <a:ea typeface="Calibri" charset="0"/>
                        <a:cs typeface="Calibri" charset="0"/>
                      </a:endParaRPr>
                    </a:p>
                  </a:txBody>
                  <a:tcPr marL="146304" marR="146304" marT="146304" marB="146304" anchor="t">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r>
            </a:tbl>
          </a:graphicData>
        </a:graphic>
      </p:graphicFrame>
      <p:sp>
        <p:nvSpPr>
          <p:cNvPr id="7" name="Text 4"/>
          <p:cNvSpPr txBox="1"/>
          <p:nvPr/>
        </p:nvSpPr>
        <p:spPr>
          <a:xfrm>
            <a:off x="685800" y="5897880"/>
            <a:ext cx="10820095" cy="365760"/>
          </a:xfrm>
          <a:prstGeom prst="rect">
            <a:avLst/>
          </a:prstGeom>
          <a:noFill/>
          <a:ln/>
        </p:spPr>
        <p:txBody>
          <a:bodyPr wrap="square" lIns="0" tIns="0" rIns="0" bIns="0" rtlCol="0" anchor="t"/>
          <a:lstStyle/>
          <a:p>
            <a:pPr algn="l" indent="0" marL="0">
              <a:lnSpc>
                <a:spcPts val="1900"/>
              </a:lnSpc>
              <a:buNone/>
            </a:pPr>
            <a:r>
              <a:rPr lang="en-US" sz="1150" i="1" dirty="0">
                <a:solidFill>
                  <a:srgbClr val="6E6759"/>
                </a:solidFill>
                <a:latin typeface="Calibri" pitchFamily="34" charset="0"/>
                <a:ea typeface="Calibri" pitchFamily="34" charset="-122"/>
                <a:cs typeface="Calibri" pitchFamily="34" charset="-120"/>
              </a:rPr>
              <a:t>Positioning comparison, not a controlled benchmark. Feature overlap is substantial, and several of these platforms already market judgment support.</a:t>
            </a:r>
            <a:endParaRPr lang="en-US" sz="1150" dirty="0"/>
          </a:p>
        </p:txBody>
      </p:sp>
      <p:sp>
        <p:nvSpPr>
          <p:cNvPr id="8" name="Text 5"/>
          <p:cNvSpPr txBox="1"/>
          <p:nvPr/>
        </p:nvSpPr>
        <p:spPr>
          <a:xfrm>
            <a:off x="685800" y="6382512"/>
            <a:ext cx="10820095" cy="329184"/>
          </a:xfrm>
          <a:prstGeom prst="rect">
            <a:avLst/>
          </a:prstGeom>
          <a:noFill/>
          <a:ln/>
        </p:spPr>
        <p:txBody>
          <a:bodyPr wrap="square" lIns="0" tIns="0" rIns="0" bIns="0" rtlCol="0" anchor="t"/>
          <a:lstStyle/>
          <a:p>
            <a:pPr indent="0" marL="0">
              <a:buNone/>
            </a:pPr>
            <a:r>
              <a:rPr lang="en-US" sz="950" i="1" dirty="0">
                <a:solidFill>
                  <a:srgbClr val="6E6759"/>
                </a:solidFill>
                <a:latin typeface="Calibri" pitchFamily="34" charset="0"/>
                <a:ea typeface="Calibri" pitchFamily="34" charset="-122"/>
                <a:cs typeface="Calibri" pitchFamily="34" charset="-120"/>
              </a:rPr>
              <a:t>Sources checked September 2026: claude.com/plugins/legal · openai.com projects · harvey.ai/platform/agents · legora.com · legal.thomsonreuters.com/cocounsel · gc.ai/pricing</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7772400" cy="310896"/>
          </a:xfrm>
          <a:prstGeom prst="rect">
            <a:avLst/>
          </a:prstGeom>
          <a:noFill/>
          <a:ln/>
        </p:spPr>
        <p:txBody>
          <a:bodyPr wrap="square" lIns="0" tIns="0" rIns="0" bIns="0" rtlCol="0" anchor="ctr"/>
          <a:lstStyle/>
          <a:p>
            <a:pPr indent="0" marL="0">
              <a:buNone/>
            </a:pPr>
            <a:r>
              <a:rPr lang="en-US" sz="1050" b="1" spc="220" kern="0" dirty="0">
                <a:solidFill>
                  <a:srgbClr val="9A6F05"/>
                </a:solidFill>
                <a:latin typeface="Calibri" pitchFamily="34" charset="0"/>
                <a:ea typeface="Calibri" pitchFamily="34" charset="-122"/>
                <a:cs typeface="Calibri" pitchFamily="34" charset="-120"/>
              </a:rPr>
              <a:t>APPENDIX  ·  MARKET AND PRICING</a:t>
            </a:r>
            <a:endParaRPr lang="en-US" sz="1050" dirty="0"/>
          </a:p>
        </p:txBody>
      </p:sp>
      <p:sp>
        <p:nvSpPr>
          <p:cNvPr id="4" name="Text 2"/>
          <p:cNvSpPr txBox="1"/>
          <p:nvPr/>
        </p:nvSpPr>
        <p:spPr>
          <a:xfrm>
            <a:off x="10408615" y="347472"/>
            <a:ext cx="1097280" cy="310896"/>
          </a:xfrm>
          <a:prstGeom prst="rect">
            <a:avLst/>
          </a:prstGeom>
          <a:noFill/>
          <a:ln/>
        </p:spPr>
        <p:txBody>
          <a:bodyPr wrap="square" lIns="0" tIns="0" rIns="0" bIns="0" rtlCol="0" anchor="ctr"/>
          <a:lstStyle/>
          <a:p>
            <a:pPr algn="r" indent="0" marL="0">
              <a:buNone/>
            </a:pPr>
            <a:r>
              <a:rPr lang="en-US" sz="1050" b="1" spc="150" kern="0" dirty="0">
                <a:solidFill>
                  <a:srgbClr val="6E6759"/>
                </a:solidFill>
                <a:latin typeface="Calibri" pitchFamily="34" charset="0"/>
                <a:ea typeface="Calibri" pitchFamily="34" charset="-122"/>
                <a:cs typeface="Calibri" pitchFamily="34" charset="-120"/>
              </a:rPr>
              <a:t>14</a:t>
            </a:r>
            <a:endParaRPr lang="en-US" sz="1050" dirty="0"/>
          </a:p>
        </p:txBody>
      </p:sp>
      <p:sp>
        <p:nvSpPr>
          <p:cNvPr id="5" name="Text 3"/>
          <p:cNvSpPr txBox="1"/>
          <p:nvPr/>
        </p:nvSpPr>
        <p:spPr>
          <a:xfrm>
            <a:off x="685800" y="841248"/>
            <a:ext cx="10820095" cy="548640"/>
          </a:xfrm>
          <a:prstGeom prst="rect">
            <a:avLst/>
          </a:prstGeom>
          <a:noFill/>
          <a:ln/>
        </p:spPr>
        <p:txBody>
          <a:bodyPr wrap="square" lIns="0" tIns="0" rIns="0" bIns="0" rtlCol="0" anchor="t"/>
          <a:lstStyle/>
          <a:p>
            <a:pPr indent="0" marL="0">
              <a:lnSpc>
                <a:spcPts val="3800"/>
              </a:lnSpc>
              <a:buNone/>
            </a:pPr>
            <a:r>
              <a:rPr lang="en-US" sz="3300" b="1" dirty="0">
                <a:solidFill>
                  <a:srgbClr val="1B1A17"/>
                </a:solidFill>
                <a:latin typeface="Cambria" pitchFamily="34" charset="0"/>
                <a:ea typeface="Cambria" pitchFamily="34" charset="-122"/>
                <a:cs typeface="Cambria" pitchFamily="34" charset="-120"/>
              </a:rPr>
              <a:t>A seat model with a low entry commitment.</a:t>
            </a:r>
            <a:endParaRPr lang="en-US" sz="3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20095" cy="914400"/>
        </p:xfrm>
        <a:graphic>
          <a:graphicData uri="http://schemas.openxmlformats.org/drawingml/2006/table">
            <a:tbl>
              <a:tblPr/>
              <a:tblGrid>
                <a:gridCol w="3657600"/>
                <a:gridCol w="4846320"/>
                <a:gridCol w="2316175"/>
              </a:tblGrid>
              <a:tr h="310896">
                <a:tc>
                  <a:txBody>
                    <a:bodyPr/>
                    <a:lstStyle/>
                    <a:p>
                      <a:pPr indent="0" marL="0">
                        <a:buNone/>
                      </a:pPr>
                      <a:r>
                        <a:rPr lang="en-US" sz="1050" b="1" spc="140" kern="0" dirty="0">
                          <a:solidFill>
                            <a:srgbClr val="9A6F05"/>
                          </a:solidFill>
                          <a:latin typeface="Calibri" pitchFamily="34" charset="0"/>
                          <a:ea typeface="Calibri" pitchFamily="34" charset="-122"/>
                          <a:cs typeface="Calibri" pitchFamily="34" charset="-120"/>
                        </a:rPr>
                        <a:t>Scope or benchmark</a:t>
                      </a:r>
                      <a:endParaRPr lang="en-US" sz="105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indent="0" marL="0">
                        <a:buNone/>
                      </a:pPr>
                      <a:r>
                        <a:rPr lang="en-US" sz="1050" b="1" spc="140" kern="0" dirty="0">
                          <a:solidFill>
                            <a:srgbClr val="9A6F05"/>
                          </a:solidFill>
                          <a:latin typeface="Calibri" pitchFamily="34" charset="0"/>
                          <a:ea typeface="Calibri" pitchFamily="34" charset="-122"/>
                          <a:cs typeface="Calibri" pitchFamily="34" charset="-120"/>
                        </a:rPr>
                        <a:t>Basis</a:t>
                      </a:r>
                      <a:endParaRPr lang="en-US" sz="105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indent="0" marL="0">
                        <a:buNone/>
                      </a:pPr>
                      <a:r>
                        <a:rPr lang="en-US" sz="1050" b="1" spc="140" kern="0" dirty="0">
                          <a:solidFill>
                            <a:srgbClr val="9A6F05"/>
                          </a:solidFill>
                          <a:latin typeface="Calibri" pitchFamily="34" charset="0"/>
                          <a:ea typeface="Calibri" pitchFamily="34" charset="-122"/>
                          <a:cs typeface="Calibri" pitchFamily="34" charset="-120"/>
                        </a:rPr>
                        <a:t>Annual amount</a:t>
                      </a:r>
                      <a:endParaRPr lang="en-US" sz="105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r>
              <a:tr h="457200">
                <a:tc>
                  <a:txBody>
                    <a:bodyPr/>
                    <a:lstStyle/>
                    <a:p>
                      <a:pPr algn="l" indent="0" marL="0">
                        <a:buNone/>
                      </a:pPr>
                      <a:r>
                        <a:rPr lang="en-US" sz="1200" b="1" dirty="0">
                          <a:solidFill>
                            <a:srgbClr val="1B1A17"/>
                          </a:solidFill>
                          <a:latin typeface="Calibri" pitchFamily="34" charset="0"/>
                          <a:ea typeface="Calibri" pitchFamily="34" charset="-122"/>
                          <a:cs typeface="Calibri" pitchFamily="34" charset="-120"/>
                        </a:rPr>
                        <a:t>Full U.S. in-house model</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algn="l" indent="0" marL="0">
                        <a:buNone/>
                      </a:pPr>
                      <a:r>
                        <a:rPr lang="en-US" sz="1200" dirty="0">
                          <a:solidFill>
                            <a:srgbClr val="6E6759"/>
                          </a:solidFill>
                          <a:latin typeface="Calibri" pitchFamily="34" charset="0"/>
                          <a:ea typeface="Calibri" pitchFamily="34" charset="-122"/>
                          <a:cs typeface="Calibri" pitchFamily="34" charset="-120"/>
                        </a:rPr>
                        <a:t>145,000 seats × $4,800</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algn="r" indent="0" marL="0">
                        <a:buNone/>
                      </a:pPr>
                      <a:r>
                        <a:rPr lang="en-US" sz="1200" dirty="0">
                          <a:solidFill>
                            <a:srgbClr val="1B1A17"/>
                          </a:solidFill>
                          <a:latin typeface="Calibri" pitchFamily="34" charset="0"/>
                          <a:ea typeface="Calibri" pitchFamily="34" charset="-122"/>
                          <a:cs typeface="Calibri" pitchFamily="34" charset="-120"/>
                        </a:rPr>
                        <a:t>$696M</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r>
              <a:tr h="457200">
                <a:tc>
                  <a:txBody>
                    <a:bodyPr/>
                    <a:lstStyle/>
                    <a:p>
                      <a:pPr algn="l" indent="0" marL="0">
                        <a:buNone/>
                      </a:pPr>
                      <a:r>
                        <a:rPr lang="en-US" sz="1200" b="1" dirty="0">
                          <a:solidFill>
                            <a:srgbClr val="1B1A17"/>
                          </a:solidFill>
                          <a:latin typeface="Calibri" pitchFamily="34" charset="0"/>
                          <a:ea typeface="Calibri" pitchFamily="34" charset="-122"/>
                          <a:cs typeface="Calibri" pitchFamily="34" charset="-120"/>
                        </a:rPr>
                        <a:t>Scale illustration</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algn="l" indent="0" marL="0">
                        <a:buNone/>
                      </a:pPr>
                      <a:r>
                        <a:rPr lang="en-US" sz="1200" dirty="0">
                          <a:solidFill>
                            <a:srgbClr val="6E6759"/>
                          </a:solidFill>
                          <a:latin typeface="Calibri" pitchFamily="34" charset="0"/>
                          <a:ea typeface="Calibri" pitchFamily="34" charset="-122"/>
                          <a:cs typeface="Calibri" pitchFamily="34" charset="-120"/>
                        </a:rPr>
                        <a:t>21,000 seats × $4,800  (14.5% of the U.S. estimate)</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algn="r" indent="0" marL="0">
                        <a:buNone/>
                      </a:pPr>
                      <a:r>
                        <a:rPr lang="en-US" sz="1200" dirty="0">
                          <a:solidFill>
                            <a:srgbClr val="1B1A17"/>
                          </a:solidFill>
                          <a:latin typeface="Calibri" pitchFamily="34" charset="0"/>
                          <a:ea typeface="Calibri" pitchFamily="34" charset="-122"/>
                          <a:cs typeface="Calibri" pitchFamily="34" charset="-120"/>
                        </a:rPr>
                        <a:t>$100.8M</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r>
              <a:tr h="457200">
                <a:tc>
                  <a:txBody>
                    <a:bodyPr/>
                    <a:lstStyle/>
                    <a:p>
                      <a:pPr algn="l" indent="0" marL="0">
                        <a:buNone/>
                      </a:pPr>
                      <a:r>
                        <a:rPr lang="en-US" sz="1200" b="1" dirty="0">
                          <a:solidFill>
                            <a:srgbClr val="1B1A17"/>
                          </a:solidFill>
                          <a:latin typeface="Calibri" pitchFamily="34" charset="0"/>
                          <a:ea typeface="Calibri" pitchFamily="34" charset="-122"/>
                          <a:cs typeface="Calibri" pitchFamily="34" charset="-120"/>
                        </a:rPr>
                        <a:t>One Themis seat, proposed</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algn="l" indent="0" marL="0">
                        <a:buNone/>
                      </a:pPr>
                      <a:r>
                        <a:rPr lang="en-US" sz="1200" dirty="0">
                          <a:solidFill>
                            <a:srgbClr val="6E6759"/>
                          </a:solidFill>
                          <a:latin typeface="Calibri" pitchFamily="34" charset="0"/>
                          <a:ea typeface="Calibri" pitchFamily="34" charset="-122"/>
                          <a:cs typeface="Calibri" pitchFamily="34" charset="-120"/>
                        </a:rPr>
                        <a:t>12 monthly payments of $400</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algn="r" indent="0" marL="0">
                        <a:buNone/>
                      </a:pPr>
                      <a:r>
                        <a:rPr lang="en-US" sz="1200" dirty="0">
                          <a:solidFill>
                            <a:srgbClr val="1B1A17"/>
                          </a:solidFill>
                          <a:latin typeface="Calibri" pitchFamily="34" charset="0"/>
                          <a:ea typeface="Calibri" pitchFamily="34" charset="-122"/>
                          <a:cs typeface="Calibri" pitchFamily="34" charset="-120"/>
                        </a:rPr>
                        <a:t>$4,800</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r>
              <a:tr h="457200">
                <a:tc>
                  <a:txBody>
                    <a:bodyPr/>
                    <a:lstStyle/>
                    <a:p>
                      <a:pPr algn="l" indent="0" marL="0">
                        <a:buNone/>
                      </a:pPr>
                      <a:r>
                        <a:rPr lang="en-US" sz="1200" b="1" dirty="0">
                          <a:solidFill>
                            <a:srgbClr val="1B1A17"/>
                          </a:solidFill>
                          <a:latin typeface="Calibri" pitchFamily="34" charset="0"/>
                          <a:ea typeface="Calibri" pitchFamily="34" charset="-122"/>
                          <a:cs typeface="Calibri" pitchFamily="34" charset="-120"/>
                        </a:rPr>
                        <a:t>GC AI, published individual price</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algn="l" indent="0" marL="0">
                        <a:buNone/>
                      </a:pPr>
                      <a:r>
                        <a:rPr lang="en-US" sz="1200" dirty="0">
                          <a:solidFill>
                            <a:srgbClr val="6E6759"/>
                          </a:solidFill>
                          <a:latin typeface="Calibri" pitchFamily="34" charset="0"/>
                          <a:ea typeface="Calibri" pitchFamily="34" charset="-122"/>
                          <a:cs typeface="Calibri" pitchFamily="34" charset="-120"/>
                        </a:rPr>
                        <a:t>1 seat × $500 × 12 months</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algn="r" indent="0" marL="0">
                        <a:buNone/>
                      </a:pPr>
                      <a:r>
                        <a:rPr lang="en-US" sz="1200" dirty="0">
                          <a:solidFill>
                            <a:srgbClr val="1B1A17"/>
                          </a:solidFill>
                          <a:latin typeface="Calibri" pitchFamily="34" charset="0"/>
                          <a:ea typeface="Calibri" pitchFamily="34" charset="-122"/>
                          <a:cs typeface="Calibri" pitchFamily="34" charset="-120"/>
                        </a:rPr>
                        <a:t>$6,000</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r>
              <a:tr h="457200">
                <a:tc>
                  <a:txBody>
                    <a:bodyPr/>
                    <a:lstStyle/>
                    <a:p>
                      <a:pPr algn="l" indent="0" marL="0">
                        <a:buNone/>
                      </a:pPr>
                      <a:r>
                        <a:rPr lang="en-US" sz="1200" b="1" dirty="0">
                          <a:solidFill>
                            <a:srgbClr val="1B1A17"/>
                          </a:solidFill>
                          <a:latin typeface="Calibri" pitchFamily="34" charset="0"/>
                          <a:ea typeface="Calibri" pitchFamily="34" charset="-122"/>
                          <a:cs typeface="Calibri" pitchFamily="34" charset="-120"/>
                        </a:rPr>
                        <a:t>Harvey, buyer-reported quote</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algn="l" indent="0" marL="0">
                        <a:buNone/>
                      </a:pPr>
                      <a:r>
                        <a:rPr lang="en-US" sz="1200" dirty="0">
                          <a:solidFill>
                            <a:srgbClr val="6E6759"/>
                          </a:solidFill>
                          <a:latin typeface="Calibri" pitchFamily="34" charset="0"/>
                          <a:ea typeface="Calibri" pitchFamily="34" charset="-122"/>
                          <a:cs typeface="Calibri" pitchFamily="34" charset="-120"/>
                        </a:rPr>
                        <a:t>5 seats × $425 × 12-month term</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algn="r" indent="0" marL="0">
                        <a:buNone/>
                      </a:pPr>
                      <a:r>
                        <a:rPr lang="en-US" sz="1200" dirty="0">
                          <a:solidFill>
                            <a:srgbClr val="1B1A17"/>
                          </a:solidFill>
                          <a:latin typeface="Calibri" pitchFamily="34" charset="0"/>
                          <a:ea typeface="Calibri" pitchFamily="34" charset="-122"/>
                          <a:cs typeface="Calibri" pitchFamily="34" charset="-120"/>
                        </a:rPr>
                        <a:t>$25,500</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r>
            </a:tbl>
          </a:graphicData>
        </a:graphic>
      </p:graphicFrame>
      <p:sp>
        <p:nvSpPr>
          <p:cNvPr id="7" name="Shape 4"/>
          <p:cNvSpPr/>
          <p:nvPr/>
        </p:nvSpPr>
        <p:spPr>
          <a:xfrm>
            <a:off x="685800" y="4892040"/>
            <a:ext cx="10820095" cy="914400"/>
          </a:xfrm>
          <a:prstGeom prst="roundRect">
            <a:avLst>
              <a:gd name="adj" fmla="val 6000"/>
            </a:avLst>
          </a:prstGeom>
          <a:solidFill>
            <a:srgbClr val="FBF3DC"/>
          </a:solidFill>
          <a:ln w="12700">
            <a:solidFill>
              <a:srgbClr val="FBF3DC"/>
            </a:solidFill>
            <a:prstDash val="solid"/>
          </a:ln>
        </p:spPr>
      </p:sp>
      <p:sp>
        <p:nvSpPr>
          <p:cNvPr id="8" name="Text 5"/>
          <p:cNvSpPr txBox="1"/>
          <p:nvPr/>
        </p:nvSpPr>
        <p:spPr>
          <a:xfrm>
            <a:off x="1069848" y="5166360"/>
            <a:ext cx="10051999" cy="457200"/>
          </a:xfrm>
          <a:prstGeom prst="rect">
            <a:avLst/>
          </a:prstGeom>
          <a:noFill/>
          <a:ln/>
        </p:spPr>
        <p:txBody>
          <a:bodyPr wrap="square" lIns="0" tIns="0" rIns="0" bIns="0" rtlCol="0" anchor="t"/>
          <a:lstStyle/>
          <a:p>
            <a:pPr algn="l" indent="0" marL="0">
              <a:lnSpc>
                <a:spcPts val="1900"/>
              </a:lnSpc>
              <a:buNone/>
            </a:pPr>
            <a:r>
              <a:rPr lang="en-US" sz="1500" i="1" dirty="0">
                <a:solidFill>
                  <a:srgbClr val="1B1A17"/>
                </a:solidFill>
                <a:latin typeface="Cambria" pitchFamily="34" charset="0"/>
                <a:ea typeface="Cambria" pitchFamily="34" charset="-122"/>
                <a:cs typeface="Cambria" pitchFamily="34" charset="-120"/>
              </a:rPr>
              <a:t>Small technology and fintech legal teams first. Broader in-house use follows demonstrated value, not the other way round.</a:t>
            </a:r>
            <a:endParaRPr lang="en-US" sz="1500" dirty="0"/>
          </a:p>
        </p:txBody>
      </p:sp>
      <p:sp>
        <p:nvSpPr>
          <p:cNvPr id="9" name="Text 6"/>
          <p:cNvSpPr txBox="1"/>
          <p:nvPr/>
        </p:nvSpPr>
        <p:spPr>
          <a:xfrm>
            <a:off x="685800" y="6382512"/>
            <a:ext cx="10820095" cy="329184"/>
          </a:xfrm>
          <a:prstGeom prst="rect">
            <a:avLst/>
          </a:prstGeom>
          <a:noFill/>
          <a:ln/>
        </p:spPr>
        <p:txBody>
          <a:bodyPr wrap="square" lIns="0" tIns="0" rIns="0" bIns="0" rtlCol="0" anchor="t"/>
          <a:lstStyle/>
          <a:p>
            <a:pPr indent="0" marL="0">
              <a:buNone/>
            </a:pPr>
            <a:r>
              <a:rPr lang="en-US" sz="950" i="1" dirty="0">
                <a:solidFill>
                  <a:srgbClr val="6E6759"/>
                </a:solidFill>
                <a:latin typeface="Calibri" pitchFamily="34" charset="0"/>
                <a:ea typeface="Calibri" pitchFamily="34" charset="-122"/>
                <a:cs typeface="Calibri" pitchFamily="34" charset="-120"/>
              </a:rPr>
              <a:t>ACC population estimate. Themis pricing is proposed and untested. GC AI price is publicly published. The Harvey figure is a single anonymous buyer report, not a standard rate or a verified payment.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1"/>
        </a:solidFill>
      </p:bgPr>
    </p:bg>
    <p:spTree>
      <p:nvGrpSpPr>
        <p:cNvPr id="1" name=""/>
        <p:cNvGrpSpPr/>
        <p:nvPr/>
      </p:nvGrpSpPr>
      <p:grpSpPr>
        <a:xfrm>
          <a:off x="0" y="0"/>
          <a:ext cx="0" cy="0"/>
          <a:chOff x="0" y="0"/>
          <a:chExt cx="0" cy="0"/>
        </a:xfrm>
      </p:grpSpPr>
      <p:sp>
        <p:nvSpPr>
          <p:cNvPr id="2" name="Shape 0"/>
          <p:cNvSpPr/>
          <p:nvPr/>
        </p:nvSpPr>
        <p:spPr>
          <a:xfrm>
            <a:off x="685800" y="457200"/>
            <a:ext cx="96012" cy="96012"/>
          </a:xfrm>
          <a:prstGeom prst="rect">
            <a:avLst/>
          </a:prstGeom>
          <a:solidFill>
            <a:srgbClr val="E0A008"/>
          </a:solidFill>
          <a:ln w="12700">
            <a:solidFill>
              <a:srgbClr val="E0A008"/>
            </a:solidFill>
            <a:prstDash val="solid"/>
          </a:ln>
        </p:spPr>
      </p:sp>
      <p:sp>
        <p:nvSpPr>
          <p:cNvPr id="3" name="Text 1"/>
          <p:cNvSpPr txBox="1"/>
          <p:nvPr/>
        </p:nvSpPr>
        <p:spPr>
          <a:xfrm>
            <a:off x="886968" y="347472"/>
            <a:ext cx="7772400" cy="310896"/>
          </a:xfrm>
          <a:prstGeom prst="rect">
            <a:avLst/>
          </a:prstGeom>
          <a:noFill/>
          <a:ln/>
        </p:spPr>
        <p:txBody>
          <a:bodyPr wrap="square" lIns="0" tIns="0" rIns="0" bIns="0" rtlCol="0" anchor="ctr"/>
          <a:lstStyle/>
          <a:p>
            <a:pPr indent="0" marL="0">
              <a:buNone/>
            </a:pPr>
            <a:r>
              <a:rPr lang="en-US" sz="1050" b="1" spc="220" kern="0" dirty="0">
                <a:solidFill>
                  <a:srgbClr val="9A6F05"/>
                </a:solidFill>
                <a:latin typeface="Calibri" pitchFamily="34" charset="0"/>
                <a:ea typeface="Calibri" pitchFamily="34" charset="-122"/>
                <a:cs typeface="Calibri" pitchFamily="34" charset="-120"/>
              </a:rPr>
              <a:t>APPENDIX  ·  USE OF FUNDS</a:t>
            </a:r>
            <a:endParaRPr lang="en-US" sz="1050" dirty="0"/>
          </a:p>
        </p:txBody>
      </p:sp>
      <p:sp>
        <p:nvSpPr>
          <p:cNvPr id="4" name="Text 2"/>
          <p:cNvSpPr txBox="1"/>
          <p:nvPr/>
        </p:nvSpPr>
        <p:spPr>
          <a:xfrm>
            <a:off x="10408615" y="347472"/>
            <a:ext cx="1097280" cy="310896"/>
          </a:xfrm>
          <a:prstGeom prst="rect">
            <a:avLst/>
          </a:prstGeom>
          <a:noFill/>
          <a:ln/>
        </p:spPr>
        <p:txBody>
          <a:bodyPr wrap="square" lIns="0" tIns="0" rIns="0" bIns="0" rtlCol="0" anchor="ctr"/>
          <a:lstStyle/>
          <a:p>
            <a:pPr algn="r" indent="0" marL="0">
              <a:buNone/>
            </a:pPr>
            <a:r>
              <a:rPr lang="en-US" sz="1050" b="1" spc="150" kern="0" dirty="0">
                <a:solidFill>
                  <a:srgbClr val="6E6759"/>
                </a:solidFill>
                <a:latin typeface="Calibri" pitchFamily="34" charset="0"/>
                <a:ea typeface="Calibri" pitchFamily="34" charset="-122"/>
                <a:cs typeface="Calibri" pitchFamily="34" charset="-120"/>
              </a:rPr>
              <a:t>15</a:t>
            </a:r>
            <a:endParaRPr lang="en-US" sz="1050" dirty="0"/>
          </a:p>
        </p:txBody>
      </p:sp>
      <p:sp>
        <p:nvSpPr>
          <p:cNvPr id="5" name="Text 3"/>
          <p:cNvSpPr txBox="1"/>
          <p:nvPr/>
        </p:nvSpPr>
        <p:spPr>
          <a:xfrm>
            <a:off x="685800" y="841248"/>
            <a:ext cx="10820095" cy="548640"/>
          </a:xfrm>
          <a:prstGeom prst="rect">
            <a:avLst/>
          </a:prstGeom>
          <a:noFill/>
          <a:ln/>
        </p:spPr>
        <p:txBody>
          <a:bodyPr wrap="square" lIns="0" tIns="0" rIns="0" bIns="0" rtlCol="0" anchor="t"/>
          <a:lstStyle/>
          <a:p>
            <a:pPr indent="0" marL="0">
              <a:lnSpc>
                <a:spcPts val="3800"/>
              </a:lnSpc>
              <a:buNone/>
            </a:pPr>
            <a:r>
              <a:rPr lang="en-US" sz="3300" b="1" dirty="0">
                <a:solidFill>
                  <a:srgbClr val="1B1A17"/>
                </a:solidFill>
                <a:latin typeface="Cambria" pitchFamily="34" charset="0"/>
                <a:ea typeface="Cambria" pitchFamily="34" charset="-122"/>
                <a:cs typeface="Cambria" pitchFamily="34" charset="-120"/>
              </a:rPr>
              <a:t>An 18-month plan to establish paid use.</a:t>
            </a:r>
            <a:endParaRPr lang="en-US" sz="3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6309360" cy="914400"/>
        </p:xfrm>
        <a:graphic>
          <a:graphicData uri="http://schemas.openxmlformats.org/drawingml/2006/table">
            <a:tbl>
              <a:tblPr/>
              <a:tblGrid>
                <a:gridCol w="4206240"/>
                <a:gridCol w="2103120"/>
              </a:tblGrid>
              <a:tr h="310896">
                <a:tc>
                  <a:txBody>
                    <a:bodyPr/>
                    <a:lstStyle/>
                    <a:p>
                      <a:pPr indent="0" marL="0">
                        <a:buNone/>
                      </a:pPr>
                      <a:r>
                        <a:rPr lang="en-US" sz="1050" b="1" spc="140" kern="0" dirty="0">
                          <a:solidFill>
                            <a:srgbClr val="9A6F05"/>
                          </a:solidFill>
                          <a:latin typeface="Calibri" pitchFamily="34" charset="0"/>
                          <a:ea typeface="Calibri" pitchFamily="34" charset="-122"/>
                          <a:cs typeface="Calibri" pitchFamily="34" charset="-120"/>
                        </a:rPr>
                        <a:t>Use of funds</a:t>
                      </a:r>
                      <a:endParaRPr lang="en-US" sz="105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indent="0" marL="0">
                        <a:buNone/>
                      </a:pPr>
                      <a:r>
                        <a:rPr lang="en-US" sz="1050" b="1" spc="140" kern="0" dirty="0">
                          <a:solidFill>
                            <a:srgbClr val="9A6F05"/>
                          </a:solidFill>
                          <a:latin typeface="Calibri" pitchFamily="34" charset="0"/>
                          <a:ea typeface="Calibri" pitchFamily="34" charset="-122"/>
                          <a:cs typeface="Calibri" pitchFamily="34" charset="-120"/>
                        </a:rPr>
                        <a:t>Proposed budget</a:t>
                      </a:r>
                      <a:endParaRPr lang="en-US" sz="105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r>
              <a:tr h="420624">
                <a:tc>
                  <a:txBody>
                    <a:bodyPr/>
                    <a:lstStyle/>
                    <a:p>
                      <a:pPr algn="l" indent="0" marL="0">
                        <a:buNone/>
                      </a:pPr>
                      <a:r>
                        <a:rPr lang="en-US" sz="1200" dirty="0">
                          <a:solidFill>
                            <a:srgbClr val="1B1A17"/>
                          </a:solidFill>
                          <a:latin typeface="Calibri" pitchFamily="34" charset="0"/>
                          <a:ea typeface="Calibri" pitchFamily="34" charset="-122"/>
                          <a:cs typeface="Calibri" pitchFamily="34" charset="-120"/>
                        </a:rPr>
                        <a:t>Founder and technical delivery</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algn="r" indent="0" marL="0">
                        <a:buNone/>
                      </a:pPr>
                      <a:r>
                        <a:rPr lang="en-US" sz="1200" dirty="0">
                          <a:solidFill>
                            <a:srgbClr val="1B1A17"/>
                          </a:solidFill>
                          <a:latin typeface="Calibri" pitchFamily="34" charset="0"/>
                          <a:ea typeface="Calibri" pitchFamily="34" charset="-122"/>
                          <a:cs typeface="Calibri" pitchFamily="34" charset="-120"/>
                        </a:rPr>
                        <a:t>$900,000</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r>
              <a:tr h="420624">
                <a:tc>
                  <a:txBody>
                    <a:bodyPr/>
                    <a:lstStyle/>
                    <a:p>
                      <a:pPr algn="l" indent="0" marL="0">
                        <a:buNone/>
                      </a:pPr>
                      <a:r>
                        <a:rPr lang="en-US" sz="1200" dirty="0">
                          <a:solidFill>
                            <a:srgbClr val="1B1A17"/>
                          </a:solidFill>
                          <a:latin typeface="Calibri" pitchFamily="34" charset="0"/>
                          <a:ea typeface="Calibri" pitchFamily="34" charset="-122"/>
                          <a:cs typeface="Calibri" pitchFamily="34" charset="-120"/>
                        </a:rPr>
                        <a:t>Customer development</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algn="r" indent="0" marL="0">
                        <a:buNone/>
                      </a:pPr>
                      <a:r>
                        <a:rPr lang="en-US" sz="1200" dirty="0">
                          <a:solidFill>
                            <a:srgbClr val="1B1A17"/>
                          </a:solidFill>
                          <a:latin typeface="Calibri" pitchFamily="34" charset="0"/>
                          <a:ea typeface="Calibri" pitchFamily="34" charset="-122"/>
                          <a:cs typeface="Calibri" pitchFamily="34" charset="-120"/>
                        </a:rPr>
                        <a:t>$180,000</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r>
              <a:tr h="420624">
                <a:tc>
                  <a:txBody>
                    <a:bodyPr/>
                    <a:lstStyle/>
                    <a:p>
                      <a:pPr algn="l" indent="0" marL="0">
                        <a:buNone/>
                      </a:pPr>
                      <a:r>
                        <a:rPr lang="en-US" sz="1200" dirty="0">
                          <a:solidFill>
                            <a:srgbClr val="1B1A17"/>
                          </a:solidFill>
                          <a:latin typeface="Calibri" pitchFamily="34" charset="0"/>
                          <a:ea typeface="Calibri" pitchFamily="34" charset="-122"/>
                          <a:cs typeface="Calibri" pitchFamily="34" charset="-120"/>
                        </a:rPr>
                        <a:t>Models, research and infrastructure</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algn="r" indent="0" marL="0">
                        <a:buNone/>
                      </a:pPr>
                      <a:r>
                        <a:rPr lang="en-US" sz="1200" dirty="0">
                          <a:solidFill>
                            <a:srgbClr val="1B1A17"/>
                          </a:solidFill>
                          <a:latin typeface="Calibri" pitchFamily="34" charset="0"/>
                          <a:ea typeface="Calibri" pitchFamily="34" charset="-122"/>
                          <a:cs typeface="Calibri" pitchFamily="34" charset="-120"/>
                        </a:rPr>
                        <a:t>$150,000</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r>
              <a:tr h="420624">
                <a:tc>
                  <a:txBody>
                    <a:bodyPr/>
                    <a:lstStyle/>
                    <a:p>
                      <a:pPr algn="l" indent="0" marL="0">
                        <a:buNone/>
                      </a:pPr>
                      <a:r>
                        <a:rPr lang="en-US" sz="1200" dirty="0">
                          <a:solidFill>
                            <a:srgbClr val="1B1A17"/>
                          </a:solidFill>
                          <a:latin typeface="Calibri" pitchFamily="34" charset="0"/>
                          <a:ea typeface="Calibri" pitchFamily="34" charset="-122"/>
                          <a:cs typeface="Calibri" pitchFamily="34" charset="-120"/>
                        </a:rPr>
                        <a:t>Secure pilot delivery and operations</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algn="r" indent="0" marL="0">
                        <a:buNone/>
                      </a:pPr>
                      <a:r>
                        <a:rPr lang="en-US" sz="1200" dirty="0">
                          <a:solidFill>
                            <a:srgbClr val="1B1A17"/>
                          </a:solidFill>
                          <a:latin typeface="Calibri" pitchFamily="34" charset="0"/>
                          <a:ea typeface="Calibri" pitchFamily="34" charset="-122"/>
                          <a:cs typeface="Calibri" pitchFamily="34" charset="-120"/>
                        </a:rPr>
                        <a:t>$120,000</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r>
              <a:tr h="420624">
                <a:tc>
                  <a:txBody>
                    <a:bodyPr/>
                    <a:lstStyle/>
                    <a:p>
                      <a:pPr algn="l" indent="0" marL="0">
                        <a:buNone/>
                      </a:pPr>
                      <a:r>
                        <a:rPr lang="en-US" sz="1200" dirty="0">
                          <a:solidFill>
                            <a:srgbClr val="1B1A17"/>
                          </a:solidFill>
                          <a:latin typeface="Calibri" pitchFamily="34" charset="0"/>
                          <a:ea typeface="Calibri" pitchFamily="34" charset="-122"/>
                          <a:cs typeface="Calibri" pitchFamily="34" charset="-120"/>
                        </a:rPr>
                        <a:t>Contingency</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algn="r" indent="0" marL="0">
                        <a:buNone/>
                      </a:pPr>
                      <a:r>
                        <a:rPr lang="en-US" sz="1200" dirty="0">
                          <a:solidFill>
                            <a:srgbClr val="1B1A17"/>
                          </a:solidFill>
                          <a:latin typeface="Calibri" pitchFamily="34" charset="0"/>
                          <a:ea typeface="Calibri" pitchFamily="34" charset="-122"/>
                          <a:cs typeface="Calibri" pitchFamily="34" charset="-120"/>
                        </a:rPr>
                        <a:t>$150,000</a:t>
                      </a:r>
                      <a:endParaRPr lang="en-US" sz="120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r>
              <a:tr h="420624">
                <a:tc>
                  <a:txBody>
                    <a:bodyPr/>
                    <a:lstStyle/>
                    <a:p>
                      <a:pPr indent="0" marL="0">
                        <a:buNone/>
                      </a:pPr>
                      <a:r>
                        <a:rPr lang="en-US" sz="1250" b="1" dirty="0">
                          <a:solidFill>
                            <a:srgbClr val="1B1A17"/>
                          </a:solidFill>
                          <a:latin typeface="Calibri" pitchFamily="34" charset="0"/>
                          <a:ea typeface="Calibri" pitchFamily="34" charset="-122"/>
                          <a:cs typeface="Calibri" pitchFamily="34" charset="-120"/>
                        </a:rPr>
                        <a:t>Total</a:t>
                      </a:r>
                      <a:endParaRPr lang="en-US" sz="125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c>
                  <a:txBody>
                    <a:bodyPr/>
                    <a:lstStyle/>
                    <a:p>
                      <a:pPr algn="r" indent="0" marL="0">
                        <a:buNone/>
                      </a:pPr>
                      <a:r>
                        <a:rPr lang="en-US" sz="1250" b="1" dirty="0">
                          <a:solidFill>
                            <a:srgbClr val="1B1A17"/>
                          </a:solidFill>
                          <a:latin typeface="Calibri" pitchFamily="34" charset="0"/>
                          <a:ea typeface="Calibri" pitchFamily="34" charset="-122"/>
                          <a:cs typeface="Calibri" pitchFamily="34" charset="-120"/>
                        </a:rPr>
                        <a:t>$1,500,000</a:t>
                      </a:r>
                      <a:endParaRPr lang="en-US" sz="1250" dirty="0">
                        <a:latin typeface="Calibri" charset="0"/>
                        <a:ea typeface="Calibri" charset="0"/>
                        <a:cs typeface="Calibri" charset="0"/>
                      </a:endParaRPr>
                    </a:p>
                  </a:txBody>
                  <a:tcPr marL="146304" marR="146304" marT="146304" marB="146304" anchor="ctr">
                    <a:lnL w="9525" cap="flat" cmpd="sng" algn="ctr">
                      <a:solidFill>
                        <a:srgbClr val="E3DED3"/>
                      </a:solidFill>
                      <a:prstDash val="solid"/>
                      <a:round/>
                      <a:headEnd type="none" w="med" len="med"/>
                      <a:tailEnd type="none" w="med" len="med"/>
                    </a:lnL>
                    <a:lnR w="9525" cap="flat" cmpd="sng" algn="ctr">
                      <a:solidFill>
                        <a:srgbClr val="E3DED3"/>
                      </a:solidFill>
                      <a:prstDash val="solid"/>
                      <a:round/>
                      <a:headEnd type="none" w="med" len="med"/>
                      <a:tailEnd type="none" w="med" len="med"/>
                    </a:lnR>
                    <a:lnT w="9525" cap="flat" cmpd="sng" algn="ctr">
                      <a:solidFill>
                        <a:srgbClr val="E3DED3"/>
                      </a:solidFill>
                      <a:prstDash val="solid"/>
                      <a:round/>
                      <a:headEnd type="none" w="med" len="med"/>
                      <a:tailEnd type="none" w="med" len="med"/>
                    </a:lnT>
                    <a:lnB w="9525" cap="flat" cmpd="sng" algn="ctr">
                      <a:solidFill>
                        <a:srgbClr val="E3DED3"/>
                      </a:solidFill>
                      <a:prstDash val="solid"/>
                      <a:round/>
                      <a:headEnd type="none" w="med" len="med"/>
                      <a:tailEnd type="none" w="med" len="med"/>
                    </a:lnB>
                    <a:solidFill>
                      <a:srgbClr val="FFFEFB"/>
                    </a:solidFill>
                  </a:tcPr>
                </a:tc>
              </a:tr>
            </a:tbl>
          </a:graphicData>
        </a:graphic>
      </p:graphicFrame>
      <p:sp>
        <p:nvSpPr>
          <p:cNvPr id="7" name="Shape 4"/>
          <p:cNvSpPr/>
          <p:nvPr/>
        </p:nvSpPr>
        <p:spPr>
          <a:xfrm>
            <a:off x="7360920" y="1874520"/>
            <a:ext cx="4142232" cy="3063240"/>
          </a:xfrm>
          <a:prstGeom prst="roundRect">
            <a:avLst>
              <a:gd name="adj" fmla="val 1791"/>
            </a:avLst>
          </a:prstGeom>
          <a:solidFill>
            <a:srgbClr val="F1EDE3"/>
          </a:solidFill>
          <a:ln w="9525">
            <a:solidFill>
              <a:srgbClr val="E3DED3"/>
            </a:solidFill>
            <a:prstDash val="solid"/>
          </a:ln>
        </p:spPr>
      </p:sp>
      <p:sp>
        <p:nvSpPr>
          <p:cNvPr id="8" name="Text 5"/>
          <p:cNvSpPr txBox="1"/>
          <p:nvPr/>
        </p:nvSpPr>
        <p:spPr>
          <a:xfrm>
            <a:off x="7671816" y="2121408"/>
            <a:ext cx="3566160" cy="237744"/>
          </a:xfrm>
          <a:prstGeom prst="rect">
            <a:avLst/>
          </a:prstGeom>
          <a:noFill/>
          <a:ln/>
        </p:spPr>
        <p:txBody>
          <a:bodyPr wrap="square" lIns="0" tIns="0" rIns="0" bIns="0" rtlCol="0" anchor="ctr"/>
          <a:lstStyle/>
          <a:p>
            <a:pPr indent="0" marL="0">
              <a:buNone/>
            </a:pPr>
            <a:r>
              <a:rPr lang="en-US" sz="950" b="1" spc="180" kern="0" dirty="0">
                <a:solidFill>
                  <a:srgbClr val="9A6F05"/>
                </a:solidFill>
                <a:latin typeface="Calibri" pitchFamily="34" charset="0"/>
                <a:ea typeface="Calibri" pitchFamily="34" charset="-122"/>
                <a:cs typeface="Calibri" pitchFamily="34" charset="-120"/>
              </a:rPr>
              <a:t>THE FUNDING TEST</a:t>
            </a:r>
            <a:endParaRPr lang="en-US" sz="950" dirty="0"/>
          </a:p>
        </p:txBody>
      </p:sp>
      <p:sp>
        <p:nvSpPr>
          <p:cNvPr id="9" name="Shape 6"/>
          <p:cNvSpPr/>
          <p:nvPr/>
        </p:nvSpPr>
        <p:spPr>
          <a:xfrm>
            <a:off x="7671816" y="2578608"/>
            <a:ext cx="77724" cy="77724"/>
          </a:xfrm>
          <a:prstGeom prst="rect">
            <a:avLst/>
          </a:prstGeom>
          <a:solidFill>
            <a:srgbClr val="E0A008"/>
          </a:solidFill>
          <a:ln w="12700">
            <a:solidFill>
              <a:srgbClr val="E0A008"/>
            </a:solidFill>
            <a:prstDash val="solid"/>
          </a:ln>
        </p:spPr>
      </p:sp>
      <p:sp>
        <p:nvSpPr>
          <p:cNvPr id="10" name="Text 7"/>
          <p:cNvSpPr txBox="1"/>
          <p:nvPr/>
        </p:nvSpPr>
        <p:spPr>
          <a:xfrm>
            <a:off x="7891272" y="2487168"/>
            <a:ext cx="3291840" cy="502920"/>
          </a:xfrm>
          <a:prstGeom prst="rect">
            <a:avLst/>
          </a:prstGeom>
          <a:noFill/>
          <a:ln/>
        </p:spPr>
        <p:txBody>
          <a:bodyPr wrap="square" lIns="0" tIns="0" rIns="0" bIns="0" rtlCol="0" anchor="t"/>
          <a:lstStyle/>
          <a:p>
            <a:pPr algn="l" indent="0" marL="0">
              <a:lnSpc>
                <a:spcPts val="1750"/>
              </a:lnSpc>
              <a:buNone/>
            </a:pPr>
            <a:r>
              <a:rPr lang="en-US" sz="1250" dirty="0">
                <a:solidFill>
                  <a:srgbClr val="1B1A17"/>
                </a:solidFill>
                <a:latin typeface="Calibri" pitchFamily="34" charset="0"/>
                <a:ea typeface="Calibri" pitchFamily="34" charset="-122"/>
                <a:cs typeface="Calibri" pitchFamily="34" charset="-120"/>
              </a:rPr>
              <a:t>Lawyers use it on live matters.</a:t>
            </a:r>
            <a:endParaRPr lang="en-US" sz="1250" dirty="0"/>
          </a:p>
        </p:txBody>
      </p:sp>
      <p:sp>
        <p:nvSpPr>
          <p:cNvPr id="11" name="Shape 8"/>
          <p:cNvSpPr/>
          <p:nvPr/>
        </p:nvSpPr>
        <p:spPr>
          <a:xfrm>
            <a:off x="7671816" y="3145536"/>
            <a:ext cx="77724" cy="77724"/>
          </a:xfrm>
          <a:prstGeom prst="rect">
            <a:avLst/>
          </a:prstGeom>
          <a:solidFill>
            <a:srgbClr val="E0A008"/>
          </a:solidFill>
          <a:ln w="12700">
            <a:solidFill>
              <a:srgbClr val="E0A008"/>
            </a:solidFill>
            <a:prstDash val="solid"/>
          </a:ln>
        </p:spPr>
      </p:sp>
      <p:sp>
        <p:nvSpPr>
          <p:cNvPr id="12" name="Text 9"/>
          <p:cNvSpPr txBox="1"/>
          <p:nvPr/>
        </p:nvSpPr>
        <p:spPr>
          <a:xfrm>
            <a:off x="7891272" y="3054096"/>
            <a:ext cx="3291840" cy="502920"/>
          </a:xfrm>
          <a:prstGeom prst="rect">
            <a:avLst/>
          </a:prstGeom>
          <a:noFill/>
          <a:ln/>
        </p:spPr>
        <p:txBody>
          <a:bodyPr wrap="square" lIns="0" tIns="0" rIns="0" bIns="0" rtlCol="0" anchor="t"/>
          <a:lstStyle/>
          <a:p>
            <a:pPr algn="l" indent="0" marL="0">
              <a:lnSpc>
                <a:spcPts val="1750"/>
              </a:lnSpc>
              <a:buNone/>
            </a:pPr>
            <a:r>
              <a:rPr lang="en-US" sz="1250" dirty="0">
                <a:solidFill>
                  <a:srgbClr val="1B1A17"/>
                </a:solidFill>
                <a:latin typeface="Calibri" pitchFamily="34" charset="0"/>
                <a:ea typeface="Calibri" pitchFamily="34" charset="-122"/>
                <a:cs typeface="Calibri" pitchFamily="34" charset="-120"/>
              </a:rPr>
              <a:t>They return with a second matter, and they pay.</a:t>
            </a:r>
            <a:endParaRPr lang="en-US" sz="1250" dirty="0"/>
          </a:p>
        </p:txBody>
      </p:sp>
      <p:sp>
        <p:nvSpPr>
          <p:cNvPr id="13" name="Shape 10"/>
          <p:cNvSpPr/>
          <p:nvPr/>
        </p:nvSpPr>
        <p:spPr>
          <a:xfrm>
            <a:off x="7671816" y="3712464"/>
            <a:ext cx="77724" cy="77724"/>
          </a:xfrm>
          <a:prstGeom prst="rect">
            <a:avLst/>
          </a:prstGeom>
          <a:solidFill>
            <a:srgbClr val="E0A008"/>
          </a:solidFill>
          <a:ln w="12700">
            <a:solidFill>
              <a:srgbClr val="E0A008"/>
            </a:solidFill>
            <a:prstDash val="solid"/>
          </a:ln>
        </p:spPr>
      </p:sp>
      <p:sp>
        <p:nvSpPr>
          <p:cNvPr id="14" name="Text 11"/>
          <p:cNvSpPr txBox="1"/>
          <p:nvPr/>
        </p:nvSpPr>
        <p:spPr>
          <a:xfrm>
            <a:off x="7891272" y="3621024"/>
            <a:ext cx="3291840" cy="502920"/>
          </a:xfrm>
          <a:prstGeom prst="rect">
            <a:avLst/>
          </a:prstGeom>
          <a:noFill/>
          <a:ln/>
        </p:spPr>
        <p:txBody>
          <a:bodyPr wrap="square" lIns="0" tIns="0" rIns="0" bIns="0" rtlCol="0" anchor="t"/>
          <a:lstStyle/>
          <a:p>
            <a:pPr algn="l" indent="0" marL="0">
              <a:lnSpc>
                <a:spcPts val="1750"/>
              </a:lnSpc>
              <a:buNone/>
            </a:pPr>
            <a:r>
              <a:rPr lang="en-US" sz="1250" dirty="0">
                <a:solidFill>
                  <a:srgbClr val="1B1A17"/>
                </a:solidFill>
                <a:latin typeface="Calibri" pitchFamily="34" charset="0"/>
                <a:ea typeface="Calibri" pitchFamily="34" charset="-122"/>
                <a:cs typeface="Calibri" pitchFamily="34" charset="-120"/>
              </a:rPr>
              <a:t>Total preparation effort falls.</a:t>
            </a:r>
            <a:endParaRPr lang="en-US" sz="1250" dirty="0"/>
          </a:p>
        </p:txBody>
      </p:sp>
      <p:sp>
        <p:nvSpPr>
          <p:cNvPr id="15" name="Shape 12"/>
          <p:cNvSpPr/>
          <p:nvPr/>
        </p:nvSpPr>
        <p:spPr>
          <a:xfrm>
            <a:off x="7671816" y="4279392"/>
            <a:ext cx="77724" cy="77724"/>
          </a:xfrm>
          <a:prstGeom prst="rect">
            <a:avLst/>
          </a:prstGeom>
          <a:solidFill>
            <a:srgbClr val="E0A008"/>
          </a:solidFill>
          <a:ln w="12700">
            <a:solidFill>
              <a:srgbClr val="E0A008"/>
            </a:solidFill>
            <a:prstDash val="solid"/>
          </a:ln>
        </p:spPr>
      </p:sp>
      <p:sp>
        <p:nvSpPr>
          <p:cNvPr id="16" name="Text 13"/>
          <p:cNvSpPr txBox="1"/>
          <p:nvPr/>
        </p:nvSpPr>
        <p:spPr>
          <a:xfrm>
            <a:off x="7891272" y="4187952"/>
            <a:ext cx="3291840" cy="502920"/>
          </a:xfrm>
          <a:prstGeom prst="rect">
            <a:avLst/>
          </a:prstGeom>
          <a:noFill/>
          <a:ln/>
        </p:spPr>
        <p:txBody>
          <a:bodyPr wrap="square" lIns="0" tIns="0" rIns="0" bIns="0" rtlCol="0" anchor="t"/>
          <a:lstStyle/>
          <a:p>
            <a:pPr algn="l" indent="0" marL="0">
              <a:lnSpc>
                <a:spcPts val="1750"/>
              </a:lnSpc>
              <a:buNone/>
            </a:pPr>
            <a:r>
              <a:rPr lang="en-US" sz="1250" dirty="0">
                <a:solidFill>
                  <a:srgbClr val="1B1A17"/>
                </a:solidFill>
                <a:latin typeface="Calibri" pitchFamily="34" charset="0"/>
                <a:ea typeface="Calibri" pitchFamily="34" charset="-122"/>
                <a:cs typeface="Calibri" pitchFamily="34" charset="-120"/>
              </a:rPr>
              <a:t>Delivery cost supports the price.</a:t>
            </a:r>
            <a:endParaRPr lang="en-US" sz="1250" dirty="0"/>
          </a:p>
        </p:txBody>
      </p:sp>
      <p:sp>
        <p:nvSpPr>
          <p:cNvPr id="17" name="Text 14"/>
          <p:cNvSpPr txBox="1"/>
          <p:nvPr/>
        </p:nvSpPr>
        <p:spPr>
          <a:xfrm>
            <a:off x="685800" y="5257800"/>
            <a:ext cx="10820095" cy="822960"/>
          </a:xfrm>
          <a:prstGeom prst="rect">
            <a:avLst/>
          </a:prstGeom>
          <a:noFill/>
          <a:ln/>
        </p:spPr>
        <p:txBody>
          <a:bodyPr wrap="square" lIns="0" tIns="0" rIns="0" bIns="0" rtlCol="0" anchor="t"/>
          <a:lstStyle/>
          <a:p>
            <a:pPr algn="l" indent="0" marL="0">
              <a:lnSpc>
                <a:spcPts val="1800"/>
              </a:lnSpc>
              <a:buNone/>
            </a:pPr>
            <a:r>
              <a:rPr lang="en-US" sz="1250" dirty="0">
                <a:solidFill>
                  <a:srgbClr val="6E6759"/>
                </a:solidFill>
                <a:latin typeface="Calibri" pitchFamily="34" charset="0"/>
                <a:ea typeface="Calibri" pitchFamily="34" charset="-122"/>
                <a:cs typeface="Calibri" pitchFamily="34" charset="-120"/>
              </a:rPr>
              <a:t>At $400 a month, fifty paid seats produce about $20,000 in monthly recurring revenue against an average spend envelope near $83,000 a month. This round funds validation and company building, not a path to break-even.</a:t>
            </a:r>
            <a:endParaRPr lang="en-US" sz="1250" dirty="0"/>
          </a:p>
        </p:txBody>
      </p:sp>
      <p:sp>
        <p:nvSpPr>
          <p:cNvPr id="18" name="Text 15"/>
          <p:cNvSpPr txBox="1"/>
          <p:nvPr/>
        </p:nvSpPr>
        <p:spPr>
          <a:xfrm>
            <a:off x="685800" y="6382512"/>
            <a:ext cx="10820095" cy="329184"/>
          </a:xfrm>
          <a:prstGeom prst="rect">
            <a:avLst/>
          </a:prstGeom>
          <a:noFill/>
          <a:ln/>
        </p:spPr>
        <p:txBody>
          <a:bodyPr wrap="square" lIns="0" tIns="0" rIns="0" bIns="0" rtlCol="0" anchor="t"/>
          <a:lstStyle/>
          <a:p>
            <a:pPr indent="0" marL="0">
              <a:buNone/>
            </a:pPr>
            <a:r>
              <a:rPr lang="en-US" sz="950" i="1" dirty="0">
                <a:solidFill>
                  <a:srgbClr val="6E6759"/>
                </a:solidFill>
                <a:latin typeface="Calibri" pitchFamily="34" charset="0"/>
                <a:ea typeface="Calibri" pitchFamily="34" charset="-122"/>
                <a:cs typeface="Calibri" pitchFamily="34" charset="-120"/>
              </a:rPr>
              <a:t>Proposed budget, not approved spend or a committed raise. Hiring sequence, founder compensation and financing terms remain open.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Themis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Themis pre-seed</dc:title>
  <dc:subject>PptxGenJS Presentation</dc:subject>
  <dc:creator>Brian Harris</dc:creator>
  <cp:lastModifiedBy>Brian Harris</cp:lastModifiedBy>
  <cp:revision>1</cp:revision>
  <dcterms:created xsi:type="dcterms:W3CDTF">2026-09-05T06:57:59Z</dcterms:created>
  <dcterms:modified xsi:type="dcterms:W3CDTF">2026-09-05T06:57:59Z</dcterms:modified>
</cp:coreProperties>
</file>