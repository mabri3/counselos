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55524B"/>
                </a:solidFill>
                <a:latin typeface="Calibri"/>
              </a:defRPr>
            </a:pPr>
            <a:r>
              <a:rPr sz="1200" b="0" i="0" u="none" strike="noStrike">
                <a:solidFill>
                  <a:srgbClr val="55524B"/>
                </a:solidFill>
                <a:latin typeface="Calibri"/>
              </a:rPr>
              <a:t>Records by subreddit</a:t>
            </a:r>
          </a:p>
        </c:rich>
      </c:tx>
      <c:layout/>
      <c:overlay val="0"/>
    </c:title>
    <c:autoTitleDeleted val="0"/>
    <c:plotArea>
      <c:layout/>
      <c:barChart>
        <c:barDir val="bar"/>
        <c:grouping val="clustered"/>
        <c:varyColors val="0"/>
        <c:ser>
          <c:idx val="0"/>
          <c:order val="0"/>
          <c:tx>
            <c:strRef>
              <c:f>Sheet1!$B$1</c:f>
              <c:strCache>
                <c:ptCount val="1"/>
                <c:pt idx="0">
                  <c:v>Records</c:v>
                </c:pt>
              </c:strCache>
            </c:strRef>
          </c:tx>
          <c:spPr>
            <a:solidFill>
              <a:srgbClr val="1B1A17"/>
            </a:solidFill>
            <a:effectLst/>
          </c:spPr>
          <c:invertIfNegative val="0"/>
          <c:dLbls>
            <c:numFmt formatCode="#,##0" sourceLinked="0"/>
            <c:txPr>
              <a:bodyPr/>
              <a:lstStyle/>
              <a:p>
                <a:pPr>
                  <a:defRPr b="0" i="0" strike="noStrike" sz="1000" u="none">
                    <a:solidFill>
                      <a:srgbClr val="55524B"/>
                    </a:solidFill>
                    <a:latin typeface="Calibri"/>
                  </a:defRPr>
                </a:pPr>
              </a:p>
            </c:txPr>
            <c:showLegendKey val="0"/>
            <c:showVal val="1"/>
            <c:showCatName val="0"/>
            <c:showSerName val="0"/>
            <c:showPercent val="0"/>
            <c:showBubbleSize val="0"/>
            <c:showLeaderLines val="0"/>
          </c:dLbls>
          <c:cat>
            <c:multiLvlStrRef>
              <c:f>Sheet1!$A$2:$A$8</c:f>
              <c:multiLvlStrCache>
                <c:ptCount val="7"/>
                <c:lvl>
                  <c:pt idx="0">
                    <c:v>other (11 subs)</c:v>
                  </c:pt>
                  <c:pt idx="1">
                    <c:v>r/uklaw</c:v>
                  </c:pt>
                  <c:pt idx="2">
                    <c:v>r/paralegal</c:v>
                  </c:pt>
                  <c:pt idx="3">
                    <c:v>r/LawFirm</c:v>
                  </c:pt>
                  <c:pt idx="4">
                    <c:v>r/Lawyertalk</c:v>
                  </c:pt>
                  <c:pt idx="5">
                    <c:v>r/biglaw</c:v>
                  </c:pt>
                  <c:pt idx="6">
                    <c:v>r/legaltech</c:v>
                  </c:pt>
                </c:lvl>
              </c:multiLvlStrCache>
            </c:multiLvlStrRef>
          </c:cat>
          <c:val>
            <c:numRef>
              <c:f>Sheet1!$B$2:$B$8</c:f>
              <c:numCache>
                <c:formatCode>General</c:formatCode>
                <c:ptCount val="7"/>
                <c:pt idx="0">
                  <c:v>17</c:v>
                </c:pt>
                <c:pt idx="1">
                  <c:v>7</c:v>
                </c:pt>
                <c:pt idx="2">
                  <c:v>12</c:v>
                </c:pt>
                <c:pt idx="3">
                  <c:v>23</c:v>
                </c:pt>
                <c:pt idx="4">
                  <c:v>30</c:v>
                </c:pt>
                <c:pt idx="5">
                  <c:v>39</c:v>
                </c:pt>
                <c:pt idx="6">
                  <c:v>75</c:v>
                </c:pt>
              </c:numCache>
            </c:numRef>
          </c:val>
        </c:ser>
        <c:dLbls>
          <c:numFmt formatCode="#,##0" sourceLinked="0"/>
          <c:txPr>
            <a:bodyPr/>
            <a:lstStyle/>
            <a:p>
              <a:pPr>
                <a:defRPr b="0" i="0" strike="noStrike" sz="1000" u="none">
                  <a:solidFill>
                    <a:srgbClr val="55524B"/>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3A3733"/>
                </a:solidFill>
                <a:latin typeface="Calibri"/>
              </a:defRPr>
            </a:pPr>
            <a:endParaRPr lang="en-US"/>
          </a:p>
        </c:txPr>
        <c:crossAx val="2094734552"/>
        <c:crosses val="autoZero"/>
        <c:auto val="1"/>
        <c:lblAlgn val="ctr"/>
        <c:noMultiLvlLbl val="1"/>
      </c:catAx>
      <c:valAx>
        <c:axId val="2094734552"/>
        <c:scaling>
          <c:orientation val="minMax"/>
          <c:max val="88"/>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55524B"/>
                </a:solidFill>
                <a:latin typeface="Calibri"/>
              </a:defRPr>
            </a:pPr>
            <a:r>
              <a:rPr sz="1200" b="0" i="0" u="none" strike="noStrike">
                <a:solidFill>
                  <a:srgbClr val="55524B"/>
                </a:solidFill>
                <a:latin typeface="Calibri"/>
              </a:rPr>
              <a:t>Records mentioning each product</a:t>
            </a:r>
          </a:p>
        </c:rich>
      </c:tx>
      <c:layout/>
      <c:overlay val="0"/>
    </c:title>
    <c:autoTitleDeleted val="0"/>
    <c:plotArea>
      <c:layout/>
      <c:barChart>
        <c:barDir val="bar"/>
        <c:grouping val="clustered"/>
        <c:varyColors val="0"/>
        <c:ser>
          <c:idx val="0"/>
          <c:order val="0"/>
          <c:tx>
            <c:strRef>
              <c:f>Sheet1!$B$1</c:f>
              <c:strCache>
                <c:ptCount val="1"/>
                <c:pt idx="0">
                  <c:v>Records</c:v>
                </c:pt>
              </c:strCache>
            </c:strRef>
          </c:tx>
          <c:spPr>
            <a:solidFill>
              <a:srgbClr val="146B54"/>
            </a:solidFill>
            <a:effectLst/>
          </c:spPr>
          <c:invertIfNegative val="0"/>
          <c:dLbls>
            <c:numFmt formatCode="#,##0" sourceLinked="0"/>
            <c:txPr>
              <a:bodyPr/>
              <a:lstStyle/>
              <a:p>
                <a:pPr>
                  <a:defRPr b="0" i="0" strike="noStrike" sz="1000" u="none">
                    <a:solidFill>
                      <a:srgbClr val="55524B"/>
                    </a:solidFill>
                    <a:latin typeface="Calibri"/>
                  </a:defRPr>
                </a:pPr>
              </a:p>
            </c:txPr>
            <c:showLegendKey val="0"/>
            <c:showVal val="1"/>
            <c:showCatName val="0"/>
            <c:showSerName val="0"/>
            <c:showPercent val="0"/>
            <c:showBubbleSize val="0"/>
            <c:showLeaderLines val="0"/>
          </c:dLbls>
          <c:dPt>
            <c:idx val="0"/>
            <c:invertIfNegative val="0"/>
            <c:bubble3D val="0"/>
            <c:spPr>
              <a:solidFill>
                <a:srgbClr val="146B54"/>
              </a:solidFill>
              <a:effectLst/>
            </c:spPr>
          </c:dPt>
          <c:dPt>
            <c:idx val="1"/>
            <c:invertIfNegative val="0"/>
            <c:bubble3D val="0"/>
            <c:spPr>
              <a:solidFill>
                <a:srgbClr val="E0A008"/>
              </a:solidFill>
              <a:effectLst/>
            </c:spPr>
          </c:dPt>
          <c:dPt>
            <c:idx val="2"/>
            <c:invertIfNegative val="0"/>
            <c:bubble3D val="0"/>
            <c:spPr>
              <a:solidFill>
                <a:srgbClr val="E0A008"/>
              </a:solidFill>
              <a:effectLst/>
            </c:spPr>
          </c:dPt>
          <c:dPt>
            <c:idx val="3"/>
            <c:invertIfNegative val="0"/>
            <c:bubble3D val="0"/>
            <c:spPr>
              <a:solidFill>
                <a:srgbClr val="146B54"/>
              </a:solidFill>
              <a:effectLst/>
            </c:spPr>
          </c:dPt>
          <c:dPt>
            <c:idx val="4"/>
            <c:invertIfNegative val="0"/>
            <c:bubble3D val="0"/>
            <c:spPr>
              <a:solidFill>
                <a:srgbClr val="146B54"/>
              </a:solidFill>
              <a:effectLst/>
            </c:spPr>
          </c:dPt>
          <c:dPt>
            <c:idx val="5"/>
            <c:invertIfNegative val="0"/>
            <c:bubble3D val="0"/>
            <c:spPr>
              <a:solidFill>
                <a:srgbClr val="E0A008"/>
              </a:solidFill>
              <a:effectLst/>
            </c:spPr>
          </c:dPt>
          <c:dPt>
            <c:idx val="6"/>
            <c:invertIfNegative val="0"/>
            <c:bubble3D val="0"/>
            <c:spPr>
              <a:solidFill>
                <a:srgbClr val="146B54"/>
              </a:solidFill>
              <a:effectLst/>
            </c:spPr>
          </c:dPt>
          <c:dPt>
            <c:idx val="7"/>
            <c:invertIfNegative val="0"/>
            <c:bubble3D val="0"/>
            <c:spPr>
              <a:solidFill>
                <a:srgbClr val="5F5AC0"/>
              </a:solidFill>
              <a:effectLst/>
            </c:spPr>
          </c:dPt>
          <c:dPt>
            <c:idx val="8"/>
            <c:invertIfNegative val="0"/>
            <c:bubble3D val="0"/>
            <c:spPr>
              <a:solidFill>
                <a:srgbClr val="5F5AC0"/>
              </a:solidFill>
              <a:effectLst/>
            </c:spPr>
          </c:dPt>
          <c:cat>
            <c:multiLvlStrRef>
              <c:f>Sheet1!$A$2:$A$10</c:f>
              <c:multiLvlStrCache>
                <c:ptCount val="9"/>
                <c:lvl>
                  <c:pt idx="0">
                    <c:v>Spellbook</c:v>
                  </c:pt>
                  <c:pt idx="1">
                    <c:v>Lexis</c:v>
                  </c:pt>
                  <c:pt idx="2">
                    <c:v>Copilot</c:v>
                  </c:pt>
                  <c:pt idx="3">
                    <c:v>Legora</c:v>
                  </c:pt>
                  <c:pt idx="4">
                    <c:v>CoCounsel</c:v>
                  </c:pt>
                  <c:pt idx="5">
                    <c:v>Westlaw</c:v>
                  </c:pt>
                  <c:pt idx="6">
                    <c:v>Harvey</c:v>
                  </c:pt>
                  <c:pt idx="7">
                    <c:v>ChatGPT / GPT</c:v>
                  </c:pt>
                  <c:pt idx="8">
                    <c:v>Claude</c:v>
                  </c:pt>
                </c:lvl>
              </c:multiLvlStrCache>
            </c:multiLvlStrRef>
          </c:cat>
          <c:val>
            <c:numRef>
              <c:f>Sheet1!$B$2:$B$10</c:f>
              <c:numCache>
                <c:formatCode>General</c:formatCode>
                <c:ptCount val="9"/>
                <c:pt idx="0">
                  <c:v>13</c:v>
                </c:pt>
                <c:pt idx="1">
                  <c:v>23</c:v>
                </c:pt>
                <c:pt idx="2">
                  <c:v>30</c:v>
                </c:pt>
                <c:pt idx="3">
                  <c:v>31</c:v>
                </c:pt>
                <c:pt idx="4">
                  <c:v>36</c:v>
                </c:pt>
                <c:pt idx="5">
                  <c:v>46</c:v>
                </c:pt>
                <c:pt idx="6">
                  <c:v>61</c:v>
                </c:pt>
                <c:pt idx="7">
                  <c:v>165</c:v>
                </c:pt>
                <c:pt idx="8">
                  <c:v>166</c:v>
                </c:pt>
              </c:numCache>
            </c:numRef>
          </c:val>
        </c:ser>
        <c:dLbls>
          <c:numFmt formatCode="#,##0" sourceLinked="0"/>
          <c:txPr>
            <a:bodyPr/>
            <a:lstStyle/>
            <a:p>
              <a:pPr>
                <a:defRPr b="0" i="0" strike="noStrike" sz="1000" u="none">
                  <a:solidFill>
                    <a:srgbClr val="55524B"/>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3A3733"/>
                </a:solidFill>
                <a:latin typeface="Calibri"/>
              </a:defRPr>
            </a:pPr>
            <a:endParaRPr lang="en-US"/>
          </a:p>
        </c:txPr>
        <c:crossAx val="2094734552"/>
        <c:crosses val="autoZero"/>
        <c:auto val="1"/>
        <c:lblAlgn val="ctr"/>
        <c:noMultiLvlLbl val="1"/>
      </c:catAx>
      <c:valAx>
        <c:axId val="2094734552"/>
        <c:scaling>
          <c:orientation val="minMax"/>
          <c:max val="196"/>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this is not a survey and not a benchmark. It is 203 deduplicated practitioner reports, graded for confidence at capture. The argument is that the market has converged on the model layer and left the matter layer empty.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limits. A VC partner will discount the deck if the caveats arrive at the end. Note there are zero matched-prompt benchmarks in 203 records — which is itself a finding: nobody can prove their tool is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 counts are records that mention the product anywhere in the captured fields, so they measure share of conversation, not share of use. The point is that the general models set the reference price and the reference quality bar in every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thesis slide. Everything after it is evidence that the middle is empty and that buyers are hand-rolling a replacement.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the asymmetry: the evaluator in reddit-103 bought Harvey despite being unable to show a quality edge, purely for integration and UI. That is the whole competitive thesis in one sentence — the buyer is paying for workflow, not intelligence.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Also in the corpus: CoCounsel at roughly $50–$75 per task (reddit-028), Gavel Exec at $160/seat/mo judged worth it (reddit-017), Iqidis $199/mo and Vincent $399/mo (reddit-007), enterprise Claude/Gemini at about $25k over three years (reddit-019).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slide. These buyers have already decided the model is a commodity and the workflow is the product — and they are paying engineers to build it. Themis.ai is the productised version of what they are hand-rolling. The counter-evidence matters: usability for non-prompters is the reason domain products still win, so the build must be opinionated, not a toolkit.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Twenty records touch context loss or re-upload; thirty-nine touch Word, Outlook or DMS integration. Note reddit-092: semantic search across the DMS and email is separately named as the highest-value unmet use in BigLaw.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Themis.ai’s design language already separates agent-generated from human-recorded, with a distinct colour role for each. That is the right answer to this finding and it is already shipped — but the citation-grounding half is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Procurement friction cuts both ways: reddit-146 notes fixed-term contracts, infosec review and DPIAs slow adoption of anything new, including us. The answer is that a product which never sends privileged material anywhere shortens that review rather than triggering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reddit-162 is the closest thing in the corpus to a description of the Themis.ai user doing Themis.ai work with the wrong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oversell Claude here. The strongest pro-Claude datapoint (reddit-175) and the strongest pro-ChatGPT datapoint (reddit-110) are both same-prompt comparisons by credible buyers, and they disagree. That is the case for optionality.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Status is taken from the repository’s current.md and IMPLEMENTATION_STATUS.md as of 31 August 2026, with 550 backend tests passing and an isolated browser demo walking intake through closure.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ranking is by frequency of rejection reason in the corpus, not by engineering cost. Items 1 and 2 are the two that decide whether a buyer trials the product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falsifiability. The building partner should leave knowing exactly what evidence would overturn the thesis.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A17"/>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B1A17"/>
          </a:solidFill>
          <a:ln/>
        </p:spPr>
      </p:sp>
      <p:sp>
        <p:nvSpPr>
          <p:cNvPr id="3" name="Text 1"/>
          <p:cNvSpPr txBox="1"/>
          <p:nvPr/>
        </p:nvSpPr>
        <p:spPr>
          <a:xfrm>
            <a:off x="822960" y="1298448"/>
            <a:ext cx="10058400" cy="274320"/>
          </a:xfrm>
          <a:prstGeom prst="rect">
            <a:avLst/>
          </a:prstGeom>
          <a:noFill/>
          <a:ln/>
        </p:spPr>
        <p:txBody>
          <a:bodyPr wrap="square" lIns="0" tIns="0" rIns="0" bIns="0" rtlCol="0" anchor="ctr"/>
          <a:lstStyle/>
          <a:p>
            <a:pPr indent="0" marL="0">
              <a:buNone/>
            </a:pPr>
            <a:r>
              <a:rPr lang="en-US" sz="1100" b="1" spc="220" kern="0" dirty="0">
                <a:solidFill>
                  <a:srgbClr val="9B96E0"/>
                </a:solidFill>
                <a:latin typeface="Calibri" pitchFamily="34" charset="0"/>
                <a:ea typeface="Calibri" pitchFamily="34" charset="-122"/>
                <a:cs typeface="Calibri" pitchFamily="34" charset="-120"/>
              </a:rPr>
              <a:t>THEMIS.AI  ·  MARKET EVIDENCE BRIEF</a:t>
            </a:r>
            <a:endParaRPr lang="en-US" sz="1100" dirty="0"/>
          </a:p>
        </p:txBody>
      </p:sp>
      <p:sp>
        <p:nvSpPr>
          <p:cNvPr id="4" name="Text 2"/>
          <p:cNvSpPr txBox="1"/>
          <p:nvPr/>
        </p:nvSpPr>
        <p:spPr>
          <a:xfrm>
            <a:off x="822960" y="1700784"/>
            <a:ext cx="10424160" cy="868680"/>
          </a:xfrm>
          <a:prstGeom prst="rect">
            <a:avLst/>
          </a:prstGeom>
          <a:noFill/>
          <a:ln/>
        </p:spPr>
        <p:txBody>
          <a:bodyPr wrap="square" lIns="0" tIns="0" rIns="0" bIns="0" rtlCol="0" anchor="ctr"/>
          <a:lstStyle/>
          <a:p>
            <a:pPr indent="0" marL="0">
              <a:buNone/>
            </a:pPr>
            <a:r>
              <a:rPr lang="en-US" sz="5200" b="1" dirty="0">
                <a:solidFill>
                  <a:srgbClr val="FFFEFB"/>
                </a:solidFill>
                <a:latin typeface="Cambria" pitchFamily="34" charset="0"/>
                <a:ea typeface="Cambria" pitchFamily="34" charset="-122"/>
                <a:cs typeface="Cambria" pitchFamily="34" charset="-120"/>
              </a:rPr>
              <a:t>Voice of the Practitioner</a:t>
            </a:r>
            <a:endParaRPr lang="en-US" sz="5200" dirty="0"/>
          </a:p>
        </p:txBody>
      </p:sp>
      <p:sp>
        <p:nvSpPr>
          <p:cNvPr id="5" name="Text 3"/>
          <p:cNvSpPr txBox="1"/>
          <p:nvPr/>
        </p:nvSpPr>
        <p:spPr>
          <a:xfrm>
            <a:off x="822960" y="2615184"/>
            <a:ext cx="9509760" cy="731520"/>
          </a:xfrm>
          <a:prstGeom prst="rect">
            <a:avLst/>
          </a:prstGeom>
          <a:noFill/>
          <a:ln/>
        </p:spPr>
        <p:txBody>
          <a:bodyPr wrap="square" lIns="0" tIns="0" rIns="0" bIns="0" rtlCol="0" anchor="ctr"/>
          <a:lstStyle/>
          <a:p>
            <a:pPr indent="0" marL="0">
              <a:lnSpc>
                <a:spcPts val="2500"/>
              </a:lnSpc>
              <a:buNone/>
            </a:pPr>
            <a:r>
              <a:rPr lang="en-US" sz="1700" dirty="0">
                <a:solidFill>
                  <a:srgbClr val="C9C4BA"/>
                </a:solidFill>
                <a:latin typeface="Calibri" pitchFamily="34" charset="0"/>
                <a:ea typeface="Calibri" pitchFamily="34" charset="-122"/>
                <a:cs typeface="Calibri" pitchFamily="34" charset="-120"/>
              </a:rPr>
              <a:t>What 203 lawyer-authored threads say about the legal-AI landscape — and where the product gap is</a:t>
            </a:r>
            <a:endParaRPr lang="en-US" sz="1700" dirty="0"/>
          </a:p>
        </p:txBody>
      </p:sp>
      <p:sp>
        <p:nvSpPr>
          <p:cNvPr id="6" name="Shape 4"/>
          <p:cNvSpPr/>
          <p:nvPr/>
        </p:nvSpPr>
        <p:spPr>
          <a:xfrm>
            <a:off x="822960" y="3602736"/>
            <a:ext cx="6309360" cy="10973"/>
          </a:xfrm>
          <a:prstGeom prst="rect">
            <a:avLst/>
          </a:prstGeom>
          <a:solidFill>
            <a:srgbClr val="46433D"/>
          </a:solidFill>
          <a:ln/>
        </p:spPr>
      </p:sp>
      <p:sp>
        <p:nvSpPr>
          <p:cNvPr id="7" name="Text 5"/>
          <p:cNvSpPr txBox="1"/>
          <p:nvPr/>
        </p:nvSpPr>
        <p:spPr>
          <a:xfrm>
            <a:off x="822960" y="3877056"/>
            <a:ext cx="2331720" cy="384048"/>
          </a:xfrm>
          <a:prstGeom prst="rect">
            <a:avLst/>
          </a:prstGeom>
          <a:noFill/>
          <a:ln/>
        </p:spPr>
        <p:txBody>
          <a:bodyPr wrap="square" lIns="0" tIns="0" rIns="0" bIns="0" rtlCol="0" anchor="ctr"/>
          <a:lstStyle/>
          <a:p>
            <a:pPr indent="0" marL="0">
              <a:buNone/>
            </a:pPr>
            <a:r>
              <a:rPr lang="en-US" sz="2100" b="1" dirty="0">
                <a:solidFill>
                  <a:srgbClr val="FFFEFB"/>
                </a:solidFill>
                <a:latin typeface="Cambria" pitchFamily="34" charset="0"/>
                <a:ea typeface="Cambria" pitchFamily="34" charset="-122"/>
                <a:cs typeface="Cambria" pitchFamily="34" charset="-120"/>
              </a:rPr>
              <a:t>203</a:t>
            </a:r>
            <a:endParaRPr lang="en-US" sz="2100" dirty="0"/>
          </a:p>
        </p:txBody>
      </p:sp>
      <p:sp>
        <p:nvSpPr>
          <p:cNvPr id="8" name="Text 6"/>
          <p:cNvSpPr txBox="1"/>
          <p:nvPr/>
        </p:nvSpPr>
        <p:spPr>
          <a:xfrm>
            <a:off x="822960" y="4279392"/>
            <a:ext cx="2331720" cy="457200"/>
          </a:xfrm>
          <a:prstGeom prst="rect">
            <a:avLst/>
          </a:prstGeom>
          <a:noFill/>
          <a:ln/>
        </p:spPr>
        <p:txBody>
          <a:bodyPr wrap="square" lIns="0" tIns="0" rIns="0" bIns="0" rtlCol="0" anchor="ctr"/>
          <a:lstStyle/>
          <a:p>
            <a:pPr indent="0" marL="0">
              <a:lnSpc>
                <a:spcPts val="1400"/>
              </a:lnSpc>
              <a:buNone/>
            </a:pPr>
            <a:r>
              <a:rPr lang="en-US" sz="1050" dirty="0">
                <a:solidFill>
                  <a:srgbClr val="9A948B"/>
                </a:solidFill>
                <a:latin typeface="Calibri" pitchFamily="34" charset="0"/>
                <a:ea typeface="Calibri" pitchFamily="34" charset="-122"/>
                <a:cs typeface="Calibri" pitchFamily="34" charset="-120"/>
              </a:rPr>
              <a:t>source records, deduplicated</a:t>
            </a:r>
            <a:endParaRPr lang="en-US" sz="1050" dirty="0"/>
          </a:p>
        </p:txBody>
      </p:sp>
      <p:sp>
        <p:nvSpPr>
          <p:cNvPr id="9" name="Text 7"/>
          <p:cNvSpPr txBox="1"/>
          <p:nvPr/>
        </p:nvSpPr>
        <p:spPr>
          <a:xfrm>
            <a:off x="3310128" y="3877056"/>
            <a:ext cx="2331720" cy="384048"/>
          </a:xfrm>
          <a:prstGeom prst="rect">
            <a:avLst/>
          </a:prstGeom>
          <a:noFill/>
          <a:ln/>
        </p:spPr>
        <p:txBody>
          <a:bodyPr wrap="square" lIns="0" tIns="0" rIns="0" bIns="0" rtlCol="0" anchor="ctr"/>
          <a:lstStyle/>
          <a:p>
            <a:pPr indent="0" marL="0">
              <a:buNone/>
            </a:pPr>
            <a:r>
              <a:rPr lang="en-US" sz="2100" b="1" dirty="0">
                <a:solidFill>
                  <a:srgbClr val="FFFEFB"/>
                </a:solidFill>
                <a:latin typeface="Cambria" pitchFamily="34" charset="0"/>
                <a:ea typeface="Cambria" pitchFamily="34" charset="-122"/>
                <a:cs typeface="Cambria" pitchFamily="34" charset="-120"/>
              </a:rPr>
              <a:t>17</a:t>
            </a:r>
            <a:endParaRPr lang="en-US" sz="2100" dirty="0"/>
          </a:p>
        </p:txBody>
      </p:sp>
      <p:sp>
        <p:nvSpPr>
          <p:cNvPr id="10" name="Text 8"/>
          <p:cNvSpPr txBox="1"/>
          <p:nvPr/>
        </p:nvSpPr>
        <p:spPr>
          <a:xfrm>
            <a:off x="3310128" y="4279392"/>
            <a:ext cx="2331720" cy="457200"/>
          </a:xfrm>
          <a:prstGeom prst="rect">
            <a:avLst/>
          </a:prstGeom>
          <a:noFill/>
          <a:ln/>
        </p:spPr>
        <p:txBody>
          <a:bodyPr wrap="square" lIns="0" tIns="0" rIns="0" bIns="0" rtlCol="0" anchor="ctr"/>
          <a:lstStyle/>
          <a:p>
            <a:pPr indent="0" marL="0">
              <a:lnSpc>
                <a:spcPts val="1400"/>
              </a:lnSpc>
              <a:buNone/>
            </a:pPr>
            <a:r>
              <a:rPr lang="en-US" sz="1050" dirty="0">
                <a:solidFill>
                  <a:srgbClr val="9A948B"/>
                </a:solidFill>
                <a:latin typeface="Calibri" pitchFamily="34" charset="0"/>
                <a:ea typeface="Calibri" pitchFamily="34" charset="-122"/>
                <a:cs typeface="Calibri" pitchFamily="34" charset="-120"/>
              </a:rPr>
              <a:t>practitioner subreddits</a:t>
            </a:r>
            <a:endParaRPr lang="en-US" sz="1050" dirty="0"/>
          </a:p>
        </p:txBody>
      </p:sp>
      <p:sp>
        <p:nvSpPr>
          <p:cNvPr id="11" name="Text 9"/>
          <p:cNvSpPr txBox="1"/>
          <p:nvPr/>
        </p:nvSpPr>
        <p:spPr>
          <a:xfrm>
            <a:off x="5797296" y="3877056"/>
            <a:ext cx="2331720" cy="384048"/>
          </a:xfrm>
          <a:prstGeom prst="rect">
            <a:avLst/>
          </a:prstGeom>
          <a:noFill/>
          <a:ln/>
        </p:spPr>
        <p:txBody>
          <a:bodyPr wrap="square" lIns="0" tIns="0" rIns="0" bIns="0" rtlCol="0" anchor="ctr"/>
          <a:lstStyle/>
          <a:p>
            <a:pPr indent="0" marL="0">
              <a:buNone/>
            </a:pPr>
            <a:r>
              <a:rPr lang="en-US" sz="2100" b="1" dirty="0">
                <a:solidFill>
                  <a:srgbClr val="FFFEFB"/>
                </a:solidFill>
                <a:latin typeface="Cambria" pitchFamily="34" charset="0"/>
                <a:ea typeface="Cambria" pitchFamily="34" charset="-122"/>
                <a:cs typeface="Cambria" pitchFamily="34" charset="-120"/>
              </a:rPr>
              <a:t>116</a:t>
            </a:r>
            <a:endParaRPr lang="en-US" sz="2100" dirty="0"/>
          </a:p>
        </p:txBody>
      </p:sp>
      <p:sp>
        <p:nvSpPr>
          <p:cNvPr id="12" name="Text 10"/>
          <p:cNvSpPr txBox="1"/>
          <p:nvPr/>
        </p:nvSpPr>
        <p:spPr>
          <a:xfrm>
            <a:off x="5797296" y="4279392"/>
            <a:ext cx="2331720" cy="457200"/>
          </a:xfrm>
          <a:prstGeom prst="rect">
            <a:avLst/>
          </a:prstGeom>
          <a:noFill/>
          <a:ln/>
        </p:spPr>
        <p:txBody>
          <a:bodyPr wrap="square" lIns="0" tIns="0" rIns="0" bIns="0" rtlCol="0" anchor="ctr"/>
          <a:lstStyle/>
          <a:p>
            <a:pPr indent="0" marL="0">
              <a:lnSpc>
                <a:spcPts val="1400"/>
              </a:lnSpc>
              <a:buNone/>
            </a:pPr>
            <a:r>
              <a:rPr lang="en-US" sz="1050" dirty="0">
                <a:solidFill>
                  <a:srgbClr val="9A948B"/>
                </a:solidFill>
                <a:latin typeface="Calibri" pitchFamily="34" charset="0"/>
                <a:ea typeface="Calibri" pitchFamily="34" charset="-122"/>
                <a:cs typeface="Calibri" pitchFamily="34" charset="-120"/>
              </a:rPr>
              <a:t>records dated March–August 2026</a:t>
            </a:r>
            <a:endParaRPr lang="en-US" sz="1050" dirty="0"/>
          </a:p>
        </p:txBody>
      </p:sp>
      <p:sp>
        <p:nvSpPr>
          <p:cNvPr id="13" name="Text 11"/>
          <p:cNvSpPr txBox="1"/>
          <p:nvPr/>
        </p:nvSpPr>
        <p:spPr>
          <a:xfrm>
            <a:off x="8284464" y="3877056"/>
            <a:ext cx="2331720" cy="384048"/>
          </a:xfrm>
          <a:prstGeom prst="rect">
            <a:avLst/>
          </a:prstGeom>
          <a:noFill/>
          <a:ln/>
        </p:spPr>
        <p:txBody>
          <a:bodyPr wrap="square" lIns="0" tIns="0" rIns="0" bIns="0" rtlCol="0" anchor="ctr"/>
          <a:lstStyle/>
          <a:p>
            <a:pPr indent="0" marL="0">
              <a:buNone/>
            </a:pPr>
            <a:r>
              <a:rPr lang="en-US" sz="2100" b="1" dirty="0">
                <a:solidFill>
                  <a:srgbClr val="FFFEFB"/>
                </a:solidFill>
                <a:latin typeface="Cambria" pitchFamily="34" charset="0"/>
                <a:ea typeface="Cambria" pitchFamily="34" charset="-122"/>
                <a:cs typeface="Cambria" pitchFamily="34" charset="-120"/>
              </a:rPr>
              <a:t>117</a:t>
            </a:r>
            <a:endParaRPr lang="en-US" sz="2100" dirty="0"/>
          </a:p>
        </p:txBody>
      </p:sp>
      <p:sp>
        <p:nvSpPr>
          <p:cNvPr id="14" name="Text 12"/>
          <p:cNvSpPr txBox="1"/>
          <p:nvPr/>
        </p:nvSpPr>
        <p:spPr>
          <a:xfrm>
            <a:off x="8284464" y="4279392"/>
            <a:ext cx="2331720" cy="457200"/>
          </a:xfrm>
          <a:prstGeom prst="rect">
            <a:avLst/>
          </a:prstGeom>
          <a:noFill/>
          <a:ln/>
        </p:spPr>
        <p:txBody>
          <a:bodyPr wrap="square" lIns="0" tIns="0" rIns="0" bIns="0" rtlCol="0" anchor="ctr"/>
          <a:lstStyle/>
          <a:p>
            <a:pPr indent="0" marL="0">
              <a:lnSpc>
                <a:spcPts val="1400"/>
              </a:lnSpc>
              <a:buNone/>
            </a:pPr>
            <a:r>
              <a:rPr lang="en-US" sz="1050" dirty="0">
                <a:solidFill>
                  <a:srgbClr val="9A948B"/>
                </a:solidFill>
                <a:latin typeface="Calibri" pitchFamily="34" charset="0"/>
                <a:ea typeface="Calibri" pitchFamily="34" charset="-122"/>
                <a:cs typeface="Calibri" pitchFamily="34" charset="-120"/>
              </a:rPr>
              <a:t>graded high confidence at capture</a:t>
            </a:r>
            <a:endParaRPr lang="en-US" sz="1050" dirty="0"/>
          </a:p>
        </p:txBody>
      </p:sp>
      <p:sp>
        <p:nvSpPr>
          <p:cNvPr id="15" name="Text 13"/>
          <p:cNvSpPr txBox="1"/>
          <p:nvPr/>
        </p:nvSpPr>
        <p:spPr>
          <a:xfrm>
            <a:off x="822960" y="5989320"/>
            <a:ext cx="7315200" cy="274320"/>
          </a:xfrm>
          <a:prstGeom prst="rect">
            <a:avLst/>
          </a:prstGeom>
          <a:noFill/>
          <a:ln/>
        </p:spPr>
        <p:txBody>
          <a:bodyPr wrap="square" lIns="0" tIns="0" rIns="0" bIns="0" rtlCol="0" anchor="ctr"/>
          <a:lstStyle/>
          <a:p>
            <a:pPr indent="0" marL="0">
              <a:buNone/>
            </a:pPr>
            <a:r>
              <a:rPr lang="en-US" sz="1100" dirty="0">
                <a:solidFill>
                  <a:srgbClr val="7C766D"/>
                </a:solidFill>
                <a:latin typeface="Calibri" pitchFamily="34" charset="0"/>
                <a:ea typeface="Calibri" pitchFamily="34" charset="-122"/>
                <a:cs typeface="Calibri" pitchFamily="34" charset="-120"/>
              </a:rPr>
              <a:t>Prepared for VC building-partner review  ·  1 September 2026</a:t>
            </a:r>
            <a:endParaRPr lang="en-US" sz="1100" dirty="0"/>
          </a:p>
        </p:txBody>
      </p:sp>
      <p:sp>
        <p:nvSpPr>
          <p:cNvPr id="16" name="Text 14"/>
          <p:cNvSpPr txBox="1"/>
          <p:nvPr/>
        </p:nvSpPr>
        <p:spPr>
          <a:xfrm>
            <a:off x="9418320" y="5989320"/>
            <a:ext cx="1965960" cy="274320"/>
          </a:xfrm>
          <a:prstGeom prst="rect">
            <a:avLst/>
          </a:prstGeom>
          <a:noFill/>
          <a:ln/>
        </p:spPr>
        <p:txBody>
          <a:bodyPr wrap="square" lIns="0" tIns="0" rIns="0" bIns="0" rtlCol="0" anchor="ctr"/>
          <a:lstStyle/>
          <a:p>
            <a:pPr algn="r" indent="0" marL="0">
              <a:buNone/>
            </a:pPr>
            <a:r>
              <a:rPr lang="en-US" sz="1100" b="1" spc="200" kern="0" dirty="0">
                <a:solidFill>
                  <a:srgbClr val="9B96E0"/>
                </a:solidFill>
                <a:latin typeface="Calibri" pitchFamily="34" charset="0"/>
                <a:ea typeface="Calibri" pitchFamily="34" charset="-122"/>
                <a:cs typeface="Calibri" pitchFamily="34" charset="-120"/>
              </a:rPr>
              <a:t>THEMIS · AI</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F1"/>
        </a:solidFill>
      </p:bgPr>
    </p:bg>
    <p:spTree>
      <p:nvGrpSpPr>
        <p:cNvPr id="1" name=""/>
        <p:cNvGrpSpPr/>
        <p:nvPr/>
      </p:nvGrpSpPr>
      <p:grpSpPr>
        <a:xfrm>
          <a:off x="0" y="0"/>
          <a:ext cx="0" cy="0"/>
          <a:chOff x="0" y="0"/>
          <a:chExt cx="0" cy="0"/>
        </a:xfrm>
      </p:grpSpPr>
      <p:sp>
        <p:nvSpPr>
          <p:cNvPr id="2" name="Text 0"/>
          <p:cNvSpPr txBox="1"/>
          <p:nvPr/>
        </p:nvSpPr>
        <p:spPr>
          <a:xfrm>
            <a:off x="566928" y="420624"/>
            <a:ext cx="10515600" cy="219456"/>
          </a:xfrm>
          <a:prstGeom prst="rect">
            <a:avLst/>
          </a:prstGeom>
          <a:noFill/>
          <a:ln/>
        </p:spPr>
        <p:txBody>
          <a:bodyPr wrap="square" lIns="0" tIns="0" rIns="0" bIns="0" rtlCol="0" anchor="ctr"/>
          <a:lstStyle/>
          <a:p>
            <a:pPr indent="0" marL="0">
              <a:buNone/>
            </a:pPr>
            <a:r>
              <a:rPr lang="en-US" sz="1050" b="1" spc="160" kern="0" dirty="0">
                <a:solidFill>
                  <a:srgbClr val="5F5AC0"/>
                </a:solidFill>
                <a:latin typeface="Calibri" pitchFamily="34" charset="0"/>
                <a:ea typeface="Calibri" pitchFamily="34" charset="-122"/>
                <a:cs typeface="Calibri" pitchFamily="34" charset="-120"/>
              </a:rPr>
              <a:t>HOW TO READ THIS</a:t>
            </a:r>
            <a:endParaRPr lang="en-US" sz="1050" dirty="0"/>
          </a:p>
        </p:txBody>
      </p:sp>
      <p:sp>
        <p:nvSpPr>
          <p:cNvPr id="3" name="Text 1"/>
          <p:cNvSpPr txBox="1"/>
          <p:nvPr/>
        </p:nvSpPr>
        <p:spPr>
          <a:xfrm>
            <a:off x="566928" y="694944"/>
            <a:ext cx="10607040" cy="621792"/>
          </a:xfrm>
          <a:prstGeom prst="rect">
            <a:avLst/>
          </a:prstGeom>
          <a:noFill/>
          <a:ln/>
        </p:spPr>
        <p:txBody>
          <a:bodyPr wrap="square" lIns="0" tIns="0" rIns="0" bIns="0" rtlCol="0" anchor="ctr"/>
          <a:lstStyle/>
          <a:p>
            <a:pPr indent="0" marL="0">
              <a:buNone/>
            </a:pPr>
            <a:r>
              <a:rPr lang="en-US" sz="3100" b="1" dirty="0">
                <a:solidFill>
                  <a:srgbClr val="1B1A17"/>
                </a:solidFill>
                <a:latin typeface="Cambria" pitchFamily="34" charset="0"/>
                <a:ea typeface="Cambria" pitchFamily="34" charset="-122"/>
                <a:cs typeface="Cambria" pitchFamily="34" charset="-120"/>
              </a:rPr>
              <a:t>What this evidence is — and is not</a:t>
            </a:r>
            <a:endParaRPr lang="en-US" sz="3100" dirty="0"/>
          </a:p>
        </p:txBody>
      </p:sp>
      <p:sp>
        <p:nvSpPr>
          <p:cNvPr id="4" name="Text 2"/>
          <p:cNvSpPr txBox="1"/>
          <p:nvPr/>
        </p:nvSpPr>
        <p:spPr>
          <a:xfrm>
            <a:off x="566928" y="1316736"/>
            <a:ext cx="10607040" cy="384048"/>
          </a:xfrm>
          <a:prstGeom prst="rect">
            <a:avLst/>
          </a:prstGeom>
          <a:noFill/>
          <a:ln/>
        </p:spPr>
        <p:txBody>
          <a:bodyPr wrap="square" lIns="0" tIns="0" rIns="0" bIns="0" rtlCol="0" anchor="ctr"/>
          <a:lstStyle/>
          <a:p>
            <a:pPr indent="0" marL="0">
              <a:buNone/>
            </a:pPr>
            <a:r>
              <a:rPr lang="en-US" sz="1400" dirty="0">
                <a:solidFill>
                  <a:srgbClr val="55524B"/>
                </a:solidFill>
                <a:latin typeface="Calibri" pitchFamily="34" charset="0"/>
                <a:ea typeface="Calibri" pitchFamily="34" charset="-122"/>
                <a:cs typeface="Calibri" pitchFamily="34" charset="-120"/>
              </a:rPr>
              <a:t>Each record is one Reddit thread, deduplicated across 16 discovery passes and graded at capture.</a:t>
            </a:r>
            <a:endParaRPr lang="en-US" sz="1400" dirty="0"/>
          </a:p>
        </p:txBody>
      </p:sp>
      <p:sp>
        <p:nvSpPr>
          <p:cNvPr id="5" name="Shape 3"/>
          <p:cNvSpPr/>
          <p:nvPr/>
        </p:nvSpPr>
        <p:spPr>
          <a:xfrm>
            <a:off x="566928" y="1874520"/>
            <a:ext cx="5394960" cy="1874520"/>
          </a:xfrm>
          <a:prstGeom prst="roundRect">
            <a:avLst>
              <a:gd name="adj" fmla="val 2683"/>
            </a:avLst>
          </a:prstGeom>
          <a:solidFill>
            <a:srgbClr val="E0EFE9"/>
          </a:solidFill>
          <a:ln w="9525">
            <a:solidFill>
              <a:srgbClr val="C6DFD6"/>
            </a:solidFill>
            <a:prstDash val="solid"/>
          </a:ln>
        </p:spPr>
      </p:sp>
      <p:sp>
        <p:nvSpPr>
          <p:cNvPr id="6" name="Text 4"/>
          <p:cNvSpPr txBox="1"/>
          <p:nvPr/>
        </p:nvSpPr>
        <p:spPr>
          <a:xfrm>
            <a:off x="822960" y="2048256"/>
            <a:ext cx="4937760" cy="274320"/>
          </a:xfrm>
          <a:prstGeom prst="rect">
            <a:avLst/>
          </a:prstGeom>
          <a:noFill/>
          <a:ln/>
        </p:spPr>
        <p:txBody>
          <a:bodyPr wrap="square" lIns="0" tIns="0" rIns="0" bIns="0" rtlCol="0" anchor="ctr"/>
          <a:lstStyle/>
          <a:p>
            <a:pPr indent="0" marL="0">
              <a:buNone/>
            </a:pPr>
            <a:r>
              <a:rPr lang="en-US" sz="1400" b="1" dirty="0">
                <a:solidFill>
                  <a:srgbClr val="146B54"/>
                </a:solidFill>
                <a:latin typeface="Calibri" pitchFamily="34" charset="0"/>
                <a:ea typeface="Calibri" pitchFamily="34" charset="-122"/>
                <a:cs typeface="Calibri" pitchFamily="34" charset="-120"/>
              </a:rPr>
              <a:t>A record IS</a:t>
            </a:r>
            <a:endParaRPr lang="en-US" sz="1400" dirty="0"/>
          </a:p>
        </p:txBody>
      </p:sp>
      <p:sp>
        <p:nvSpPr>
          <p:cNvPr id="7" name="Text 5"/>
          <p:cNvSpPr txBox="1"/>
          <p:nvPr/>
        </p:nvSpPr>
        <p:spPr>
          <a:xfrm>
            <a:off x="822960" y="2395728"/>
            <a:ext cx="4892040" cy="1234440"/>
          </a:xfrm>
          <a:prstGeom prst="rect">
            <a:avLst/>
          </a:prstGeom>
          <a:noFill/>
          <a:ln/>
        </p:spPr>
        <p:txBody>
          <a:bodyPr wrap="square" lIns="0" tIns="0" rIns="0" bIns="0" rtlCol="0" anchor="t"/>
          <a:lstStyle/>
          <a:p>
            <a:pPr marL="342900" indent="-342900">
              <a:lnSpc>
                <a:spcPts val="1500"/>
              </a:lnSpc>
              <a:spcAft>
                <a:spcPts val="500"/>
              </a:spcAft>
              <a:buSzPct val="100000"/>
              <a:buChar char="•"/>
            </a:pPr>
            <a:r>
              <a:rPr lang="en-US" sz="1150" dirty="0">
                <a:solidFill>
                  <a:srgbClr val="3A3733"/>
                </a:solidFill>
                <a:latin typeface="Calibri" pitchFamily="34" charset="0"/>
                <a:ea typeface="Calibri" pitchFamily="34" charset="-122"/>
                <a:cs typeface="Calibri" pitchFamily="34" charset="-120"/>
              </a:rPr>
              <a:t>A dated, linked, lawyer-authored account of a task attempted with a named tool</a:t>
            </a:r>
            <a:endParaRPr lang="en-US" sz="1150" dirty="0"/>
          </a:p>
          <a:p>
            <a:pPr marL="342900" indent="-342900">
              <a:lnSpc>
                <a:spcPts val="1500"/>
              </a:lnSpc>
              <a:spcAft>
                <a:spcPts val="500"/>
              </a:spcAft>
              <a:buSzPct val="100000"/>
              <a:buChar char="•"/>
            </a:pPr>
            <a:r>
              <a:rPr lang="en-US" sz="1150" dirty="0">
                <a:solidFill>
                  <a:srgbClr val="3A3733"/>
                </a:solidFill>
                <a:latin typeface="Calibri" pitchFamily="34" charset="0"/>
                <a:ea typeface="Calibri" pitchFamily="34" charset="-122"/>
                <a:cs typeface="Calibri" pitchFamily="34" charset="-120"/>
              </a:rPr>
              <a:t>Captured with the poster’s role, firm size, task, outcome and a verbatim excerpt</a:t>
            </a:r>
            <a:endParaRPr lang="en-US" sz="1150" dirty="0"/>
          </a:p>
          <a:p>
            <a:pPr marL="342900" indent="-342900">
              <a:lnSpc>
                <a:spcPts val="1500"/>
              </a:lnSpc>
              <a:spcAft>
                <a:spcPts val="500"/>
              </a:spcAft>
              <a:buSzPct val="100000"/>
              <a:buChar char="•"/>
            </a:pPr>
            <a:r>
              <a:rPr lang="en-US" sz="1150" dirty="0">
                <a:solidFill>
                  <a:srgbClr val="3A3733"/>
                </a:solidFill>
                <a:latin typeface="Calibri" pitchFamily="34" charset="0"/>
                <a:ea typeface="Calibri" pitchFamily="34" charset="-122"/>
                <a:cs typeface="Calibri" pitchFamily="34" charset="-120"/>
              </a:rPr>
              <a:t>Labelled high, medium or low confidence when it was collected</a:t>
            </a:r>
            <a:endParaRPr lang="en-US" sz="1150" dirty="0"/>
          </a:p>
        </p:txBody>
      </p:sp>
      <p:sp>
        <p:nvSpPr>
          <p:cNvPr id="8" name="Shape 6"/>
          <p:cNvSpPr/>
          <p:nvPr/>
        </p:nvSpPr>
        <p:spPr>
          <a:xfrm>
            <a:off x="6236208" y="1874520"/>
            <a:ext cx="5394960" cy="1874520"/>
          </a:xfrm>
          <a:prstGeom prst="roundRect">
            <a:avLst>
              <a:gd name="adj" fmla="val 2683"/>
            </a:avLst>
          </a:prstGeom>
          <a:solidFill>
            <a:srgbClr val="F8E3DC"/>
          </a:solidFill>
          <a:ln w="9525">
            <a:solidFill>
              <a:srgbClr val="EBCFC6"/>
            </a:solidFill>
            <a:prstDash val="solid"/>
          </a:ln>
        </p:spPr>
      </p:sp>
      <p:sp>
        <p:nvSpPr>
          <p:cNvPr id="9" name="Text 7"/>
          <p:cNvSpPr txBox="1"/>
          <p:nvPr/>
        </p:nvSpPr>
        <p:spPr>
          <a:xfrm>
            <a:off x="6492240" y="2048256"/>
            <a:ext cx="4937760" cy="274320"/>
          </a:xfrm>
          <a:prstGeom prst="rect">
            <a:avLst/>
          </a:prstGeom>
          <a:noFill/>
          <a:ln/>
        </p:spPr>
        <p:txBody>
          <a:bodyPr wrap="square" lIns="0" tIns="0" rIns="0" bIns="0" rtlCol="0" anchor="ctr"/>
          <a:lstStyle/>
          <a:p>
            <a:pPr indent="0" marL="0">
              <a:buNone/>
            </a:pPr>
            <a:r>
              <a:rPr lang="en-US" sz="1400" b="1" dirty="0">
                <a:solidFill>
                  <a:srgbClr val="B33A20"/>
                </a:solidFill>
                <a:latin typeface="Calibri" pitchFamily="34" charset="0"/>
                <a:ea typeface="Calibri" pitchFamily="34" charset="-122"/>
                <a:cs typeface="Calibri" pitchFamily="34" charset="-120"/>
              </a:rPr>
              <a:t>A record is NOT</a:t>
            </a:r>
            <a:endParaRPr lang="en-US" sz="1400" dirty="0"/>
          </a:p>
        </p:txBody>
      </p:sp>
      <p:sp>
        <p:nvSpPr>
          <p:cNvPr id="10" name="Text 8"/>
          <p:cNvSpPr txBox="1"/>
          <p:nvPr/>
        </p:nvSpPr>
        <p:spPr>
          <a:xfrm>
            <a:off x="6492240" y="2395728"/>
            <a:ext cx="4892040" cy="1234440"/>
          </a:xfrm>
          <a:prstGeom prst="rect">
            <a:avLst/>
          </a:prstGeom>
          <a:noFill/>
          <a:ln/>
        </p:spPr>
        <p:txBody>
          <a:bodyPr wrap="square" lIns="0" tIns="0" rIns="0" bIns="0" rtlCol="0" anchor="t"/>
          <a:lstStyle/>
          <a:p>
            <a:pPr marL="342900" indent="-342900">
              <a:lnSpc>
                <a:spcPts val="1500"/>
              </a:lnSpc>
              <a:spcAft>
                <a:spcPts val="500"/>
              </a:spcAft>
              <a:buSzPct val="100000"/>
              <a:buChar char="•"/>
            </a:pPr>
            <a:r>
              <a:rPr lang="en-US" sz="1150" dirty="0">
                <a:solidFill>
                  <a:srgbClr val="3A3733"/>
                </a:solidFill>
                <a:latin typeface="Calibri" pitchFamily="34" charset="0"/>
                <a:ea typeface="Calibri" pitchFamily="34" charset="-122"/>
                <a:cs typeface="Calibri" pitchFamily="34" charset="-120"/>
              </a:rPr>
              <a:t>A verified product fact, a benchmark, or a controlled head-to-head test</a:t>
            </a:r>
            <a:endParaRPr lang="en-US" sz="1150" dirty="0"/>
          </a:p>
          <a:p>
            <a:pPr marL="342900" indent="-342900">
              <a:lnSpc>
                <a:spcPts val="1500"/>
              </a:lnSpc>
              <a:spcAft>
                <a:spcPts val="500"/>
              </a:spcAft>
              <a:buSzPct val="100000"/>
              <a:buChar char="•"/>
            </a:pPr>
            <a:r>
              <a:rPr lang="en-US" sz="1150" dirty="0">
                <a:solidFill>
                  <a:srgbClr val="3A3733"/>
                </a:solidFill>
                <a:latin typeface="Calibri" pitchFamily="34" charset="0"/>
                <a:ea typeface="Calibri" pitchFamily="34" charset="-122"/>
                <a:cs typeface="Calibri" pitchFamily="34" charset="-120"/>
              </a:rPr>
              <a:t>A representative sample — posters self-select, and skeptics post more</a:t>
            </a:r>
            <a:endParaRPr lang="en-US" sz="1150" dirty="0"/>
          </a:p>
          <a:p>
            <a:pPr marL="342900" indent="-342900">
              <a:lnSpc>
                <a:spcPts val="1500"/>
              </a:lnSpc>
              <a:spcAft>
                <a:spcPts val="500"/>
              </a:spcAft>
              <a:buSzPct val="100000"/>
              <a:buChar char="•"/>
            </a:pPr>
            <a:r>
              <a:rPr lang="en-US" sz="1150" dirty="0">
                <a:solidFill>
                  <a:srgbClr val="3A3733"/>
                </a:solidFill>
                <a:latin typeface="Calibri" pitchFamily="34" charset="0"/>
                <a:ea typeface="Calibri" pitchFamily="34" charset="-122"/>
                <a:cs typeface="Calibri" pitchFamily="34" charset="-120"/>
              </a:rPr>
              <a:t>Free of vendor participation, which some threads disclose and others do not</a:t>
            </a:r>
            <a:endParaRPr lang="en-US" sz="1150" dirty="0"/>
          </a:p>
        </p:txBody>
      </p:sp>
      <p:sp>
        <p:nvSpPr>
          <p:cNvPr id="11" name="Shape 9"/>
          <p:cNvSpPr/>
          <p:nvPr/>
        </p:nvSpPr>
        <p:spPr>
          <a:xfrm>
            <a:off x="566928" y="4041648"/>
            <a:ext cx="11064240" cy="10973"/>
          </a:xfrm>
          <a:prstGeom prst="rect">
            <a:avLst/>
          </a:prstGeom>
          <a:solidFill>
            <a:srgbClr val="DED9D0"/>
          </a:solidFill>
          <a:ln/>
        </p:spPr>
      </p:sp>
      <p:sp>
        <p:nvSpPr>
          <p:cNvPr id="12" name="Text 10"/>
          <p:cNvSpPr txBox="1"/>
          <p:nvPr/>
        </p:nvSpPr>
        <p:spPr>
          <a:xfrm>
            <a:off x="566928" y="4315968"/>
            <a:ext cx="2606040" cy="658368"/>
          </a:xfrm>
          <a:prstGeom prst="rect">
            <a:avLst/>
          </a:prstGeom>
          <a:noFill/>
          <a:ln/>
        </p:spPr>
        <p:txBody>
          <a:bodyPr wrap="square" lIns="0" tIns="0" rIns="0" bIns="0" rtlCol="0" anchor="ctr"/>
          <a:lstStyle/>
          <a:p>
            <a:pPr indent="0" marL="0">
              <a:buNone/>
            </a:pPr>
            <a:r>
              <a:rPr lang="en-US" sz="4400" b="1" dirty="0">
                <a:solidFill>
                  <a:srgbClr val="1B1A17"/>
                </a:solidFill>
                <a:latin typeface="Cambria" pitchFamily="34" charset="0"/>
                <a:ea typeface="Cambria" pitchFamily="34" charset="-122"/>
                <a:cs typeface="Cambria" pitchFamily="34" charset="-120"/>
              </a:rPr>
              <a:t>116</a:t>
            </a:r>
            <a:endParaRPr lang="en-US" sz="4400" dirty="0"/>
          </a:p>
        </p:txBody>
      </p:sp>
      <p:sp>
        <p:nvSpPr>
          <p:cNvPr id="13" name="Text 11"/>
          <p:cNvSpPr txBox="1"/>
          <p:nvPr/>
        </p:nvSpPr>
        <p:spPr>
          <a:xfrm>
            <a:off x="566928" y="4974336"/>
            <a:ext cx="2606040" cy="566928"/>
          </a:xfrm>
          <a:prstGeom prst="rect">
            <a:avLst/>
          </a:prstGeom>
          <a:noFill/>
          <a:ln/>
        </p:spPr>
        <p:txBody>
          <a:bodyPr wrap="square" lIns="0" tIns="0" rIns="0" bIns="0" rtlCol="0" anchor="ctr"/>
          <a:lstStyle/>
          <a:p>
            <a:pPr indent="0" marL="0">
              <a:lnSpc>
                <a:spcPts val="1500"/>
              </a:lnSpc>
              <a:buNone/>
            </a:pPr>
            <a:r>
              <a:rPr lang="en-US" sz="1150" dirty="0">
                <a:solidFill>
                  <a:srgbClr val="55524B"/>
                </a:solidFill>
                <a:latin typeface="Calibri" pitchFamily="34" charset="0"/>
                <a:ea typeface="Calibri" pitchFamily="34" charset="-122"/>
                <a:cs typeface="Calibri" pitchFamily="34" charset="-120"/>
              </a:rPr>
              <a:t>records carry an ISO date between March and August 2026 — this reads the market as it is now</a:t>
            </a:r>
            <a:endParaRPr lang="en-US" sz="1150" dirty="0"/>
          </a:p>
        </p:txBody>
      </p:sp>
      <p:sp>
        <p:nvSpPr>
          <p:cNvPr id="14" name="Text 12"/>
          <p:cNvSpPr txBox="1"/>
          <p:nvPr/>
        </p:nvSpPr>
        <p:spPr>
          <a:xfrm>
            <a:off x="3364992" y="4315968"/>
            <a:ext cx="2606040" cy="658368"/>
          </a:xfrm>
          <a:prstGeom prst="rect">
            <a:avLst/>
          </a:prstGeom>
          <a:noFill/>
          <a:ln/>
        </p:spPr>
        <p:txBody>
          <a:bodyPr wrap="square" lIns="0" tIns="0" rIns="0" bIns="0" rtlCol="0" anchor="ctr"/>
          <a:lstStyle/>
          <a:p>
            <a:pPr indent="0" marL="0">
              <a:buNone/>
            </a:pPr>
            <a:r>
              <a:rPr lang="en-US" sz="4400" b="1" dirty="0">
                <a:solidFill>
                  <a:srgbClr val="1B1A17"/>
                </a:solidFill>
                <a:latin typeface="Cambria" pitchFamily="34" charset="0"/>
                <a:ea typeface="Cambria" pitchFamily="34" charset="-122"/>
                <a:cs typeface="Cambria" pitchFamily="34" charset="-120"/>
              </a:rPr>
              <a:t>71%</a:t>
            </a:r>
            <a:endParaRPr lang="en-US" sz="4400" dirty="0"/>
          </a:p>
        </p:txBody>
      </p:sp>
      <p:sp>
        <p:nvSpPr>
          <p:cNvPr id="15" name="Text 13"/>
          <p:cNvSpPr txBox="1"/>
          <p:nvPr/>
        </p:nvSpPr>
        <p:spPr>
          <a:xfrm>
            <a:off x="3364992" y="4974336"/>
            <a:ext cx="2606040" cy="566928"/>
          </a:xfrm>
          <a:prstGeom prst="rect">
            <a:avLst/>
          </a:prstGeom>
          <a:noFill/>
          <a:ln/>
        </p:spPr>
        <p:txBody>
          <a:bodyPr wrap="square" lIns="0" tIns="0" rIns="0" bIns="0" rtlCol="0" anchor="ctr"/>
          <a:lstStyle/>
          <a:p>
            <a:pPr indent="0" marL="0">
              <a:lnSpc>
                <a:spcPts val="1500"/>
              </a:lnSpc>
              <a:buNone/>
            </a:pPr>
            <a:r>
              <a:rPr lang="en-US" sz="1150" dirty="0">
                <a:solidFill>
                  <a:srgbClr val="55524B"/>
                </a:solidFill>
                <a:latin typeface="Calibri" pitchFamily="34" charset="0"/>
                <a:ea typeface="Calibri" pitchFamily="34" charset="-122"/>
                <a:cs typeface="Calibri" pitchFamily="34" charset="-120"/>
              </a:rPr>
              <a:t>of records come from r/legaltech, r/biglaw and r/Lawyertalk</a:t>
            </a:r>
            <a:endParaRPr lang="en-US" sz="1150" dirty="0"/>
          </a:p>
        </p:txBody>
      </p:sp>
      <p:sp>
        <p:nvSpPr>
          <p:cNvPr id="16" name="Text 14"/>
          <p:cNvSpPr txBox="1"/>
          <p:nvPr/>
        </p:nvSpPr>
        <p:spPr>
          <a:xfrm>
            <a:off x="6163056" y="4315968"/>
            <a:ext cx="2606040" cy="658368"/>
          </a:xfrm>
          <a:prstGeom prst="rect">
            <a:avLst/>
          </a:prstGeom>
          <a:noFill/>
          <a:ln/>
        </p:spPr>
        <p:txBody>
          <a:bodyPr wrap="square" lIns="0" tIns="0" rIns="0" bIns="0" rtlCol="0" anchor="ctr"/>
          <a:lstStyle/>
          <a:p>
            <a:pPr indent="0" marL="0">
              <a:buNone/>
            </a:pPr>
            <a:r>
              <a:rPr lang="en-US" sz="4400" b="1" dirty="0">
                <a:solidFill>
                  <a:srgbClr val="1B1A17"/>
                </a:solidFill>
                <a:latin typeface="Cambria" pitchFamily="34" charset="0"/>
                <a:ea typeface="Cambria" pitchFamily="34" charset="-122"/>
                <a:cs typeface="Cambria" pitchFamily="34" charset="-120"/>
              </a:rPr>
              <a:t>11</a:t>
            </a:r>
            <a:endParaRPr lang="en-US" sz="4400" dirty="0"/>
          </a:p>
        </p:txBody>
      </p:sp>
      <p:sp>
        <p:nvSpPr>
          <p:cNvPr id="17" name="Text 15"/>
          <p:cNvSpPr txBox="1"/>
          <p:nvPr/>
        </p:nvSpPr>
        <p:spPr>
          <a:xfrm>
            <a:off x="6163056" y="4974336"/>
            <a:ext cx="2606040" cy="566928"/>
          </a:xfrm>
          <a:prstGeom prst="rect">
            <a:avLst/>
          </a:prstGeom>
          <a:noFill/>
          <a:ln/>
        </p:spPr>
        <p:txBody>
          <a:bodyPr wrap="square" lIns="0" tIns="0" rIns="0" bIns="0" rtlCol="0" anchor="ctr"/>
          <a:lstStyle/>
          <a:p>
            <a:pPr indent="0" marL="0">
              <a:lnSpc>
                <a:spcPts val="1500"/>
              </a:lnSpc>
              <a:buNone/>
            </a:pPr>
            <a:r>
              <a:rPr lang="en-US" sz="1150" dirty="0">
                <a:solidFill>
                  <a:srgbClr val="55524B"/>
                </a:solidFill>
                <a:latin typeface="Calibri" pitchFamily="34" charset="0"/>
                <a:ea typeface="Calibri" pitchFamily="34" charset="-122"/>
                <a:cs typeface="Calibri" pitchFamily="34" charset="-120"/>
              </a:rPr>
              <a:t>threads were removed or deleted and carry title-level signal only</a:t>
            </a:r>
            <a:endParaRPr lang="en-US" sz="1150" dirty="0"/>
          </a:p>
        </p:txBody>
      </p:sp>
      <p:sp>
        <p:nvSpPr>
          <p:cNvPr id="18" name="Text 16"/>
          <p:cNvSpPr txBox="1"/>
          <p:nvPr/>
        </p:nvSpPr>
        <p:spPr>
          <a:xfrm>
            <a:off x="8961120" y="4315968"/>
            <a:ext cx="2606040" cy="658368"/>
          </a:xfrm>
          <a:prstGeom prst="rect">
            <a:avLst/>
          </a:prstGeom>
          <a:noFill/>
          <a:ln/>
        </p:spPr>
        <p:txBody>
          <a:bodyPr wrap="square" lIns="0" tIns="0" rIns="0" bIns="0" rtlCol="0" anchor="ctr"/>
          <a:lstStyle/>
          <a:p>
            <a:pPr indent="0" marL="0">
              <a:buNone/>
            </a:pPr>
            <a:r>
              <a:rPr lang="en-US" sz="4400" b="1" dirty="0">
                <a:solidFill>
                  <a:srgbClr val="B33A20"/>
                </a:solidFill>
                <a:latin typeface="Cambria" pitchFamily="34" charset="0"/>
                <a:ea typeface="Cambria" pitchFamily="34" charset="-122"/>
                <a:cs typeface="Cambria" pitchFamily="34" charset="-120"/>
              </a:rPr>
              <a:t>0</a:t>
            </a:r>
            <a:endParaRPr lang="en-US" sz="4400" dirty="0"/>
          </a:p>
        </p:txBody>
      </p:sp>
      <p:sp>
        <p:nvSpPr>
          <p:cNvPr id="19" name="Text 17"/>
          <p:cNvSpPr txBox="1"/>
          <p:nvPr/>
        </p:nvSpPr>
        <p:spPr>
          <a:xfrm>
            <a:off x="8961120" y="4974336"/>
            <a:ext cx="2606040" cy="566928"/>
          </a:xfrm>
          <a:prstGeom prst="rect">
            <a:avLst/>
          </a:prstGeom>
          <a:noFill/>
          <a:ln/>
        </p:spPr>
        <p:txBody>
          <a:bodyPr wrap="square" lIns="0" tIns="0" rIns="0" bIns="0" rtlCol="0" anchor="ctr"/>
          <a:lstStyle/>
          <a:p>
            <a:pPr indent="0" marL="0">
              <a:lnSpc>
                <a:spcPts val="1500"/>
              </a:lnSpc>
              <a:buNone/>
            </a:pPr>
            <a:r>
              <a:rPr lang="en-US" sz="1150" dirty="0">
                <a:solidFill>
                  <a:srgbClr val="55524B"/>
                </a:solidFill>
                <a:latin typeface="Calibri" pitchFamily="34" charset="0"/>
                <a:ea typeface="Calibri" pitchFamily="34" charset="-122"/>
                <a:cs typeface="Calibri" pitchFamily="34" charset="-120"/>
              </a:rPr>
              <a:t>controlled benchmarks with matched prompts across vendors</a:t>
            </a:r>
            <a:endParaRPr lang="en-US" sz="1150" dirty="0"/>
          </a:p>
        </p:txBody>
      </p:sp>
      <p:sp>
        <p:nvSpPr>
          <p:cNvPr id="20" name="Text 18"/>
          <p:cNvSpPr txBox="1"/>
          <p:nvPr/>
        </p:nvSpPr>
        <p:spPr>
          <a:xfrm>
            <a:off x="566928" y="6345936"/>
            <a:ext cx="7772400" cy="274320"/>
          </a:xfrm>
          <a:prstGeom prst="rect">
            <a:avLst/>
          </a:prstGeom>
          <a:noFill/>
          <a:ln/>
        </p:spPr>
        <p:txBody>
          <a:bodyPr wrap="square" lIns="0" tIns="0" rIns="0" bIns="0" rtlCol="0" anchor="ctr"/>
          <a:lstStyle/>
          <a:p>
            <a:pPr indent="0" marL="0">
              <a:buNone/>
            </a:pPr>
            <a:r>
              <a:rPr lang="en-US" sz="900" dirty="0">
                <a:solidFill>
                  <a:srgbClr val="7A756C"/>
                </a:solidFill>
                <a:latin typeface="Calibri" pitchFamily="34" charset="0"/>
                <a:ea typeface="Calibri" pitchFamily="34" charset="-122"/>
                <a:cs typeface="Calibri" pitchFamily="34" charset="-120"/>
              </a:rPr>
              <a:t>Themis.ai · Voice of the Practitioner · Method</a:t>
            </a:r>
            <a:endParaRPr lang="en-US" sz="900" dirty="0"/>
          </a:p>
        </p:txBody>
      </p:sp>
      <p:sp>
        <p:nvSpPr>
          <p:cNvPr id="21" name="Text 19"/>
          <p:cNvSpPr txBox="1"/>
          <p:nvPr/>
        </p:nvSpPr>
        <p:spPr>
          <a:xfrm>
            <a:off x="11064240" y="6345936"/>
            <a:ext cx="566928" cy="274320"/>
          </a:xfrm>
          <a:prstGeom prst="rect">
            <a:avLst/>
          </a:prstGeom>
          <a:noFill/>
          <a:ln/>
        </p:spPr>
        <p:txBody>
          <a:bodyPr wrap="square" lIns="0" tIns="0" rIns="0" bIns="0" rtlCol="0" anchor="ctr"/>
          <a:lstStyle/>
          <a:p>
            <a:pPr algn="r" indent="0" marL="0">
              <a:buNone/>
            </a:pPr>
            <a:r>
              <a:rPr lang="en-US" sz="900" dirty="0">
                <a:solidFill>
                  <a:srgbClr val="7A756C"/>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F1"/>
        </a:solidFill>
      </p:bgPr>
    </p:bg>
    <p:spTree>
      <p:nvGrpSpPr>
        <p:cNvPr id="1" name=""/>
        <p:cNvGrpSpPr/>
        <p:nvPr/>
      </p:nvGrpSpPr>
      <p:grpSpPr>
        <a:xfrm>
          <a:off x="0" y="0"/>
          <a:ext cx="0" cy="0"/>
          <a:chOff x="0" y="0"/>
          <a:chExt cx="0" cy="0"/>
        </a:xfrm>
      </p:grpSpPr>
      <p:sp>
        <p:nvSpPr>
          <p:cNvPr id="2" name="Text 0"/>
          <p:cNvSpPr txBox="1"/>
          <p:nvPr/>
        </p:nvSpPr>
        <p:spPr>
          <a:xfrm>
            <a:off x="566928" y="420624"/>
            <a:ext cx="10515600" cy="219456"/>
          </a:xfrm>
          <a:prstGeom prst="rect">
            <a:avLst/>
          </a:prstGeom>
          <a:noFill/>
          <a:ln/>
        </p:spPr>
        <p:txBody>
          <a:bodyPr wrap="square" lIns="0" tIns="0" rIns="0" bIns="0" rtlCol="0" anchor="ctr"/>
          <a:lstStyle/>
          <a:p>
            <a:pPr indent="0" marL="0">
              <a:buNone/>
            </a:pPr>
            <a:r>
              <a:rPr lang="en-US" sz="1050" b="1" spc="160" kern="0" dirty="0">
                <a:solidFill>
                  <a:srgbClr val="5F5AC0"/>
                </a:solidFill>
                <a:latin typeface="Calibri" pitchFamily="34" charset="0"/>
                <a:ea typeface="Calibri" pitchFamily="34" charset="-122"/>
                <a:cs typeface="Calibri" pitchFamily="34" charset="-120"/>
              </a:rPr>
              <a:t>CORPUS SHAPE</a:t>
            </a:r>
            <a:endParaRPr lang="en-US" sz="1050" dirty="0"/>
          </a:p>
        </p:txBody>
      </p:sp>
      <p:sp>
        <p:nvSpPr>
          <p:cNvPr id="3" name="Text 1"/>
          <p:cNvSpPr txBox="1"/>
          <p:nvPr/>
        </p:nvSpPr>
        <p:spPr>
          <a:xfrm>
            <a:off x="566928" y="694944"/>
            <a:ext cx="10607040" cy="621792"/>
          </a:xfrm>
          <a:prstGeom prst="rect">
            <a:avLst/>
          </a:prstGeom>
          <a:noFill/>
          <a:ln/>
        </p:spPr>
        <p:txBody>
          <a:bodyPr wrap="square" lIns="0" tIns="0" rIns="0" bIns="0" rtlCol="0" anchor="ctr"/>
          <a:lstStyle/>
          <a:p>
            <a:pPr indent="0" marL="0">
              <a:buNone/>
            </a:pPr>
            <a:r>
              <a:rPr lang="en-US" sz="3100" b="1" dirty="0">
                <a:solidFill>
                  <a:srgbClr val="1B1A17"/>
                </a:solidFill>
                <a:latin typeface="Cambria" pitchFamily="34" charset="0"/>
                <a:ea typeface="Cambria" pitchFamily="34" charset="-122"/>
                <a:cs typeface="Cambria" pitchFamily="34" charset="-120"/>
              </a:rPr>
              <a:t>Where the conversation lives, and who gets named</a:t>
            </a:r>
            <a:endParaRPr lang="en-US" sz="3100" dirty="0"/>
          </a:p>
        </p:txBody>
      </p:sp>
      <p:sp>
        <p:nvSpPr>
          <p:cNvPr id="4" name="Text 2"/>
          <p:cNvSpPr txBox="1"/>
          <p:nvPr/>
        </p:nvSpPr>
        <p:spPr>
          <a:xfrm>
            <a:off x="566928" y="1316736"/>
            <a:ext cx="10607040" cy="384048"/>
          </a:xfrm>
          <a:prstGeom prst="rect">
            <a:avLst/>
          </a:prstGeom>
          <a:noFill/>
          <a:ln/>
        </p:spPr>
        <p:txBody>
          <a:bodyPr wrap="square" lIns="0" tIns="0" rIns="0" bIns="0" rtlCol="0" anchor="ctr"/>
          <a:lstStyle/>
          <a:p>
            <a:pPr indent="0" marL="0">
              <a:buNone/>
            </a:pPr>
            <a:r>
              <a:rPr lang="en-US" sz="1400" dirty="0">
                <a:solidFill>
                  <a:srgbClr val="55524B"/>
                </a:solidFill>
                <a:latin typeface="Calibri" pitchFamily="34" charset="0"/>
                <a:ea typeface="Calibri" pitchFamily="34" charset="-122"/>
                <a:cs typeface="Calibri" pitchFamily="34" charset="-120"/>
              </a:rPr>
              <a:t>Practitioner subreddits dominate. Two general models are named more often than every legal-AI platform combined.</a:t>
            </a:r>
            <a:endParaRPr lang="en-US" sz="1400" dirty="0"/>
          </a:p>
        </p:txBody>
      </p:sp>
      <p:graphicFrame>
        <p:nvGraphicFramePr>
          <p:cNvPr id="5" name="Chart 0" descr=""/>
          <p:cNvGraphicFramePr/>
          <p:nvPr/>
        </p:nvGraphicFramePr>
        <p:xfrm>
          <a:off x="502920" y="1828800"/>
          <a:ext cx="5440680" cy="420624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6172200" y="1828800"/>
          <a:ext cx="5486400" cy="4206240"/>
        </p:xfrm>
        <a:graphic xmlns:a="http://schemas.openxmlformats.org/drawingml/2006/main">
          <a:graphicData uri="http://schemas.openxmlformats.org/drawingml/2006/chart">
            <c:chart xmlns:c="http://schemas.openxmlformats.org/drawingml/2006/chart" r:id="rId2"/>
          </a:graphicData>
        </a:graphic>
      </p:graphicFrame>
      <p:sp>
        <p:nvSpPr>
          <p:cNvPr id="7" name="Text 3"/>
          <p:cNvSpPr txBox="1"/>
          <p:nvPr/>
        </p:nvSpPr>
        <p:spPr>
          <a:xfrm>
            <a:off x="566928" y="6345936"/>
            <a:ext cx="7772400" cy="274320"/>
          </a:xfrm>
          <a:prstGeom prst="rect">
            <a:avLst/>
          </a:prstGeom>
          <a:noFill/>
          <a:ln/>
        </p:spPr>
        <p:txBody>
          <a:bodyPr wrap="square" lIns="0" tIns="0" rIns="0" bIns="0" rtlCol="0" anchor="ctr"/>
          <a:lstStyle/>
          <a:p>
            <a:pPr indent="0" marL="0">
              <a:buNone/>
            </a:pPr>
            <a:r>
              <a:rPr lang="en-US" sz="900" dirty="0">
                <a:solidFill>
                  <a:srgbClr val="7A756C"/>
                </a:solidFill>
                <a:latin typeface="Calibri" pitchFamily="34" charset="0"/>
                <a:ea typeface="Calibri" pitchFamily="34" charset="-122"/>
                <a:cs typeface="Calibri" pitchFamily="34" charset="-120"/>
              </a:rPr>
              <a:t>Themis.ai · Voice of the Practitioner · Corpus shape</a:t>
            </a:r>
            <a:endParaRPr lang="en-US" sz="900" dirty="0"/>
          </a:p>
        </p:txBody>
      </p:sp>
      <p:sp>
        <p:nvSpPr>
          <p:cNvPr id="8" name="Text 4"/>
          <p:cNvSpPr txBox="1"/>
          <p:nvPr/>
        </p:nvSpPr>
        <p:spPr>
          <a:xfrm>
            <a:off x="11064240" y="6345936"/>
            <a:ext cx="566928" cy="274320"/>
          </a:xfrm>
          <a:prstGeom prst="rect">
            <a:avLst/>
          </a:prstGeom>
          <a:noFill/>
          <a:ln/>
        </p:spPr>
        <p:txBody>
          <a:bodyPr wrap="square" lIns="0" tIns="0" rIns="0" bIns="0" rtlCol="0" anchor="ctr"/>
          <a:lstStyle/>
          <a:p>
            <a:pPr algn="r" indent="0" marL="0">
              <a:buNone/>
            </a:pPr>
            <a:r>
              <a:rPr lang="en-US" sz="900" dirty="0">
                <a:solidFill>
                  <a:srgbClr val="7A756C"/>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F1"/>
        </a:solidFill>
      </p:bgPr>
    </p:bg>
    <p:spTree>
      <p:nvGrpSpPr>
        <p:cNvPr id="1" name=""/>
        <p:cNvGrpSpPr/>
        <p:nvPr/>
      </p:nvGrpSpPr>
      <p:grpSpPr>
        <a:xfrm>
          <a:off x="0" y="0"/>
          <a:ext cx="0" cy="0"/>
          <a:chOff x="0" y="0"/>
          <a:chExt cx="0" cy="0"/>
        </a:xfrm>
      </p:grpSpPr>
      <p:sp>
        <p:nvSpPr>
          <p:cNvPr id="2" name="Text 0"/>
          <p:cNvSpPr txBox="1"/>
          <p:nvPr/>
        </p:nvSpPr>
        <p:spPr>
          <a:xfrm>
            <a:off x="566928" y="420624"/>
            <a:ext cx="10515600" cy="219456"/>
          </a:xfrm>
          <a:prstGeom prst="rect">
            <a:avLst/>
          </a:prstGeom>
          <a:noFill/>
          <a:ln/>
        </p:spPr>
        <p:txBody>
          <a:bodyPr wrap="square" lIns="0" tIns="0" rIns="0" bIns="0" rtlCol="0" anchor="ctr"/>
          <a:lstStyle/>
          <a:p>
            <a:pPr indent="0" marL="0">
              <a:buNone/>
            </a:pPr>
            <a:r>
              <a:rPr lang="en-US" sz="1050" b="1" spc="160" kern="0" dirty="0">
                <a:solidFill>
                  <a:srgbClr val="5F5AC0"/>
                </a:solidFill>
                <a:latin typeface="Calibri" pitchFamily="34" charset="0"/>
                <a:ea typeface="Calibri" pitchFamily="34" charset="-122"/>
                <a:cs typeface="Calibri" pitchFamily="34" charset="-120"/>
              </a:rPr>
              <a:t>THE LANDSCAPE</a:t>
            </a:r>
            <a:endParaRPr lang="en-US" sz="1050" dirty="0"/>
          </a:p>
        </p:txBody>
      </p:sp>
      <p:sp>
        <p:nvSpPr>
          <p:cNvPr id="3" name="Text 1"/>
          <p:cNvSpPr txBox="1"/>
          <p:nvPr/>
        </p:nvSpPr>
        <p:spPr>
          <a:xfrm>
            <a:off x="566928" y="694944"/>
            <a:ext cx="10607040" cy="621792"/>
          </a:xfrm>
          <a:prstGeom prst="rect">
            <a:avLst/>
          </a:prstGeom>
          <a:noFill/>
          <a:ln/>
        </p:spPr>
        <p:txBody>
          <a:bodyPr wrap="square" lIns="0" tIns="0" rIns="0" bIns="0" rtlCol="0" anchor="ctr"/>
          <a:lstStyle/>
          <a:p>
            <a:pPr indent="0" marL="0">
              <a:buNone/>
            </a:pPr>
            <a:r>
              <a:rPr lang="en-US" sz="3100" b="1" dirty="0">
                <a:solidFill>
                  <a:srgbClr val="1B1A17"/>
                </a:solidFill>
                <a:latin typeface="Cambria" pitchFamily="34" charset="0"/>
                <a:ea typeface="Cambria" pitchFamily="34" charset="-122"/>
                <a:cs typeface="Cambria" pitchFamily="34" charset="-120"/>
              </a:rPr>
              <a:t>Three tiers — and none of them owns the middle</a:t>
            </a:r>
            <a:endParaRPr lang="en-US" sz="3100" dirty="0"/>
          </a:p>
        </p:txBody>
      </p:sp>
      <p:sp>
        <p:nvSpPr>
          <p:cNvPr id="4" name="Text 2"/>
          <p:cNvSpPr txBox="1"/>
          <p:nvPr/>
        </p:nvSpPr>
        <p:spPr>
          <a:xfrm>
            <a:off x="566928" y="1316736"/>
            <a:ext cx="10607040" cy="384048"/>
          </a:xfrm>
          <a:prstGeom prst="rect">
            <a:avLst/>
          </a:prstGeom>
          <a:noFill/>
          <a:ln/>
        </p:spPr>
        <p:txBody>
          <a:bodyPr wrap="square" lIns="0" tIns="0" rIns="0" bIns="0" rtlCol="0" anchor="ctr"/>
          <a:lstStyle/>
          <a:p>
            <a:pPr indent="0" marL="0">
              <a:buNone/>
            </a:pPr>
            <a:r>
              <a:rPr lang="en-US" sz="1400" dirty="0">
                <a:solidFill>
                  <a:srgbClr val="55524B"/>
                </a:solidFill>
                <a:latin typeface="Calibri" pitchFamily="34" charset="0"/>
                <a:ea typeface="Calibri" pitchFamily="34" charset="-122"/>
                <a:cs typeface="Calibri" pitchFamily="34" charset="-120"/>
              </a:rPr>
              <a:t>Practitioners describe a clean division of labour, plus a gap nobody fills.</a:t>
            </a:r>
            <a:endParaRPr lang="en-US" sz="1400" dirty="0"/>
          </a:p>
        </p:txBody>
      </p:sp>
      <p:sp>
        <p:nvSpPr>
          <p:cNvPr id="5" name="Shape 3"/>
          <p:cNvSpPr/>
          <p:nvPr/>
        </p:nvSpPr>
        <p:spPr>
          <a:xfrm>
            <a:off x="566928" y="1883664"/>
            <a:ext cx="3493008" cy="3127248"/>
          </a:xfrm>
          <a:prstGeom prst="roundRect">
            <a:avLst>
              <a:gd name="adj" fmla="val 1608"/>
            </a:avLst>
          </a:prstGeom>
          <a:solidFill>
            <a:srgbClr val="FFFEFB"/>
          </a:solidFill>
          <a:ln w="9525">
            <a:solidFill>
              <a:srgbClr val="DED9D0"/>
            </a:solidFill>
            <a:prstDash val="solid"/>
          </a:ln>
        </p:spPr>
      </p:sp>
      <p:sp>
        <p:nvSpPr>
          <p:cNvPr id="6" name="Shape 4"/>
          <p:cNvSpPr/>
          <p:nvPr/>
        </p:nvSpPr>
        <p:spPr>
          <a:xfrm>
            <a:off x="841248" y="2139696"/>
            <a:ext cx="274320" cy="91440"/>
          </a:xfrm>
          <a:prstGeom prst="rect">
            <a:avLst/>
          </a:prstGeom>
          <a:solidFill>
            <a:srgbClr val="5F5AC0"/>
          </a:solidFill>
          <a:ln/>
        </p:spPr>
      </p:sp>
      <p:sp>
        <p:nvSpPr>
          <p:cNvPr id="7" name="Text 5"/>
          <p:cNvSpPr txBox="1"/>
          <p:nvPr/>
        </p:nvSpPr>
        <p:spPr>
          <a:xfrm>
            <a:off x="841248" y="2304288"/>
            <a:ext cx="2944368" cy="566928"/>
          </a:xfrm>
          <a:prstGeom prst="rect">
            <a:avLst/>
          </a:prstGeom>
          <a:noFill/>
          <a:ln/>
        </p:spPr>
        <p:txBody>
          <a:bodyPr wrap="square" lIns="0" tIns="0" rIns="0" bIns="0" rtlCol="0" anchor="ctr"/>
          <a:lstStyle/>
          <a:p>
            <a:pPr indent="0" marL="0">
              <a:lnSpc>
                <a:spcPts val="2100"/>
              </a:lnSpc>
              <a:buNone/>
            </a:pPr>
            <a:r>
              <a:rPr lang="en-US" sz="1700" b="1" dirty="0">
                <a:solidFill>
                  <a:srgbClr val="1B1A17"/>
                </a:solidFill>
                <a:latin typeface="Cambria" pitchFamily="34" charset="0"/>
                <a:ea typeface="Cambria" pitchFamily="34" charset="-122"/>
                <a:cs typeface="Cambria" pitchFamily="34" charset="-120"/>
              </a:rPr>
              <a:t>General frontier models</a:t>
            </a:r>
            <a:endParaRPr lang="en-US" sz="1700" dirty="0"/>
          </a:p>
        </p:txBody>
      </p:sp>
      <p:sp>
        <p:nvSpPr>
          <p:cNvPr id="8" name="Text 6"/>
          <p:cNvSpPr txBox="1"/>
          <p:nvPr/>
        </p:nvSpPr>
        <p:spPr>
          <a:xfrm>
            <a:off x="841248" y="2852928"/>
            <a:ext cx="2944368" cy="274320"/>
          </a:xfrm>
          <a:prstGeom prst="rect">
            <a:avLst/>
          </a:prstGeom>
          <a:noFill/>
          <a:ln/>
        </p:spPr>
        <p:txBody>
          <a:bodyPr wrap="square" lIns="0" tIns="0" rIns="0" bIns="0" rtlCol="0" anchor="ctr"/>
          <a:lstStyle/>
          <a:p>
            <a:pPr indent="0" marL="0">
              <a:buNone/>
            </a:pPr>
            <a:r>
              <a:rPr lang="en-US" sz="1100" b="1" dirty="0">
                <a:solidFill>
                  <a:srgbClr val="5F5AC0"/>
                </a:solidFill>
                <a:latin typeface="Calibri" pitchFamily="34" charset="0"/>
                <a:ea typeface="Calibri" pitchFamily="34" charset="-122"/>
                <a:cs typeface="Calibri" pitchFamily="34" charset="-120"/>
              </a:rPr>
              <a:t>Claude · ChatGPT · Gemini</a:t>
            </a:r>
            <a:endParaRPr lang="en-US" sz="1100" dirty="0"/>
          </a:p>
        </p:txBody>
      </p:sp>
      <p:sp>
        <p:nvSpPr>
          <p:cNvPr id="9" name="Text 7"/>
          <p:cNvSpPr txBox="1"/>
          <p:nvPr/>
        </p:nvSpPr>
        <p:spPr>
          <a:xfrm>
            <a:off x="841248" y="3218688"/>
            <a:ext cx="2944368" cy="219456"/>
          </a:xfrm>
          <a:prstGeom prst="rect">
            <a:avLst/>
          </a:prstGeom>
          <a:noFill/>
          <a:ln/>
        </p:spPr>
        <p:txBody>
          <a:bodyPr wrap="square" lIns="0" tIns="0" rIns="0" bIns="0" rtlCol="0" anchor="ctr"/>
          <a:lstStyle/>
          <a:p>
            <a:pPr indent="0" marL="0">
              <a:buNone/>
            </a:pPr>
            <a:r>
              <a:rPr lang="en-US" sz="950" b="1" spc="100" kern="0" dirty="0">
                <a:solidFill>
                  <a:srgbClr val="7A756C"/>
                </a:solidFill>
                <a:latin typeface="Calibri" pitchFamily="34" charset="0"/>
                <a:ea typeface="Calibri" pitchFamily="34" charset="-122"/>
                <a:cs typeface="Calibri" pitchFamily="34" charset="-120"/>
              </a:rPr>
              <a:t>Wins on</a:t>
            </a:r>
            <a:endParaRPr lang="en-US" sz="950" dirty="0"/>
          </a:p>
        </p:txBody>
      </p:sp>
      <p:sp>
        <p:nvSpPr>
          <p:cNvPr id="10" name="Text 8"/>
          <p:cNvSpPr txBox="1"/>
          <p:nvPr/>
        </p:nvSpPr>
        <p:spPr>
          <a:xfrm>
            <a:off x="841248" y="3438144"/>
            <a:ext cx="2944368" cy="694944"/>
          </a:xfrm>
          <a:prstGeom prst="rect">
            <a:avLst/>
          </a:prstGeom>
          <a:noFill/>
          <a:ln/>
        </p:spPr>
        <p:txBody>
          <a:bodyPr wrap="square" lIns="0" tIns="0" rIns="0" bIns="0" rtlCol="0" anchor="ctr"/>
          <a:lstStyle/>
          <a:p>
            <a:pPr indent="0" marL="0">
              <a:lnSpc>
                <a:spcPts val="1500"/>
              </a:lnSpc>
              <a:buNone/>
            </a:pPr>
            <a:r>
              <a:rPr lang="en-US" sz="1150" dirty="0">
                <a:solidFill>
                  <a:srgbClr val="3A3733"/>
                </a:solidFill>
                <a:latin typeface="Calibri" pitchFamily="34" charset="0"/>
                <a:ea typeface="Calibri" pitchFamily="34" charset="-122"/>
                <a:cs typeface="Calibri" pitchFamily="34" charset="-120"/>
              </a:rPr>
              <a:t>Cheapest, most flexible, best-reported drafting and synthesis. $20–$200/mo.</a:t>
            </a:r>
            <a:endParaRPr lang="en-US" sz="1150" dirty="0"/>
          </a:p>
        </p:txBody>
      </p:sp>
      <p:sp>
        <p:nvSpPr>
          <p:cNvPr id="11" name="Text 9"/>
          <p:cNvSpPr txBox="1"/>
          <p:nvPr/>
        </p:nvSpPr>
        <p:spPr>
          <a:xfrm>
            <a:off x="841248" y="4114800"/>
            <a:ext cx="2944368" cy="219456"/>
          </a:xfrm>
          <a:prstGeom prst="rect">
            <a:avLst/>
          </a:prstGeom>
          <a:noFill/>
          <a:ln/>
        </p:spPr>
        <p:txBody>
          <a:bodyPr wrap="square" lIns="0" tIns="0" rIns="0" bIns="0" rtlCol="0" anchor="ctr"/>
          <a:lstStyle/>
          <a:p>
            <a:pPr indent="0" marL="0">
              <a:buNone/>
            </a:pPr>
            <a:r>
              <a:rPr lang="en-US" sz="950" b="1" spc="100" kern="0" dirty="0">
                <a:solidFill>
                  <a:srgbClr val="7A756C"/>
                </a:solidFill>
                <a:latin typeface="Calibri" pitchFamily="34" charset="0"/>
                <a:ea typeface="Calibri" pitchFamily="34" charset="-122"/>
                <a:cs typeface="Calibri" pitchFamily="34" charset="-120"/>
              </a:rPr>
              <a:t>Loses on</a:t>
            </a:r>
            <a:endParaRPr lang="en-US" sz="950" dirty="0"/>
          </a:p>
        </p:txBody>
      </p:sp>
      <p:sp>
        <p:nvSpPr>
          <p:cNvPr id="12" name="Text 10"/>
          <p:cNvSpPr txBox="1"/>
          <p:nvPr/>
        </p:nvSpPr>
        <p:spPr>
          <a:xfrm>
            <a:off x="841248" y="4334256"/>
            <a:ext cx="2944368" cy="694944"/>
          </a:xfrm>
          <a:prstGeom prst="rect">
            <a:avLst/>
          </a:prstGeom>
          <a:noFill/>
          <a:ln/>
        </p:spPr>
        <p:txBody>
          <a:bodyPr wrap="square" lIns="0" tIns="0" rIns="0" bIns="0" rtlCol="0" anchor="ctr"/>
          <a:lstStyle/>
          <a:p>
            <a:pPr indent="0" marL="0">
              <a:lnSpc>
                <a:spcPts val="1500"/>
              </a:lnSpc>
              <a:buNone/>
            </a:pPr>
            <a:r>
              <a:rPr lang="en-US" sz="1150" dirty="0">
                <a:solidFill>
                  <a:srgbClr val="3A3733"/>
                </a:solidFill>
                <a:latin typeface="Calibri" pitchFamily="34" charset="0"/>
                <a:ea typeface="Calibri" pitchFamily="34" charset="-122"/>
                <a:cs typeface="Calibri" pitchFamily="34" charset="-120"/>
              </a:rPr>
              <a:t>No grounded citations. No in-document workflow. Context dies with the chat.</a:t>
            </a:r>
            <a:endParaRPr lang="en-US" sz="1150" dirty="0"/>
          </a:p>
        </p:txBody>
      </p:sp>
      <p:sp>
        <p:nvSpPr>
          <p:cNvPr id="13" name="Shape 11"/>
          <p:cNvSpPr/>
          <p:nvPr/>
        </p:nvSpPr>
        <p:spPr>
          <a:xfrm>
            <a:off x="4279392" y="1883664"/>
            <a:ext cx="3493008" cy="3127248"/>
          </a:xfrm>
          <a:prstGeom prst="roundRect">
            <a:avLst>
              <a:gd name="adj" fmla="val 1608"/>
            </a:avLst>
          </a:prstGeom>
          <a:solidFill>
            <a:srgbClr val="FFFEFB"/>
          </a:solidFill>
          <a:ln w="9525">
            <a:solidFill>
              <a:srgbClr val="DED9D0"/>
            </a:solidFill>
            <a:prstDash val="solid"/>
          </a:ln>
        </p:spPr>
      </p:sp>
      <p:sp>
        <p:nvSpPr>
          <p:cNvPr id="14" name="Shape 12"/>
          <p:cNvSpPr/>
          <p:nvPr/>
        </p:nvSpPr>
        <p:spPr>
          <a:xfrm>
            <a:off x="4553712" y="2139696"/>
            <a:ext cx="274320" cy="91440"/>
          </a:xfrm>
          <a:prstGeom prst="rect">
            <a:avLst/>
          </a:prstGeom>
          <a:solidFill>
            <a:srgbClr val="146B54"/>
          </a:solidFill>
          <a:ln/>
        </p:spPr>
      </p:sp>
      <p:sp>
        <p:nvSpPr>
          <p:cNvPr id="15" name="Text 13"/>
          <p:cNvSpPr txBox="1"/>
          <p:nvPr/>
        </p:nvSpPr>
        <p:spPr>
          <a:xfrm>
            <a:off x="4553712" y="2304288"/>
            <a:ext cx="2944368" cy="566928"/>
          </a:xfrm>
          <a:prstGeom prst="rect">
            <a:avLst/>
          </a:prstGeom>
          <a:noFill/>
          <a:ln/>
        </p:spPr>
        <p:txBody>
          <a:bodyPr wrap="square" lIns="0" tIns="0" rIns="0" bIns="0" rtlCol="0" anchor="ctr"/>
          <a:lstStyle/>
          <a:p>
            <a:pPr indent="0" marL="0">
              <a:lnSpc>
                <a:spcPts val="2100"/>
              </a:lnSpc>
              <a:buNone/>
            </a:pPr>
            <a:r>
              <a:rPr lang="en-US" sz="1700" b="1" dirty="0">
                <a:solidFill>
                  <a:srgbClr val="1B1A17"/>
                </a:solidFill>
                <a:latin typeface="Cambria" pitchFamily="34" charset="0"/>
                <a:ea typeface="Cambria" pitchFamily="34" charset="-122"/>
                <a:cs typeface="Cambria" pitchFamily="34" charset="-120"/>
              </a:rPr>
              <a:t>Legal AI platforms</a:t>
            </a:r>
            <a:endParaRPr lang="en-US" sz="1700" dirty="0"/>
          </a:p>
        </p:txBody>
      </p:sp>
      <p:sp>
        <p:nvSpPr>
          <p:cNvPr id="16" name="Text 14"/>
          <p:cNvSpPr txBox="1"/>
          <p:nvPr/>
        </p:nvSpPr>
        <p:spPr>
          <a:xfrm>
            <a:off x="4553712" y="2852928"/>
            <a:ext cx="2944368" cy="274320"/>
          </a:xfrm>
          <a:prstGeom prst="rect">
            <a:avLst/>
          </a:prstGeom>
          <a:noFill/>
          <a:ln/>
        </p:spPr>
        <p:txBody>
          <a:bodyPr wrap="square" lIns="0" tIns="0" rIns="0" bIns="0" rtlCol="0" anchor="ctr"/>
          <a:lstStyle/>
          <a:p>
            <a:pPr indent="0" marL="0">
              <a:buNone/>
            </a:pPr>
            <a:r>
              <a:rPr lang="en-US" sz="1100" b="1" dirty="0">
                <a:solidFill>
                  <a:srgbClr val="146B54"/>
                </a:solidFill>
                <a:latin typeface="Calibri" pitchFamily="34" charset="0"/>
                <a:ea typeface="Calibri" pitchFamily="34" charset="-122"/>
                <a:cs typeface="Calibri" pitchFamily="34" charset="-120"/>
              </a:rPr>
              <a:t>Harvey · CoCounsel · Legora · Spellbook</a:t>
            </a:r>
            <a:endParaRPr lang="en-US" sz="1100" dirty="0"/>
          </a:p>
        </p:txBody>
      </p:sp>
      <p:sp>
        <p:nvSpPr>
          <p:cNvPr id="17" name="Text 15"/>
          <p:cNvSpPr txBox="1"/>
          <p:nvPr/>
        </p:nvSpPr>
        <p:spPr>
          <a:xfrm>
            <a:off x="4553712" y="3218688"/>
            <a:ext cx="2944368" cy="219456"/>
          </a:xfrm>
          <a:prstGeom prst="rect">
            <a:avLst/>
          </a:prstGeom>
          <a:noFill/>
          <a:ln/>
        </p:spPr>
        <p:txBody>
          <a:bodyPr wrap="square" lIns="0" tIns="0" rIns="0" bIns="0" rtlCol="0" anchor="ctr"/>
          <a:lstStyle/>
          <a:p>
            <a:pPr indent="0" marL="0">
              <a:buNone/>
            </a:pPr>
            <a:r>
              <a:rPr lang="en-US" sz="950" b="1" spc="100" kern="0" dirty="0">
                <a:solidFill>
                  <a:srgbClr val="7A756C"/>
                </a:solidFill>
                <a:latin typeface="Calibri" pitchFamily="34" charset="0"/>
                <a:ea typeface="Calibri" pitchFamily="34" charset="-122"/>
                <a:cs typeface="Calibri" pitchFamily="34" charset="-120"/>
              </a:rPr>
              <a:t>Wins on</a:t>
            </a:r>
            <a:endParaRPr lang="en-US" sz="950" dirty="0"/>
          </a:p>
        </p:txBody>
      </p:sp>
      <p:sp>
        <p:nvSpPr>
          <p:cNvPr id="18" name="Text 16"/>
          <p:cNvSpPr txBox="1"/>
          <p:nvPr/>
        </p:nvSpPr>
        <p:spPr>
          <a:xfrm>
            <a:off x="4553712" y="3438144"/>
            <a:ext cx="2944368" cy="694944"/>
          </a:xfrm>
          <a:prstGeom prst="rect">
            <a:avLst/>
          </a:prstGeom>
          <a:noFill/>
          <a:ln/>
        </p:spPr>
        <p:txBody>
          <a:bodyPr wrap="square" lIns="0" tIns="0" rIns="0" bIns="0" rtlCol="0" anchor="ctr"/>
          <a:lstStyle/>
          <a:p>
            <a:pPr indent="0" marL="0">
              <a:lnSpc>
                <a:spcPts val="1500"/>
              </a:lnSpc>
              <a:buNone/>
            </a:pPr>
            <a:r>
              <a:rPr lang="en-US" sz="1150" dirty="0">
                <a:solidFill>
                  <a:srgbClr val="3A3733"/>
                </a:solidFill>
                <a:latin typeface="Calibri" pitchFamily="34" charset="0"/>
                <a:ea typeface="Calibri" pitchFamily="34" charset="-122"/>
                <a:cs typeface="Calibri" pitchFamily="34" charset="-120"/>
              </a:rPr>
              <a:t>Turnkey workflows, review tables, Word and DMS integration, legal data licences.</a:t>
            </a:r>
            <a:endParaRPr lang="en-US" sz="1150" dirty="0"/>
          </a:p>
        </p:txBody>
      </p:sp>
      <p:sp>
        <p:nvSpPr>
          <p:cNvPr id="19" name="Text 17"/>
          <p:cNvSpPr txBox="1"/>
          <p:nvPr/>
        </p:nvSpPr>
        <p:spPr>
          <a:xfrm>
            <a:off x="4553712" y="4114800"/>
            <a:ext cx="2944368" cy="219456"/>
          </a:xfrm>
          <a:prstGeom prst="rect">
            <a:avLst/>
          </a:prstGeom>
          <a:noFill/>
          <a:ln/>
        </p:spPr>
        <p:txBody>
          <a:bodyPr wrap="square" lIns="0" tIns="0" rIns="0" bIns="0" rtlCol="0" anchor="ctr"/>
          <a:lstStyle/>
          <a:p>
            <a:pPr indent="0" marL="0">
              <a:buNone/>
            </a:pPr>
            <a:r>
              <a:rPr lang="en-US" sz="950" b="1" spc="100" kern="0" dirty="0">
                <a:solidFill>
                  <a:srgbClr val="7A756C"/>
                </a:solidFill>
                <a:latin typeface="Calibri" pitchFamily="34" charset="0"/>
                <a:ea typeface="Calibri" pitchFamily="34" charset="-122"/>
                <a:cs typeface="Calibri" pitchFamily="34" charset="-120"/>
              </a:rPr>
              <a:t>Loses on</a:t>
            </a:r>
            <a:endParaRPr lang="en-US" sz="950" dirty="0"/>
          </a:p>
        </p:txBody>
      </p:sp>
      <p:sp>
        <p:nvSpPr>
          <p:cNvPr id="20" name="Text 18"/>
          <p:cNvSpPr txBox="1"/>
          <p:nvPr/>
        </p:nvSpPr>
        <p:spPr>
          <a:xfrm>
            <a:off x="4553712" y="4334256"/>
            <a:ext cx="2944368" cy="694944"/>
          </a:xfrm>
          <a:prstGeom prst="rect">
            <a:avLst/>
          </a:prstGeom>
          <a:noFill/>
          <a:ln/>
        </p:spPr>
        <p:txBody>
          <a:bodyPr wrap="square" lIns="0" tIns="0" rIns="0" bIns="0" rtlCol="0" anchor="ctr"/>
          <a:lstStyle/>
          <a:p>
            <a:pPr indent="0" marL="0">
              <a:lnSpc>
                <a:spcPts val="1500"/>
              </a:lnSpc>
              <a:buNone/>
            </a:pPr>
            <a:r>
              <a:rPr lang="en-US" sz="1150" dirty="0">
                <a:solidFill>
                  <a:srgbClr val="3A3733"/>
                </a:solidFill>
                <a:latin typeface="Calibri" pitchFamily="34" charset="0"/>
                <a:ea typeface="Calibri" pitchFamily="34" charset="-122"/>
                <a:cs typeface="Calibri" pitchFamily="34" charset="-120"/>
              </a:rPr>
              <a:t>Cannot demonstrate a model-quality edge. $399–$1,200/seat/mo with lock-in.</a:t>
            </a:r>
            <a:endParaRPr lang="en-US" sz="1150" dirty="0"/>
          </a:p>
        </p:txBody>
      </p:sp>
      <p:sp>
        <p:nvSpPr>
          <p:cNvPr id="21" name="Shape 19"/>
          <p:cNvSpPr/>
          <p:nvPr/>
        </p:nvSpPr>
        <p:spPr>
          <a:xfrm>
            <a:off x="7991856" y="1883664"/>
            <a:ext cx="3493008" cy="3127248"/>
          </a:xfrm>
          <a:prstGeom prst="roundRect">
            <a:avLst>
              <a:gd name="adj" fmla="val 1608"/>
            </a:avLst>
          </a:prstGeom>
          <a:solidFill>
            <a:srgbClr val="FFFEFB"/>
          </a:solidFill>
          <a:ln w="9525">
            <a:solidFill>
              <a:srgbClr val="DED9D0"/>
            </a:solidFill>
            <a:prstDash val="solid"/>
          </a:ln>
        </p:spPr>
      </p:sp>
      <p:sp>
        <p:nvSpPr>
          <p:cNvPr id="22" name="Shape 20"/>
          <p:cNvSpPr/>
          <p:nvPr/>
        </p:nvSpPr>
        <p:spPr>
          <a:xfrm>
            <a:off x="8266176" y="2139696"/>
            <a:ext cx="274320" cy="91440"/>
          </a:xfrm>
          <a:prstGeom prst="rect">
            <a:avLst/>
          </a:prstGeom>
          <a:solidFill>
            <a:srgbClr val="E0A008"/>
          </a:solidFill>
          <a:ln/>
        </p:spPr>
      </p:sp>
      <p:sp>
        <p:nvSpPr>
          <p:cNvPr id="23" name="Text 21"/>
          <p:cNvSpPr txBox="1"/>
          <p:nvPr/>
        </p:nvSpPr>
        <p:spPr>
          <a:xfrm>
            <a:off x="8266176" y="2304288"/>
            <a:ext cx="2944368" cy="566928"/>
          </a:xfrm>
          <a:prstGeom prst="rect">
            <a:avLst/>
          </a:prstGeom>
          <a:noFill/>
          <a:ln/>
        </p:spPr>
        <p:txBody>
          <a:bodyPr wrap="square" lIns="0" tIns="0" rIns="0" bIns="0" rtlCol="0" anchor="ctr"/>
          <a:lstStyle/>
          <a:p>
            <a:pPr indent="0" marL="0">
              <a:lnSpc>
                <a:spcPts val="2100"/>
              </a:lnSpc>
              <a:buNone/>
            </a:pPr>
            <a:r>
              <a:rPr lang="en-US" sz="1700" b="1" dirty="0">
                <a:solidFill>
                  <a:srgbClr val="1B1A17"/>
                </a:solidFill>
                <a:latin typeface="Cambria" pitchFamily="34" charset="0"/>
                <a:ea typeface="Cambria" pitchFamily="34" charset="-122"/>
                <a:cs typeface="Cambria" pitchFamily="34" charset="-120"/>
              </a:rPr>
              <a:t>Incumbent databases</a:t>
            </a:r>
            <a:endParaRPr lang="en-US" sz="1700" dirty="0"/>
          </a:p>
        </p:txBody>
      </p:sp>
      <p:sp>
        <p:nvSpPr>
          <p:cNvPr id="24" name="Text 22"/>
          <p:cNvSpPr txBox="1"/>
          <p:nvPr/>
        </p:nvSpPr>
        <p:spPr>
          <a:xfrm>
            <a:off x="8266176" y="2852928"/>
            <a:ext cx="2944368" cy="274320"/>
          </a:xfrm>
          <a:prstGeom prst="rect">
            <a:avLst/>
          </a:prstGeom>
          <a:noFill/>
          <a:ln/>
        </p:spPr>
        <p:txBody>
          <a:bodyPr wrap="square" lIns="0" tIns="0" rIns="0" bIns="0" rtlCol="0" anchor="ctr"/>
          <a:lstStyle/>
          <a:p>
            <a:pPr indent="0" marL="0">
              <a:buNone/>
            </a:pPr>
            <a:r>
              <a:rPr lang="en-US" sz="1100" b="1" dirty="0">
                <a:solidFill>
                  <a:srgbClr val="E0A008"/>
                </a:solidFill>
                <a:latin typeface="Calibri" pitchFamily="34" charset="0"/>
                <a:ea typeface="Calibri" pitchFamily="34" charset="-122"/>
                <a:cs typeface="Calibri" pitchFamily="34" charset="-120"/>
              </a:rPr>
              <a:t>Westlaw · Lexis · vLex</a:t>
            </a:r>
            <a:endParaRPr lang="en-US" sz="1100" dirty="0"/>
          </a:p>
        </p:txBody>
      </p:sp>
      <p:sp>
        <p:nvSpPr>
          <p:cNvPr id="25" name="Text 23"/>
          <p:cNvSpPr txBox="1"/>
          <p:nvPr/>
        </p:nvSpPr>
        <p:spPr>
          <a:xfrm>
            <a:off x="8266176" y="3218688"/>
            <a:ext cx="2944368" cy="219456"/>
          </a:xfrm>
          <a:prstGeom prst="rect">
            <a:avLst/>
          </a:prstGeom>
          <a:noFill/>
          <a:ln/>
        </p:spPr>
        <p:txBody>
          <a:bodyPr wrap="square" lIns="0" tIns="0" rIns="0" bIns="0" rtlCol="0" anchor="ctr"/>
          <a:lstStyle/>
          <a:p>
            <a:pPr indent="0" marL="0">
              <a:buNone/>
            </a:pPr>
            <a:r>
              <a:rPr lang="en-US" sz="950" b="1" spc="100" kern="0" dirty="0">
                <a:solidFill>
                  <a:srgbClr val="7A756C"/>
                </a:solidFill>
                <a:latin typeface="Calibri" pitchFamily="34" charset="0"/>
                <a:ea typeface="Calibri" pitchFamily="34" charset="-122"/>
                <a:cs typeface="Calibri" pitchFamily="34" charset="-120"/>
              </a:rPr>
              <a:t>Wins on</a:t>
            </a:r>
            <a:endParaRPr lang="en-US" sz="950" dirty="0"/>
          </a:p>
        </p:txBody>
      </p:sp>
      <p:sp>
        <p:nvSpPr>
          <p:cNvPr id="26" name="Text 24"/>
          <p:cNvSpPr txBox="1"/>
          <p:nvPr/>
        </p:nvSpPr>
        <p:spPr>
          <a:xfrm>
            <a:off x="8266176" y="3438144"/>
            <a:ext cx="2944368" cy="694944"/>
          </a:xfrm>
          <a:prstGeom prst="rect">
            <a:avLst/>
          </a:prstGeom>
          <a:noFill/>
          <a:ln/>
        </p:spPr>
        <p:txBody>
          <a:bodyPr wrap="square" lIns="0" tIns="0" rIns="0" bIns="0" rtlCol="0" anchor="ctr"/>
          <a:lstStyle/>
          <a:p>
            <a:pPr indent="0" marL="0">
              <a:lnSpc>
                <a:spcPts val="1500"/>
              </a:lnSpc>
              <a:buNone/>
            </a:pPr>
            <a:r>
              <a:rPr lang="en-US" sz="1150" dirty="0">
                <a:solidFill>
                  <a:srgbClr val="3A3733"/>
                </a:solidFill>
                <a:latin typeface="Calibri" pitchFamily="34" charset="0"/>
                <a:ea typeface="Calibri" pitchFamily="34" charset="-122"/>
                <a:cs typeface="Calibri" pitchFamily="34" charset="-120"/>
              </a:rPr>
              <a:t>The only tier practitioners will cite from. Source-linked and verifiable.</a:t>
            </a:r>
            <a:endParaRPr lang="en-US" sz="1150" dirty="0"/>
          </a:p>
        </p:txBody>
      </p:sp>
      <p:sp>
        <p:nvSpPr>
          <p:cNvPr id="27" name="Text 25"/>
          <p:cNvSpPr txBox="1"/>
          <p:nvPr/>
        </p:nvSpPr>
        <p:spPr>
          <a:xfrm>
            <a:off x="8266176" y="4114800"/>
            <a:ext cx="2944368" cy="219456"/>
          </a:xfrm>
          <a:prstGeom prst="rect">
            <a:avLst/>
          </a:prstGeom>
          <a:noFill/>
          <a:ln/>
        </p:spPr>
        <p:txBody>
          <a:bodyPr wrap="square" lIns="0" tIns="0" rIns="0" bIns="0" rtlCol="0" anchor="ctr"/>
          <a:lstStyle/>
          <a:p>
            <a:pPr indent="0" marL="0">
              <a:buNone/>
            </a:pPr>
            <a:r>
              <a:rPr lang="en-US" sz="950" b="1" spc="100" kern="0" dirty="0">
                <a:solidFill>
                  <a:srgbClr val="7A756C"/>
                </a:solidFill>
                <a:latin typeface="Calibri" pitchFamily="34" charset="0"/>
                <a:ea typeface="Calibri" pitchFamily="34" charset="-122"/>
                <a:cs typeface="Calibri" pitchFamily="34" charset="-120"/>
              </a:rPr>
              <a:t>Loses on</a:t>
            </a:r>
            <a:endParaRPr lang="en-US" sz="950" dirty="0"/>
          </a:p>
        </p:txBody>
      </p:sp>
      <p:sp>
        <p:nvSpPr>
          <p:cNvPr id="28" name="Text 26"/>
          <p:cNvSpPr txBox="1"/>
          <p:nvPr/>
        </p:nvSpPr>
        <p:spPr>
          <a:xfrm>
            <a:off x="8266176" y="4334256"/>
            <a:ext cx="2944368" cy="694944"/>
          </a:xfrm>
          <a:prstGeom prst="rect">
            <a:avLst/>
          </a:prstGeom>
          <a:noFill/>
          <a:ln/>
        </p:spPr>
        <p:txBody>
          <a:bodyPr wrap="square" lIns="0" tIns="0" rIns="0" bIns="0" rtlCol="0" anchor="ctr"/>
          <a:lstStyle/>
          <a:p>
            <a:pPr indent="0" marL="0">
              <a:lnSpc>
                <a:spcPts val="1500"/>
              </a:lnSpc>
              <a:buNone/>
            </a:pPr>
            <a:r>
              <a:rPr lang="en-US" sz="1150" dirty="0">
                <a:solidFill>
                  <a:srgbClr val="3A3733"/>
                </a:solidFill>
                <a:latin typeface="Calibri" pitchFamily="34" charset="0"/>
                <a:ea typeface="Calibri" pitchFamily="34" charset="-122"/>
                <a:cs typeface="Calibri" pitchFamily="34" charset="-120"/>
              </a:rPr>
              <a:t>Their own AI layers are widely distrusted; retrieval-only, no work product.</a:t>
            </a:r>
            <a:endParaRPr lang="en-US" sz="1150" dirty="0"/>
          </a:p>
        </p:txBody>
      </p:sp>
      <p:sp>
        <p:nvSpPr>
          <p:cNvPr id="29" name="Shape 27"/>
          <p:cNvSpPr/>
          <p:nvPr/>
        </p:nvSpPr>
        <p:spPr>
          <a:xfrm>
            <a:off x="566928" y="5230368"/>
            <a:ext cx="11064240" cy="932688"/>
          </a:xfrm>
          <a:prstGeom prst="roundRect">
            <a:avLst>
              <a:gd name="adj" fmla="val 5392"/>
            </a:avLst>
          </a:prstGeom>
          <a:solidFill>
            <a:srgbClr val="1B1A17"/>
          </a:solidFill>
          <a:ln w="9525">
            <a:solidFill>
              <a:srgbClr val="1B1A17"/>
            </a:solidFill>
            <a:prstDash val="solid"/>
          </a:ln>
        </p:spPr>
      </p:sp>
      <p:sp>
        <p:nvSpPr>
          <p:cNvPr id="30" name="Text 28"/>
          <p:cNvSpPr txBox="1"/>
          <p:nvPr/>
        </p:nvSpPr>
        <p:spPr>
          <a:xfrm>
            <a:off x="896112" y="5431536"/>
            <a:ext cx="10424160" cy="566928"/>
          </a:xfrm>
          <a:prstGeom prst="rect">
            <a:avLst/>
          </a:prstGeom>
          <a:noFill/>
          <a:ln/>
        </p:spPr>
        <p:txBody>
          <a:bodyPr wrap="square" lIns="0" tIns="0" rIns="0" bIns="0" rtlCol="0" anchor="ctr"/>
          <a:lstStyle/>
          <a:p>
            <a:pPr indent="0" marL="0">
              <a:lnSpc>
                <a:spcPts val="1900"/>
              </a:lnSpc>
              <a:buNone/>
            </a:pPr>
            <a:r>
              <a:rPr lang="en-US" sz="1450" b="1" dirty="0">
                <a:solidFill>
                  <a:srgbClr val="FFFEFB"/>
                </a:solidFill>
                <a:latin typeface="Calibri" pitchFamily="34" charset="0"/>
                <a:ea typeface="Calibri" pitchFamily="34" charset="-122"/>
                <a:cs typeface="Calibri" pitchFamily="34" charset="-120"/>
              </a:rPr>
              <a:t>The gap:  </a:t>
            </a:r>
            <a:pPr indent="0" marL="0">
              <a:lnSpc>
                <a:spcPts val="1900"/>
              </a:lnSpc>
              <a:buNone/>
            </a:pPr>
            <a:r>
              <a:rPr lang="en-US" sz="1450" dirty="0">
                <a:solidFill>
                  <a:srgbClr val="D6D1C7"/>
                </a:solidFill>
                <a:latin typeface="Calibri" pitchFamily="34" charset="0"/>
                <a:ea typeface="Calibri" pitchFamily="34" charset="-122"/>
                <a:cs typeface="Calibri" pitchFamily="34" charset="-120"/>
              </a:rPr>
              <a:t>no tier owns the work between an ambiguous request and a filed work product — the facts, the playbook, the prior decision, the draft and the record of what was decided.</a:t>
            </a:r>
            <a:endParaRPr lang="en-US" sz="1450" dirty="0"/>
          </a:p>
        </p:txBody>
      </p:sp>
      <p:sp>
        <p:nvSpPr>
          <p:cNvPr id="31" name="Text 29"/>
          <p:cNvSpPr txBox="1"/>
          <p:nvPr/>
        </p:nvSpPr>
        <p:spPr>
          <a:xfrm>
            <a:off x="566928" y="6345936"/>
            <a:ext cx="7772400" cy="274320"/>
          </a:xfrm>
          <a:prstGeom prst="rect">
            <a:avLst/>
          </a:prstGeom>
          <a:noFill/>
          <a:ln/>
        </p:spPr>
        <p:txBody>
          <a:bodyPr wrap="square" lIns="0" tIns="0" rIns="0" bIns="0" rtlCol="0" anchor="ctr"/>
          <a:lstStyle/>
          <a:p>
            <a:pPr indent="0" marL="0">
              <a:buNone/>
            </a:pPr>
            <a:r>
              <a:rPr lang="en-US" sz="900" dirty="0">
                <a:solidFill>
                  <a:srgbClr val="7A756C"/>
                </a:solidFill>
                <a:latin typeface="Calibri" pitchFamily="34" charset="0"/>
                <a:ea typeface="Calibri" pitchFamily="34" charset="-122"/>
                <a:cs typeface="Calibri" pitchFamily="34" charset="-120"/>
              </a:rPr>
              <a:t>Themis.ai · Voice of the Practitioner · The landscape</a:t>
            </a:r>
            <a:endParaRPr lang="en-US" sz="900" dirty="0"/>
          </a:p>
        </p:txBody>
      </p:sp>
      <p:sp>
        <p:nvSpPr>
          <p:cNvPr id="32" name="Text 30"/>
          <p:cNvSpPr txBox="1"/>
          <p:nvPr/>
        </p:nvSpPr>
        <p:spPr>
          <a:xfrm>
            <a:off x="11064240" y="6345936"/>
            <a:ext cx="566928" cy="274320"/>
          </a:xfrm>
          <a:prstGeom prst="rect">
            <a:avLst/>
          </a:prstGeom>
          <a:noFill/>
          <a:ln/>
        </p:spPr>
        <p:txBody>
          <a:bodyPr wrap="square" lIns="0" tIns="0" rIns="0" bIns="0" rtlCol="0" anchor="ctr"/>
          <a:lstStyle/>
          <a:p>
            <a:pPr algn="r" indent="0" marL="0">
              <a:buNone/>
            </a:pPr>
            <a:r>
              <a:rPr lang="en-US" sz="900" dirty="0">
                <a:solidFill>
                  <a:srgbClr val="7A756C"/>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F1"/>
        </a:solidFill>
      </p:bgPr>
    </p:bg>
    <p:spTree>
      <p:nvGrpSpPr>
        <p:cNvPr id="1" name=""/>
        <p:cNvGrpSpPr/>
        <p:nvPr/>
      </p:nvGrpSpPr>
      <p:grpSpPr>
        <a:xfrm>
          <a:off x="0" y="0"/>
          <a:ext cx="0" cy="0"/>
          <a:chOff x="0" y="0"/>
          <a:chExt cx="0" cy="0"/>
        </a:xfrm>
      </p:grpSpPr>
      <p:sp>
        <p:nvSpPr>
          <p:cNvPr id="2" name="Shape 0"/>
          <p:cNvSpPr/>
          <p:nvPr/>
        </p:nvSpPr>
        <p:spPr>
          <a:xfrm>
            <a:off x="566928" y="384048"/>
            <a:ext cx="329184" cy="329184"/>
          </a:xfrm>
          <a:prstGeom prst="ellipse">
            <a:avLst/>
          </a:prstGeom>
          <a:solidFill>
            <a:srgbClr val="5F5AC0"/>
          </a:solidFill>
          <a:ln/>
        </p:spPr>
      </p:sp>
      <p:sp>
        <p:nvSpPr>
          <p:cNvPr id="3" name="Text 1"/>
          <p:cNvSpPr txBox="1"/>
          <p:nvPr/>
        </p:nvSpPr>
        <p:spPr>
          <a:xfrm>
            <a:off x="566928" y="388620"/>
            <a:ext cx="329184" cy="3200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4" name="Text 2"/>
          <p:cNvSpPr txBox="1"/>
          <p:nvPr/>
        </p:nvSpPr>
        <p:spPr>
          <a:xfrm>
            <a:off x="1024128" y="420624"/>
            <a:ext cx="8229600" cy="256032"/>
          </a:xfrm>
          <a:prstGeom prst="rect">
            <a:avLst/>
          </a:prstGeom>
          <a:noFill/>
          <a:ln/>
        </p:spPr>
        <p:txBody>
          <a:bodyPr wrap="square" lIns="0" tIns="0" rIns="0" bIns="0" rtlCol="0" anchor="ctr"/>
          <a:lstStyle/>
          <a:p>
            <a:pPr indent="0" marL="0">
              <a:buNone/>
            </a:pPr>
            <a:r>
              <a:rPr lang="en-US" sz="1050" b="1" spc="160" kern="0" dirty="0">
                <a:solidFill>
                  <a:srgbClr val="5F5AC0"/>
                </a:solidFill>
                <a:latin typeface="Calibri" pitchFamily="34" charset="0"/>
                <a:ea typeface="Calibri" pitchFamily="34" charset="-122"/>
                <a:cs typeface="Calibri" pitchFamily="34" charset="-120"/>
              </a:rPr>
              <a:t>FINDING 01  ·  DIFFERENTIATION</a:t>
            </a:r>
            <a:endParaRPr lang="en-US" sz="1050" dirty="0"/>
          </a:p>
        </p:txBody>
      </p:sp>
      <p:sp>
        <p:nvSpPr>
          <p:cNvPr id="5" name="Text 3"/>
          <p:cNvSpPr txBox="1"/>
          <p:nvPr/>
        </p:nvSpPr>
        <p:spPr>
          <a:xfrm>
            <a:off x="566928" y="786384"/>
            <a:ext cx="10881360" cy="621792"/>
          </a:xfrm>
          <a:prstGeom prst="rect">
            <a:avLst/>
          </a:prstGeom>
          <a:noFill/>
          <a:ln/>
        </p:spPr>
        <p:txBody>
          <a:bodyPr wrap="square" lIns="0" tIns="0" rIns="0" bIns="0" rtlCol="0" anchor="ctr"/>
          <a:lstStyle/>
          <a:p>
            <a:pPr indent="0" marL="0">
              <a:buNone/>
            </a:pPr>
            <a:r>
              <a:rPr lang="en-US" sz="3100" b="1" dirty="0">
                <a:solidFill>
                  <a:srgbClr val="1B1A17"/>
                </a:solidFill>
                <a:latin typeface="Cambria" pitchFamily="34" charset="0"/>
                <a:ea typeface="Cambria" pitchFamily="34" charset="-122"/>
                <a:cs typeface="Cambria" pitchFamily="34" charset="-120"/>
              </a:rPr>
              <a:t>Platforms cannot prove a model-quality edge</a:t>
            </a:r>
            <a:endParaRPr lang="en-US" sz="3100" dirty="0"/>
          </a:p>
        </p:txBody>
      </p:sp>
      <p:sp>
        <p:nvSpPr>
          <p:cNvPr id="6" name="Text 4"/>
          <p:cNvSpPr txBox="1"/>
          <p:nvPr/>
        </p:nvSpPr>
        <p:spPr>
          <a:xfrm>
            <a:off x="566928" y="1408176"/>
            <a:ext cx="10881360" cy="365760"/>
          </a:xfrm>
          <a:prstGeom prst="rect">
            <a:avLst/>
          </a:prstGeom>
          <a:noFill/>
          <a:ln/>
        </p:spPr>
        <p:txBody>
          <a:bodyPr wrap="square" lIns="0" tIns="0" rIns="0" bIns="0" rtlCol="0" anchor="ctr"/>
          <a:lstStyle/>
          <a:p>
            <a:pPr indent="0" marL="0">
              <a:buNone/>
            </a:pPr>
            <a:r>
              <a:rPr lang="en-US" sz="1400" dirty="0">
                <a:solidFill>
                  <a:srgbClr val="55524B"/>
                </a:solidFill>
                <a:latin typeface="Calibri" pitchFamily="34" charset="0"/>
                <a:ea typeface="Calibri" pitchFamily="34" charset="-122"/>
                <a:cs typeface="Calibri" pitchFamily="34" charset="-120"/>
              </a:rPr>
              <a:t>Nine records call the specialist products wrappers outright. The more damaging evidence is from buyers who chose one anyway.</a:t>
            </a:r>
            <a:endParaRPr lang="en-US" sz="1400" dirty="0"/>
          </a:p>
        </p:txBody>
      </p:sp>
      <p:sp>
        <p:nvSpPr>
          <p:cNvPr id="7" name="Shape 5"/>
          <p:cNvSpPr/>
          <p:nvPr/>
        </p:nvSpPr>
        <p:spPr>
          <a:xfrm>
            <a:off x="566928" y="1956816"/>
            <a:ext cx="5532120" cy="1298448"/>
          </a:xfrm>
          <a:prstGeom prst="roundRect">
            <a:avLst>
              <a:gd name="adj" fmla="val 3873"/>
            </a:avLst>
          </a:prstGeom>
          <a:solidFill>
            <a:srgbClr val="EAE8F9"/>
          </a:solidFill>
          <a:ln w="9525">
            <a:solidFill>
              <a:srgbClr val="DAD7F0"/>
            </a:solidFill>
            <a:prstDash val="solid"/>
          </a:ln>
        </p:spPr>
      </p:sp>
      <p:sp>
        <p:nvSpPr>
          <p:cNvPr id="8" name="Text 6"/>
          <p:cNvSpPr txBox="1"/>
          <p:nvPr/>
        </p:nvSpPr>
        <p:spPr>
          <a:xfrm>
            <a:off x="804672" y="2103120"/>
            <a:ext cx="5056632" cy="731520"/>
          </a:xfrm>
          <a:prstGeom prst="rect">
            <a:avLst/>
          </a:prstGeom>
          <a:noFill/>
          <a:ln/>
        </p:spPr>
        <p:txBody>
          <a:bodyPr wrap="square" lIns="0" tIns="0" rIns="0" bIns="0" rtlCol="0" anchor="t"/>
          <a:lstStyle/>
          <a:p>
            <a:pPr indent="0" marL="0">
              <a:lnSpc>
                <a:spcPts val="1900"/>
              </a:lnSpc>
              <a:buNone/>
            </a:pPr>
            <a:r>
              <a:rPr lang="en-US" sz="1350" i="1" dirty="0">
                <a:solidFill>
                  <a:srgbClr val="3A3733"/>
                </a:solidFill>
                <a:latin typeface="Calibri" pitchFamily="34" charset="0"/>
                <a:ea typeface="Calibri" pitchFamily="34" charset="-122"/>
                <a:cs typeface="Calibri" pitchFamily="34" charset="-120"/>
              </a:rPr>
              <a:t>“We couldn’t prove that the AI answers are consistently better than ChatGPT — UI features such as Word integration, access to legal databases etc.”</a:t>
            </a:r>
            <a:endParaRPr lang="en-US" sz="1350" dirty="0"/>
          </a:p>
        </p:txBody>
      </p:sp>
      <p:sp>
        <p:nvSpPr>
          <p:cNvPr id="9" name="Text 7"/>
          <p:cNvSpPr txBox="1"/>
          <p:nvPr/>
        </p:nvSpPr>
        <p:spPr>
          <a:xfrm>
            <a:off x="804672" y="2871216"/>
            <a:ext cx="5056632" cy="256032"/>
          </a:xfrm>
          <a:prstGeom prst="rect">
            <a:avLst/>
          </a:prstGeom>
          <a:noFill/>
          <a:ln/>
        </p:spPr>
        <p:txBody>
          <a:bodyPr wrap="square" lIns="0" tIns="0" rIns="0" bIns="0" rtlCol="0" anchor="ctr"/>
          <a:lstStyle/>
          <a:p>
            <a:pPr indent="0" marL="0">
              <a:buNone/>
            </a:pPr>
            <a:r>
              <a:rPr lang="en-US" sz="950" b="1" dirty="0">
                <a:solidFill>
                  <a:srgbClr val="5F5AC0"/>
                </a:solidFill>
                <a:latin typeface="Calibri" pitchFamily="34" charset="0"/>
                <a:ea typeface="Calibri" pitchFamily="34" charset="-122"/>
                <a:cs typeface="Calibri" pitchFamily="34" charset="-120"/>
              </a:rPr>
              <a:t>Corporate legal department evaluator, who bought Harvey anyway · reddit-103</a:t>
            </a:r>
            <a:endParaRPr lang="en-US" sz="950" dirty="0"/>
          </a:p>
        </p:txBody>
      </p:sp>
      <p:sp>
        <p:nvSpPr>
          <p:cNvPr id="10" name="Shape 8"/>
          <p:cNvSpPr/>
          <p:nvPr/>
        </p:nvSpPr>
        <p:spPr>
          <a:xfrm>
            <a:off x="6309360" y="1956816"/>
            <a:ext cx="5321808" cy="1298448"/>
          </a:xfrm>
          <a:prstGeom prst="roundRect">
            <a:avLst>
              <a:gd name="adj" fmla="val 3873"/>
            </a:avLst>
          </a:prstGeom>
          <a:solidFill>
            <a:srgbClr val="EAE8F9"/>
          </a:solidFill>
          <a:ln w="9525">
            <a:solidFill>
              <a:srgbClr val="DAD7F0"/>
            </a:solidFill>
            <a:prstDash val="solid"/>
          </a:ln>
        </p:spPr>
      </p:sp>
      <p:sp>
        <p:nvSpPr>
          <p:cNvPr id="11" name="Text 9"/>
          <p:cNvSpPr txBox="1"/>
          <p:nvPr/>
        </p:nvSpPr>
        <p:spPr>
          <a:xfrm>
            <a:off x="6547104" y="2103120"/>
            <a:ext cx="4846320" cy="731520"/>
          </a:xfrm>
          <a:prstGeom prst="rect">
            <a:avLst/>
          </a:prstGeom>
          <a:noFill/>
          <a:ln/>
        </p:spPr>
        <p:txBody>
          <a:bodyPr wrap="square" lIns="0" tIns="0" rIns="0" bIns="0" rtlCol="0" anchor="t"/>
          <a:lstStyle/>
          <a:p>
            <a:pPr indent="0" marL="0">
              <a:lnSpc>
                <a:spcPts val="1900"/>
              </a:lnSpc>
              <a:buNone/>
            </a:pPr>
            <a:r>
              <a:rPr lang="en-US" sz="1350" i="1" dirty="0">
                <a:solidFill>
                  <a:srgbClr val="3A3733"/>
                </a:solidFill>
                <a:latin typeface="Calibri" pitchFamily="34" charset="0"/>
                <a:ea typeface="Calibri" pitchFamily="34" charset="-122"/>
                <a:cs typeface="Calibri" pitchFamily="34" charset="-120"/>
              </a:rPr>
              <a:t>“Their workflow is the difference maker. You could build it yourself but you would have to get big into an agent harness library like Mastra to get equivalent results.”</a:t>
            </a:r>
            <a:endParaRPr lang="en-US" sz="1350" dirty="0"/>
          </a:p>
        </p:txBody>
      </p:sp>
      <p:sp>
        <p:nvSpPr>
          <p:cNvPr id="12" name="Text 10"/>
          <p:cNvSpPr txBox="1"/>
          <p:nvPr/>
        </p:nvSpPr>
        <p:spPr>
          <a:xfrm>
            <a:off x="6547104" y="2871216"/>
            <a:ext cx="4846320" cy="256032"/>
          </a:xfrm>
          <a:prstGeom prst="rect">
            <a:avLst/>
          </a:prstGeom>
          <a:noFill/>
          <a:ln/>
        </p:spPr>
        <p:txBody>
          <a:bodyPr wrap="square" lIns="0" tIns="0" rIns="0" bIns="0" rtlCol="0" anchor="ctr"/>
          <a:lstStyle/>
          <a:p>
            <a:pPr indent="0" marL="0">
              <a:buNone/>
            </a:pPr>
            <a:r>
              <a:rPr lang="en-US" sz="950" b="1" dirty="0">
                <a:solidFill>
                  <a:srgbClr val="5F5AC0"/>
                </a:solidFill>
                <a:latin typeface="Calibri" pitchFamily="34" charset="0"/>
                <a:ea typeface="Calibri" pitchFamily="34" charset="-122"/>
                <a:cs typeface="Calibri" pitchFamily="34" charset="-120"/>
              </a:rPr>
              <a:t>Legal-operations buyer comparing Harvey with base models · reddit-144</a:t>
            </a:r>
            <a:endParaRPr lang="en-US" sz="950" dirty="0"/>
          </a:p>
        </p:txBody>
      </p:sp>
      <p:sp>
        <p:nvSpPr>
          <p:cNvPr id="13" name="Shape 11"/>
          <p:cNvSpPr/>
          <p:nvPr/>
        </p:nvSpPr>
        <p:spPr>
          <a:xfrm>
            <a:off x="566928" y="3547872"/>
            <a:ext cx="91440" cy="91440"/>
          </a:xfrm>
          <a:prstGeom prst="rect">
            <a:avLst/>
          </a:prstGeom>
          <a:solidFill>
            <a:srgbClr val="5F5AC0"/>
          </a:solidFill>
          <a:ln/>
        </p:spPr>
      </p:sp>
      <p:sp>
        <p:nvSpPr>
          <p:cNvPr id="14" name="Text 12"/>
          <p:cNvSpPr txBox="1"/>
          <p:nvPr/>
        </p:nvSpPr>
        <p:spPr>
          <a:xfrm>
            <a:off x="822960" y="3429000"/>
            <a:ext cx="10808208" cy="603504"/>
          </a:xfrm>
          <a:prstGeom prst="rect">
            <a:avLst/>
          </a:prstGeom>
          <a:noFill/>
          <a:ln/>
        </p:spPr>
        <p:txBody>
          <a:bodyPr wrap="square" lIns="0" tIns="0" rIns="0" bIns="0" rtlCol="0" anchor="t"/>
          <a:lstStyle/>
          <a:p>
            <a:pPr indent="0" marL="0">
              <a:lnSpc>
                <a:spcPts val="1700"/>
              </a:lnSpc>
              <a:buNone/>
            </a:pPr>
            <a:r>
              <a:rPr lang="en-US" sz="1250" b="1" dirty="0">
                <a:solidFill>
                  <a:srgbClr val="1B1A17"/>
                </a:solidFill>
                <a:latin typeface="Calibri" pitchFamily="34" charset="0"/>
                <a:ea typeface="Calibri" pitchFamily="34" charset="-122"/>
                <a:cs typeface="Calibri" pitchFamily="34" charset="-120"/>
              </a:rPr>
              <a:t>A firm’s Harvey ships a model picker.</a:t>
            </a:r>
            <a:pPr indent="0" marL="0">
              <a:lnSpc>
                <a:spcPts val="1700"/>
              </a:lnSpc>
              <a:buNone/>
            </a:pPr>
            <a:r>
              <a:rPr lang="en-US" sz="1250" dirty="0">
                <a:solidFill>
                  <a:srgbClr val="3A3733"/>
                </a:solidFill>
                <a:latin typeface="Calibri" pitchFamily="34" charset="0"/>
                <a:ea typeface="Calibri" pitchFamily="34" charset="-122"/>
                <a:cs typeface="Calibri" pitchFamily="34" charset="-120"/>
              </a:rPr>
              <a:t>  “My firm’s version of Harvey has a button where you can select from a wide array of current and previous ChatGPT, Claude, and Google Gemini models.” (reddit-085)</a:t>
            </a:r>
            <a:endParaRPr lang="en-US" sz="1250" dirty="0"/>
          </a:p>
        </p:txBody>
      </p:sp>
      <p:sp>
        <p:nvSpPr>
          <p:cNvPr id="15" name="Shape 13"/>
          <p:cNvSpPr/>
          <p:nvPr/>
        </p:nvSpPr>
        <p:spPr>
          <a:xfrm>
            <a:off x="566928" y="4151376"/>
            <a:ext cx="91440" cy="91440"/>
          </a:xfrm>
          <a:prstGeom prst="rect">
            <a:avLst/>
          </a:prstGeom>
          <a:solidFill>
            <a:srgbClr val="5F5AC0"/>
          </a:solidFill>
          <a:ln/>
        </p:spPr>
      </p:sp>
      <p:sp>
        <p:nvSpPr>
          <p:cNvPr id="16" name="Text 14"/>
          <p:cNvSpPr txBox="1"/>
          <p:nvPr/>
        </p:nvSpPr>
        <p:spPr>
          <a:xfrm>
            <a:off x="822960" y="4032504"/>
            <a:ext cx="10808208" cy="603504"/>
          </a:xfrm>
          <a:prstGeom prst="rect">
            <a:avLst/>
          </a:prstGeom>
          <a:noFill/>
          <a:ln/>
        </p:spPr>
        <p:txBody>
          <a:bodyPr wrap="square" lIns="0" tIns="0" rIns="0" bIns="0" rtlCol="0" anchor="t"/>
          <a:lstStyle/>
          <a:p>
            <a:pPr indent="0" marL="0">
              <a:lnSpc>
                <a:spcPts val="1700"/>
              </a:lnSpc>
              <a:buNone/>
            </a:pPr>
            <a:r>
              <a:rPr lang="en-US" sz="1250" b="1" dirty="0">
                <a:solidFill>
                  <a:srgbClr val="1B1A17"/>
                </a:solidFill>
                <a:latin typeface="Calibri" pitchFamily="34" charset="0"/>
                <a:ea typeface="Calibri" pitchFamily="34" charset="-122"/>
                <a:cs typeface="Calibri" pitchFamily="34" charset="-120"/>
              </a:rPr>
              <a:t>The harness can subtract value.</a:t>
            </a:r>
            <a:pPr indent="0" marL="0">
              <a:lnSpc>
                <a:spcPts val="1700"/>
              </a:lnSpc>
              <a:buNone/>
            </a:pPr>
            <a:r>
              <a:rPr lang="en-US" sz="1250" dirty="0">
                <a:solidFill>
                  <a:srgbClr val="3A3733"/>
                </a:solidFill>
                <a:latin typeface="Calibri" pitchFamily="34" charset="0"/>
                <a:ea typeface="Calibri" pitchFamily="34" charset="-122"/>
                <a:cs typeface="Calibri" pitchFamily="34" charset="-120"/>
              </a:rPr>
              <a:t>  “Even when you choose opus 5 as a model they somehow nerf it.” — a BigLaw associate comparing Harvey with Claude Code (reddit-096)</a:t>
            </a:r>
            <a:endParaRPr lang="en-US" sz="1250" dirty="0"/>
          </a:p>
        </p:txBody>
      </p:sp>
      <p:sp>
        <p:nvSpPr>
          <p:cNvPr id="17" name="Shape 15"/>
          <p:cNvSpPr/>
          <p:nvPr/>
        </p:nvSpPr>
        <p:spPr>
          <a:xfrm>
            <a:off x="566928" y="4754880"/>
            <a:ext cx="91440" cy="91440"/>
          </a:xfrm>
          <a:prstGeom prst="rect">
            <a:avLst/>
          </a:prstGeom>
          <a:solidFill>
            <a:srgbClr val="5F5AC0"/>
          </a:solidFill>
          <a:ln/>
        </p:spPr>
      </p:sp>
      <p:sp>
        <p:nvSpPr>
          <p:cNvPr id="18" name="Text 16"/>
          <p:cNvSpPr txBox="1"/>
          <p:nvPr/>
        </p:nvSpPr>
        <p:spPr>
          <a:xfrm>
            <a:off x="822960" y="4636008"/>
            <a:ext cx="10808208" cy="603504"/>
          </a:xfrm>
          <a:prstGeom prst="rect">
            <a:avLst/>
          </a:prstGeom>
          <a:noFill/>
          <a:ln/>
        </p:spPr>
        <p:txBody>
          <a:bodyPr wrap="square" lIns="0" tIns="0" rIns="0" bIns="0" rtlCol="0" anchor="t"/>
          <a:lstStyle/>
          <a:p>
            <a:pPr indent="0" marL="0">
              <a:lnSpc>
                <a:spcPts val="1700"/>
              </a:lnSpc>
              <a:buNone/>
            </a:pPr>
            <a:r>
              <a:rPr lang="en-US" sz="1250" b="1" dirty="0">
                <a:solidFill>
                  <a:srgbClr val="1B1A17"/>
                </a:solidFill>
                <a:latin typeface="Calibri" pitchFamily="34" charset="0"/>
                <a:ea typeface="Calibri" pitchFamily="34" charset="-122"/>
                <a:cs typeface="Calibri" pitchFamily="34" charset="-120"/>
              </a:rPr>
              <a:t>Harvey has conceded the critique.</a:t>
            </a:r>
            <a:pPr indent="0" marL="0">
              <a:lnSpc>
                <a:spcPts val="1700"/>
              </a:lnSpc>
              <a:buNone/>
            </a:pPr>
            <a:r>
              <a:rPr lang="en-US" sz="1250" dirty="0">
                <a:solidFill>
                  <a:srgbClr val="3A3733"/>
                </a:solidFill>
                <a:latin typeface="Calibri" pitchFamily="34" charset="0"/>
                <a:ea typeface="Calibri" pitchFamily="34" charset="-122"/>
                <a:cs typeface="Calibri" pitchFamily="34" charset="-120"/>
              </a:rPr>
              <a:t>  In August 2026 Harvey announced Tenet, its first proprietary legal model, after building “on top of other companies’ AI models.” (reddit-173)</a:t>
            </a:r>
            <a:endParaRPr lang="en-US" sz="1250" dirty="0"/>
          </a:p>
        </p:txBody>
      </p:sp>
      <p:sp>
        <p:nvSpPr>
          <p:cNvPr id="19" name="Shape 17"/>
          <p:cNvSpPr/>
          <p:nvPr/>
        </p:nvSpPr>
        <p:spPr>
          <a:xfrm>
            <a:off x="566928" y="5358384"/>
            <a:ext cx="91440" cy="91440"/>
          </a:xfrm>
          <a:prstGeom prst="rect">
            <a:avLst/>
          </a:prstGeom>
          <a:solidFill>
            <a:srgbClr val="5F5AC0"/>
          </a:solidFill>
          <a:ln/>
        </p:spPr>
      </p:sp>
      <p:sp>
        <p:nvSpPr>
          <p:cNvPr id="20" name="Text 18"/>
          <p:cNvSpPr txBox="1"/>
          <p:nvPr/>
        </p:nvSpPr>
        <p:spPr>
          <a:xfrm>
            <a:off x="822960" y="5239512"/>
            <a:ext cx="10808208" cy="603504"/>
          </a:xfrm>
          <a:prstGeom prst="rect">
            <a:avLst/>
          </a:prstGeom>
          <a:noFill/>
          <a:ln/>
        </p:spPr>
        <p:txBody>
          <a:bodyPr wrap="square" lIns="0" tIns="0" rIns="0" bIns="0" rtlCol="0" anchor="t"/>
          <a:lstStyle/>
          <a:p>
            <a:pPr indent="0" marL="0">
              <a:lnSpc>
                <a:spcPts val="1700"/>
              </a:lnSpc>
              <a:buNone/>
            </a:pPr>
            <a:r>
              <a:rPr lang="en-US" sz="1250" b="1" dirty="0">
                <a:solidFill>
                  <a:srgbClr val="1B1A17"/>
                </a:solidFill>
                <a:latin typeface="Calibri" pitchFamily="34" charset="0"/>
                <a:ea typeface="Calibri" pitchFamily="34" charset="-122"/>
                <a:cs typeface="Calibri" pitchFamily="34" charset="-120"/>
              </a:rPr>
              <a:t>The verdict travels.</a:t>
            </a:r>
            <a:pPr indent="0" marL="0">
              <a:lnSpc>
                <a:spcPts val="1700"/>
              </a:lnSpc>
              <a:buNone/>
            </a:pPr>
            <a:r>
              <a:rPr lang="en-US" sz="1250" dirty="0">
                <a:solidFill>
                  <a:srgbClr val="3A3733"/>
                </a:solidFill>
                <a:latin typeface="Calibri" pitchFamily="34" charset="0"/>
                <a:ea typeface="Calibri" pitchFamily="34" charset="-122"/>
                <a:cs typeface="Calibri" pitchFamily="34" charset="-120"/>
              </a:rPr>
              <a:t>  “Most legal AI software being a reskinned ChatGPT.” (reddit-199)  ·  “Leya and Harvey? Overpriced Silicon Valley toys.” (reddit-104)</a:t>
            </a:r>
            <a:endParaRPr lang="en-US" sz="1250" dirty="0"/>
          </a:p>
        </p:txBody>
      </p:sp>
      <p:sp>
        <p:nvSpPr>
          <p:cNvPr id="21" name="Shape 19"/>
          <p:cNvSpPr/>
          <p:nvPr/>
        </p:nvSpPr>
        <p:spPr>
          <a:xfrm>
            <a:off x="566928" y="6144768"/>
            <a:ext cx="11064240" cy="18288"/>
          </a:xfrm>
          <a:prstGeom prst="roundRect">
            <a:avLst>
              <a:gd name="adj" fmla="val 275000"/>
            </a:avLst>
          </a:prstGeom>
          <a:solidFill>
            <a:srgbClr val="DED9D0"/>
          </a:solidFill>
          <a:ln w="9525">
            <a:solidFill>
              <a:srgbClr val="DED9D0"/>
            </a:solidFill>
            <a:prstDash val="solid"/>
          </a:ln>
        </p:spPr>
      </p:sp>
      <p:sp>
        <p:nvSpPr>
          <p:cNvPr id="22" name="Text 20"/>
          <p:cNvSpPr txBox="1"/>
          <p:nvPr/>
        </p:nvSpPr>
        <p:spPr>
          <a:xfrm>
            <a:off x="566928" y="5815584"/>
            <a:ext cx="11064240" cy="310896"/>
          </a:xfrm>
          <a:prstGeom prst="rect">
            <a:avLst/>
          </a:prstGeom>
          <a:noFill/>
          <a:ln/>
        </p:spPr>
        <p:txBody>
          <a:bodyPr wrap="square" lIns="0" tIns="0" rIns="0" bIns="0" rtlCol="0" anchor="ctr"/>
          <a:lstStyle/>
          <a:p>
            <a:pPr indent="0" marL="0">
              <a:buNone/>
            </a:pPr>
            <a:r>
              <a:rPr lang="en-US" sz="1250" b="1" dirty="0">
                <a:solidFill>
                  <a:srgbClr val="1B1A17"/>
                </a:solidFill>
                <a:latin typeface="Calibri" pitchFamily="34" charset="0"/>
                <a:ea typeface="Calibri" pitchFamily="34" charset="-122"/>
                <a:cs typeface="Calibri" pitchFamily="34" charset="-120"/>
              </a:rPr>
              <a:t>So what for Themis.ai:  differentiation cannot be the model, and buyers already know it. It has to be the object the work lives in.</a:t>
            </a:r>
            <a:endParaRPr lang="en-US" sz="1250" dirty="0"/>
          </a:p>
        </p:txBody>
      </p:sp>
      <p:sp>
        <p:nvSpPr>
          <p:cNvPr id="23" name="Text 21"/>
          <p:cNvSpPr txBox="1"/>
          <p:nvPr/>
        </p:nvSpPr>
        <p:spPr>
          <a:xfrm>
            <a:off x="566928" y="6345936"/>
            <a:ext cx="7772400" cy="274320"/>
          </a:xfrm>
          <a:prstGeom prst="rect">
            <a:avLst/>
          </a:prstGeom>
          <a:noFill/>
          <a:ln/>
        </p:spPr>
        <p:txBody>
          <a:bodyPr wrap="square" lIns="0" tIns="0" rIns="0" bIns="0" rtlCol="0" anchor="ctr"/>
          <a:lstStyle/>
          <a:p>
            <a:pPr indent="0" marL="0">
              <a:buNone/>
            </a:pPr>
            <a:r>
              <a:rPr lang="en-US" sz="900" dirty="0">
                <a:solidFill>
                  <a:srgbClr val="7A756C"/>
                </a:solidFill>
                <a:latin typeface="Calibri" pitchFamily="34" charset="0"/>
                <a:ea typeface="Calibri" pitchFamily="34" charset="-122"/>
                <a:cs typeface="Calibri" pitchFamily="34" charset="-120"/>
              </a:rPr>
              <a:t>Themis.ai · Voice of the Practitioner · Finding 01</a:t>
            </a:r>
            <a:endParaRPr lang="en-US" sz="900" dirty="0"/>
          </a:p>
        </p:txBody>
      </p:sp>
      <p:sp>
        <p:nvSpPr>
          <p:cNvPr id="24" name="Text 22"/>
          <p:cNvSpPr txBox="1"/>
          <p:nvPr/>
        </p:nvSpPr>
        <p:spPr>
          <a:xfrm>
            <a:off x="11064240" y="6345936"/>
            <a:ext cx="566928" cy="274320"/>
          </a:xfrm>
          <a:prstGeom prst="rect">
            <a:avLst/>
          </a:prstGeom>
          <a:noFill/>
          <a:ln/>
        </p:spPr>
        <p:txBody>
          <a:bodyPr wrap="square" lIns="0" tIns="0" rIns="0" bIns="0" rtlCol="0" anchor="ctr"/>
          <a:lstStyle/>
          <a:p>
            <a:pPr algn="r" indent="0" marL="0">
              <a:buNone/>
            </a:pPr>
            <a:r>
              <a:rPr lang="en-US" sz="900" dirty="0">
                <a:solidFill>
                  <a:srgbClr val="7A756C"/>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F1"/>
        </a:solidFill>
      </p:bgPr>
    </p:bg>
    <p:spTree>
      <p:nvGrpSpPr>
        <p:cNvPr id="1" name=""/>
        <p:cNvGrpSpPr/>
        <p:nvPr/>
      </p:nvGrpSpPr>
      <p:grpSpPr>
        <a:xfrm>
          <a:off x="0" y="0"/>
          <a:ext cx="0" cy="0"/>
          <a:chOff x="0" y="0"/>
          <a:chExt cx="0" cy="0"/>
        </a:xfrm>
      </p:grpSpPr>
      <p:sp>
        <p:nvSpPr>
          <p:cNvPr id="2" name="Shape 0"/>
          <p:cNvSpPr/>
          <p:nvPr/>
        </p:nvSpPr>
        <p:spPr>
          <a:xfrm>
            <a:off x="566928" y="384048"/>
            <a:ext cx="329184" cy="329184"/>
          </a:xfrm>
          <a:prstGeom prst="ellipse">
            <a:avLst/>
          </a:prstGeom>
          <a:solidFill>
            <a:srgbClr val="5F5AC0"/>
          </a:solidFill>
          <a:ln/>
        </p:spPr>
      </p:sp>
      <p:sp>
        <p:nvSpPr>
          <p:cNvPr id="3" name="Text 1"/>
          <p:cNvSpPr txBox="1"/>
          <p:nvPr/>
        </p:nvSpPr>
        <p:spPr>
          <a:xfrm>
            <a:off x="566928" y="388620"/>
            <a:ext cx="329184" cy="3200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4" name="Text 2"/>
          <p:cNvSpPr txBox="1"/>
          <p:nvPr/>
        </p:nvSpPr>
        <p:spPr>
          <a:xfrm>
            <a:off x="1024128" y="420624"/>
            <a:ext cx="8229600" cy="256032"/>
          </a:xfrm>
          <a:prstGeom prst="rect">
            <a:avLst/>
          </a:prstGeom>
          <a:noFill/>
          <a:ln/>
        </p:spPr>
        <p:txBody>
          <a:bodyPr wrap="square" lIns="0" tIns="0" rIns="0" bIns="0" rtlCol="0" anchor="ctr"/>
          <a:lstStyle/>
          <a:p>
            <a:pPr indent="0" marL="0">
              <a:buNone/>
            </a:pPr>
            <a:r>
              <a:rPr lang="en-US" sz="1050" b="1" spc="160" kern="0" dirty="0">
                <a:solidFill>
                  <a:srgbClr val="5F5AC0"/>
                </a:solidFill>
                <a:latin typeface="Calibri" pitchFamily="34" charset="0"/>
                <a:ea typeface="Calibri" pitchFamily="34" charset="-122"/>
                <a:cs typeface="Calibri" pitchFamily="34" charset="-120"/>
              </a:rPr>
              <a:t>FINDING 02  ·  PRICING</a:t>
            </a:r>
            <a:endParaRPr lang="en-US" sz="1050" dirty="0"/>
          </a:p>
        </p:txBody>
      </p:sp>
      <p:sp>
        <p:nvSpPr>
          <p:cNvPr id="5" name="Text 3"/>
          <p:cNvSpPr txBox="1"/>
          <p:nvPr/>
        </p:nvSpPr>
        <p:spPr>
          <a:xfrm>
            <a:off x="566928" y="786384"/>
            <a:ext cx="10881360" cy="621792"/>
          </a:xfrm>
          <a:prstGeom prst="rect">
            <a:avLst/>
          </a:prstGeom>
          <a:noFill/>
          <a:ln/>
        </p:spPr>
        <p:txBody>
          <a:bodyPr wrap="square" lIns="0" tIns="0" rIns="0" bIns="0" rtlCol="0" anchor="ctr"/>
          <a:lstStyle/>
          <a:p>
            <a:pPr indent="0" marL="0">
              <a:buNone/>
            </a:pPr>
            <a:r>
              <a:rPr lang="en-US" sz="3100" b="1" dirty="0">
                <a:solidFill>
                  <a:srgbClr val="1B1A17"/>
                </a:solidFill>
                <a:latin typeface="Cambria" pitchFamily="34" charset="0"/>
                <a:ea typeface="Cambria" pitchFamily="34" charset="-122"/>
                <a:cs typeface="Cambria" pitchFamily="34" charset="-120"/>
              </a:rPr>
              <a:t>Price is the wedge — and the numbers are public</a:t>
            </a:r>
            <a:endParaRPr lang="en-US" sz="3100" dirty="0"/>
          </a:p>
        </p:txBody>
      </p:sp>
      <p:sp>
        <p:nvSpPr>
          <p:cNvPr id="6" name="Text 4"/>
          <p:cNvSpPr txBox="1"/>
          <p:nvPr/>
        </p:nvSpPr>
        <p:spPr>
          <a:xfrm>
            <a:off x="566928" y="1408176"/>
            <a:ext cx="10881360" cy="365760"/>
          </a:xfrm>
          <a:prstGeom prst="rect">
            <a:avLst/>
          </a:prstGeom>
          <a:noFill/>
          <a:ln/>
        </p:spPr>
        <p:txBody>
          <a:bodyPr wrap="square" lIns="0" tIns="0" rIns="0" bIns="0" rtlCol="0" anchor="ctr"/>
          <a:lstStyle/>
          <a:p>
            <a:pPr indent="0" marL="0">
              <a:buNone/>
            </a:pPr>
            <a:r>
              <a:rPr lang="en-US" sz="1400" dirty="0">
                <a:solidFill>
                  <a:srgbClr val="55524B"/>
                </a:solidFill>
                <a:latin typeface="Calibri" pitchFamily="34" charset="0"/>
                <a:ea typeface="Calibri" pitchFamily="34" charset="-122"/>
                <a:cs typeface="Calibri" pitchFamily="34" charset="-120"/>
              </a:rPr>
              <a:t>39 of 203 records raise cost as a decision factor. Practitioners now publish quotes, minimum seat counts and lock-in terms in the open.</a:t>
            </a:r>
            <a:endParaRPr lang="en-US" sz="1400" dirty="0"/>
          </a:p>
        </p:txBody>
      </p:sp>
      <p:sp>
        <p:nvSpPr>
          <p:cNvPr id="7" name="Shape 5"/>
          <p:cNvSpPr/>
          <p:nvPr/>
        </p:nvSpPr>
        <p:spPr>
          <a:xfrm>
            <a:off x="566928" y="1920240"/>
            <a:ext cx="2615184" cy="2377440"/>
          </a:xfrm>
          <a:prstGeom prst="roundRect">
            <a:avLst>
              <a:gd name="adj" fmla="val 2115"/>
            </a:avLst>
          </a:prstGeom>
          <a:solidFill>
            <a:srgbClr val="FFFEFB"/>
          </a:solidFill>
          <a:ln w="9525">
            <a:solidFill>
              <a:srgbClr val="DED9D0"/>
            </a:solidFill>
            <a:prstDash val="solid"/>
          </a:ln>
        </p:spPr>
      </p:sp>
      <p:sp>
        <p:nvSpPr>
          <p:cNvPr id="8" name="Text 6"/>
          <p:cNvSpPr txBox="1"/>
          <p:nvPr/>
        </p:nvSpPr>
        <p:spPr>
          <a:xfrm>
            <a:off x="786384" y="2103120"/>
            <a:ext cx="2194560" cy="566928"/>
          </a:xfrm>
          <a:prstGeom prst="rect">
            <a:avLst/>
          </a:prstGeom>
          <a:noFill/>
          <a:ln/>
        </p:spPr>
        <p:txBody>
          <a:bodyPr wrap="square" lIns="0" tIns="0" rIns="0" bIns="0" rtlCol="0" anchor="ctr"/>
          <a:lstStyle/>
          <a:p>
            <a:pPr indent="0" marL="0">
              <a:buNone/>
            </a:pPr>
            <a:r>
              <a:rPr lang="en-US" sz="3400" b="1" dirty="0">
                <a:solidFill>
                  <a:srgbClr val="B33A20"/>
                </a:solidFill>
                <a:latin typeface="Cambria" pitchFamily="34" charset="0"/>
                <a:ea typeface="Cambria" pitchFamily="34" charset="-122"/>
                <a:cs typeface="Cambria" pitchFamily="34" charset="-120"/>
              </a:rPr>
              <a:t>$1,200</a:t>
            </a:r>
            <a:endParaRPr lang="en-US" sz="3400" dirty="0"/>
          </a:p>
        </p:txBody>
      </p:sp>
      <p:sp>
        <p:nvSpPr>
          <p:cNvPr id="9" name="Text 7"/>
          <p:cNvSpPr txBox="1"/>
          <p:nvPr/>
        </p:nvSpPr>
        <p:spPr>
          <a:xfrm>
            <a:off x="786384" y="2688336"/>
            <a:ext cx="2194560" cy="1225296"/>
          </a:xfrm>
          <a:prstGeom prst="rect">
            <a:avLst/>
          </a:prstGeom>
          <a:noFill/>
          <a:ln/>
        </p:spPr>
        <p:txBody>
          <a:bodyPr wrap="square" lIns="0" tIns="0" rIns="0" bIns="0" rtlCol="0" anchor="ctr"/>
          <a:lstStyle/>
          <a:p>
            <a:pPr indent="0" marL="0">
              <a:lnSpc>
                <a:spcPts val="1450"/>
              </a:lnSpc>
              <a:buNone/>
            </a:pPr>
            <a:r>
              <a:rPr lang="en-US" sz="1100" dirty="0">
                <a:solidFill>
                  <a:srgbClr val="3A3733"/>
                </a:solidFill>
                <a:latin typeface="Calibri" pitchFamily="34" charset="0"/>
                <a:ea typeface="Calibri" pitchFamily="34" charset="-122"/>
                <a:cs typeface="Calibri" pitchFamily="34" charset="-120"/>
              </a:rPr>
              <a:t>per seat / month — Harvey’s opening quote to a large sub-AmLaw firm; $2,400 with Lexis integration, later retiered near $399</a:t>
            </a:r>
            <a:endParaRPr lang="en-US" sz="1100" dirty="0"/>
          </a:p>
        </p:txBody>
      </p:sp>
      <p:sp>
        <p:nvSpPr>
          <p:cNvPr id="10" name="Text 8"/>
          <p:cNvSpPr txBox="1"/>
          <p:nvPr/>
        </p:nvSpPr>
        <p:spPr>
          <a:xfrm>
            <a:off x="786384" y="3968496"/>
            <a:ext cx="2194560" cy="237744"/>
          </a:xfrm>
          <a:prstGeom prst="rect">
            <a:avLst/>
          </a:prstGeom>
          <a:noFill/>
          <a:ln/>
        </p:spPr>
        <p:txBody>
          <a:bodyPr wrap="square" lIns="0" tIns="0" rIns="0" bIns="0" rtlCol="0" anchor="ctr"/>
          <a:lstStyle/>
          <a:p>
            <a:pPr indent="0" marL="0">
              <a:buNone/>
            </a:pPr>
            <a:r>
              <a:rPr lang="en-US" sz="950" b="1" dirty="0">
                <a:solidFill>
                  <a:srgbClr val="7A756C"/>
                </a:solidFill>
                <a:latin typeface="Calibri" pitchFamily="34" charset="0"/>
                <a:ea typeface="Calibri" pitchFamily="34" charset="-122"/>
                <a:cs typeface="Calibri" pitchFamily="34" charset="-120"/>
              </a:rPr>
              <a:t>reddit-117</a:t>
            </a:r>
            <a:endParaRPr lang="en-US" sz="950" dirty="0"/>
          </a:p>
        </p:txBody>
      </p:sp>
      <p:sp>
        <p:nvSpPr>
          <p:cNvPr id="11" name="Shape 9"/>
          <p:cNvSpPr/>
          <p:nvPr/>
        </p:nvSpPr>
        <p:spPr>
          <a:xfrm>
            <a:off x="3364992" y="1920240"/>
            <a:ext cx="2615184" cy="2377440"/>
          </a:xfrm>
          <a:prstGeom prst="roundRect">
            <a:avLst>
              <a:gd name="adj" fmla="val 2115"/>
            </a:avLst>
          </a:prstGeom>
          <a:solidFill>
            <a:srgbClr val="FFFEFB"/>
          </a:solidFill>
          <a:ln w="9525">
            <a:solidFill>
              <a:srgbClr val="DED9D0"/>
            </a:solidFill>
            <a:prstDash val="solid"/>
          </a:ln>
        </p:spPr>
      </p:sp>
      <p:sp>
        <p:nvSpPr>
          <p:cNvPr id="12" name="Text 10"/>
          <p:cNvSpPr txBox="1"/>
          <p:nvPr/>
        </p:nvSpPr>
        <p:spPr>
          <a:xfrm>
            <a:off x="3584448" y="2103120"/>
            <a:ext cx="2194560" cy="566928"/>
          </a:xfrm>
          <a:prstGeom prst="rect">
            <a:avLst/>
          </a:prstGeom>
          <a:noFill/>
          <a:ln/>
        </p:spPr>
        <p:txBody>
          <a:bodyPr wrap="square" lIns="0" tIns="0" rIns="0" bIns="0" rtlCol="0" anchor="ctr"/>
          <a:lstStyle/>
          <a:p>
            <a:pPr indent="0" marL="0">
              <a:buNone/>
            </a:pPr>
            <a:r>
              <a:rPr lang="en-US" sz="3400" b="1" dirty="0">
                <a:solidFill>
                  <a:srgbClr val="B33A20"/>
                </a:solidFill>
                <a:latin typeface="Cambria" pitchFamily="34" charset="0"/>
                <a:ea typeface="Cambria" pitchFamily="34" charset="-122"/>
                <a:cs typeface="Cambria" pitchFamily="34" charset="-120"/>
              </a:rPr>
              <a:t>$425</a:t>
            </a:r>
            <a:endParaRPr lang="en-US" sz="3400" dirty="0"/>
          </a:p>
        </p:txBody>
      </p:sp>
      <p:sp>
        <p:nvSpPr>
          <p:cNvPr id="13" name="Text 11"/>
          <p:cNvSpPr txBox="1"/>
          <p:nvPr/>
        </p:nvSpPr>
        <p:spPr>
          <a:xfrm>
            <a:off x="3584448" y="2688336"/>
            <a:ext cx="2194560" cy="1225296"/>
          </a:xfrm>
          <a:prstGeom prst="rect">
            <a:avLst/>
          </a:prstGeom>
          <a:noFill/>
          <a:ln/>
        </p:spPr>
        <p:txBody>
          <a:bodyPr wrap="square" lIns="0" tIns="0" rIns="0" bIns="0" rtlCol="0" anchor="ctr"/>
          <a:lstStyle/>
          <a:p>
            <a:pPr indent="0" marL="0">
              <a:lnSpc>
                <a:spcPts val="1450"/>
              </a:lnSpc>
              <a:buNone/>
            </a:pPr>
            <a:r>
              <a:rPr lang="en-US" sz="1100" dirty="0">
                <a:solidFill>
                  <a:srgbClr val="3A3733"/>
                </a:solidFill>
                <a:latin typeface="Calibri" pitchFamily="34" charset="0"/>
                <a:ea typeface="Calibri" pitchFamily="34" charset="-122"/>
                <a:cs typeface="Calibri" pitchFamily="34" charset="-120"/>
              </a:rPr>
              <a:t>per seat / month — Harvey, 5-seat minimum, 12-month lock-in, quoted to a legaltech buyer</a:t>
            </a:r>
            <a:endParaRPr lang="en-US" sz="1100" dirty="0"/>
          </a:p>
        </p:txBody>
      </p:sp>
      <p:sp>
        <p:nvSpPr>
          <p:cNvPr id="14" name="Text 12"/>
          <p:cNvSpPr txBox="1"/>
          <p:nvPr/>
        </p:nvSpPr>
        <p:spPr>
          <a:xfrm>
            <a:off x="3584448" y="3968496"/>
            <a:ext cx="2194560" cy="237744"/>
          </a:xfrm>
          <a:prstGeom prst="rect">
            <a:avLst/>
          </a:prstGeom>
          <a:noFill/>
          <a:ln/>
        </p:spPr>
        <p:txBody>
          <a:bodyPr wrap="square" lIns="0" tIns="0" rIns="0" bIns="0" rtlCol="0" anchor="ctr"/>
          <a:lstStyle/>
          <a:p>
            <a:pPr indent="0" marL="0">
              <a:buNone/>
            </a:pPr>
            <a:r>
              <a:rPr lang="en-US" sz="950" b="1" dirty="0">
                <a:solidFill>
                  <a:srgbClr val="7A756C"/>
                </a:solidFill>
                <a:latin typeface="Calibri" pitchFamily="34" charset="0"/>
                <a:ea typeface="Calibri" pitchFamily="34" charset="-122"/>
                <a:cs typeface="Calibri" pitchFamily="34" charset="-120"/>
              </a:rPr>
              <a:t>reddit-163</a:t>
            </a:r>
            <a:endParaRPr lang="en-US" sz="950" dirty="0"/>
          </a:p>
        </p:txBody>
      </p:sp>
      <p:sp>
        <p:nvSpPr>
          <p:cNvPr id="15" name="Shape 13"/>
          <p:cNvSpPr/>
          <p:nvPr/>
        </p:nvSpPr>
        <p:spPr>
          <a:xfrm>
            <a:off x="6163056" y="1920240"/>
            <a:ext cx="2615184" cy="2377440"/>
          </a:xfrm>
          <a:prstGeom prst="roundRect">
            <a:avLst>
              <a:gd name="adj" fmla="val 2115"/>
            </a:avLst>
          </a:prstGeom>
          <a:solidFill>
            <a:srgbClr val="FFFEFB"/>
          </a:solidFill>
          <a:ln w="9525">
            <a:solidFill>
              <a:srgbClr val="DED9D0"/>
            </a:solidFill>
            <a:prstDash val="solid"/>
          </a:ln>
        </p:spPr>
      </p:sp>
      <p:sp>
        <p:nvSpPr>
          <p:cNvPr id="16" name="Text 14"/>
          <p:cNvSpPr txBox="1"/>
          <p:nvPr/>
        </p:nvSpPr>
        <p:spPr>
          <a:xfrm>
            <a:off x="6382512" y="2103120"/>
            <a:ext cx="2194560" cy="566928"/>
          </a:xfrm>
          <a:prstGeom prst="rect">
            <a:avLst/>
          </a:prstGeom>
          <a:noFill/>
          <a:ln/>
        </p:spPr>
        <p:txBody>
          <a:bodyPr wrap="square" lIns="0" tIns="0" rIns="0" bIns="0" rtlCol="0" anchor="ctr"/>
          <a:lstStyle/>
          <a:p>
            <a:pPr indent="0" marL="0">
              <a:buNone/>
            </a:pPr>
            <a:r>
              <a:rPr lang="en-US" sz="3400" b="1" dirty="0">
                <a:solidFill>
                  <a:srgbClr val="B33A20"/>
                </a:solidFill>
                <a:latin typeface="Cambria" pitchFamily="34" charset="0"/>
                <a:ea typeface="Cambria" pitchFamily="34" charset="-122"/>
                <a:cs typeface="Cambria" pitchFamily="34" charset="-120"/>
              </a:rPr>
              <a:t>~$30k</a:t>
            </a:r>
            <a:endParaRPr lang="en-US" sz="3400" dirty="0"/>
          </a:p>
        </p:txBody>
      </p:sp>
      <p:sp>
        <p:nvSpPr>
          <p:cNvPr id="17" name="Text 15"/>
          <p:cNvSpPr txBox="1"/>
          <p:nvPr/>
        </p:nvSpPr>
        <p:spPr>
          <a:xfrm>
            <a:off x="6382512" y="2688336"/>
            <a:ext cx="2194560" cy="1225296"/>
          </a:xfrm>
          <a:prstGeom prst="rect">
            <a:avLst/>
          </a:prstGeom>
          <a:noFill/>
          <a:ln/>
        </p:spPr>
        <p:txBody>
          <a:bodyPr wrap="square" lIns="0" tIns="0" rIns="0" bIns="0" rtlCol="0" anchor="ctr"/>
          <a:lstStyle/>
          <a:p>
            <a:pPr indent="0" marL="0">
              <a:lnSpc>
                <a:spcPts val="1450"/>
              </a:lnSpc>
              <a:buNone/>
            </a:pPr>
            <a:r>
              <a:rPr lang="en-US" sz="1100" dirty="0">
                <a:solidFill>
                  <a:srgbClr val="3A3733"/>
                </a:solidFill>
                <a:latin typeface="Calibri" pitchFamily="34" charset="0"/>
                <a:ea typeface="Calibri" pitchFamily="34" charset="-122"/>
                <a:cs typeface="Calibri" pitchFamily="34" charset="-120"/>
              </a:rPr>
              <a:t>per year — Harvey, rejected by a 3-attorney legal department after a same-prompt comparison</a:t>
            </a:r>
            <a:endParaRPr lang="en-US" sz="1100" dirty="0"/>
          </a:p>
        </p:txBody>
      </p:sp>
      <p:sp>
        <p:nvSpPr>
          <p:cNvPr id="18" name="Text 16"/>
          <p:cNvSpPr txBox="1"/>
          <p:nvPr/>
        </p:nvSpPr>
        <p:spPr>
          <a:xfrm>
            <a:off x="6382512" y="3968496"/>
            <a:ext cx="2194560" cy="237744"/>
          </a:xfrm>
          <a:prstGeom prst="rect">
            <a:avLst/>
          </a:prstGeom>
          <a:noFill/>
          <a:ln/>
        </p:spPr>
        <p:txBody>
          <a:bodyPr wrap="square" lIns="0" tIns="0" rIns="0" bIns="0" rtlCol="0" anchor="ctr"/>
          <a:lstStyle/>
          <a:p>
            <a:pPr indent="0" marL="0">
              <a:buNone/>
            </a:pPr>
            <a:r>
              <a:rPr lang="en-US" sz="950" b="1" dirty="0">
                <a:solidFill>
                  <a:srgbClr val="7A756C"/>
                </a:solidFill>
                <a:latin typeface="Calibri" pitchFamily="34" charset="0"/>
                <a:ea typeface="Calibri" pitchFamily="34" charset="-122"/>
                <a:cs typeface="Calibri" pitchFamily="34" charset="-120"/>
              </a:rPr>
              <a:t>reddit-110</a:t>
            </a:r>
            <a:endParaRPr lang="en-US" sz="950" dirty="0"/>
          </a:p>
        </p:txBody>
      </p:sp>
      <p:sp>
        <p:nvSpPr>
          <p:cNvPr id="19" name="Shape 17"/>
          <p:cNvSpPr/>
          <p:nvPr/>
        </p:nvSpPr>
        <p:spPr>
          <a:xfrm>
            <a:off x="8961120" y="1920240"/>
            <a:ext cx="2615184" cy="2377440"/>
          </a:xfrm>
          <a:prstGeom prst="roundRect">
            <a:avLst>
              <a:gd name="adj" fmla="val 2115"/>
            </a:avLst>
          </a:prstGeom>
          <a:solidFill>
            <a:srgbClr val="FFFEFB"/>
          </a:solidFill>
          <a:ln w="9525">
            <a:solidFill>
              <a:srgbClr val="DED9D0"/>
            </a:solidFill>
            <a:prstDash val="solid"/>
          </a:ln>
        </p:spPr>
      </p:sp>
      <p:sp>
        <p:nvSpPr>
          <p:cNvPr id="20" name="Text 18"/>
          <p:cNvSpPr txBox="1"/>
          <p:nvPr/>
        </p:nvSpPr>
        <p:spPr>
          <a:xfrm>
            <a:off x="9180576" y="2103120"/>
            <a:ext cx="2194560" cy="566928"/>
          </a:xfrm>
          <a:prstGeom prst="rect">
            <a:avLst/>
          </a:prstGeom>
          <a:noFill/>
          <a:ln/>
        </p:spPr>
        <p:txBody>
          <a:bodyPr wrap="square" lIns="0" tIns="0" rIns="0" bIns="0" rtlCol="0" anchor="ctr"/>
          <a:lstStyle/>
          <a:p>
            <a:pPr indent="0" marL="0">
              <a:buNone/>
            </a:pPr>
            <a:r>
              <a:rPr lang="en-US" sz="3400" b="1" dirty="0">
                <a:solidFill>
                  <a:srgbClr val="146B54"/>
                </a:solidFill>
                <a:latin typeface="Cambria" pitchFamily="34" charset="0"/>
                <a:ea typeface="Cambria" pitchFamily="34" charset="-122"/>
                <a:cs typeface="Cambria" pitchFamily="34" charset="-120"/>
              </a:rPr>
              <a:t>$200</a:t>
            </a:r>
            <a:endParaRPr lang="en-US" sz="3400" dirty="0"/>
          </a:p>
        </p:txBody>
      </p:sp>
      <p:sp>
        <p:nvSpPr>
          <p:cNvPr id="21" name="Text 19"/>
          <p:cNvSpPr txBox="1"/>
          <p:nvPr/>
        </p:nvSpPr>
        <p:spPr>
          <a:xfrm>
            <a:off x="9180576" y="2688336"/>
            <a:ext cx="2194560" cy="1225296"/>
          </a:xfrm>
          <a:prstGeom prst="rect">
            <a:avLst/>
          </a:prstGeom>
          <a:noFill/>
          <a:ln/>
        </p:spPr>
        <p:txBody>
          <a:bodyPr wrap="square" lIns="0" tIns="0" rIns="0" bIns="0" rtlCol="0" anchor="ctr"/>
          <a:lstStyle/>
          <a:p>
            <a:pPr indent="0" marL="0">
              <a:lnSpc>
                <a:spcPts val="1450"/>
              </a:lnSpc>
              <a:buNone/>
            </a:pPr>
            <a:r>
              <a:rPr lang="en-US" sz="1100" dirty="0">
                <a:solidFill>
                  <a:srgbClr val="3A3733"/>
                </a:solidFill>
                <a:latin typeface="Calibri" pitchFamily="34" charset="0"/>
                <a:ea typeface="Calibri" pitchFamily="34" charset="-122"/>
                <a:cs typeface="Calibri" pitchFamily="34" charset="-120"/>
              </a:rPr>
              <a:t>per month — Claude with custom skills, legal connectors and proper context, reported as working “quite well”</a:t>
            </a:r>
            <a:endParaRPr lang="en-US" sz="1100" dirty="0"/>
          </a:p>
        </p:txBody>
      </p:sp>
      <p:sp>
        <p:nvSpPr>
          <p:cNvPr id="22" name="Text 20"/>
          <p:cNvSpPr txBox="1"/>
          <p:nvPr/>
        </p:nvSpPr>
        <p:spPr>
          <a:xfrm>
            <a:off x="9180576" y="3968496"/>
            <a:ext cx="2194560" cy="237744"/>
          </a:xfrm>
          <a:prstGeom prst="rect">
            <a:avLst/>
          </a:prstGeom>
          <a:noFill/>
          <a:ln/>
        </p:spPr>
        <p:txBody>
          <a:bodyPr wrap="square" lIns="0" tIns="0" rIns="0" bIns="0" rtlCol="0" anchor="ctr"/>
          <a:lstStyle/>
          <a:p>
            <a:pPr indent="0" marL="0">
              <a:buNone/>
            </a:pPr>
            <a:r>
              <a:rPr lang="en-US" sz="950" b="1" dirty="0">
                <a:solidFill>
                  <a:srgbClr val="7A756C"/>
                </a:solidFill>
                <a:latin typeface="Calibri" pitchFamily="34" charset="0"/>
                <a:ea typeface="Calibri" pitchFamily="34" charset="-122"/>
                <a:cs typeface="Calibri" pitchFamily="34" charset="-120"/>
              </a:rPr>
              <a:t>reddit-154</a:t>
            </a:r>
            <a:endParaRPr lang="en-US" sz="950" dirty="0"/>
          </a:p>
        </p:txBody>
      </p:sp>
      <p:sp>
        <p:nvSpPr>
          <p:cNvPr id="23" name="Shape 21"/>
          <p:cNvSpPr/>
          <p:nvPr/>
        </p:nvSpPr>
        <p:spPr>
          <a:xfrm>
            <a:off x="566928" y="4626864"/>
            <a:ext cx="91440" cy="91440"/>
          </a:xfrm>
          <a:prstGeom prst="rect">
            <a:avLst/>
          </a:prstGeom>
          <a:solidFill>
            <a:srgbClr val="5F5AC0"/>
          </a:solidFill>
          <a:ln/>
        </p:spPr>
      </p:sp>
      <p:sp>
        <p:nvSpPr>
          <p:cNvPr id="24" name="Text 22"/>
          <p:cNvSpPr txBox="1"/>
          <p:nvPr/>
        </p:nvSpPr>
        <p:spPr>
          <a:xfrm>
            <a:off x="822960" y="4507992"/>
            <a:ext cx="10808208" cy="621792"/>
          </a:xfrm>
          <a:prstGeom prst="rect">
            <a:avLst/>
          </a:prstGeom>
          <a:noFill/>
          <a:ln/>
        </p:spPr>
        <p:txBody>
          <a:bodyPr wrap="square" lIns="0" tIns="0" rIns="0" bIns="0" rtlCol="0" anchor="t"/>
          <a:lstStyle/>
          <a:p>
            <a:pPr indent="0" marL="0">
              <a:lnSpc>
                <a:spcPts val="1700"/>
              </a:lnSpc>
              <a:buNone/>
            </a:pPr>
            <a:r>
              <a:rPr lang="en-US" sz="1250" b="1" dirty="0">
                <a:solidFill>
                  <a:srgbClr val="1B1A17"/>
                </a:solidFill>
                <a:latin typeface="Calibri" pitchFamily="34" charset="0"/>
                <a:ea typeface="Calibri" pitchFamily="34" charset="-122"/>
                <a:cs typeface="Calibri" pitchFamily="34" charset="-120"/>
              </a:rPr>
              <a:t>Trials are the friction, not the sticker.</a:t>
            </a:r>
            <a:pPr indent="0" marL="0">
              <a:lnSpc>
                <a:spcPts val="1700"/>
              </a:lnSpc>
              <a:buNone/>
            </a:pPr>
            <a:r>
              <a:rPr lang="en-US" sz="1250" dirty="0">
                <a:solidFill>
                  <a:srgbClr val="3A3733"/>
                </a:solidFill>
                <a:latin typeface="Calibri" pitchFamily="34" charset="0"/>
                <a:ea typeface="Calibri" pitchFamily="34" charset="-122"/>
                <a:cs typeface="Calibri" pitchFamily="34" charset="-120"/>
              </a:rPr>
              <a:t>  Harvey “seem to demand a minimum number of licenses, for a minimum 12-month period” (reddit-105, ~200 lawyers)  ·  a small California firm found “no real path to try it” (reddit-107)</a:t>
            </a:r>
            <a:endParaRPr lang="en-US" sz="1250" dirty="0"/>
          </a:p>
        </p:txBody>
      </p:sp>
      <p:sp>
        <p:nvSpPr>
          <p:cNvPr id="25" name="Shape 23"/>
          <p:cNvSpPr/>
          <p:nvPr/>
        </p:nvSpPr>
        <p:spPr>
          <a:xfrm>
            <a:off x="566928" y="5248656"/>
            <a:ext cx="91440" cy="91440"/>
          </a:xfrm>
          <a:prstGeom prst="rect">
            <a:avLst/>
          </a:prstGeom>
          <a:solidFill>
            <a:srgbClr val="5F5AC0"/>
          </a:solidFill>
          <a:ln/>
        </p:spPr>
      </p:sp>
      <p:sp>
        <p:nvSpPr>
          <p:cNvPr id="26" name="Text 24"/>
          <p:cNvSpPr txBox="1"/>
          <p:nvPr/>
        </p:nvSpPr>
        <p:spPr>
          <a:xfrm>
            <a:off x="822960" y="5129784"/>
            <a:ext cx="10808208" cy="621792"/>
          </a:xfrm>
          <a:prstGeom prst="rect">
            <a:avLst/>
          </a:prstGeom>
          <a:noFill/>
          <a:ln/>
        </p:spPr>
        <p:txBody>
          <a:bodyPr wrap="square" lIns="0" tIns="0" rIns="0" bIns="0" rtlCol="0" anchor="t"/>
          <a:lstStyle/>
          <a:p>
            <a:pPr indent="0" marL="0">
              <a:lnSpc>
                <a:spcPts val="1700"/>
              </a:lnSpc>
              <a:buNone/>
            </a:pPr>
            <a:r>
              <a:rPr lang="en-US" sz="1250" b="1" dirty="0">
                <a:solidFill>
                  <a:srgbClr val="1B1A17"/>
                </a:solidFill>
                <a:latin typeface="Calibri" pitchFamily="34" charset="0"/>
                <a:ea typeface="Calibri" pitchFamily="34" charset="-122"/>
                <a:cs typeface="Calibri" pitchFamily="34" charset="-120"/>
              </a:rPr>
              <a:t>The real cost is downstream.</a:t>
            </a:r>
            <a:pPr indent="0" marL="0">
              <a:lnSpc>
                <a:spcPts val="1700"/>
              </a:lnSpc>
              <a:buNone/>
            </a:pPr>
            <a:r>
              <a:rPr lang="en-US" sz="1250" dirty="0">
                <a:solidFill>
                  <a:srgbClr val="3A3733"/>
                </a:solidFill>
                <a:latin typeface="Calibri" pitchFamily="34" charset="0"/>
                <a:ea typeface="Calibri" pitchFamily="34" charset="-122"/>
                <a:cs typeface="Calibri" pitchFamily="34" charset="-120"/>
              </a:rPr>
              <a:t>  “At small firms the seat license is the cheapest part of the line item, integration debt is what eats the budget.” (reddit-129, 62 buyer assessments)</a:t>
            </a:r>
            <a:endParaRPr lang="en-US" sz="1250" dirty="0"/>
          </a:p>
        </p:txBody>
      </p:sp>
      <p:sp>
        <p:nvSpPr>
          <p:cNvPr id="27" name="Text 25"/>
          <p:cNvSpPr txBox="1"/>
          <p:nvPr/>
        </p:nvSpPr>
        <p:spPr>
          <a:xfrm>
            <a:off x="566928" y="5833872"/>
            <a:ext cx="11064240" cy="310896"/>
          </a:xfrm>
          <a:prstGeom prst="rect">
            <a:avLst/>
          </a:prstGeom>
          <a:noFill/>
          <a:ln/>
        </p:spPr>
        <p:txBody>
          <a:bodyPr wrap="square" lIns="0" tIns="0" rIns="0" bIns="0" rtlCol="0" anchor="ctr"/>
          <a:lstStyle/>
          <a:p>
            <a:pPr indent="0" marL="0">
              <a:buNone/>
            </a:pPr>
            <a:r>
              <a:rPr lang="en-US" sz="1250" b="1" dirty="0">
                <a:solidFill>
                  <a:srgbClr val="1B1A17"/>
                </a:solidFill>
                <a:latin typeface="Calibri" pitchFamily="34" charset="0"/>
                <a:ea typeface="Calibri" pitchFamily="34" charset="-122"/>
                <a:cs typeface="Calibri" pitchFamily="34" charset="-120"/>
              </a:rPr>
              <a:t>So what for Themis.ai:  a self-serve, low-integration-debt product with no seat minimum is a category the corpus says does not exist.</a:t>
            </a:r>
            <a:endParaRPr lang="en-US" sz="1250" dirty="0"/>
          </a:p>
        </p:txBody>
      </p:sp>
      <p:sp>
        <p:nvSpPr>
          <p:cNvPr id="28" name="Text 26"/>
          <p:cNvSpPr txBox="1"/>
          <p:nvPr/>
        </p:nvSpPr>
        <p:spPr>
          <a:xfrm>
            <a:off x="566928" y="6345936"/>
            <a:ext cx="7772400" cy="274320"/>
          </a:xfrm>
          <a:prstGeom prst="rect">
            <a:avLst/>
          </a:prstGeom>
          <a:noFill/>
          <a:ln/>
        </p:spPr>
        <p:txBody>
          <a:bodyPr wrap="square" lIns="0" tIns="0" rIns="0" bIns="0" rtlCol="0" anchor="ctr"/>
          <a:lstStyle/>
          <a:p>
            <a:pPr indent="0" marL="0">
              <a:buNone/>
            </a:pPr>
            <a:r>
              <a:rPr lang="en-US" sz="900" dirty="0">
                <a:solidFill>
                  <a:srgbClr val="7A756C"/>
                </a:solidFill>
                <a:latin typeface="Calibri" pitchFamily="34" charset="0"/>
                <a:ea typeface="Calibri" pitchFamily="34" charset="-122"/>
                <a:cs typeface="Calibri" pitchFamily="34" charset="-120"/>
              </a:rPr>
              <a:t>Themis.ai · Voice of the Practitioner · Finding 02</a:t>
            </a:r>
            <a:endParaRPr lang="en-US" sz="900" dirty="0"/>
          </a:p>
        </p:txBody>
      </p:sp>
      <p:sp>
        <p:nvSpPr>
          <p:cNvPr id="29" name="Text 27"/>
          <p:cNvSpPr txBox="1"/>
          <p:nvPr/>
        </p:nvSpPr>
        <p:spPr>
          <a:xfrm>
            <a:off x="11064240" y="6345936"/>
            <a:ext cx="566928" cy="274320"/>
          </a:xfrm>
          <a:prstGeom prst="rect">
            <a:avLst/>
          </a:prstGeom>
          <a:noFill/>
          <a:ln/>
        </p:spPr>
        <p:txBody>
          <a:bodyPr wrap="square" lIns="0" tIns="0" rIns="0" bIns="0" rtlCol="0" anchor="ctr"/>
          <a:lstStyle/>
          <a:p>
            <a:pPr algn="r" indent="0" marL="0">
              <a:buNone/>
            </a:pPr>
            <a:r>
              <a:rPr lang="en-US" sz="900" dirty="0">
                <a:solidFill>
                  <a:srgbClr val="7A756C"/>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F1"/>
        </a:solidFill>
      </p:bgPr>
    </p:bg>
    <p:spTree>
      <p:nvGrpSpPr>
        <p:cNvPr id="1" name=""/>
        <p:cNvGrpSpPr/>
        <p:nvPr/>
      </p:nvGrpSpPr>
      <p:grpSpPr>
        <a:xfrm>
          <a:off x="0" y="0"/>
          <a:ext cx="0" cy="0"/>
          <a:chOff x="0" y="0"/>
          <a:chExt cx="0" cy="0"/>
        </a:xfrm>
      </p:grpSpPr>
      <p:sp>
        <p:nvSpPr>
          <p:cNvPr id="2" name="Shape 0"/>
          <p:cNvSpPr/>
          <p:nvPr/>
        </p:nvSpPr>
        <p:spPr>
          <a:xfrm>
            <a:off x="566928" y="384048"/>
            <a:ext cx="329184" cy="329184"/>
          </a:xfrm>
          <a:prstGeom prst="ellipse">
            <a:avLst/>
          </a:prstGeom>
          <a:solidFill>
            <a:srgbClr val="B33A20"/>
          </a:solidFill>
          <a:ln/>
        </p:spPr>
      </p:sp>
      <p:sp>
        <p:nvSpPr>
          <p:cNvPr id="3" name="Text 1"/>
          <p:cNvSpPr txBox="1"/>
          <p:nvPr/>
        </p:nvSpPr>
        <p:spPr>
          <a:xfrm>
            <a:off x="566928" y="388620"/>
            <a:ext cx="329184" cy="3200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4" name="Text 2"/>
          <p:cNvSpPr txBox="1"/>
          <p:nvPr/>
        </p:nvSpPr>
        <p:spPr>
          <a:xfrm>
            <a:off x="1024128" y="420624"/>
            <a:ext cx="8229600" cy="256032"/>
          </a:xfrm>
          <a:prstGeom prst="rect">
            <a:avLst/>
          </a:prstGeom>
          <a:noFill/>
          <a:ln/>
        </p:spPr>
        <p:txBody>
          <a:bodyPr wrap="square" lIns="0" tIns="0" rIns="0" bIns="0" rtlCol="0" anchor="ctr"/>
          <a:lstStyle/>
          <a:p>
            <a:pPr indent="0" marL="0">
              <a:buNone/>
            </a:pPr>
            <a:r>
              <a:rPr lang="en-US" sz="1050" b="1" spc="160" kern="0" dirty="0">
                <a:solidFill>
                  <a:srgbClr val="B33A20"/>
                </a:solidFill>
                <a:latin typeface="Calibri" pitchFamily="34" charset="0"/>
                <a:ea typeface="Calibri" pitchFamily="34" charset="-122"/>
                <a:cs typeface="Calibri" pitchFamily="34" charset="-120"/>
              </a:rPr>
              <a:t>FINDING 03  ·  THE BUY-VS-BUILD BREAK</a:t>
            </a:r>
            <a:endParaRPr lang="en-US" sz="1050" dirty="0"/>
          </a:p>
        </p:txBody>
      </p:sp>
      <p:sp>
        <p:nvSpPr>
          <p:cNvPr id="5" name="Text 3"/>
          <p:cNvSpPr txBox="1"/>
          <p:nvPr/>
        </p:nvSpPr>
        <p:spPr>
          <a:xfrm>
            <a:off x="566928" y="786384"/>
            <a:ext cx="10881360" cy="621792"/>
          </a:xfrm>
          <a:prstGeom prst="rect">
            <a:avLst/>
          </a:prstGeom>
          <a:noFill/>
          <a:ln/>
        </p:spPr>
        <p:txBody>
          <a:bodyPr wrap="square" lIns="0" tIns="0" rIns="0" bIns="0" rtlCol="0" anchor="ctr"/>
          <a:lstStyle/>
          <a:p>
            <a:pPr indent="0" marL="0">
              <a:buNone/>
            </a:pPr>
            <a:r>
              <a:rPr lang="en-US" sz="3100" b="1" dirty="0">
                <a:solidFill>
                  <a:srgbClr val="1B1A17"/>
                </a:solidFill>
                <a:latin typeface="Cambria" pitchFamily="34" charset="0"/>
                <a:ea typeface="Cambria" pitchFamily="34" charset="-122"/>
                <a:cs typeface="Cambria" pitchFamily="34" charset="-120"/>
              </a:rPr>
              <a:t>Trial the platforms, then build your own</a:t>
            </a:r>
            <a:endParaRPr lang="en-US" sz="3100" dirty="0"/>
          </a:p>
        </p:txBody>
      </p:sp>
      <p:sp>
        <p:nvSpPr>
          <p:cNvPr id="6" name="Text 4"/>
          <p:cNvSpPr txBox="1"/>
          <p:nvPr/>
        </p:nvSpPr>
        <p:spPr>
          <a:xfrm>
            <a:off x="566928" y="1408176"/>
            <a:ext cx="10881360" cy="365760"/>
          </a:xfrm>
          <a:prstGeom prst="rect">
            <a:avLst/>
          </a:prstGeom>
          <a:noFill/>
          <a:ln/>
        </p:spPr>
        <p:txBody>
          <a:bodyPr wrap="square" lIns="0" tIns="0" rIns="0" bIns="0" rtlCol="0" anchor="ctr"/>
          <a:lstStyle/>
          <a:p>
            <a:pPr indent="0" marL="0">
              <a:buNone/>
            </a:pPr>
            <a:r>
              <a:rPr lang="en-US" sz="1400" dirty="0">
                <a:solidFill>
                  <a:srgbClr val="55524B"/>
                </a:solidFill>
                <a:latin typeface="Calibri" pitchFamily="34" charset="0"/>
                <a:ea typeface="Calibri" pitchFamily="34" charset="-122"/>
                <a:cs typeface="Calibri" pitchFamily="34" charset="-120"/>
              </a:rPr>
              <a:t>38 of 203 records describe internal or custom tooling. The most recent are post-trial decisions, not idle speculation.</a:t>
            </a:r>
            <a:endParaRPr lang="en-US" sz="1400" dirty="0"/>
          </a:p>
        </p:txBody>
      </p:sp>
      <p:sp>
        <p:nvSpPr>
          <p:cNvPr id="7" name="Shape 5"/>
          <p:cNvSpPr/>
          <p:nvPr/>
        </p:nvSpPr>
        <p:spPr>
          <a:xfrm>
            <a:off x="566928" y="1920240"/>
            <a:ext cx="11064240" cy="1225296"/>
          </a:xfrm>
          <a:prstGeom prst="roundRect">
            <a:avLst>
              <a:gd name="adj" fmla="val 4104"/>
            </a:avLst>
          </a:prstGeom>
          <a:solidFill>
            <a:srgbClr val="EAE8F9"/>
          </a:solidFill>
          <a:ln w="9525">
            <a:solidFill>
              <a:srgbClr val="DAD7F0"/>
            </a:solidFill>
            <a:prstDash val="solid"/>
          </a:ln>
        </p:spPr>
      </p:sp>
      <p:sp>
        <p:nvSpPr>
          <p:cNvPr id="8" name="Text 6"/>
          <p:cNvSpPr txBox="1"/>
          <p:nvPr/>
        </p:nvSpPr>
        <p:spPr>
          <a:xfrm>
            <a:off x="804672" y="2066544"/>
            <a:ext cx="10588752" cy="658368"/>
          </a:xfrm>
          <a:prstGeom prst="rect">
            <a:avLst/>
          </a:prstGeom>
          <a:noFill/>
          <a:ln/>
        </p:spPr>
        <p:txBody>
          <a:bodyPr wrap="square" lIns="0" tIns="0" rIns="0" bIns="0" rtlCol="0" anchor="t"/>
          <a:lstStyle/>
          <a:p>
            <a:pPr indent="0" marL="0">
              <a:lnSpc>
                <a:spcPts val="1900"/>
              </a:lnSpc>
              <a:buNone/>
            </a:pPr>
            <a:r>
              <a:rPr lang="en-US" sz="1350" i="1" dirty="0">
                <a:solidFill>
                  <a:srgbClr val="3A3733"/>
                </a:solidFill>
                <a:latin typeface="Calibri" pitchFamily="34" charset="0"/>
                <a:ea typeface="Calibri" pitchFamily="34" charset="-122"/>
                <a:cs typeface="Calibri" pitchFamily="34" charset="-120"/>
              </a:rPr>
              <a:t>“We had access to each system for ~3 weeks. We did discovery, a motion, and a memo. [All three missed a material heirship issue.] The only one that caught it without further prompting was Claude Opus.”</a:t>
            </a:r>
            <a:endParaRPr lang="en-US" sz="1350" dirty="0"/>
          </a:p>
        </p:txBody>
      </p:sp>
      <p:sp>
        <p:nvSpPr>
          <p:cNvPr id="9" name="Text 7"/>
          <p:cNvSpPr txBox="1"/>
          <p:nvPr/>
        </p:nvSpPr>
        <p:spPr>
          <a:xfrm>
            <a:off x="804672" y="2761488"/>
            <a:ext cx="10588752" cy="256032"/>
          </a:xfrm>
          <a:prstGeom prst="rect">
            <a:avLst/>
          </a:prstGeom>
          <a:noFill/>
          <a:ln/>
        </p:spPr>
        <p:txBody>
          <a:bodyPr wrap="square" lIns="0" tIns="0" rIns="0" bIns="0" rtlCol="0" anchor="ctr"/>
          <a:lstStyle/>
          <a:p>
            <a:pPr indent="0" marL="0">
              <a:buNone/>
            </a:pPr>
            <a:r>
              <a:rPr lang="en-US" sz="950" b="1" dirty="0">
                <a:solidFill>
                  <a:srgbClr val="5F5AC0"/>
                </a:solidFill>
                <a:latin typeface="Calibri" pitchFamily="34" charset="0"/>
                <a:ea typeface="Calibri" pitchFamily="34" charset="-122"/>
                <a:cs typeface="Calibri" pitchFamily="34" charset="-120"/>
              </a:rPr>
              <a:t>Head of technology, ~30-attorney firm, after trialling CoCounsel, Harvey and Legora — now building internally · reddit-175, 30 Aug 2026</a:t>
            </a:r>
            <a:endParaRPr lang="en-US" sz="950" dirty="0"/>
          </a:p>
        </p:txBody>
      </p:sp>
      <p:sp>
        <p:nvSpPr>
          <p:cNvPr id="10" name="Shape 8"/>
          <p:cNvSpPr/>
          <p:nvPr/>
        </p:nvSpPr>
        <p:spPr>
          <a:xfrm>
            <a:off x="566928" y="3383280"/>
            <a:ext cx="91440" cy="91440"/>
          </a:xfrm>
          <a:prstGeom prst="rect">
            <a:avLst/>
          </a:prstGeom>
          <a:solidFill>
            <a:srgbClr val="5F5AC0"/>
          </a:solidFill>
          <a:ln/>
        </p:spPr>
      </p:sp>
      <p:sp>
        <p:nvSpPr>
          <p:cNvPr id="11" name="Text 9"/>
          <p:cNvSpPr txBox="1"/>
          <p:nvPr/>
        </p:nvSpPr>
        <p:spPr>
          <a:xfrm>
            <a:off x="822960" y="3264408"/>
            <a:ext cx="10808208" cy="566928"/>
          </a:xfrm>
          <a:prstGeom prst="rect">
            <a:avLst/>
          </a:prstGeom>
          <a:noFill/>
          <a:ln/>
        </p:spPr>
        <p:txBody>
          <a:bodyPr wrap="square" lIns="0" tIns="0" rIns="0" bIns="0" rtlCol="0" anchor="t"/>
          <a:lstStyle/>
          <a:p>
            <a:pPr indent="0" marL="0">
              <a:lnSpc>
                <a:spcPts val="1700"/>
              </a:lnSpc>
              <a:buNone/>
            </a:pPr>
            <a:r>
              <a:rPr lang="en-US" sz="1250" b="1" dirty="0">
                <a:solidFill>
                  <a:srgbClr val="1B1A17"/>
                </a:solidFill>
                <a:latin typeface="Calibri" pitchFamily="34" charset="0"/>
                <a:ea typeface="Calibri" pitchFamily="34" charset="-122"/>
                <a:cs typeface="Calibri" pitchFamily="34" charset="-120"/>
              </a:rPr>
              <a:t>A second firm reached the same decision.</a:t>
            </a:r>
            <a:pPr indent="0" marL="0">
              <a:lnSpc>
                <a:spcPts val="1700"/>
              </a:lnSpc>
              <a:buNone/>
            </a:pPr>
            <a:r>
              <a:rPr lang="en-US" sz="1250" dirty="0">
                <a:solidFill>
                  <a:srgbClr val="3A3733"/>
                </a:solidFill>
                <a:latin typeface="Calibri" pitchFamily="34" charset="0"/>
                <a:ea typeface="Calibri" pitchFamily="34" charset="-122"/>
                <a:cs typeface="Calibri" pitchFamily="34" charset="-120"/>
              </a:rPr>
              <a:t>  “We just went through a whole process trialing Harvey, legora, and cocounsel. We decided … it would be better for us to build our own practice area focused tool for a lot cheaper.” (reddit-174)</a:t>
            </a:r>
            <a:endParaRPr lang="en-US" sz="1250" dirty="0"/>
          </a:p>
        </p:txBody>
      </p:sp>
      <p:sp>
        <p:nvSpPr>
          <p:cNvPr id="12" name="Shape 10"/>
          <p:cNvSpPr/>
          <p:nvPr/>
        </p:nvSpPr>
        <p:spPr>
          <a:xfrm>
            <a:off x="566928" y="3950208"/>
            <a:ext cx="91440" cy="91440"/>
          </a:xfrm>
          <a:prstGeom prst="rect">
            <a:avLst/>
          </a:prstGeom>
          <a:solidFill>
            <a:srgbClr val="5F5AC0"/>
          </a:solidFill>
          <a:ln/>
        </p:spPr>
      </p:sp>
      <p:sp>
        <p:nvSpPr>
          <p:cNvPr id="13" name="Text 11"/>
          <p:cNvSpPr txBox="1"/>
          <p:nvPr/>
        </p:nvSpPr>
        <p:spPr>
          <a:xfrm>
            <a:off x="822960" y="3831336"/>
            <a:ext cx="10808208" cy="566928"/>
          </a:xfrm>
          <a:prstGeom prst="rect">
            <a:avLst/>
          </a:prstGeom>
          <a:noFill/>
          <a:ln/>
        </p:spPr>
        <p:txBody>
          <a:bodyPr wrap="square" lIns="0" tIns="0" rIns="0" bIns="0" rtlCol="0" anchor="t"/>
          <a:lstStyle/>
          <a:p>
            <a:pPr indent="0" marL="0">
              <a:lnSpc>
                <a:spcPts val="1700"/>
              </a:lnSpc>
              <a:buNone/>
            </a:pPr>
            <a:r>
              <a:rPr lang="en-US" sz="1250" b="1" dirty="0">
                <a:solidFill>
                  <a:srgbClr val="1B1A17"/>
                </a:solidFill>
                <a:latin typeface="Calibri" pitchFamily="34" charset="0"/>
                <a:ea typeface="Calibri" pitchFamily="34" charset="-122"/>
                <a:cs typeface="Calibri" pitchFamily="34" charset="-120"/>
              </a:rPr>
              <a:t>A 100+ lawyer firm chose the base model.</a:t>
            </a:r>
            <a:pPr indent="0" marL="0">
              <a:lnSpc>
                <a:spcPts val="1700"/>
              </a:lnSpc>
              <a:buNone/>
            </a:pPr>
            <a:r>
              <a:rPr lang="en-US" sz="1250" dirty="0">
                <a:solidFill>
                  <a:srgbClr val="3A3733"/>
                </a:solidFill>
                <a:latin typeface="Calibri" pitchFamily="34" charset="0"/>
                <a:ea typeface="Calibri" pitchFamily="34" charset="-122"/>
                <a:cs typeface="Calibri" pitchFamily="34" charset="-120"/>
              </a:rPr>
              <a:t>  The technology committee largely selected Claude Enterprise firm-wide plus a small local research tool; an earlier Harvey trial “didn’t justify the cost.” (reddit-168)</a:t>
            </a:r>
            <a:endParaRPr lang="en-US" sz="1250" dirty="0"/>
          </a:p>
        </p:txBody>
      </p:sp>
      <p:sp>
        <p:nvSpPr>
          <p:cNvPr id="14" name="Shape 12"/>
          <p:cNvSpPr/>
          <p:nvPr/>
        </p:nvSpPr>
        <p:spPr>
          <a:xfrm>
            <a:off x="566928" y="4517136"/>
            <a:ext cx="91440" cy="91440"/>
          </a:xfrm>
          <a:prstGeom prst="rect">
            <a:avLst/>
          </a:prstGeom>
          <a:solidFill>
            <a:srgbClr val="5F5AC0"/>
          </a:solidFill>
          <a:ln/>
        </p:spPr>
      </p:sp>
      <p:sp>
        <p:nvSpPr>
          <p:cNvPr id="15" name="Text 13"/>
          <p:cNvSpPr txBox="1"/>
          <p:nvPr/>
        </p:nvSpPr>
        <p:spPr>
          <a:xfrm>
            <a:off x="822960" y="4398264"/>
            <a:ext cx="10808208" cy="566928"/>
          </a:xfrm>
          <a:prstGeom prst="rect">
            <a:avLst/>
          </a:prstGeom>
          <a:noFill/>
          <a:ln/>
        </p:spPr>
        <p:txBody>
          <a:bodyPr wrap="square" lIns="0" tIns="0" rIns="0" bIns="0" rtlCol="0" anchor="t"/>
          <a:lstStyle/>
          <a:p>
            <a:pPr indent="0" marL="0">
              <a:lnSpc>
                <a:spcPts val="1700"/>
              </a:lnSpc>
              <a:buNone/>
            </a:pPr>
            <a:r>
              <a:rPr lang="en-US" sz="1250" b="1" dirty="0">
                <a:solidFill>
                  <a:srgbClr val="1B1A17"/>
                </a:solidFill>
                <a:latin typeface="Calibri" pitchFamily="34" charset="0"/>
                <a:ea typeface="Calibri" pitchFamily="34" charset="-122"/>
                <a:cs typeface="Calibri" pitchFamily="34" charset="-120"/>
              </a:rPr>
              <a:t>In-house counsel are shipping their own.</a:t>
            </a:r>
            <a:pPr indent="0" marL="0">
              <a:lnSpc>
                <a:spcPts val="1700"/>
              </a:lnSpc>
              <a:buNone/>
            </a:pPr>
            <a:r>
              <a:rPr lang="en-US" sz="1250" dirty="0">
                <a:solidFill>
                  <a:srgbClr val="3A3733"/>
                </a:solidFill>
                <a:latin typeface="Calibri" pitchFamily="34" charset="0"/>
                <a:ea typeface="Calibri" pitchFamily="34" charset="-122"/>
                <a:cs typeface="Calibri" pitchFamily="34" charset="-120"/>
              </a:rPr>
              <a:t>  “I’ve spent … the last month building some AI tools to handle different rote parts of my job: NDA review, reg FD review, disclosure benchmarking … They’re working well now.” (reddit-070)</a:t>
            </a:r>
            <a:endParaRPr lang="en-US" sz="1250" dirty="0"/>
          </a:p>
        </p:txBody>
      </p:sp>
      <p:sp>
        <p:nvSpPr>
          <p:cNvPr id="16" name="Shape 14"/>
          <p:cNvSpPr/>
          <p:nvPr/>
        </p:nvSpPr>
        <p:spPr>
          <a:xfrm>
            <a:off x="566928" y="5084064"/>
            <a:ext cx="91440" cy="91440"/>
          </a:xfrm>
          <a:prstGeom prst="rect">
            <a:avLst/>
          </a:prstGeom>
          <a:solidFill>
            <a:srgbClr val="5F5AC0"/>
          </a:solidFill>
          <a:ln/>
        </p:spPr>
      </p:sp>
      <p:sp>
        <p:nvSpPr>
          <p:cNvPr id="17" name="Text 15"/>
          <p:cNvSpPr txBox="1"/>
          <p:nvPr/>
        </p:nvSpPr>
        <p:spPr>
          <a:xfrm>
            <a:off x="822960" y="4965192"/>
            <a:ext cx="10808208" cy="566928"/>
          </a:xfrm>
          <a:prstGeom prst="rect">
            <a:avLst/>
          </a:prstGeom>
          <a:noFill/>
          <a:ln/>
        </p:spPr>
        <p:txBody>
          <a:bodyPr wrap="square" lIns="0" tIns="0" rIns="0" bIns="0" rtlCol="0" anchor="t"/>
          <a:lstStyle/>
          <a:p>
            <a:pPr indent="0" marL="0">
              <a:lnSpc>
                <a:spcPts val="1700"/>
              </a:lnSpc>
              <a:buNone/>
            </a:pPr>
            <a:r>
              <a:rPr lang="en-US" sz="1250" b="1" dirty="0">
                <a:solidFill>
                  <a:srgbClr val="1B1A17"/>
                </a:solidFill>
                <a:latin typeface="Calibri" pitchFamily="34" charset="0"/>
                <a:ea typeface="Calibri" pitchFamily="34" charset="-122"/>
                <a:cs typeface="Calibri" pitchFamily="34" charset="-120"/>
              </a:rPr>
              <a:t>And they are fast.</a:t>
            </a:r>
            <a:pPr indent="0" marL="0">
              <a:lnSpc>
                <a:spcPts val="1700"/>
              </a:lnSpc>
              <a:buNone/>
            </a:pPr>
            <a:r>
              <a:rPr lang="en-US" sz="1250" dirty="0">
                <a:solidFill>
                  <a:srgbClr val="3A3733"/>
                </a:solidFill>
                <a:latin typeface="Calibri" pitchFamily="34" charset="0"/>
                <a:ea typeface="Calibri" pitchFamily="34" charset="-122"/>
                <a:cs typeface="Calibri" pitchFamily="34" charset="-120"/>
              </a:rPr>
              <a:t>  A lawyer rebuilt a failed automation in a day with Claude Code: “521 requirements extracted, full assessment engine, Word output with track changes and marginal comments.” (reddit-120)</a:t>
            </a:r>
            <a:endParaRPr lang="en-US" sz="1250" dirty="0"/>
          </a:p>
        </p:txBody>
      </p:sp>
      <p:sp>
        <p:nvSpPr>
          <p:cNvPr id="18" name="Shape 16"/>
          <p:cNvSpPr/>
          <p:nvPr/>
        </p:nvSpPr>
        <p:spPr>
          <a:xfrm>
            <a:off x="566928" y="5614416"/>
            <a:ext cx="11064240" cy="658368"/>
          </a:xfrm>
          <a:prstGeom prst="roundRect">
            <a:avLst>
              <a:gd name="adj" fmla="val 7639"/>
            </a:avLst>
          </a:prstGeom>
          <a:solidFill>
            <a:srgbClr val="EFECE5"/>
          </a:solidFill>
          <a:ln w="9525">
            <a:solidFill>
              <a:srgbClr val="DED9D0"/>
            </a:solidFill>
            <a:prstDash val="solid"/>
          </a:ln>
        </p:spPr>
      </p:sp>
      <p:sp>
        <p:nvSpPr>
          <p:cNvPr id="19" name="Text 17"/>
          <p:cNvSpPr txBox="1"/>
          <p:nvPr/>
        </p:nvSpPr>
        <p:spPr>
          <a:xfrm>
            <a:off x="841248" y="5705856"/>
            <a:ext cx="10515600" cy="475488"/>
          </a:xfrm>
          <a:prstGeom prst="rect">
            <a:avLst/>
          </a:prstGeom>
          <a:noFill/>
          <a:ln/>
        </p:spPr>
        <p:txBody>
          <a:bodyPr wrap="square" lIns="0" tIns="0" rIns="0" bIns="0" rtlCol="0" anchor="ctr"/>
          <a:lstStyle/>
          <a:p>
            <a:pPr indent="0" marL="0">
              <a:lnSpc>
                <a:spcPts val="1400"/>
              </a:lnSpc>
              <a:buNone/>
            </a:pPr>
            <a:r>
              <a:rPr lang="en-US" sz="1100" b="1" dirty="0">
                <a:solidFill>
                  <a:srgbClr val="1B1A17"/>
                </a:solidFill>
                <a:latin typeface="Calibri" pitchFamily="34" charset="0"/>
                <a:ea typeface="Calibri" pitchFamily="34" charset="-122"/>
                <a:cs typeface="Calibri" pitchFamily="34" charset="-120"/>
              </a:rPr>
              <a:t>Counter-evidence, stated plainly:  </a:t>
            </a:r>
            <a:pPr indent="0" marL="0">
              <a:lnSpc>
                <a:spcPts val="1400"/>
              </a:lnSpc>
              <a:buNone/>
            </a:pPr>
            <a:r>
              <a:rPr lang="en-US" sz="1100" dirty="0">
                <a:solidFill>
                  <a:srgbClr val="3A3733"/>
                </a:solidFill>
                <a:latin typeface="Calibri" pitchFamily="34" charset="0"/>
                <a:ea typeface="Calibri" pitchFamily="34" charset="-122"/>
                <a:cs typeface="Calibri" pitchFamily="34" charset="-120"/>
              </a:rPr>
              <a:t>a 150+ lawyer firm chose a domain-specific product because it was easier for the whole team (reddit-168); Claude Enterprise was rejected at a larger firm because “the skills aren’t real workflows” (reddit-147); and fixed terms, infosec and DPIAs slow every switch (reddit-146).</a:t>
            </a:r>
            <a:endParaRPr lang="en-US" sz="1100" dirty="0"/>
          </a:p>
        </p:txBody>
      </p:sp>
      <p:sp>
        <p:nvSpPr>
          <p:cNvPr id="20" name="Text 18"/>
          <p:cNvSpPr txBox="1"/>
          <p:nvPr/>
        </p:nvSpPr>
        <p:spPr>
          <a:xfrm>
            <a:off x="566928" y="6345936"/>
            <a:ext cx="7772400" cy="274320"/>
          </a:xfrm>
          <a:prstGeom prst="rect">
            <a:avLst/>
          </a:prstGeom>
          <a:noFill/>
          <a:ln/>
        </p:spPr>
        <p:txBody>
          <a:bodyPr wrap="square" lIns="0" tIns="0" rIns="0" bIns="0" rtlCol="0" anchor="ctr"/>
          <a:lstStyle/>
          <a:p>
            <a:pPr indent="0" marL="0">
              <a:buNone/>
            </a:pPr>
            <a:r>
              <a:rPr lang="en-US" sz="900" dirty="0">
                <a:solidFill>
                  <a:srgbClr val="7A756C"/>
                </a:solidFill>
                <a:latin typeface="Calibri" pitchFamily="34" charset="0"/>
                <a:ea typeface="Calibri" pitchFamily="34" charset="-122"/>
                <a:cs typeface="Calibri" pitchFamily="34" charset="-120"/>
              </a:rPr>
              <a:t>Themis.ai · Voice of the Practitioner · Finding 03</a:t>
            </a:r>
            <a:endParaRPr lang="en-US" sz="900" dirty="0"/>
          </a:p>
        </p:txBody>
      </p:sp>
      <p:sp>
        <p:nvSpPr>
          <p:cNvPr id="21" name="Text 19"/>
          <p:cNvSpPr txBox="1"/>
          <p:nvPr/>
        </p:nvSpPr>
        <p:spPr>
          <a:xfrm>
            <a:off x="11064240" y="6345936"/>
            <a:ext cx="566928" cy="274320"/>
          </a:xfrm>
          <a:prstGeom prst="rect">
            <a:avLst/>
          </a:prstGeom>
          <a:noFill/>
          <a:ln/>
        </p:spPr>
        <p:txBody>
          <a:bodyPr wrap="square" lIns="0" tIns="0" rIns="0" bIns="0" rtlCol="0" anchor="ctr"/>
          <a:lstStyle/>
          <a:p>
            <a:pPr algn="r" indent="0" marL="0">
              <a:buNone/>
            </a:pPr>
            <a:r>
              <a:rPr lang="en-US" sz="900" dirty="0">
                <a:solidFill>
                  <a:srgbClr val="7A756C"/>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F1"/>
        </a:solidFill>
      </p:bgPr>
    </p:bg>
    <p:spTree>
      <p:nvGrpSpPr>
        <p:cNvPr id="1" name=""/>
        <p:cNvGrpSpPr/>
        <p:nvPr/>
      </p:nvGrpSpPr>
      <p:grpSpPr>
        <a:xfrm>
          <a:off x="0" y="0"/>
          <a:ext cx="0" cy="0"/>
          <a:chOff x="0" y="0"/>
          <a:chExt cx="0" cy="0"/>
        </a:xfrm>
      </p:grpSpPr>
      <p:sp>
        <p:nvSpPr>
          <p:cNvPr id="2" name="Shape 0"/>
          <p:cNvSpPr/>
          <p:nvPr/>
        </p:nvSpPr>
        <p:spPr>
          <a:xfrm>
            <a:off x="566928" y="384048"/>
            <a:ext cx="329184" cy="329184"/>
          </a:xfrm>
          <a:prstGeom prst="ellipse">
            <a:avLst/>
          </a:prstGeom>
          <a:solidFill>
            <a:srgbClr val="5F5AC0"/>
          </a:solidFill>
          <a:ln/>
        </p:spPr>
      </p:sp>
      <p:sp>
        <p:nvSpPr>
          <p:cNvPr id="3" name="Text 1"/>
          <p:cNvSpPr txBox="1"/>
          <p:nvPr/>
        </p:nvSpPr>
        <p:spPr>
          <a:xfrm>
            <a:off x="566928" y="388620"/>
            <a:ext cx="329184" cy="3200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4" name="Text 2"/>
          <p:cNvSpPr txBox="1"/>
          <p:nvPr/>
        </p:nvSpPr>
        <p:spPr>
          <a:xfrm>
            <a:off x="1024128" y="420624"/>
            <a:ext cx="8229600" cy="256032"/>
          </a:xfrm>
          <a:prstGeom prst="rect">
            <a:avLst/>
          </a:prstGeom>
          <a:noFill/>
          <a:ln/>
        </p:spPr>
        <p:txBody>
          <a:bodyPr wrap="square" lIns="0" tIns="0" rIns="0" bIns="0" rtlCol="0" anchor="ctr"/>
          <a:lstStyle/>
          <a:p>
            <a:pPr indent="0" marL="0">
              <a:buNone/>
            </a:pPr>
            <a:r>
              <a:rPr lang="en-US" sz="1050" b="1" spc="160" kern="0" dirty="0">
                <a:solidFill>
                  <a:srgbClr val="5F5AC0"/>
                </a:solidFill>
                <a:latin typeface="Calibri" pitchFamily="34" charset="0"/>
                <a:ea typeface="Calibri" pitchFamily="34" charset="-122"/>
                <a:cs typeface="Calibri" pitchFamily="34" charset="-120"/>
              </a:rPr>
              <a:t>FINDING 04  ·  THE MISSING LAYER</a:t>
            </a:r>
            <a:endParaRPr lang="en-US" sz="1050" dirty="0"/>
          </a:p>
        </p:txBody>
      </p:sp>
      <p:sp>
        <p:nvSpPr>
          <p:cNvPr id="5" name="Text 3"/>
          <p:cNvSpPr txBox="1"/>
          <p:nvPr/>
        </p:nvSpPr>
        <p:spPr>
          <a:xfrm>
            <a:off x="566928" y="786384"/>
            <a:ext cx="10881360" cy="621792"/>
          </a:xfrm>
          <a:prstGeom prst="rect">
            <a:avLst/>
          </a:prstGeom>
          <a:noFill/>
          <a:ln/>
        </p:spPr>
        <p:txBody>
          <a:bodyPr wrap="square" lIns="0" tIns="0" rIns="0" bIns="0" rtlCol="0" anchor="ctr"/>
          <a:lstStyle/>
          <a:p>
            <a:pPr indent="0" marL="0">
              <a:buNone/>
            </a:pPr>
            <a:r>
              <a:rPr lang="en-US" sz="3100" b="1" dirty="0">
                <a:solidFill>
                  <a:srgbClr val="1B1A17"/>
                </a:solidFill>
                <a:latin typeface="Cambria" pitchFamily="34" charset="0"/>
                <a:ea typeface="Cambria" pitchFamily="34" charset="-122"/>
                <a:cs typeface="Cambria" pitchFamily="34" charset="-120"/>
              </a:rPr>
              <a:t>What is broken is the container, not the intelligence</a:t>
            </a:r>
            <a:endParaRPr lang="en-US" sz="3100" dirty="0"/>
          </a:p>
        </p:txBody>
      </p:sp>
      <p:sp>
        <p:nvSpPr>
          <p:cNvPr id="6" name="Text 4"/>
          <p:cNvSpPr txBox="1"/>
          <p:nvPr/>
        </p:nvSpPr>
        <p:spPr>
          <a:xfrm>
            <a:off x="566928" y="1408176"/>
            <a:ext cx="10881360" cy="365760"/>
          </a:xfrm>
          <a:prstGeom prst="rect">
            <a:avLst/>
          </a:prstGeom>
          <a:noFill/>
          <a:ln/>
        </p:spPr>
        <p:txBody>
          <a:bodyPr wrap="square" lIns="0" tIns="0" rIns="0" bIns="0" rtlCol="0" anchor="ctr"/>
          <a:lstStyle/>
          <a:p>
            <a:pPr indent="0" marL="0">
              <a:buNone/>
            </a:pPr>
            <a:r>
              <a:rPr lang="en-US" sz="1400" dirty="0">
                <a:solidFill>
                  <a:srgbClr val="55524B"/>
                </a:solidFill>
                <a:latin typeface="Calibri" pitchFamily="34" charset="0"/>
                <a:ea typeface="Calibri" pitchFamily="34" charset="-122"/>
                <a:cs typeface="Calibri" pitchFamily="34" charset="-120"/>
              </a:rPr>
              <a:t>Practitioners describe the same four failures regardless of which tool they use. All four are properties of the workspace, not the model.</a:t>
            </a:r>
            <a:endParaRPr lang="en-US" sz="1400" dirty="0"/>
          </a:p>
        </p:txBody>
      </p:sp>
      <p:sp>
        <p:nvSpPr>
          <p:cNvPr id="7" name="Shape 5"/>
          <p:cNvSpPr/>
          <p:nvPr/>
        </p:nvSpPr>
        <p:spPr>
          <a:xfrm>
            <a:off x="566928" y="1938528"/>
            <a:ext cx="5394960" cy="1316736"/>
          </a:xfrm>
          <a:prstGeom prst="roundRect">
            <a:avLst>
              <a:gd name="adj" fmla="val 3819"/>
            </a:avLst>
          </a:prstGeom>
          <a:solidFill>
            <a:srgbClr val="EAE8F9"/>
          </a:solidFill>
          <a:ln w="9525">
            <a:solidFill>
              <a:srgbClr val="DAD7F0"/>
            </a:solidFill>
            <a:prstDash val="solid"/>
          </a:ln>
        </p:spPr>
      </p:sp>
      <p:sp>
        <p:nvSpPr>
          <p:cNvPr id="8" name="Text 6"/>
          <p:cNvSpPr txBox="1"/>
          <p:nvPr/>
        </p:nvSpPr>
        <p:spPr>
          <a:xfrm>
            <a:off x="804672" y="2084832"/>
            <a:ext cx="4919472" cy="749808"/>
          </a:xfrm>
          <a:prstGeom prst="rect">
            <a:avLst/>
          </a:prstGeom>
          <a:noFill/>
          <a:ln/>
        </p:spPr>
        <p:txBody>
          <a:bodyPr wrap="square" lIns="0" tIns="0" rIns="0" bIns="0" rtlCol="0" anchor="t"/>
          <a:lstStyle/>
          <a:p>
            <a:pPr indent="0" marL="0">
              <a:lnSpc>
                <a:spcPts val="1900"/>
              </a:lnSpc>
              <a:buNone/>
            </a:pPr>
            <a:r>
              <a:rPr lang="en-US" sz="1350" i="1" dirty="0">
                <a:solidFill>
                  <a:srgbClr val="3A3733"/>
                </a:solidFill>
                <a:latin typeface="Calibri" pitchFamily="34" charset="0"/>
                <a:ea typeface="Calibri" pitchFamily="34" charset="-122"/>
                <a:cs typeface="Calibri" pitchFamily="34" charset="-120"/>
              </a:rPr>
              <a:t>“Lawyers need workspaces tied to matters, not chat sessions tied to nothing.”</a:t>
            </a:r>
            <a:endParaRPr lang="en-US" sz="1350" dirty="0"/>
          </a:p>
        </p:txBody>
      </p:sp>
      <p:sp>
        <p:nvSpPr>
          <p:cNvPr id="9" name="Text 7"/>
          <p:cNvSpPr txBox="1"/>
          <p:nvPr/>
        </p:nvSpPr>
        <p:spPr>
          <a:xfrm>
            <a:off x="804672" y="2871216"/>
            <a:ext cx="4919472" cy="256032"/>
          </a:xfrm>
          <a:prstGeom prst="rect">
            <a:avLst/>
          </a:prstGeom>
          <a:noFill/>
          <a:ln/>
        </p:spPr>
        <p:txBody>
          <a:bodyPr wrap="square" lIns="0" tIns="0" rIns="0" bIns="0" rtlCol="0" anchor="ctr"/>
          <a:lstStyle/>
          <a:p>
            <a:pPr indent="0" marL="0">
              <a:buNone/>
            </a:pPr>
            <a:r>
              <a:rPr lang="en-US" sz="950" b="1" dirty="0">
                <a:solidFill>
                  <a:srgbClr val="5F5AC0"/>
                </a:solidFill>
                <a:latin typeface="Calibri" pitchFamily="34" charset="0"/>
                <a:ea typeface="Calibri" pitchFamily="34" charset="-122"/>
                <a:cs typeface="Calibri" pitchFamily="34" charset="-120"/>
              </a:rPr>
              <a:t>r/legaltech, on connecting Claude to CoCounsel · reddit-140</a:t>
            </a:r>
            <a:endParaRPr lang="en-US" sz="950" dirty="0"/>
          </a:p>
        </p:txBody>
      </p:sp>
      <p:sp>
        <p:nvSpPr>
          <p:cNvPr id="10" name="Shape 8"/>
          <p:cNvSpPr/>
          <p:nvPr/>
        </p:nvSpPr>
        <p:spPr>
          <a:xfrm>
            <a:off x="6144768" y="1938528"/>
            <a:ext cx="5486400" cy="1316736"/>
          </a:xfrm>
          <a:prstGeom prst="roundRect">
            <a:avLst>
              <a:gd name="adj" fmla="val 3819"/>
            </a:avLst>
          </a:prstGeom>
          <a:solidFill>
            <a:srgbClr val="EAE8F9"/>
          </a:solidFill>
          <a:ln w="9525">
            <a:solidFill>
              <a:srgbClr val="DAD7F0"/>
            </a:solidFill>
            <a:prstDash val="solid"/>
          </a:ln>
        </p:spPr>
      </p:sp>
      <p:sp>
        <p:nvSpPr>
          <p:cNvPr id="11" name="Text 9"/>
          <p:cNvSpPr txBox="1"/>
          <p:nvPr/>
        </p:nvSpPr>
        <p:spPr>
          <a:xfrm>
            <a:off x="6382512" y="2084832"/>
            <a:ext cx="5010912" cy="749808"/>
          </a:xfrm>
          <a:prstGeom prst="rect">
            <a:avLst/>
          </a:prstGeom>
          <a:noFill/>
          <a:ln/>
        </p:spPr>
        <p:txBody>
          <a:bodyPr wrap="square" lIns="0" tIns="0" rIns="0" bIns="0" rtlCol="0" anchor="t"/>
          <a:lstStyle/>
          <a:p>
            <a:pPr indent="0" marL="0">
              <a:lnSpc>
                <a:spcPts val="1900"/>
              </a:lnSpc>
              <a:buNone/>
            </a:pPr>
            <a:r>
              <a:rPr lang="en-US" sz="1350" i="1" dirty="0">
                <a:solidFill>
                  <a:srgbClr val="3A3733"/>
                </a:solidFill>
                <a:latin typeface="Calibri" pitchFamily="34" charset="0"/>
                <a:ea typeface="Calibri" pitchFamily="34" charset="-122"/>
                <a:cs typeface="Calibri" pitchFamily="34" charset="-120"/>
              </a:rPr>
              <a:t>“Each member just creates a Claude chat and uploads the contract, the playbook, and any additional context needed …”</a:t>
            </a:r>
            <a:endParaRPr lang="en-US" sz="1350" dirty="0"/>
          </a:p>
        </p:txBody>
      </p:sp>
      <p:sp>
        <p:nvSpPr>
          <p:cNvPr id="12" name="Text 10"/>
          <p:cNvSpPr txBox="1"/>
          <p:nvPr/>
        </p:nvSpPr>
        <p:spPr>
          <a:xfrm>
            <a:off x="6382512" y="2871216"/>
            <a:ext cx="5010912" cy="256032"/>
          </a:xfrm>
          <a:prstGeom prst="rect">
            <a:avLst/>
          </a:prstGeom>
          <a:noFill/>
          <a:ln/>
        </p:spPr>
        <p:txBody>
          <a:bodyPr wrap="square" lIns="0" tIns="0" rIns="0" bIns="0" rtlCol="0" anchor="ctr"/>
          <a:lstStyle/>
          <a:p>
            <a:pPr indent="0" marL="0">
              <a:buNone/>
            </a:pPr>
            <a:r>
              <a:rPr lang="en-US" sz="950" b="1" dirty="0">
                <a:solidFill>
                  <a:srgbClr val="5F5AC0"/>
                </a:solidFill>
                <a:latin typeface="Calibri" pitchFamily="34" charset="0"/>
                <a:ea typeface="Calibri" pitchFamily="34" charset="-122"/>
                <a:cs typeface="Calibri" pitchFamily="34" charset="-120"/>
              </a:rPr>
              <a:t>An in-house contract team describing its actual process · reddit-132</a:t>
            </a:r>
            <a:endParaRPr lang="en-US" sz="950" dirty="0"/>
          </a:p>
        </p:txBody>
      </p:sp>
      <p:sp>
        <p:nvSpPr>
          <p:cNvPr id="13" name="Shape 11"/>
          <p:cNvSpPr/>
          <p:nvPr/>
        </p:nvSpPr>
        <p:spPr>
          <a:xfrm>
            <a:off x="566928" y="3401568"/>
            <a:ext cx="5394960" cy="1170432"/>
          </a:xfrm>
          <a:prstGeom prst="roundRect">
            <a:avLst>
              <a:gd name="adj" fmla="val 4297"/>
            </a:avLst>
          </a:prstGeom>
          <a:solidFill>
            <a:srgbClr val="FFFEFB"/>
          </a:solidFill>
          <a:ln w="9525">
            <a:solidFill>
              <a:srgbClr val="DED9D0"/>
            </a:solidFill>
            <a:prstDash val="solid"/>
          </a:ln>
        </p:spPr>
      </p:sp>
      <p:sp>
        <p:nvSpPr>
          <p:cNvPr id="14" name="Shape 12"/>
          <p:cNvSpPr/>
          <p:nvPr/>
        </p:nvSpPr>
        <p:spPr>
          <a:xfrm>
            <a:off x="822960" y="3639312"/>
            <a:ext cx="91440" cy="91440"/>
          </a:xfrm>
          <a:prstGeom prst="rect">
            <a:avLst/>
          </a:prstGeom>
          <a:solidFill>
            <a:srgbClr val="B33A20"/>
          </a:solidFill>
          <a:ln/>
        </p:spPr>
      </p:sp>
      <p:sp>
        <p:nvSpPr>
          <p:cNvPr id="15" name="Text 13"/>
          <p:cNvSpPr txBox="1"/>
          <p:nvPr/>
        </p:nvSpPr>
        <p:spPr>
          <a:xfrm>
            <a:off x="1042416" y="3529584"/>
            <a:ext cx="4718304" cy="292608"/>
          </a:xfrm>
          <a:prstGeom prst="rect">
            <a:avLst/>
          </a:prstGeom>
          <a:noFill/>
          <a:ln/>
        </p:spPr>
        <p:txBody>
          <a:bodyPr wrap="square" lIns="0" tIns="0" rIns="0" bIns="0" rtlCol="0" anchor="ctr"/>
          <a:lstStyle/>
          <a:p>
            <a:pPr indent="0" marL="0">
              <a:buNone/>
            </a:pPr>
            <a:r>
              <a:rPr lang="en-US" sz="1350" b="1" dirty="0">
                <a:solidFill>
                  <a:srgbClr val="1B1A17"/>
                </a:solidFill>
                <a:latin typeface="Calibri" pitchFamily="34" charset="0"/>
                <a:ea typeface="Calibri" pitchFamily="34" charset="-122"/>
                <a:cs typeface="Calibri" pitchFamily="34" charset="-120"/>
              </a:rPr>
              <a:t>Context is re-uploaded every time</a:t>
            </a:r>
            <a:endParaRPr lang="en-US" sz="1350" dirty="0"/>
          </a:p>
        </p:txBody>
      </p:sp>
      <p:sp>
        <p:nvSpPr>
          <p:cNvPr id="16" name="Text 14"/>
          <p:cNvSpPr txBox="1"/>
          <p:nvPr/>
        </p:nvSpPr>
        <p:spPr>
          <a:xfrm>
            <a:off x="1042416" y="3840480"/>
            <a:ext cx="4718304" cy="640080"/>
          </a:xfrm>
          <a:prstGeom prst="rect">
            <a:avLst/>
          </a:prstGeom>
          <a:noFill/>
          <a:ln/>
        </p:spPr>
        <p:txBody>
          <a:bodyPr wrap="square" lIns="0" tIns="0" rIns="0" bIns="0" rtlCol="0" anchor="ctr"/>
          <a:lstStyle/>
          <a:p>
            <a:pPr indent="0" marL="0">
              <a:lnSpc>
                <a:spcPts val="1450"/>
              </a:lnSpc>
              <a:buNone/>
            </a:pPr>
            <a:r>
              <a:rPr lang="en-US" sz="1100" dirty="0">
                <a:solidFill>
                  <a:srgbClr val="3A3733"/>
                </a:solidFill>
                <a:latin typeface="Calibri" pitchFamily="34" charset="0"/>
                <a:ea typeface="Calibri" pitchFamily="34" charset="-122"/>
                <a:cs typeface="Calibri" pitchFamily="34" charset="-120"/>
              </a:rPr>
              <a:t>A Claude Project loaded with the playbook, form NDA and negotiation history became “extremely effective” — after setup. The setup is the barrier. (reddit-127)</a:t>
            </a:r>
            <a:endParaRPr lang="en-US" sz="1100" dirty="0"/>
          </a:p>
        </p:txBody>
      </p:sp>
      <p:sp>
        <p:nvSpPr>
          <p:cNvPr id="17" name="Shape 15"/>
          <p:cNvSpPr/>
          <p:nvPr/>
        </p:nvSpPr>
        <p:spPr>
          <a:xfrm>
            <a:off x="6144768" y="3401568"/>
            <a:ext cx="5394960" cy="1170432"/>
          </a:xfrm>
          <a:prstGeom prst="roundRect">
            <a:avLst>
              <a:gd name="adj" fmla="val 4297"/>
            </a:avLst>
          </a:prstGeom>
          <a:solidFill>
            <a:srgbClr val="FFFEFB"/>
          </a:solidFill>
          <a:ln w="9525">
            <a:solidFill>
              <a:srgbClr val="DED9D0"/>
            </a:solidFill>
            <a:prstDash val="solid"/>
          </a:ln>
        </p:spPr>
      </p:sp>
      <p:sp>
        <p:nvSpPr>
          <p:cNvPr id="18" name="Shape 16"/>
          <p:cNvSpPr/>
          <p:nvPr/>
        </p:nvSpPr>
        <p:spPr>
          <a:xfrm>
            <a:off x="6400800" y="3639312"/>
            <a:ext cx="91440" cy="91440"/>
          </a:xfrm>
          <a:prstGeom prst="rect">
            <a:avLst/>
          </a:prstGeom>
          <a:solidFill>
            <a:srgbClr val="B33A20"/>
          </a:solidFill>
          <a:ln/>
        </p:spPr>
      </p:sp>
      <p:sp>
        <p:nvSpPr>
          <p:cNvPr id="19" name="Text 17"/>
          <p:cNvSpPr txBox="1"/>
          <p:nvPr/>
        </p:nvSpPr>
        <p:spPr>
          <a:xfrm>
            <a:off x="6620256" y="3529584"/>
            <a:ext cx="4718304" cy="292608"/>
          </a:xfrm>
          <a:prstGeom prst="rect">
            <a:avLst/>
          </a:prstGeom>
          <a:noFill/>
          <a:ln/>
        </p:spPr>
        <p:txBody>
          <a:bodyPr wrap="square" lIns="0" tIns="0" rIns="0" bIns="0" rtlCol="0" anchor="ctr"/>
          <a:lstStyle/>
          <a:p>
            <a:pPr indent="0" marL="0">
              <a:buNone/>
            </a:pPr>
            <a:r>
              <a:rPr lang="en-US" sz="1350" b="1" dirty="0">
                <a:solidFill>
                  <a:srgbClr val="1B1A17"/>
                </a:solidFill>
                <a:latin typeface="Calibri" pitchFamily="34" charset="0"/>
                <a:ea typeface="Calibri" pitchFamily="34" charset="-122"/>
                <a:cs typeface="Calibri" pitchFamily="34" charset="-120"/>
              </a:rPr>
              <a:t>Decisions are never recorded</a:t>
            </a:r>
            <a:endParaRPr lang="en-US" sz="1350" dirty="0"/>
          </a:p>
        </p:txBody>
      </p:sp>
      <p:sp>
        <p:nvSpPr>
          <p:cNvPr id="20" name="Text 18"/>
          <p:cNvSpPr txBox="1"/>
          <p:nvPr/>
        </p:nvSpPr>
        <p:spPr>
          <a:xfrm>
            <a:off x="6620256" y="3840480"/>
            <a:ext cx="4718304" cy="640080"/>
          </a:xfrm>
          <a:prstGeom prst="rect">
            <a:avLst/>
          </a:prstGeom>
          <a:noFill/>
          <a:ln/>
        </p:spPr>
        <p:txBody>
          <a:bodyPr wrap="square" lIns="0" tIns="0" rIns="0" bIns="0" rtlCol="0" anchor="ctr"/>
          <a:lstStyle/>
          <a:p>
            <a:pPr indent="0" marL="0">
              <a:lnSpc>
                <a:spcPts val="1450"/>
              </a:lnSpc>
              <a:buNone/>
            </a:pPr>
            <a:r>
              <a:rPr lang="en-US" sz="1100" dirty="0">
                <a:solidFill>
                  <a:srgbClr val="3A3733"/>
                </a:solidFill>
                <a:latin typeface="Calibri" pitchFamily="34" charset="0"/>
                <a:ea typeface="Calibri" pitchFamily="34" charset="-122"/>
                <a:cs typeface="Calibri" pitchFamily="34" charset="-120"/>
              </a:rPr>
              <a:t>“AI flagging clauses but no way to track decisions or reasons” — alongside contracts waiting in inboxes and no process visibility. (reddit-135)</a:t>
            </a:r>
            <a:endParaRPr lang="en-US" sz="1100" dirty="0"/>
          </a:p>
        </p:txBody>
      </p:sp>
      <p:sp>
        <p:nvSpPr>
          <p:cNvPr id="21" name="Shape 19"/>
          <p:cNvSpPr/>
          <p:nvPr/>
        </p:nvSpPr>
        <p:spPr>
          <a:xfrm>
            <a:off x="566928" y="4681728"/>
            <a:ext cx="5394960" cy="1170432"/>
          </a:xfrm>
          <a:prstGeom prst="roundRect">
            <a:avLst>
              <a:gd name="adj" fmla="val 4297"/>
            </a:avLst>
          </a:prstGeom>
          <a:solidFill>
            <a:srgbClr val="FFFEFB"/>
          </a:solidFill>
          <a:ln w="9525">
            <a:solidFill>
              <a:srgbClr val="DED9D0"/>
            </a:solidFill>
            <a:prstDash val="solid"/>
          </a:ln>
        </p:spPr>
      </p:sp>
      <p:sp>
        <p:nvSpPr>
          <p:cNvPr id="22" name="Shape 20"/>
          <p:cNvSpPr/>
          <p:nvPr/>
        </p:nvSpPr>
        <p:spPr>
          <a:xfrm>
            <a:off x="822960" y="4919472"/>
            <a:ext cx="91440" cy="91440"/>
          </a:xfrm>
          <a:prstGeom prst="rect">
            <a:avLst/>
          </a:prstGeom>
          <a:solidFill>
            <a:srgbClr val="B33A20"/>
          </a:solidFill>
          <a:ln/>
        </p:spPr>
      </p:sp>
      <p:sp>
        <p:nvSpPr>
          <p:cNvPr id="23" name="Text 21"/>
          <p:cNvSpPr txBox="1"/>
          <p:nvPr/>
        </p:nvSpPr>
        <p:spPr>
          <a:xfrm>
            <a:off x="1042416" y="4809744"/>
            <a:ext cx="4718304" cy="292608"/>
          </a:xfrm>
          <a:prstGeom prst="rect">
            <a:avLst/>
          </a:prstGeom>
          <a:noFill/>
          <a:ln/>
        </p:spPr>
        <p:txBody>
          <a:bodyPr wrap="square" lIns="0" tIns="0" rIns="0" bIns="0" rtlCol="0" anchor="ctr"/>
          <a:lstStyle/>
          <a:p>
            <a:pPr indent="0" marL="0">
              <a:buNone/>
            </a:pPr>
            <a:r>
              <a:rPr lang="en-US" sz="1350" b="1" dirty="0">
                <a:solidFill>
                  <a:srgbClr val="1B1A17"/>
                </a:solidFill>
                <a:latin typeface="Calibri" pitchFamily="34" charset="0"/>
                <a:ea typeface="Calibri" pitchFamily="34" charset="-122"/>
                <a:cs typeface="Calibri" pitchFamily="34" charset="-120"/>
              </a:rPr>
              <a:t>The work never enters the lawyer’s tools</a:t>
            </a:r>
            <a:endParaRPr lang="en-US" sz="1350" dirty="0"/>
          </a:p>
        </p:txBody>
      </p:sp>
      <p:sp>
        <p:nvSpPr>
          <p:cNvPr id="24" name="Text 22"/>
          <p:cNvSpPr txBox="1"/>
          <p:nvPr/>
        </p:nvSpPr>
        <p:spPr>
          <a:xfrm>
            <a:off x="1042416" y="5120640"/>
            <a:ext cx="4718304" cy="640080"/>
          </a:xfrm>
          <a:prstGeom prst="rect">
            <a:avLst/>
          </a:prstGeom>
          <a:noFill/>
          <a:ln/>
        </p:spPr>
        <p:txBody>
          <a:bodyPr wrap="square" lIns="0" tIns="0" rIns="0" bIns="0" rtlCol="0" anchor="ctr"/>
          <a:lstStyle/>
          <a:p>
            <a:pPr indent="0" marL="0">
              <a:lnSpc>
                <a:spcPts val="1450"/>
              </a:lnSpc>
              <a:buNone/>
            </a:pPr>
            <a:r>
              <a:rPr lang="en-US" sz="1100" dirty="0">
                <a:solidFill>
                  <a:srgbClr val="3A3733"/>
                </a:solidFill>
                <a:latin typeface="Calibri" pitchFamily="34" charset="0"/>
                <a:ea typeface="Calibri" pitchFamily="34" charset="-122"/>
                <a:cs typeface="Calibri" pitchFamily="34" charset="-120"/>
              </a:rPr>
              <a:t>39 records name Word, Outlook, iManage, NetDocuments or SharePoint. Spellbook is preferred by one buyer for one reason: “it works inside Word.” (reddit-014)</a:t>
            </a:r>
            <a:endParaRPr lang="en-US" sz="1100" dirty="0"/>
          </a:p>
        </p:txBody>
      </p:sp>
      <p:sp>
        <p:nvSpPr>
          <p:cNvPr id="25" name="Shape 23"/>
          <p:cNvSpPr/>
          <p:nvPr/>
        </p:nvSpPr>
        <p:spPr>
          <a:xfrm>
            <a:off x="6144768" y="4681728"/>
            <a:ext cx="5394960" cy="1170432"/>
          </a:xfrm>
          <a:prstGeom prst="roundRect">
            <a:avLst>
              <a:gd name="adj" fmla="val 4297"/>
            </a:avLst>
          </a:prstGeom>
          <a:solidFill>
            <a:srgbClr val="FFFEFB"/>
          </a:solidFill>
          <a:ln w="9525">
            <a:solidFill>
              <a:srgbClr val="DED9D0"/>
            </a:solidFill>
            <a:prstDash val="solid"/>
          </a:ln>
        </p:spPr>
      </p:sp>
      <p:sp>
        <p:nvSpPr>
          <p:cNvPr id="26" name="Shape 24"/>
          <p:cNvSpPr/>
          <p:nvPr/>
        </p:nvSpPr>
        <p:spPr>
          <a:xfrm>
            <a:off x="6400800" y="4919472"/>
            <a:ext cx="91440" cy="91440"/>
          </a:xfrm>
          <a:prstGeom prst="rect">
            <a:avLst/>
          </a:prstGeom>
          <a:solidFill>
            <a:srgbClr val="B33A20"/>
          </a:solidFill>
          <a:ln/>
        </p:spPr>
      </p:sp>
      <p:sp>
        <p:nvSpPr>
          <p:cNvPr id="27" name="Text 25"/>
          <p:cNvSpPr txBox="1"/>
          <p:nvPr/>
        </p:nvSpPr>
        <p:spPr>
          <a:xfrm>
            <a:off x="6620256" y="4809744"/>
            <a:ext cx="4718304" cy="292608"/>
          </a:xfrm>
          <a:prstGeom prst="rect">
            <a:avLst/>
          </a:prstGeom>
          <a:noFill/>
          <a:ln/>
        </p:spPr>
        <p:txBody>
          <a:bodyPr wrap="square" lIns="0" tIns="0" rIns="0" bIns="0" rtlCol="0" anchor="ctr"/>
          <a:lstStyle/>
          <a:p>
            <a:pPr indent="0" marL="0">
              <a:buNone/>
            </a:pPr>
            <a:r>
              <a:rPr lang="en-US" sz="1350" b="1" dirty="0">
                <a:solidFill>
                  <a:srgbClr val="1B1A17"/>
                </a:solidFill>
                <a:latin typeface="Calibri" pitchFamily="34" charset="0"/>
                <a:ea typeface="Calibri" pitchFamily="34" charset="-122"/>
                <a:cs typeface="Calibri" pitchFamily="34" charset="-120"/>
              </a:rPr>
              <a:t>The models are not the constraint</a:t>
            </a:r>
            <a:endParaRPr lang="en-US" sz="1350" dirty="0"/>
          </a:p>
        </p:txBody>
      </p:sp>
      <p:sp>
        <p:nvSpPr>
          <p:cNvPr id="28" name="Text 26"/>
          <p:cNvSpPr txBox="1"/>
          <p:nvPr/>
        </p:nvSpPr>
        <p:spPr>
          <a:xfrm>
            <a:off x="6620256" y="5120640"/>
            <a:ext cx="4718304" cy="640080"/>
          </a:xfrm>
          <a:prstGeom prst="rect">
            <a:avLst/>
          </a:prstGeom>
          <a:noFill/>
          <a:ln/>
        </p:spPr>
        <p:txBody>
          <a:bodyPr wrap="square" lIns="0" tIns="0" rIns="0" bIns="0" rtlCol="0" anchor="ctr"/>
          <a:lstStyle/>
          <a:p>
            <a:pPr indent="0" marL="0">
              <a:lnSpc>
                <a:spcPts val="1450"/>
              </a:lnSpc>
              <a:buNone/>
            </a:pPr>
            <a:r>
              <a:rPr lang="en-US" sz="1100" dirty="0">
                <a:solidFill>
                  <a:srgbClr val="3A3733"/>
                </a:solidFill>
                <a:latin typeface="Calibri" pitchFamily="34" charset="0"/>
                <a:ea typeface="Calibri" pitchFamily="34" charset="-122"/>
                <a:cs typeface="Calibri" pitchFamily="34" charset="-120"/>
              </a:rPr>
              <a:t>“The ai models are there already; they just need to be applied to your specific situation.” (reddit-106)</a:t>
            </a:r>
            <a:endParaRPr lang="en-US" sz="1100" dirty="0"/>
          </a:p>
        </p:txBody>
      </p:sp>
      <p:sp>
        <p:nvSpPr>
          <p:cNvPr id="29" name="Text 27"/>
          <p:cNvSpPr txBox="1"/>
          <p:nvPr/>
        </p:nvSpPr>
        <p:spPr>
          <a:xfrm>
            <a:off x="566928" y="5925312"/>
            <a:ext cx="11064240" cy="310896"/>
          </a:xfrm>
          <a:prstGeom prst="rect">
            <a:avLst/>
          </a:prstGeom>
          <a:noFill/>
          <a:ln/>
        </p:spPr>
        <p:txBody>
          <a:bodyPr wrap="square" lIns="0" tIns="0" rIns="0" bIns="0" rtlCol="0" anchor="ctr"/>
          <a:lstStyle/>
          <a:p>
            <a:pPr indent="0" marL="0">
              <a:buNone/>
            </a:pPr>
            <a:r>
              <a:rPr lang="en-US" sz="1250" b="1" dirty="0">
                <a:solidFill>
                  <a:srgbClr val="1B1A17"/>
                </a:solidFill>
                <a:latin typeface="Calibri" pitchFamily="34" charset="0"/>
                <a:ea typeface="Calibri" pitchFamily="34" charset="-122"/>
                <a:cs typeface="Calibri" pitchFamily="34" charset="-120"/>
              </a:rPr>
              <a:t>So what for Themis.ai:  a durable matter that holds facts, playbooks, prior decisions, documents and provenance is the product. The model is a setting.</a:t>
            </a:r>
            <a:endParaRPr lang="en-US" sz="1250" dirty="0"/>
          </a:p>
        </p:txBody>
      </p:sp>
      <p:sp>
        <p:nvSpPr>
          <p:cNvPr id="30" name="Text 28"/>
          <p:cNvSpPr txBox="1"/>
          <p:nvPr/>
        </p:nvSpPr>
        <p:spPr>
          <a:xfrm>
            <a:off x="566928" y="6345936"/>
            <a:ext cx="7772400" cy="274320"/>
          </a:xfrm>
          <a:prstGeom prst="rect">
            <a:avLst/>
          </a:prstGeom>
          <a:noFill/>
          <a:ln/>
        </p:spPr>
        <p:txBody>
          <a:bodyPr wrap="square" lIns="0" tIns="0" rIns="0" bIns="0" rtlCol="0" anchor="ctr"/>
          <a:lstStyle/>
          <a:p>
            <a:pPr indent="0" marL="0">
              <a:buNone/>
            </a:pPr>
            <a:r>
              <a:rPr lang="en-US" sz="900" dirty="0">
                <a:solidFill>
                  <a:srgbClr val="7A756C"/>
                </a:solidFill>
                <a:latin typeface="Calibri" pitchFamily="34" charset="0"/>
                <a:ea typeface="Calibri" pitchFamily="34" charset="-122"/>
                <a:cs typeface="Calibri" pitchFamily="34" charset="-120"/>
              </a:rPr>
              <a:t>Themis.ai · Voice of the Practitioner · Finding 04</a:t>
            </a:r>
            <a:endParaRPr lang="en-US" sz="900" dirty="0"/>
          </a:p>
        </p:txBody>
      </p:sp>
      <p:sp>
        <p:nvSpPr>
          <p:cNvPr id="31" name="Text 29"/>
          <p:cNvSpPr txBox="1"/>
          <p:nvPr/>
        </p:nvSpPr>
        <p:spPr>
          <a:xfrm>
            <a:off x="11064240" y="6345936"/>
            <a:ext cx="566928" cy="274320"/>
          </a:xfrm>
          <a:prstGeom prst="rect">
            <a:avLst/>
          </a:prstGeom>
          <a:noFill/>
          <a:ln/>
        </p:spPr>
        <p:txBody>
          <a:bodyPr wrap="square" lIns="0" tIns="0" rIns="0" bIns="0" rtlCol="0" anchor="ctr"/>
          <a:lstStyle/>
          <a:p>
            <a:pPr algn="r" indent="0" marL="0">
              <a:buNone/>
            </a:pPr>
            <a:r>
              <a:rPr lang="en-US" sz="900" dirty="0">
                <a:solidFill>
                  <a:srgbClr val="7A756C"/>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F1"/>
        </a:solidFill>
      </p:bgPr>
    </p:bg>
    <p:spTree>
      <p:nvGrpSpPr>
        <p:cNvPr id="1" name=""/>
        <p:cNvGrpSpPr/>
        <p:nvPr/>
      </p:nvGrpSpPr>
      <p:grpSpPr>
        <a:xfrm>
          <a:off x="0" y="0"/>
          <a:ext cx="0" cy="0"/>
          <a:chOff x="0" y="0"/>
          <a:chExt cx="0" cy="0"/>
        </a:xfrm>
      </p:grpSpPr>
      <p:sp>
        <p:nvSpPr>
          <p:cNvPr id="2" name="Shape 0"/>
          <p:cNvSpPr/>
          <p:nvPr/>
        </p:nvSpPr>
        <p:spPr>
          <a:xfrm>
            <a:off x="566928" y="384048"/>
            <a:ext cx="329184" cy="329184"/>
          </a:xfrm>
          <a:prstGeom prst="ellipse">
            <a:avLst/>
          </a:prstGeom>
          <a:solidFill>
            <a:srgbClr val="E0A008"/>
          </a:solidFill>
          <a:ln/>
        </p:spPr>
      </p:sp>
      <p:sp>
        <p:nvSpPr>
          <p:cNvPr id="3" name="Text 1"/>
          <p:cNvSpPr txBox="1"/>
          <p:nvPr/>
        </p:nvSpPr>
        <p:spPr>
          <a:xfrm>
            <a:off x="566928" y="388620"/>
            <a:ext cx="329184" cy="320040"/>
          </a:xfrm>
          <a:prstGeom prst="rect">
            <a:avLst/>
          </a:prstGeom>
          <a:noFill/>
          <a:ln/>
        </p:spPr>
        <p:txBody>
          <a:bodyPr wrap="square" lIns="0" tIns="0" rIns="0" bIns="0" rtlCol="0" anchor="ctr"/>
          <a:lstStyle/>
          <a:p>
            <a:pPr algn="ctr" indent="0" marL="0">
              <a:buNone/>
            </a:pPr>
            <a:r>
              <a:rPr lang="en-US" sz="1300" b="1" dirty="0">
                <a:solidFill>
                  <a:srgbClr val="1B1A17"/>
                </a:solidFill>
                <a:latin typeface="Calibri" pitchFamily="34" charset="0"/>
                <a:ea typeface="Calibri" pitchFamily="34" charset="-122"/>
                <a:cs typeface="Calibri" pitchFamily="34" charset="-120"/>
              </a:rPr>
              <a:t>5</a:t>
            </a:r>
            <a:endParaRPr lang="en-US" sz="1300" dirty="0"/>
          </a:p>
        </p:txBody>
      </p:sp>
      <p:sp>
        <p:nvSpPr>
          <p:cNvPr id="4" name="Text 2"/>
          <p:cNvSpPr txBox="1"/>
          <p:nvPr/>
        </p:nvSpPr>
        <p:spPr>
          <a:xfrm>
            <a:off x="1024128" y="420624"/>
            <a:ext cx="8229600" cy="256032"/>
          </a:xfrm>
          <a:prstGeom prst="rect">
            <a:avLst/>
          </a:prstGeom>
          <a:noFill/>
          <a:ln/>
        </p:spPr>
        <p:txBody>
          <a:bodyPr wrap="square" lIns="0" tIns="0" rIns="0" bIns="0" rtlCol="0" anchor="ctr"/>
          <a:lstStyle/>
          <a:p>
            <a:pPr indent="0" marL="0">
              <a:buNone/>
            </a:pPr>
            <a:r>
              <a:rPr lang="en-US" sz="1050" b="1" spc="160" kern="0" dirty="0">
                <a:solidFill>
                  <a:srgbClr val="9C7005"/>
                </a:solidFill>
                <a:latin typeface="Calibri" pitchFamily="34" charset="0"/>
                <a:ea typeface="Calibri" pitchFamily="34" charset="-122"/>
                <a:cs typeface="Calibri" pitchFamily="34" charset="-120"/>
              </a:rPr>
              <a:t>FINDING 05  ·  THE VERIFICATION TAX</a:t>
            </a:r>
            <a:endParaRPr lang="en-US" sz="1050" dirty="0"/>
          </a:p>
        </p:txBody>
      </p:sp>
      <p:sp>
        <p:nvSpPr>
          <p:cNvPr id="5" name="Text 3"/>
          <p:cNvSpPr txBox="1"/>
          <p:nvPr/>
        </p:nvSpPr>
        <p:spPr>
          <a:xfrm>
            <a:off x="566928" y="786384"/>
            <a:ext cx="10881360" cy="621792"/>
          </a:xfrm>
          <a:prstGeom prst="rect">
            <a:avLst/>
          </a:prstGeom>
          <a:noFill/>
          <a:ln/>
        </p:spPr>
        <p:txBody>
          <a:bodyPr wrap="square" lIns="0" tIns="0" rIns="0" bIns="0" rtlCol="0" anchor="ctr"/>
          <a:lstStyle/>
          <a:p>
            <a:pPr indent="0" marL="0">
              <a:buNone/>
            </a:pPr>
            <a:r>
              <a:rPr lang="en-US" sz="3100" b="1" dirty="0">
                <a:solidFill>
                  <a:srgbClr val="1B1A17"/>
                </a:solidFill>
                <a:latin typeface="Cambria" pitchFamily="34" charset="0"/>
                <a:ea typeface="Cambria" pitchFamily="34" charset="-122"/>
                <a:cs typeface="Cambria" pitchFamily="34" charset="-120"/>
              </a:rPr>
              <a:t>Verification is the unpriced cost that eats the time saving</a:t>
            </a:r>
            <a:endParaRPr lang="en-US" sz="3100" dirty="0"/>
          </a:p>
        </p:txBody>
      </p:sp>
      <p:sp>
        <p:nvSpPr>
          <p:cNvPr id="6" name="Text 4"/>
          <p:cNvSpPr txBox="1"/>
          <p:nvPr/>
        </p:nvSpPr>
        <p:spPr>
          <a:xfrm>
            <a:off x="566928" y="1408176"/>
            <a:ext cx="10881360" cy="365760"/>
          </a:xfrm>
          <a:prstGeom prst="rect">
            <a:avLst/>
          </a:prstGeom>
          <a:noFill/>
          <a:ln/>
        </p:spPr>
        <p:txBody>
          <a:bodyPr wrap="square" lIns="0" tIns="0" rIns="0" bIns="0" rtlCol="0" anchor="ctr"/>
          <a:lstStyle/>
          <a:p>
            <a:pPr indent="0" marL="0">
              <a:buNone/>
            </a:pPr>
            <a:r>
              <a:rPr lang="en-US" sz="1400" dirty="0">
                <a:solidFill>
                  <a:srgbClr val="55524B"/>
                </a:solidFill>
                <a:latin typeface="Calibri" pitchFamily="34" charset="0"/>
                <a:ea typeface="Calibri" pitchFamily="34" charset="-122"/>
                <a:cs typeface="Calibri" pitchFamily="34" charset="-120"/>
              </a:rPr>
              <a:t>The most consistent finding in the corpus. It is also the one that turns a productivity claim into a liability claim.</a:t>
            </a:r>
            <a:endParaRPr lang="en-US" sz="1400" dirty="0"/>
          </a:p>
        </p:txBody>
      </p:sp>
      <p:sp>
        <p:nvSpPr>
          <p:cNvPr id="7" name="Shape 5"/>
          <p:cNvSpPr/>
          <p:nvPr/>
        </p:nvSpPr>
        <p:spPr>
          <a:xfrm>
            <a:off x="566928" y="1920240"/>
            <a:ext cx="3529584" cy="1975104"/>
          </a:xfrm>
          <a:prstGeom prst="roundRect">
            <a:avLst>
              <a:gd name="adj" fmla="val 2546"/>
            </a:avLst>
          </a:prstGeom>
          <a:solidFill>
            <a:srgbClr val="FDEEC0"/>
          </a:solidFill>
          <a:ln w="9525">
            <a:solidFill>
              <a:srgbClr val="EFD9A0"/>
            </a:solidFill>
            <a:prstDash val="solid"/>
          </a:ln>
        </p:spPr>
      </p:sp>
      <p:sp>
        <p:nvSpPr>
          <p:cNvPr id="8" name="Text 6"/>
          <p:cNvSpPr txBox="1"/>
          <p:nvPr/>
        </p:nvSpPr>
        <p:spPr>
          <a:xfrm>
            <a:off x="841248" y="2121408"/>
            <a:ext cx="3017520" cy="548640"/>
          </a:xfrm>
          <a:prstGeom prst="rect">
            <a:avLst/>
          </a:prstGeom>
          <a:noFill/>
          <a:ln/>
        </p:spPr>
        <p:txBody>
          <a:bodyPr wrap="square" lIns="0" tIns="0" rIns="0" bIns="0" rtlCol="0" anchor="ctr"/>
          <a:lstStyle/>
          <a:p>
            <a:pPr indent="0" marL="0">
              <a:buNone/>
            </a:pPr>
            <a:r>
              <a:rPr lang="en-US" sz="3800" b="1" dirty="0">
                <a:solidFill>
                  <a:srgbClr val="9C7005"/>
                </a:solidFill>
                <a:latin typeface="Cambria" pitchFamily="34" charset="0"/>
                <a:ea typeface="Cambria" pitchFamily="34" charset="-122"/>
                <a:cs typeface="Cambria" pitchFamily="34" charset="-120"/>
              </a:rPr>
              <a:t>61 of 203</a:t>
            </a:r>
            <a:endParaRPr lang="en-US" sz="3800" dirty="0"/>
          </a:p>
        </p:txBody>
      </p:sp>
      <p:sp>
        <p:nvSpPr>
          <p:cNvPr id="9" name="Text 7"/>
          <p:cNvSpPr txBox="1"/>
          <p:nvPr/>
        </p:nvSpPr>
        <p:spPr>
          <a:xfrm>
            <a:off x="841248" y="2688336"/>
            <a:ext cx="3017520" cy="1005840"/>
          </a:xfrm>
          <a:prstGeom prst="rect">
            <a:avLst/>
          </a:prstGeom>
          <a:noFill/>
          <a:ln/>
        </p:spPr>
        <p:txBody>
          <a:bodyPr wrap="square" lIns="0" tIns="0" rIns="0" bIns="0" rtlCol="0" anchor="ctr"/>
          <a:lstStyle/>
          <a:p>
            <a:pPr indent="0" marL="0">
              <a:lnSpc>
                <a:spcPts val="1500"/>
              </a:lnSpc>
              <a:buNone/>
            </a:pPr>
            <a:r>
              <a:rPr lang="en-US" sz="1150" dirty="0">
                <a:solidFill>
                  <a:srgbClr val="3A3733"/>
                </a:solidFill>
                <a:latin typeface="Calibri" pitchFamily="34" charset="0"/>
                <a:ea typeface="Calibri" pitchFamily="34" charset="-122"/>
                <a:cs typeface="Calibri" pitchFamily="34" charset="-120"/>
              </a:rPr>
              <a:t>records state that output must be independently verified before it can be used — 30% of the corpus, across every tool tier</a:t>
            </a:r>
            <a:endParaRPr lang="en-US" sz="1150" dirty="0"/>
          </a:p>
        </p:txBody>
      </p:sp>
      <p:sp>
        <p:nvSpPr>
          <p:cNvPr id="10" name="Shape 8"/>
          <p:cNvSpPr/>
          <p:nvPr/>
        </p:nvSpPr>
        <p:spPr>
          <a:xfrm>
            <a:off x="4370832" y="2029968"/>
            <a:ext cx="91440" cy="91440"/>
          </a:xfrm>
          <a:prstGeom prst="rect">
            <a:avLst/>
          </a:prstGeom>
          <a:solidFill>
            <a:srgbClr val="5F5AC0"/>
          </a:solidFill>
          <a:ln/>
        </p:spPr>
      </p:sp>
      <p:sp>
        <p:nvSpPr>
          <p:cNvPr id="11" name="Text 9"/>
          <p:cNvSpPr txBox="1"/>
          <p:nvPr/>
        </p:nvSpPr>
        <p:spPr>
          <a:xfrm>
            <a:off x="4626864" y="1911096"/>
            <a:ext cx="7004304" cy="640080"/>
          </a:xfrm>
          <a:prstGeom prst="rect">
            <a:avLst/>
          </a:prstGeom>
          <a:noFill/>
          <a:ln/>
        </p:spPr>
        <p:txBody>
          <a:bodyPr wrap="square" lIns="0" tIns="0" rIns="0" bIns="0" rtlCol="0" anchor="t"/>
          <a:lstStyle/>
          <a:p>
            <a:pPr indent="0" marL="0">
              <a:lnSpc>
                <a:spcPts val="1700"/>
              </a:lnSpc>
              <a:buNone/>
            </a:pPr>
            <a:r>
              <a:rPr lang="en-US" sz="1250" b="1" dirty="0">
                <a:solidFill>
                  <a:srgbClr val="1B1A17"/>
                </a:solidFill>
                <a:latin typeface="Calibri" pitchFamily="34" charset="0"/>
                <a:ea typeface="Calibri" pitchFamily="34" charset="-122"/>
                <a:cs typeface="Calibri" pitchFamily="34" charset="-120"/>
              </a:rPr>
              <a:t>It is now producing sanctions.</a:t>
            </a:r>
            <a:pPr indent="0" marL="0">
              <a:lnSpc>
                <a:spcPts val="1700"/>
              </a:lnSpc>
              <a:buNone/>
            </a:pPr>
            <a:r>
              <a:rPr lang="en-US" sz="1250" dirty="0">
                <a:solidFill>
                  <a:srgbClr val="3A3733"/>
                </a:solidFill>
                <a:latin typeface="Calibri" pitchFamily="34" charset="0"/>
                <a:ea typeface="Calibri" pitchFamily="34" charset="-122"/>
                <a:cs typeface="Calibri" pitchFamily="34" charset="-120"/>
              </a:rPr>
              <a:t>  An attorney was sanctioned $8,000 and his firm $2,500 for fake citations (reddit-051); Sullivan &amp; Cromwell apologised to a judge for fabricated cases (reddit-071).</a:t>
            </a:r>
            <a:endParaRPr lang="en-US" sz="1250" dirty="0"/>
          </a:p>
        </p:txBody>
      </p:sp>
      <p:sp>
        <p:nvSpPr>
          <p:cNvPr id="12" name="Shape 10"/>
          <p:cNvSpPr/>
          <p:nvPr/>
        </p:nvSpPr>
        <p:spPr>
          <a:xfrm>
            <a:off x="4370832" y="2670048"/>
            <a:ext cx="91440" cy="91440"/>
          </a:xfrm>
          <a:prstGeom prst="rect">
            <a:avLst/>
          </a:prstGeom>
          <a:solidFill>
            <a:srgbClr val="5F5AC0"/>
          </a:solidFill>
          <a:ln/>
        </p:spPr>
      </p:sp>
      <p:sp>
        <p:nvSpPr>
          <p:cNvPr id="13" name="Text 11"/>
          <p:cNvSpPr txBox="1"/>
          <p:nvPr/>
        </p:nvSpPr>
        <p:spPr>
          <a:xfrm>
            <a:off x="4626864" y="2551176"/>
            <a:ext cx="7004304" cy="640080"/>
          </a:xfrm>
          <a:prstGeom prst="rect">
            <a:avLst/>
          </a:prstGeom>
          <a:noFill/>
          <a:ln/>
        </p:spPr>
        <p:txBody>
          <a:bodyPr wrap="square" lIns="0" tIns="0" rIns="0" bIns="0" rtlCol="0" anchor="t"/>
          <a:lstStyle/>
          <a:p>
            <a:pPr indent="0" marL="0">
              <a:lnSpc>
                <a:spcPts val="1700"/>
              </a:lnSpc>
              <a:buNone/>
            </a:pPr>
            <a:r>
              <a:rPr lang="en-US" sz="1250" b="1" dirty="0">
                <a:solidFill>
                  <a:srgbClr val="1B1A17"/>
                </a:solidFill>
                <a:latin typeface="Calibri" pitchFamily="34" charset="0"/>
                <a:ea typeface="Calibri" pitchFamily="34" charset="-122"/>
                <a:cs typeface="Calibri" pitchFamily="34" charset="-120"/>
              </a:rPr>
              <a:t>Careful review still fails.</a:t>
            </a:r>
            <a:pPr indent="0" marL="0">
              <a:lnSpc>
                <a:spcPts val="1700"/>
              </a:lnSpc>
              <a:buNone/>
            </a:pPr>
            <a:r>
              <a:rPr lang="en-US" sz="1250" dirty="0">
                <a:solidFill>
                  <a:srgbClr val="3A3733"/>
                </a:solidFill>
                <a:latin typeface="Calibri" pitchFamily="34" charset="0"/>
                <a:ea typeface="Calibri" pitchFamily="34" charset="-122"/>
                <a:cs typeface="Calibri" pitchFamily="34" charset="-120"/>
              </a:rPr>
              <a:t>  “Did a cite check and found a bunch of issues, but I missed that AI had hallucinated an entire statutory provision.” (reddit-081)</a:t>
            </a:r>
            <a:endParaRPr lang="en-US" sz="1250" dirty="0"/>
          </a:p>
        </p:txBody>
      </p:sp>
      <p:sp>
        <p:nvSpPr>
          <p:cNvPr id="14" name="Shape 12"/>
          <p:cNvSpPr/>
          <p:nvPr/>
        </p:nvSpPr>
        <p:spPr>
          <a:xfrm>
            <a:off x="4370832" y="3310128"/>
            <a:ext cx="91440" cy="91440"/>
          </a:xfrm>
          <a:prstGeom prst="rect">
            <a:avLst/>
          </a:prstGeom>
          <a:solidFill>
            <a:srgbClr val="5F5AC0"/>
          </a:solidFill>
          <a:ln/>
        </p:spPr>
      </p:sp>
      <p:sp>
        <p:nvSpPr>
          <p:cNvPr id="15" name="Text 13"/>
          <p:cNvSpPr txBox="1"/>
          <p:nvPr/>
        </p:nvSpPr>
        <p:spPr>
          <a:xfrm>
            <a:off x="4626864" y="3191256"/>
            <a:ext cx="7004304" cy="640080"/>
          </a:xfrm>
          <a:prstGeom prst="rect">
            <a:avLst/>
          </a:prstGeom>
          <a:noFill/>
          <a:ln/>
        </p:spPr>
        <p:txBody>
          <a:bodyPr wrap="square" lIns="0" tIns="0" rIns="0" bIns="0" rtlCol="0" anchor="t"/>
          <a:lstStyle/>
          <a:p>
            <a:pPr indent="0" marL="0">
              <a:lnSpc>
                <a:spcPts val="1700"/>
              </a:lnSpc>
              <a:buNone/>
            </a:pPr>
            <a:r>
              <a:rPr lang="en-US" sz="1250" b="1" dirty="0">
                <a:solidFill>
                  <a:srgbClr val="1B1A17"/>
                </a:solidFill>
                <a:latin typeface="Calibri" pitchFamily="34" charset="0"/>
                <a:ea typeface="Calibri" pitchFamily="34" charset="-122"/>
                <a:cs typeface="Calibri" pitchFamily="34" charset="-120"/>
              </a:rPr>
              <a:t>The tax can exceed the saving.</a:t>
            </a:r>
            <a:pPr indent="0" marL="0">
              <a:lnSpc>
                <a:spcPts val="1700"/>
              </a:lnSpc>
              <a:buNone/>
            </a:pPr>
            <a:r>
              <a:rPr lang="en-US" sz="1250" dirty="0">
                <a:solidFill>
                  <a:srgbClr val="3A3733"/>
                </a:solidFill>
                <a:latin typeface="Calibri" pitchFamily="34" charset="0"/>
                <a:ea typeface="Calibri" pitchFamily="34" charset="-122"/>
                <a:cs typeface="Calibri" pitchFamily="34" charset="-120"/>
              </a:rPr>
              <a:t>  “This leads to a situation where the time spent on a task is effectively doubled.” (reddit-082)</a:t>
            </a:r>
            <a:endParaRPr lang="en-US" sz="1250" dirty="0"/>
          </a:p>
        </p:txBody>
      </p:sp>
      <p:sp>
        <p:nvSpPr>
          <p:cNvPr id="16" name="Shape 14"/>
          <p:cNvSpPr/>
          <p:nvPr/>
        </p:nvSpPr>
        <p:spPr>
          <a:xfrm>
            <a:off x="4370832" y="3950208"/>
            <a:ext cx="91440" cy="91440"/>
          </a:xfrm>
          <a:prstGeom prst="rect">
            <a:avLst/>
          </a:prstGeom>
          <a:solidFill>
            <a:srgbClr val="5F5AC0"/>
          </a:solidFill>
          <a:ln/>
        </p:spPr>
      </p:sp>
      <p:sp>
        <p:nvSpPr>
          <p:cNvPr id="17" name="Text 15"/>
          <p:cNvSpPr txBox="1"/>
          <p:nvPr/>
        </p:nvSpPr>
        <p:spPr>
          <a:xfrm>
            <a:off x="4626864" y="3831336"/>
            <a:ext cx="7004304" cy="640080"/>
          </a:xfrm>
          <a:prstGeom prst="rect">
            <a:avLst/>
          </a:prstGeom>
          <a:noFill/>
          <a:ln/>
        </p:spPr>
        <p:txBody>
          <a:bodyPr wrap="square" lIns="0" tIns="0" rIns="0" bIns="0" rtlCol="0" anchor="t"/>
          <a:lstStyle/>
          <a:p>
            <a:pPr indent="0" marL="0">
              <a:lnSpc>
                <a:spcPts val="1700"/>
              </a:lnSpc>
              <a:buNone/>
            </a:pPr>
            <a:r>
              <a:rPr lang="en-US" sz="1250" b="1" dirty="0">
                <a:solidFill>
                  <a:srgbClr val="1B1A17"/>
                </a:solidFill>
                <a:latin typeface="Calibri" pitchFamily="34" charset="0"/>
                <a:ea typeface="Calibri" pitchFamily="34" charset="-122"/>
                <a:cs typeface="Calibri" pitchFamily="34" charset="-120"/>
              </a:rPr>
              <a:t>It is a pipeline defect, not a model defect.</a:t>
            </a:r>
            <a:pPr indent="0" marL="0">
              <a:lnSpc>
                <a:spcPts val="1700"/>
              </a:lnSpc>
              <a:buNone/>
            </a:pPr>
            <a:r>
              <a:rPr lang="en-US" sz="1250" dirty="0">
                <a:solidFill>
                  <a:srgbClr val="3A3733"/>
                </a:solidFill>
                <a:latin typeface="Calibri" pitchFamily="34" charset="0"/>
                <a:ea typeface="Calibri" pitchFamily="34" charset="-122"/>
                <a:cs typeface="Calibri" pitchFamily="34" charset="-120"/>
              </a:rPr>
              <a:t>  “If somewhere along the pipeline the prompt includes ‘you must provide a citation’, the LLM will happily provide one, and if it can’t find one it will make one up.” (reddit-133)</a:t>
            </a:r>
            <a:endParaRPr lang="en-US" sz="1250" dirty="0"/>
          </a:p>
        </p:txBody>
      </p:sp>
      <p:sp>
        <p:nvSpPr>
          <p:cNvPr id="18" name="Shape 16"/>
          <p:cNvSpPr/>
          <p:nvPr/>
        </p:nvSpPr>
        <p:spPr>
          <a:xfrm>
            <a:off x="566928" y="4590288"/>
            <a:ext cx="11064240" cy="713232"/>
          </a:xfrm>
          <a:prstGeom prst="roundRect">
            <a:avLst>
              <a:gd name="adj" fmla="val 7051"/>
            </a:avLst>
          </a:prstGeom>
          <a:solidFill>
            <a:srgbClr val="E0EFE9"/>
          </a:solidFill>
          <a:ln w="9525">
            <a:solidFill>
              <a:srgbClr val="C6DFD6"/>
            </a:solidFill>
            <a:prstDash val="solid"/>
          </a:ln>
        </p:spPr>
      </p:sp>
      <p:sp>
        <p:nvSpPr>
          <p:cNvPr id="19" name="Text 17"/>
          <p:cNvSpPr txBox="1"/>
          <p:nvPr/>
        </p:nvSpPr>
        <p:spPr>
          <a:xfrm>
            <a:off x="841248" y="4700016"/>
            <a:ext cx="10515600" cy="512064"/>
          </a:xfrm>
          <a:prstGeom prst="rect">
            <a:avLst/>
          </a:prstGeom>
          <a:noFill/>
          <a:ln/>
        </p:spPr>
        <p:txBody>
          <a:bodyPr wrap="square" lIns="0" tIns="0" rIns="0" bIns="0" rtlCol="0" anchor="ctr"/>
          <a:lstStyle/>
          <a:p>
            <a:pPr indent="0" marL="0">
              <a:lnSpc>
                <a:spcPts val="1500"/>
              </a:lnSpc>
              <a:buNone/>
            </a:pPr>
            <a:r>
              <a:rPr lang="en-US" sz="1150" b="1" dirty="0">
                <a:solidFill>
                  <a:srgbClr val="146B54"/>
                </a:solidFill>
                <a:latin typeface="Calibri" pitchFamily="34" charset="0"/>
                <a:ea typeface="Calibri" pitchFamily="34" charset="-122"/>
                <a:cs typeface="Calibri" pitchFamily="34" charset="-120"/>
              </a:rPr>
              <a:t>And the counterweight:  </a:t>
            </a:r>
            <a:pPr indent="0" marL="0">
              <a:lnSpc>
                <a:spcPts val="1500"/>
              </a:lnSpc>
              <a:buNone/>
            </a:pPr>
            <a:r>
              <a:rPr lang="en-US" sz="1150" dirty="0">
                <a:solidFill>
                  <a:srgbClr val="3A3733"/>
                </a:solidFill>
                <a:latin typeface="Calibri" pitchFamily="34" charset="0"/>
                <a:ea typeface="Calibri" pitchFamily="34" charset="-122"/>
                <a:cs typeface="Calibri" pitchFamily="34" charset="-120"/>
              </a:rPr>
              <a:t>“I can’t tell from AI that such a case does not exist, but I can often find that such a case does exist in about 5 minutes rather than in 1–35 hours.” (reddit-141) — the value is in orientation and retrieval, provided the tool never asks to be trusted as the record.</a:t>
            </a:r>
            <a:endParaRPr lang="en-US" sz="1150" dirty="0"/>
          </a:p>
        </p:txBody>
      </p:sp>
      <p:sp>
        <p:nvSpPr>
          <p:cNvPr id="20" name="Text 18"/>
          <p:cNvSpPr txBox="1"/>
          <p:nvPr/>
        </p:nvSpPr>
        <p:spPr>
          <a:xfrm>
            <a:off x="566928" y="5522976"/>
            <a:ext cx="11064240" cy="310896"/>
          </a:xfrm>
          <a:prstGeom prst="rect">
            <a:avLst/>
          </a:prstGeom>
          <a:noFill/>
          <a:ln/>
        </p:spPr>
        <p:txBody>
          <a:bodyPr wrap="square" lIns="0" tIns="0" rIns="0" bIns="0" rtlCol="0" anchor="ctr"/>
          <a:lstStyle/>
          <a:p>
            <a:pPr indent="0" marL="0">
              <a:buNone/>
            </a:pPr>
            <a:r>
              <a:rPr lang="en-US" sz="1250" b="1" dirty="0">
                <a:solidFill>
                  <a:srgbClr val="1B1A17"/>
                </a:solidFill>
                <a:latin typeface="Calibri" pitchFamily="34" charset="0"/>
                <a:ea typeface="Calibri" pitchFamily="34" charset="-122"/>
                <a:cs typeface="Calibri" pitchFamily="34" charset="-120"/>
              </a:rPr>
              <a:t>So what for Themis.ai:  make provenance and review state first-class fields. A machine claim and a human record must never look alike on screen.</a:t>
            </a:r>
            <a:endParaRPr lang="en-US" sz="1250" dirty="0"/>
          </a:p>
        </p:txBody>
      </p:sp>
      <p:sp>
        <p:nvSpPr>
          <p:cNvPr id="21" name="Text 19"/>
          <p:cNvSpPr txBox="1"/>
          <p:nvPr/>
        </p:nvSpPr>
        <p:spPr>
          <a:xfrm>
            <a:off x="566928" y="5888736"/>
            <a:ext cx="11064240" cy="274320"/>
          </a:xfrm>
          <a:prstGeom prst="rect">
            <a:avLst/>
          </a:prstGeom>
          <a:noFill/>
          <a:ln/>
        </p:spPr>
        <p:txBody>
          <a:bodyPr wrap="square" lIns="0" tIns="0" rIns="0" bIns="0" rtlCol="0" anchor="ctr"/>
          <a:lstStyle/>
          <a:p>
            <a:pPr indent="0" marL="0">
              <a:buNone/>
            </a:pPr>
            <a:r>
              <a:rPr lang="en-US" sz="1100" i="1" dirty="0">
                <a:solidFill>
                  <a:srgbClr val="55524B"/>
                </a:solidFill>
                <a:latin typeface="Calibri" pitchFamily="34" charset="0"/>
                <a:ea typeface="Calibri" pitchFamily="34" charset="-122"/>
                <a:cs typeface="Calibri" pitchFamily="34" charset="-120"/>
              </a:rPr>
              <a:t>22 records specifically report hallucinated or fabricated authorities  ·  “I’ve now seen bad citations from associates, opposing counsel, Chatgpt, Claude, legal AI…” (reddit-170)</a:t>
            </a:r>
            <a:endParaRPr lang="en-US" sz="1100" dirty="0"/>
          </a:p>
        </p:txBody>
      </p:sp>
      <p:sp>
        <p:nvSpPr>
          <p:cNvPr id="22" name="Text 20"/>
          <p:cNvSpPr txBox="1"/>
          <p:nvPr/>
        </p:nvSpPr>
        <p:spPr>
          <a:xfrm>
            <a:off x="566928" y="6345936"/>
            <a:ext cx="7772400" cy="274320"/>
          </a:xfrm>
          <a:prstGeom prst="rect">
            <a:avLst/>
          </a:prstGeom>
          <a:noFill/>
          <a:ln/>
        </p:spPr>
        <p:txBody>
          <a:bodyPr wrap="square" lIns="0" tIns="0" rIns="0" bIns="0" rtlCol="0" anchor="ctr"/>
          <a:lstStyle/>
          <a:p>
            <a:pPr indent="0" marL="0">
              <a:buNone/>
            </a:pPr>
            <a:r>
              <a:rPr lang="en-US" sz="900" dirty="0">
                <a:solidFill>
                  <a:srgbClr val="7A756C"/>
                </a:solidFill>
                <a:latin typeface="Calibri" pitchFamily="34" charset="0"/>
                <a:ea typeface="Calibri" pitchFamily="34" charset="-122"/>
                <a:cs typeface="Calibri" pitchFamily="34" charset="-120"/>
              </a:rPr>
              <a:t>Themis.ai · Voice of the Practitioner · Finding 05</a:t>
            </a:r>
            <a:endParaRPr lang="en-US" sz="900" dirty="0"/>
          </a:p>
        </p:txBody>
      </p:sp>
      <p:sp>
        <p:nvSpPr>
          <p:cNvPr id="23" name="Text 21"/>
          <p:cNvSpPr txBox="1"/>
          <p:nvPr/>
        </p:nvSpPr>
        <p:spPr>
          <a:xfrm>
            <a:off x="11064240" y="6345936"/>
            <a:ext cx="566928" cy="274320"/>
          </a:xfrm>
          <a:prstGeom prst="rect">
            <a:avLst/>
          </a:prstGeom>
          <a:noFill/>
          <a:ln/>
        </p:spPr>
        <p:txBody>
          <a:bodyPr wrap="square" lIns="0" tIns="0" rIns="0" bIns="0" rtlCol="0" anchor="ctr"/>
          <a:lstStyle/>
          <a:p>
            <a:pPr algn="r" indent="0" marL="0">
              <a:buNone/>
            </a:pPr>
            <a:r>
              <a:rPr lang="en-US" sz="900" dirty="0">
                <a:solidFill>
                  <a:srgbClr val="7A756C"/>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F1"/>
        </a:solidFill>
      </p:bgPr>
    </p:bg>
    <p:spTree>
      <p:nvGrpSpPr>
        <p:cNvPr id="1" name=""/>
        <p:cNvGrpSpPr/>
        <p:nvPr/>
      </p:nvGrpSpPr>
      <p:grpSpPr>
        <a:xfrm>
          <a:off x="0" y="0"/>
          <a:ext cx="0" cy="0"/>
          <a:chOff x="0" y="0"/>
          <a:chExt cx="0" cy="0"/>
        </a:xfrm>
      </p:grpSpPr>
      <p:sp>
        <p:nvSpPr>
          <p:cNvPr id="2" name="Shape 0"/>
          <p:cNvSpPr/>
          <p:nvPr/>
        </p:nvSpPr>
        <p:spPr>
          <a:xfrm>
            <a:off x="566928" y="384048"/>
            <a:ext cx="329184" cy="329184"/>
          </a:xfrm>
          <a:prstGeom prst="ellipse">
            <a:avLst/>
          </a:prstGeom>
          <a:solidFill>
            <a:srgbClr val="B33A20"/>
          </a:solidFill>
          <a:ln/>
        </p:spPr>
      </p:sp>
      <p:sp>
        <p:nvSpPr>
          <p:cNvPr id="3" name="Text 1"/>
          <p:cNvSpPr txBox="1"/>
          <p:nvPr/>
        </p:nvSpPr>
        <p:spPr>
          <a:xfrm>
            <a:off x="566928" y="388620"/>
            <a:ext cx="329184" cy="3200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4" name="Text 2"/>
          <p:cNvSpPr txBox="1"/>
          <p:nvPr/>
        </p:nvSpPr>
        <p:spPr>
          <a:xfrm>
            <a:off x="1024128" y="420624"/>
            <a:ext cx="8229600" cy="256032"/>
          </a:xfrm>
          <a:prstGeom prst="rect">
            <a:avLst/>
          </a:prstGeom>
          <a:noFill/>
          <a:ln/>
        </p:spPr>
        <p:txBody>
          <a:bodyPr wrap="square" lIns="0" tIns="0" rIns="0" bIns="0" rtlCol="0" anchor="ctr"/>
          <a:lstStyle/>
          <a:p>
            <a:pPr indent="0" marL="0">
              <a:buNone/>
            </a:pPr>
            <a:r>
              <a:rPr lang="en-US" sz="1050" b="1" spc="160" kern="0" dirty="0">
                <a:solidFill>
                  <a:srgbClr val="B33A20"/>
                </a:solidFill>
                <a:latin typeface="Calibri" pitchFamily="34" charset="0"/>
                <a:ea typeface="Calibri" pitchFamily="34" charset="-122"/>
                <a:cs typeface="Calibri" pitchFamily="34" charset="-120"/>
              </a:rPr>
              <a:t>FINDING 06  ·  DATA GOVERNANCE</a:t>
            </a:r>
            <a:endParaRPr lang="en-US" sz="1050" dirty="0"/>
          </a:p>
        </p:txBody>
      </p:sp>
      <p:sp>
        <p:nvSpPr>
          <p:cNvPr id="5" name="Text 3"/>
          <p:cNvSpPr txBox="1"/>
          <p:nvPr/>
        </p:nvSpPr>
        <p:spPr>
          <a:xfrm>
            <a:off x="566928" y="786384"/>
            <a:ext cx="10881360" cy="621792"/>
          </a:xfrm>
          <a:prstGeom prst="rect">
            <a:avLst/>
          </a:prstGeom>
          <a:noFill/>
          <a:ln/>
        </p:spPr>
        <p:txBody>
          <a:bodyPr wrap="square" lIns="0" tIns="0" rIns="0" bIns="0" rtlCol="0" anchor="ctr"/>
          <a:lstStyle/>
          <a:p>
            <a:pPr indent="0" marL="0">
              <a:buNone/>
            </a:pPr>
            <a:r>
              <a:rPr lang="en-US" sz="3100" b="1" dirty="0">
                <a:solidFill>
                  <a:srgbClr val="1B1A17"/>
                </a:solidFill>
                <a:latin typeface="Cambria" pitchFamily="34" charset="0"/>
                <a:ea typeface="Cambria" pitchFamily="34" charset="-122"/>
                <a:cs typeface="Cambria" pitchFamily="34" charset="-120"/>
              </a:rPr>
              <a:t>The gate is where the data goes, not what it can do</a:t>
            </a:r>
            <a:endParaRPr lang="en-US" sz="3100" dirty="0"/>
          </a:p>
        </p:txBody>
      </p:sp>
      <p:sp>
        <p:nvSpPr>
          <p:cNvPr id="6" name="Text 4"/>
          <p:cNvSpPr txBox="1"/>
          <p:nvPr/>
        </p:nvSpPr>
        <p:spPr>
          <a:xfrm>
            <a:off x="566928" y="1408176"/>
            <a:ext cx="10881360" cy="365760"/>
          </a:xfrm>
          <a:prstGeom prst="rect">
            <a:avLst/>
          </a:prstGeom>
          <a:noFill/>
          <a:ln/>
        </p:spPr>
        <p:txBody>
          <a:bodyPr wrap="square" lIns="0" tIns="0" rIns="0" bIns="0" rtlCol="0" anchor="ctr"/>
          <a:lstStyle/>
          <a:p>
            <a:pPr indent="0" marL="0">
              <a:buNone/>
            </a:pPr>
            <a:r>
              <a:rPr lang="en-US" sz="1400" dirty="0">
                <a:solidFill>
                  <a:srgbClr val="55524B"/>
                </a:solidFill>
                <a:latin typeface="Calibri" pitchFamily="34" charset="0"/>
                <a:ea typeface="Calibri" pitchFamily="34" charset="-122"/>
                <a:cs typeface="Calibri" pitchFamily="34" charset="-120"/>
              </a:rPr>
              <a:t>21 records describe confidentiality, retention or privilege as the binding constraint. Several describe outright bans on capable tools.</a:t>
            </a:r>
            <a:endParaRPr lang="en-US" sz="1400" dirty="0"/>
          </a:p>
        </p:txBody>
      </p:sp>
      <p:sp>
        <p:nvSpPr>
          <p:cNvPr id="7" name="Shape 5"/>
          <p:cNvSpPr/>
          <p:nvPr/>
        </p:nvSpPr>
        <p:spPr>
          <a:xfrm>
            <a:off x="566928" y="1938528"/>
            <a:ext cx="11064240" cy="932688"/>
          </a:xfrm>
          <a:prstGeom prst="roundRect">
            <a:avLst>
              <a:gd name="adj" fmla="val 5392"/>
            </a:avLst>
          </a:prstGeom>
          <a:solidFill>
            <a:srgbClr val="EAE8F9"/>
          </a:solidFill>
          <a:ln w="9525">
            <a:solidFill>
              <a:srgbClr val="DAD7F0"/>
            </a:solidFill>
            <a:prstDash val="solid"/>
          </a:ln>
        </p:spPr>
      </p:sp>
      <p:sp>
        <p:nvSpPr>
          <p:cNvPr id="8" name="Text 6"/>
          <p:cNvSpPr txBox="1"/>
          <p:nvPr/>
        </p:nvSpPr>
        <p:spPr>
          <a:xfrm>
            <a:off x="804672" y="2084832"/>
            <a:ext cx="10588752" cy="365760"/>
          </a:xfrm>
          <a:prstGeom prst="rect">
            <a:avLst/>
          </a:prstGeom>
          <a:noFill/>
          <a:ln/>
        </p:spPr>
        <p:txBody>
          <a:bodyPr wrap="square" lIns="0" tIns="0" rIns="0" bIns="0" rtlCol="0" anchor="t"/>
          <a:lstStyle/>
          <a:p>
            <a:pPr indent="0" marL="0">
              <a:lnSpc>
                <a:spcPts val="1900"/>
              </a:lnSpc>
              <a:buNone/>
            </a:pPr>
            <a:r>
              <a:rPr lang="en-US" sz="1350" i="1" dirty="0">
                <a:solidFill>
                  <a:srgbClr val="3A3733"/>
                </a:solidFill>
                <a:latin typeface="Calibri" pitchFamily="34" charset="0"/>
                <a:ea typeface="Calibri" pitchFamily="34" charset="-122"/>
                <a:cs typeface="Calibri" pitchFamily="34" charset="-120"/>
              </a:rPr>
              <a:t>“When you dig into why, the answer is almost never about the AI itself. It’s about where the data goes.”</a:t>
            </a:r>
            <a:endParaRPr lang="en-US" sz="1350" dirty="0"/>
          </a:p>
        </p:txBody>
      </p:sp>
      <p:sp>
        <p:nvSpPr>
          <p:cNvPr id="9" name="Text 7"/>
          <p:cNvSpPr txBox="1"/>
          <p:nvPr/>
        </p:nvSpPr>
        <p:spPr>
          <a:xfrm>
            <a:off x="804672" y="2487168"/>
            <a:ext cx="10588752" cy="256032"/>
          </a:xfrm>
          <a:prstGeom prst="rect">
            <a:avLst/>
          </a:prstGeom>
          <a:noFill/>
          <a:ln/>
        </p:spPr>
        <p:txBody>
          <a:bodyPr wrap="square" lIns="0" tIns="0" rIns="0" bIns="0" rtlCol="0" anchor="ctr"/>
          <a:lstStyle/>
          <a:p>
            <a:pPr indent="0" marL="0">
              <a:buNone/>
            </a:pPr>
            <a:r>
              <a:rPr lang="en-US" sz="950" b="1" dirty="0">
                <a:solidFill>
                  <a:srgbClr val="5F5AC0"/>
                </a:solidFill>
                <a:latin typeface="Calibri" pitchFamily="34" charset="0"/>
                <a:ea typeface="Calibri" pitchFamily="34" charset="-122"/>
                <a:cs typeface="Calibri" pitchFamily="34" charset="-120"/>
              </a:rPr>
              <a:t>On why enterprise legal teams stall procurement even after the NDA is signed · reddit-139</a:t>
            </a:r>
            <a:endParaRPr lang="en-US" sz="950" dirty="0"/>
          </a:p>
        </p:txBody>
      </p:sp>
      <p:sp>
        <p:nvSpPr>
          <p:cNvPr id="10" name="Shape 8"/>
          <p:cNvSpPr/>
          <p:nvPr/>
        </p:nvSpPr>
        <p:spPr>
          <a:xfrm>
            <a:off x="566928" y="3200400"/>
            <a:ext cx="91440" cy="91440"/>
          </a:xfrm>
          <a:prstGeom prst="rect">
            <a:avLst/>
          </a:prstGeom>
          <a:solidFill>
            <a:srgbClr val="B33A20"/>
          </a:solidFill>
          <a:ln/>
        </p:spPr>
      </p:sp>
      <p:sp>
        <p:nvSpPr>
          <p:cNvPr id="11" name="Text 9"/>
          <p:cNvSpPr txBox="1"/>
          <p:nvPr/>
        </p:nvSpPr>
        <p:spPr>
          <a:xfrm>
            <a:off x="822960" y="3054096"/>
            <a:ext cx="10808208" cy="731520"/>
          </a:xfrm>
          <a:prstGeom prst="rect">
            <a:avLst/>
          </a:prstGeom>
          <a:noFill/>
          <a:ln/>
        </p:spPr>
        <p:txBody>
          <a:bodyPr wrap="square" lIns="0" tIns="0" rIns="0" bIns="0" rtlCol="0" anchor="t"/>
          <a:lstStyle/>
          <a:p>
            <a:pPr indent="0" marL="0">
              <a:lnSpc>
                <a:spcPts val="1700"/>
              </a:lnSpc>
              <a:buNone/>
            </a:pPr>
            <a:r>
              <a:rPr lang="en-US" sz="1250" b="1" dirty="0">
                <a:solidFill>
                  <a:srgbClr val="1B1A17"/>
                </a:solidFill>
                <a:latin typeface="Calibri" pitchFamily="34" charset="0"/>
                <a:ea typeface="Calibri" pitchFamily="34" charset="-122"/>
                <a:cs typeface="Calibri" pitchFamily="34" charset="-120"/>
              </a:rPr>
              <a:t>Bans are live, not theoretical  </a:t>
            </a:r>
            <a:pPr indent="0" marL="0">
              <a:lnSpc>
                <a:spcPts val="1700"/>
              </a:lnSpc>
              <a:buNone/>
            </a:pPr>
            <a:r>
              <a:rPr lang="en-US" sz="1250" dirty="0">
                <a:solidFill>
                  <a:srgbClr val="3A3733"/>
                </a:solidFill>
                <a:latin typeface="Calibri" pitchFamily="34" charset="0"/>
                <a:ea typeface="Calibri" pitchFamily="34" charset="-122"/>
                <a:cs typeface="Calibri" pitchFamily="34" charset="-120"/>
              </a:rPr>
              <a:t>An Am Law 200 firm “has outright banned everything except for Westlaw … and Co-Pilot.” (reddit-022)  A UK firm: “Sites like ChatGPT/Claude are not permitted and copilot is disabled.” (reddit-200)</a:t>
            </a:r>
            <a:endParaRPr lang="en-US" sz="1250" dirty="0"/>
          </a:p>
        </p:txBody>
      </p:sp>
      <p:sp>
        <p:nvSpPr>
          <p:cNvPr id="12" name="Shape 10"/>
          <p:cNvSpPr/>
          <p:nvPr/>
        </p:nvSpPr>
        <p:spPr>
          <a:xfrm>
            <a:off x="566928" y="3950208"/>
            <a:ext cx="91440" cy="91440"/>
          </a:xfrm>
          <a:prstGeom prst="rect">
            <a:avLst/>
          </a:prstGeom>
          <a:solidFill>
            <a:srgbClr val="B33A20"/>
          </a:solidFill>
          <a:ln/>
        </p:spPr>
      </p:sp>
      <p:sp>
        <p:nvSpPr>
          <p:cNvPr id="13" name="Text 11"/>
          <p:cNvSpPr txBox="1"/>
          <p:nvPr/>
        </p:nvSpPr>
        <p:spPr>
          <a:xfrm>
            <a:off x="822960" y="3803904"/>
            <a:ext cx="10808208" cy="731520"/>
          </a:xfrm>
          <a:prstGeom prst="rect">
            <a:avLst/>
          </a:prstGeom>
          <a:noFill/>
          <a:ln/>
        </p:spPr>
        <p:txBody>
          <a:bodyPr wrap="square" lIns="0" tIns="0" rIns="0" bIns="0" rtlCol="0" anchor="t"/>
          <a:lstStyle/>
          <a:p>
            <a:pPr indent="0" marL="0">
              <a:lnSpc>
                <a:spcPts val="1700"/>
              </a:lnSpc>
              <a:buNone/>
            </a:pPr>
            <a:r>
              <a:rPr lang="en-US" sz="1250" b="1" dirty="0">
                <a:solidFill>
                  <a:srgbClr val="1B1A17"/>
                </a:solidFill>
                <a:latin typeface="Calibri" pitchFamily="34" charset="0"/>
                <a:ea typeface="Calibri" pitchFamily="34" charset="-122"/>
                <a:cs typeface="Calibri" pitchFamily="34" charset="-120"/>
              </a:rPr>
              <a:t>One incident closes the door  </a:t>
            </a:r>
            <a:pPr indent="0" marL="0">
              <a:lnSpc>
                <a:spcPts val="1700"/>
              </a:lnSpc>
              <a:buNone/>
            </a:pPr>
            <a:r>
              <a:rPr lang="en-US" sz="1250" dirty="0">
                <a:solidFill>
                  <a:srgbClr val="3A3733"/>
                </a:solidFill>
                <a:latin typeface="Calibri" pitchFamily="34" charset="0"/>
                <a:ea typeface="Calibri" pitchFamily="34" charset="-122"/>
                <a:cs typeface="Calibri" pitchFamily="34" charset="-120"/>
              </a:rPr>
              <a:t>“We had someone paste a client contract into chatgpt … we ended up just blocking chatgpt at the firewall and telling people to use the company approved tools only.” (reddit-191)</a:t>
            </a:r>
            <a:endParaRPr lang="en-US" sz="1250" dirty="0"/>
          </a:p>
        </p:txBody>
      </p:sp>
      <p:sp>
        <p:nvSpPr>
          <p:cNvPr id="14" name="Shape 12"/>
          <p:cNvSpPr/>
          <p:nvPr/>
        </p:nvSpPr>
        <p:spPr>
          <a:xfrm>
            <a:off x="566928" y="4700016"/>
            <a:ext cx="91440" cy="91440"/>
          </a:xfrm>
          <a:prstGeom prst="rect">
            <a:avLst/>
          </a:prstGeom>
          <a:solidFill>
            <a:srgbClr val="E0A008"/>
          </a:solidFill>
          <a:ln/>
        </p:spPr>
      </p:sp>
      <p:sp>
        <p:nvSpPr>
          <p:cNvPr id="15" name="Text 13"/>
          <p:cNvSpPr txBox="1"/>
          <p:nvPr/>
        </p:nvSpPr>
        <p:spPr>
          <a:xfrm>
            <a:off x="822960" y="4553712"/>
            <a:ext cx="10808208" cy="731520"/>
          </a:xfrm>
          <a:prstGeom prst="rect">
            <a:avLst/>
          </a:prstGeom>
          <a:noFill/>
          <a:ln/>
        </p:spPr>
        <p:txBody>
          <a:bodyPr wrap="square" lIns="0" tIns="0" rIns="0" bIns="0" rtlCol="0" anchor="t"/>
          <a:lstStyle/>
          <a:p>
            <a:pPr indent="0" marL="0">
              <a:lnSpc>
                <a:spcPts val="1700"/>
              </a:lnSpc>
              <a:buNone/>
            </a:pPr>
            <a:r>
              <a:rPr lang="en-US" sz="1250" b="1" dirty="0">
                <a:solidFill>
                  <a:srgbClr val="1B1A17"/>
                </a:solidFill>
                <a:latin typeface="Calibri" pitchFamily="34" charset="0"/>
                <a:ea typeface="Calibri" pitchFamily="34" charset="-122"/>
                <a:cs typeface="Calibri" pitchFamily="34" charset="-120"/>
              </a:rPr>
              <a:t>Partners, not IT, are the blocker  </a:t>
            </a:r>
            <a:pPr indent="0" marL="0">
              <a:lnSpc>
                <a:spcPts val="1700"/>
              </a:lnSpc>
              <a:buNone/>
            </a:pPr>
            <a:r>
              <a:rPr lang="en-US" sz="1250" dirty="0">
                <a:solidFill>
                  <a:srgbClr val="3A3733"/>
                </a:solidFill>
                <a:latin typeface="Calibri" pitchFamily="34" charset="0"/>
                <a:ea typeface="Calibri" pitchFamily="34" charset="-122"/>
                <a:cs typeface="Calibri" pitchFamily="34" charset="-120"/>
              </a:rPr>
              <a:t>A 15-attorney firm: “The managing partner is fearful of putting client data into any LLM.” Commenters pointed to enterprise, local and purpose-built options. (reddit-025)</a:t>
            </a:r>
            <a:endParaRPr lang="en-US" sz="1250" dirty="0"/>
          </a:p>
        </p:txBody>
      </p:sp>
      <p:sp>
        <p:nvSpPr>
          <p:cNvPr id="16" name="Shape 14"/>
          <p:cNvSpPr/>
          <p:nvPr/>
        </p:nvSpPr>
        <p:spPr>
          <a:xfrm>
            <a:off x="566928" y="5449824"/>
            <a:ext cx="91440" cy="91440"/>
          </a:xfrm>
          <a:prstGeom prst="rect">
            <a:avLst/>
          </a:prstGeom>
          <a:solidFill>
            <a:srgbClr val="146B54"/>
          </a:solidFill>
          <a:ln/>
        </p:spPr>
      </p:sp>
      <p:sp>
        <p:nvSpPr>
          <p:cNvPr id="17" name="Text 15"/>
          <p:cNvSpPr txBox="1"/>
          <p:nvPr/>
        </p:nvSpPr>
        <p:spPr>
          <a:xfrm>
            <a:off x="822960" y="5303520"/>
            <a:ext cx="10808208" cy="731520"/>
          </a:xfrm>
          <a:prstGeom prst="rect">
            <a:avLst/>
          </a:prstGeom>
          <a:noFill/>
          <a:ln/>
        </p:spPr>
        <p:txBody>
          <a:bodyPr wrap="square" lIns="0" tIns="0" rIns="0" bIns="0" rtlCol="0" anchor="t"/>
          <a:lstStyle/>
          <a:p>
            <a:pPr indent="0" marL="0">
              <a:lnSpc>
                <a:spcPts val="1700"/>
              </a:lnSpc>
              <a:buNone/>
            </a:pPr>
            <a:r>
              <a:rPr lang="en-US" sz="1250" b="1" dirty="0">
                <a:solidFill>
                  <a:srgbClr val="1B1A17"/>
                </a:solidFill>
                <a:latin typeface="Calibri" pitchFamily="34" charset="0"/>
                <a:ea typeface="Calibri" pitchFamily="34" charset="-122"/>
                <a:cs typeface="Calibri" pitchFamily="34" charset="-120"/>
              </a:rPr>
              <a:t>Closed systems get through  </a:t>
            </a:r>
            <a:pPr indent="0" marL="0">
              <a:lnSpc>
                <a:spcPts val="1700"/>
              </a:lnSpc>
              <a:buNone/>
            </a:pPr>
            <a:r>
              <a:rPr lang="en-US" sz="1250" dirty="0">
                <a:solidFill>
                  <a:srgbClr val="3A3733"/>
                </a:solidFill>
                <a:latin typeface="Calibri" pitchFamily="34" charset="0"/>
                <a:ea typeface="Calibri" pitchFamily="34" charset="-122"/>
                <a:cs typeface="Calibri" pitchFamily="34" charset="-120"/>
              </a:rPr>
              <a:t>Where public models are barred, closed products such as Legora are permitted — the permission follows the data boundary, not the capability. (reddit-200)</a:t>
            </a:r>
            <a:endParaRPr lang="en-US" sz="1250" dirty="0"/>
          </a:p>
        </p:txBody>
      </p:sp>
      <p:sp>
        <p:nvSpPr>
          <p:cNvPr id="18" name="Text 16"/>
          <p:cNvSpPr txBox="1"/>
          <p:nvPr/>
        </p:nvSpPr>
        <p:spPr>
          <a:xfrm>
            <a:off x="566928" y="5870448"/>
            <a:ext cx="11064240" cy="310896"/>
          </a:xfrm>
          <a:prstGeom prst="rect">
            <a:avLst/>
          </a:prstGeom>
          <a:noFill/>
          <a:ln/>
        </p:spPr>
        <p:txBody>
          <a:bodyPr wrap="square" lIns="0" tIns="0" rIns="0" bIns="0" rtlCol="0" anchor="ctr"/>
          <a:lstStyle/>
          <a:p>
            <a:pPr indent="0" marL="0">
              <a:buNone/>
            </a:pPr>
            <a:r>
              <a:rPr lang="en-US" sz="1250" b="1" dirty="0">
                <a:solidFill>
                  <a:srgbClr val="1B1A17"/>
                </a:solidFill>
                <a:latin typeface="Calibri" pitchFamily="34" charset="0"/>
                <a:ea typeface="Calibri" pitchFamily="34" charset="-122"/>
                <a:cs typeface="Calibri" pitchFamily="34" charset="-120"/>
              </a:rPr>
              <a:t>So what for Themis.ai:  a local-first, Markdown-on-disk, bring-your-own-provider architecture is not a feature — it is the thing that gets the meeting.</a:t>
            </a:r>
            <a:endParaRPr lang="en-US" sz="1250" dirty="0"/>
          </a:p>
        </p:txBody>
      </p:sp>
      <p:sp>
        <p:nvSpPr>
          <p:cNvPr id="19" name="Text 17"/>
          <p:cNvSpPr txBox="1"/>
          <p:nvPr/>
        </p:nvSpPr>
        <p:spPr>
          <a:xfrm>
            <a:off x="566928" y="6345936"/>
            <a:ext cx="7772400" cy="274320"/>
          </a:xfrm>
          <a:prstGeom prst="rect">
            <a:avLst/>
          </a:prstGeom>
          <a:noFill/>
          <a:ln/>
        </p:spPr>
        <p:txBody>
          <a:bodyPr wrap="square" lIns="0" tIns="0" rIns="0" bIns="0" rtlCol="0" anchor="ctr"/>
          <a:lstStyle/>
          <a:p>
            <a:pPr indent="0" marL="0">
              <a:buNone/>
            </a:pPr>
            <a:r>
              <a:rPr lang="en-US" sz="900" dirty="0">
                <a:solidFill>
                  <a:srgbClr val="7A756C"/>
                </a:solidFill>
                <a:latin typeface="Calibri" pitchFamily="34" charset="0"/>
                <a:ea typeface="Calibri" pitchFamily="34" charset="-122"/>
                <a:cs typeface="Calibri" pitchFamily="34" charset="-120"/>
              </a:rPr>
              <a:t>Themis.ai · Voice of the Practitioner · Finding 06</a:t>
            </a:r>
            <a:endParaRPr lang="en-US" sz="900" dirty="0"/>
          </a:p>
        </p:txBody>
      </p:sp>
      <p:sp>
        <p:nvSpPr>
          <p:cNvPr id="20" name="Text 18"/>
          <p:cNvSpPr txBox="1"/>
          <p:nvPr/>
        </p:nvSpPr>
        <p:spPr>
          <a:xfrm>
            <a:off x="11064240" y="6345936"/>
            <a:ext cx="566928" cy="274320"/>
          </a:xfrm>
          <a:prstGeom prst="rect">
            <a:avLst/>
          </a:prstGeom>
          <a:noFill/>
          <a:ln/>
        </p:spPr>
        <p:txBody>
          <a:bodyPr wrap="square" lIns="0" tIns="0" rIns="0" bIns="0" rtlCol="0" anchor="ctr"/>
          <a:lstStyle/>
          <a:p>
            <a:pPr algn="r" indent="0" marL="0">
              <a:buNone/>
            </a:pPr>
            <a:r>
              <a:rPr lang="en-US" sz="900" dirty="0">
                <a:solidFill>
                  <a:srgbClr val="7A756C"/>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F1"/>
        </a:solidFill>
      </p:bgPr>
    </p:bg>
    <p:spTree>
      <p:nvGrpSpPr>
        <p:cNvPr id="1" name=""/>
        <p:cNvGrpSpPr/>
        <p:nvPr/>
      </p:nvGrpSpPr>
      <p:grpSpPr>
        <a:xfrm>
          <a:off x="0" y="0"/>
          <a:ext cx="0" cy="0"/>
          <a:chOff x="0" y="0"/>
          <a:chExt cx="0" cy="0"/>
        </a:xfrm>
      </p:grpSpPr>
      <p:sp>
        <p:nvSpPr>
          <p:cNvPr id="2" name="Shape 0"/>
          <p:cNvSpPr/>
          <p:nvPr/>
        </p:nvSpPr>
        <p:spPr>
          <a:xfrm>
            <a:off x="566928" y="384048"/>
            <a:ext cx="329184" cy="329184"/>
          </a:xfrm>
          <a:prstGeom prst="ellipse">
            <a:avLst/>
          </a:prstGeom>
          <a:solidFill>
            <a:srgbClr val="146B54"/>
          </a:solidFill>
          <a:ln/>
        </p:spPr>
      </p:sp>
      <p:sp>
        <p:nvSpPr>
          <p:cNvPr id="3" name="Text 1"/>
          <p:cNvSpPr txBox="1"/>
          <p:nvPr/>
        </p:nvSpPr>
        <p:spPr>
          <a:xfrm>
            <a:off x="566928" y="388620"/>
            <a:ext cx="329184" cy="3200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4" name="Text 2"/>
          <p:cNvSpPr txBox="1"/>
          <p:nvPr/>
        </p:nvSpPr>
        <p:spPr>
          <a:xfrm>
            <a:off x="1024128" y="420624"/>
            <a:ext cx="8229600" cy="256032"/>
          </a:xfrm>
          <a:prstGeom prst="rect">
            <a:avLst/>
          </a:prstGeom>
          <a:noFill/>
          <a:ln/>
        </p:spPr>
        <p:txBody>
          <a:bodyPr wrap="square" lIns="0" tIns="0" rIns="0" bIns="0" rtlCol="0" anchor="ctr"/>
          <a:lstStyle/>
          <a:p>
            <a:pPr indent="0" marL="0">
              <a:buNone/>
            </a:pPr>
            <a:r>
              <a:rPr lang="en-US" sz="1050" b="1" spc="160" kern="0" dirty="0">
                <a:solidFill>
                  <a:srgbClr val="146B54"/>
                </a:solidFill>
                <a:latin typeface="Calibri" pitchFamily="34" charset="0"/>
                <a:ea typeface="Calibri" pitchFamily="34" charset="-122"/>
                <a:cs typeface="Calibri" pitchFamily="34" charset="-120"/>
              </a:rPr>
              <a:t>FINDING 07  ·  THE UNDERSERVED BUYER</a:t>
            </a:r>
            <a:endParaRPr lang="en-US" sz="1050" dirty="0"/>
          </a:p>
        </p:txBody>
      </p:sp>
      <p:sp>
        <p:nvSpPr>
          <p:cNvPr id="5" name="Text 3"/>
          <p:cNvSpPr txBox="1"/>
          <p:nvPr/>
        </p:nvSpPr>
        <p:spPr>
          <a:xfrm>
            <a:off x="566928" y="786384"/>
            <a:ext cx="10881360" cy="621792"/>
          </a:xfrm>
          <a:prstGeom prst="rect">
            <a:avLst/>
          </a:prstGeom>
          <a:noFill/>
          <a:ln/>
        </p:spPr>
        <p:txBody>
          <a:bodyPr wrap="square" lIns="0" tIns="0" rIns="0" bIns="0" rtlCol="0" anchor="ctr"/>
          <a:lstStyle/>
          <a:p>
            <a:pPr indent="0" marL="0">
              <a:buNone/>
            </a:pPr>
            <a:r>
              <a:rPr lang="en-US" sz="3100" b="1" dirty="0">
                <a:solidFill>
                  <a:srgbClr val="1B1A17"/>
                </a:solidFill>
                <a:latin typeface="Cambria" pitchFamily="34" charset="0"/>
                <a:ea typeface="Cambria" pitchFamily="34" charset="-122"/>
                <a:cs typeface="Cambria" pitchFamily="34" charset="-120"/>
              </a:rPr>
              <a:t>The underserved buyer is already insourcing</a:t>
            </a:r>
            <a:endParaRPr lang="en-US" sz="3100" dirty="0"/>
          </a:p>
        </p:txBody>
      </p:sp>
      <p:sp>
        <p:nvSpPr>
          <p:cNvPr id="6" name="Text 4"/>
          <p:cNvSpPr txBox="1"/>
          <p:nvPr/>
        </p:nvSpPr>
        <p:spPr>
          <a:xfrm>
            <a:off x="566928" y="1408176"/>
            <a:ext cx="10881360" cy="365760"/>
          </a:xfrm>
          <a:prstGeom prst="rect">
            <a:avLst/>
          </a:prstGeom>
          <a:noFill/>
          <a:ln/>
        </p:spPr>
        <p:txBody>
          <a:bodyPr wrap="square" lIns="0" tIns="0" rIns="0" bIns="0" rtlCol="0" anchor="ctr"/>
          <a:lstStyle/>
          <a:p>
            <a:pPr indent="0" marL="0">
              <a:buNone/>
            </a:pPr>
            <a:r>
              <a:rPr lang="en-US" sz="1400" dirty="0">
                <a:solidFill>
                  <a:srgbClr val="55524B"/>
                </a:solidFill>
                <a:latin typeface="Calibri" pitchFamily="34" charset="0"/>
                <a:ea typeface="Calibri" pitchFamily="34" charset="-122"/>
                <a:cs typeface="Calibri" pitchFamily="34" charset="-120"/>
              </a:rPr>
              <a:t>This is the segment Themis.ai names as its primary user. The corpus shows demand rising and supply priced or scoped out.</a:t>
            </a:r>
            <a:endParaRPr lang="en-US" sz="1400" dirty="0"/>
          </a:p>
        </p:txBody>
      </p:sp>
      <p:sp>
        <p:nvSpPr>
          <p:cNvPr id="7" name="Shape 5"/>
          <p:cNvSpPr/>
          <p:nvPr/>
        </p:nvSpPr>
        <p:spPr>
          <a:xfrm>
            <a:off x="566928" y="1920240"/>
            <a:ext cx="5394960" cy="2084832"/>
          </a:xfrm>
          <a:prstGeom prst="roundRect">
            <a:avLst>
              <a:gd name="adj" fmla="val 2412"/>
            </a:avLst>
          </a:prstGeom>
          <a:solidFill>
            <a:srgbClr val="E0EFE9"/>
          </a:solidFill>
          <a:ln w="9525">
            <a:solidFill>
              <a:srgbClr val="C6DFD6"/>
            </a:solidFill>
            <a:prstDash val="solid"/>
          </a:ln>
        </p:spPr>
      </p:sp>
      <p:sp>
        <p:nvSpPr>
          <p:cNvPr id="8" name="Text 6"/>
          <p:cNvSpPr txBox="1"/>
          <p:nvPr/>
        </p:nvSpPr>
        <p:spPr>
          <a:xfrm>
            <a:off x="841248" y="2084832"/>
            <a:ext cx="4846320" cy="292608"/>
          </a:xfrm>
          <a:prstGeom prst="rect">
            <a:avLst/>
          </a:prstGeom>
          <a:noFill/>
          <a:ln/>
        </p:spPr>
        <p:txBody>
          <a:bodyPr wrap="square" lIns="0" tIns="0" rIns="0" bIns="0" rtlCol="0" anchor="ctr"/>
          <a:lstStyle/>
          <a:p>
            <a:pPr indent="0" marL="0">
              <a:buNone/>
            </a:pPr>
            <a:r>
              <a:rPr lang="en-US" sz="1400" b="1" dirty="0">
                <a:solidFill>
                  <a:srgbClr val="146B54"/>
                </a:solidFill>
                <a:latin typeface="Calibri" pitchFamily="34" charset="0"/>
                <a:ea typeface="Calibri" pitchFamily="34" charset="-122"/>
                <a:cs typeface="Calibri" pitchFamily="34" charset="-120"/>
              </a:rPr>
              <a:t>Demand is real and measured in dollars</a:t>
            </a:r>
            <a:endParaRPr lang="en-US" sz="1400" dirty="0"/>
          </a:p>
        </p:txBody>
      </p:sp>
      <p:sp>
        <p:nvSpPr>
          <p:cNvPr id="9" name="Text 7"/>
          <p:cNvSpPr txBox="1"/>
          <p:nvPr/>
        </p:nvSpPr>
        <p:spPr>
          <a:xfrm>
            <a:off x="841248" y="2432304"/>
            <a:ext cx="4846320" cy="1463040"/>
          </a:xfrm>
          <a:prstGeom prst="rect">
            <a:avLst/>
          </a:prstGeom>
          <a:noFill/>
          <a:ln/>
        </p:spPr>
        <p:txBody>
          <a:bodyPr wrap="square" lIns="0" tIns="0" rIns="0" bIns="0" rtlCol="0" anchor="ctr"/>
          <a:lstStyle/>
          <a:p>
            <a:pPr marL="342900" indent="-342900">
              <a:lnSpc>
                <a:spcPts val="1400"/>
              </a:lnSpc>
              <a:spcAft>
                <a:spcPts val="500"/>
              </a:spcAft>
              <a:buSzPct val="100000"/>
              <a:buChar char="•"/>
            </a:pPr>
            <a:r>
              <a:rPr lang="en-US" sz="1100" dirty="0">
                <a:solidFill>
                  <a:srgbClr val="3A3733"/>
                </a:solidFill>
                <a:latin typeface="Calibri" pitchFamily="34" charset="0"/>
                <a:ea typeface="Calibri" pitchFamily="34" charset="-122"/>
                <a:cs typeface="Calibri" pitchFamily="34" charset="-120"/>
              </a:rPr>
              <a:t>“I’d farm out commercial agreements and licensing to outside counsel for $5k-$10k a pop. now i just feed those into AI and spend a couple of hours on each one.” (reddit-086)</a:t>
            </a:r>
            <a:endParaRPr lang="en-US" sz="1100" dirty="0"/>
          </a:p>
          <a:p>
            <a:pPr marL="342900" indent="-342900">
              <a:lnSpc>
                <a:spcPts val="1400"/>
              </a:lnSpc>
              <a:spcAft>
                <a:spcPts val="500"/>
              </a:spcAft>
              <a:buSzPct val="100000"/>
              <a:buChar char="•"/>
            </a:pPr>
            <a:r>
              <a:rPr lang="en-US" sz="1100" dirty="0">
                <a:solidFill>
                  <a:srgbClr val="3A3733"/>
                </a:solidFill>
                <a:latin typeface="Calibri" pitchFamily="34" charset="0"/>
                <a:ea typeface="Calibri" pitchFamily="34" charset="-122"/>
                <a:cs typeface="Calibri" pitchFamily="34" charset="-120"/>
              </a:rPr>
              <a:t>“Big corporates … are increasingly asking why they’re being billed 10 hours for document review that their in-house team could do in an afternoon with Claude.” (reddit-137)</a:t>
            </a:r>
            <a:endParaRPr lang="en-US" sz="1100" dirty="0"/>
          </a:p>
          <a:p>
            <a:pPr marL="342900" indent="-342900">
              <a:lnSpc>
                <a:spcPts val="1400"/>
              </a:lnSpc>
              <a:spcAft>
                <a:spcPts val="500"/>
              </a:spcAft>
              <a:buSzPct val="100000"/>
              <a:buChar char="•"/>
            </a:pPr>
            <a:r>
              <a:rPr lang="en-US" sz="1100" dirty="0">
                <a:solidFill>
                  <a:srgbClr val="3A3733"/>
                </a:solidFill>
                <a:latin typeface="Calibri" pitchFamily="34" charset="0"/>
                <a:ea typeface="Calibri" pitchFamily="34" charset="-122"/>
                <a:cs typeface="Calibri" pitchFamily="34" charset="-120"/>
              </a:rPr>
              <a:t>In-house teams expect the largest AI savings by insourcing formerly outsourced work (Bloomberg Law, reddit-100)</a:t>
            </a:r>
            <a:endParaRPr lang="en-US" sz="1100" dirty="0"/>
          </a:p>
        </p:txBody>
      </p:sp>
      <p:sp>
        <p:nvSpPr>
          <p:cNvPr id="10" name="Shape 8"/>
          <p:cNvSpPr/>
          <p:nvPr/>
        </p:nvSpPr>
        <p:spPr>
          <a:xfrm>
            <a:off x="6236208" y="1920240"/>
            <a:ext cx="5394960" cy="2084832"/>
          </a:xfrm>
          <a:prstGeom prst="roundRect">
            <a:avLst>
              <a:gd name="adj" fmla="val 2412"/>
            </a:avLst>
          </a:prstGeom>
          <a:solidFill>
            <a:srgbClr val="F8E3DC"/>
          </a:solidFill>
          <a:ln w="9525">
            <a:solidFill>
              <a:srgbClr val="EBCFC6"/>
            </a:solidFill>
            <a:prstDash val="solid"/>
          </a:ln>
        </p:spPr>
      </p:sp>
      <p:sp>
        <p:nvSpPr>
          <p:cNvPr id="11" name="Text 9"/>
          <p:cNvSpPr txBox="1"/>
          <p:nvPr/>
        </p:nvSpPr>
        <p:spPr>
          <a:xfrm>
            <a:off x="6510528" y="2084832"/>
            <a:ext cx="4846320" cy="292608"/>
          </a:xfrm>
          <a:prstGeom prst="rect">
            <a:avLst/>
          </a:prstGeom>
          <a:noFill/>
          <a:ln/>
        </p:spPr>
        <p:txBody>
          <a:bodyPr wrap="square" lIns="0" tIns="0" rIns="0" bIns="0" rtlCol="0" anchor="ctr"/>
          <a:lstStyle/>
          <a:p>
            <a:pPr indent="0" marL="0">
              <a:buNone/>
            </a:pPr>
            <a:r>
              <a:rPr lang="en-US" sz="1400" b="1" dirty="0">
                <a:solidFill>
                  <a:srgbClr val="B33A20"/>
                </a:solidFill>
                <a:latin typeface="Calibri" pitchFamily="34" charset="0"/>
                <a:ea typeface="Calibri" pitchFamily="34" charset="-122"/>
                <a:cs typeface="Calibri" pitchFamily="34" charset="-120"/>
              </a:rPr>
              <a:t>Supply does not reach them</a:t>
            </a:r>
            <a:endParaRPr lang="en-US" sz="1400" dirty="0"/>
          </a:p>
        </p:txBody>
      </p:sp>
      <p:sp>
        <p:nvSpPr>
          <p:cNvPr id="12" name="Text 10"/>
          <p:cNvSpPr txBox="1"/>
          <p:nvPr/>
        </p:nvSpPr>
        <p:spPr>
          <a:xfrm>
            <a:off x="6510528" y="2432304"/>
            <a:ext cx="4846320" cy="1463040"/>
          </a:xfrm>
          <a:prstGeom prst="rect">
            <a:avLst/>
          </a:prstGeom>
          <a:noFill/>
          <a:ln/>
        </p:spPr>
        <p:txBody>
          <a:bodyPr wrap="square" lIns="0" tIns="0" rIns="0" bIns="0" rtlCol="0" anchor="ctr"/>
          <a:lstStyle/>
          <a:p>
            <a:pPr marL="342900" indent="-342900">
              <a:lnSpc>
                <a:spcPts val="1400"/>
              </a:lnSpc>
              <a:spcAft>
                <a:spcPts val="500"/>
              </a:spcAft>
              <a:buSzPct val="100000"/>
              <a:buChar char="•"/>
            </a:pPr>
            <a:r>
              <a:rPr lang="en-US" sz="1100" dirty="0">
                <a:solidFill>
                  <a:srgbClr val="3A3733"/>
                </a:solidFill>
                <a:latin typeface="Calibri" pitchFamily="34" charset="0"/>
                <a:ea typeface="Calibri" pitchFamily="34" charset="-122"/>
                <a:cs typeface="Calibri" pitchFamily="34" charset="-120"/>
              </a:rPr>
              <a:t>“Looking for a more general transactional legal AI that has a ‘vault’ like Harvey but for a handful of users and maybe not as pricey.” (reddit-152)</a:t>
            </a:r>
            <a:endParaRPr lang="en-US" sz="1100" dirty="0"/>
          </a:p>
          <a:p>
            <a:pPr marL="342900" indent="-342900">
              <a:lnSpc>
                <a:spcPts val="1400"/>
              </a:lnSpc>
              <a:spcAft>
                <a:spcPts val="500"/>
              </a:spcAft>
              <a:buSzPct val="100000"/>
              <a:buChar char="•"/>
            </a:pPr>
            <a:r>
              <a:rPr lang="en-US" sz="1100" dirty="0">
                <a:solidFill>
                  <a:srgbClr val="3A3733"/>
                </a:solidFill>
                <a:latin typeface="Calibri" pitchFamily="34" charset="0"/>
                <a:ea typeface="Calibri" pitchFamily="34" charset="-122"/>
                <a:cs typeface="Calibri" pitchFamily="34" charset="-120"/>
              </a:rPr>
              <a:t>“I run a small firm in California … I was honestly shocked by how expensive and inflexible their pricing model is … no real path to try it.” (reddit-107)</a:t>
            </a:r>
            <a:endParaRPr lang="en-US" sz="1100" dirty="0"/>
          </a:p>
          <a:p>
            <a:pPr marL="342900" indent="-342900">
              <a:lnSpc>
                <a:spcPts val="1400"/>
              </a:lnSpc>
              <a:spcAft>
                <a:spcPts val="500"/>
              </a:spcAft>
              <a:buSzPct val="100000"/>
              <a:buChar char="•"/>
            </a:pPr>
            <a:r>
              <a:rPr lang="en-US" sz="1100" dirty="0">
                <a:solidFill>
                  <a:srgbClr val="3A3733"/>
                </a:solidFill>
                <a:latin typeface="Calibri" pitchFamily="34" charset="0"/>
                <a:ea typeface="Calibri" pitchFamily="34" charset="-122"/>
                <a:cs typeface="Calibri" pitchFamily="34" charset="-120"/>
              </a:rPr>
              <a:t>Small firms report being offered only Word add-ins or litigation platforms — nothing that holds a matter (reddit-152)</a:t>
            </a:r>
            <a:endParaRPr lang="en-US" sz="1100" dirty="0"/>
          </a:p>
        </p:txBody>
      </p:sp>
      <p:sp>
        <p:nvSpPr>
          <p:cNvPr id="13" name="Shape 11"/>
          <p:cNvSpPr/>
          <p:nvPr/>
        </p:nvSpPr>
        <p:spPr>
          <a:xfrm>
            <a:off x="566928" y="4224528"/>
            <a:ext cx="11064240" cy="1024128"/>
          </a:xfrm>
          <a:prstGeom prst="roundRect">
            <a:avLst>
              <a:gd name="adj" fmla="val 4911"/>
            </a:avLst>
          </a:prstGeom>
          <a:solidFill>
            <a:srgbClr val="EAE8F9"/>
          </a:solidFill>
          <a:ln w="9525">
            <a:solidFill>
              <a:srgbClr val="DAD7F0"/>
            </a:solidFill>
            <a:prstDash val="solid"/>
          </a:ln>
        </p:spPr>
      </p:sp>
      <p:sp>
        <p:nvSpPr>
          <p:cNvPr id="14" name="Text 12"/>
          <p:cNvSpPr txBox="1"/>
          <p:nvPr/>
        </p:nvSpPr>
        <p:spPr>
          <a:xfrm>
            <a:off x="804672" y="4370832"/>
            <a:ext cx="10588752" cy="457200"/>
          </a:xfrm>
          <a:prstGeom prst="rect">
            <a:avLst/>
          </a:prstGeom>
          <a:noFill/>
          <a:ln/>
        </p:spPr>
        <p:txBody>
          <a:bodyPr wrap="square" lIns="0" tIns="0" rIns="0" bIns="0" rtlCol="0" anchor="t"/>
          <a:lstStyle/>
          <a:p>
            <a:pPr indent="0" marL="0">
              <a:lnSpc>
                <a:spcPts val="1900"/>
              </a:lnSpc>
              <a:buNone/>
            </a:pPr>
            <a:r>
              <a:rPr lang="en-US" sz="1350" i="1" dirty="0">
                <a:solidFill>
                  <a:srgbClr val="3A3733"/>
                </a:solidFill>
                <a:latin typeface="Calibri" pitchFamily="34" charset="0"/>
                <a:ea typeface="Calibri" pitchFamily="34" charset="-122"/>
                <a:cs typeface="Calibri" pitchFamily="34" charset="-120"/>
              </a:rPr>
              <a:t>“I work in a software company as a litigation lawyer and use AI heavily. I use AI for intake, triaging, and providing playbook answers to the most common disputes before they escalate.”</a:t>
            </a:r>
            <a:endParaRPr lang="en-US" sz="1350" dirty="0"/>
          </a:p>
        </p:txBody>
      </p:sp>
      <p:sp>
        <p:nvSpPr>
          <p:cNvPr id="15" name="Text 13"/>
          <p:cNvSpPr txBox="1"/>
          <p:nvPr/>
        </p:nvSpPr>
        <p:spPr>
          <a:xfrm>
            <a:off x="804672" y="4864608"/>
            <a:ext cx="10588752" cy="256032"/>
          </a:xfrm>
          <a:prstGeom prst="rect">
            <a:avLst/>
          </a:prstGeom>
          <a:noFill/>
          <a:ln/>
        </p:spPr>
        <p:txBody>
          <a:bodyPr wrap="square" lIns="0" tIns="0" rIns="0" bIns="0" rtlCol="0" anchor="ctr"/>
          <a:lstStyle/>
          <a:p>
            <a:pPr indent="0" marL="0">
              <a:buNone/>
            </a:pPr>
            <a:r>
              <a:rPr lang="en-US" sz="950" b="1" dirty="0">
                <a:solidFill>
                  <a:srgbClr val="5F5AC0"/>
                </a:solidFill>
                <a:latin typeface="Calibri" pitchFamily="34" charset="0"/>
                <a:ea typeface="Calibri" pitchFamily="34" charset="-122"/>
                <a:cs typeface="Calibri" pitchFamily="34" charset="-120"/>
              </a:rPr>
              <a:t>A product-counsel workflow described in the buyer’s own words · reddit-162</a:t>
            </a:r>
            <a:endParaRPr lang="en-US" sz="950" dirty="0"/>
          </a:p>
        </p:txBody>
      </p:sp>
      <p:sp>
        <p:nvSpPr>
          <p:cNvPr id="16" name="Text 14"/>
          <p:cNvSpPr txBox="1"/>
          <p:nvPr/>
        </p:nvSpPr>
        <p:spPr>
          <a:xfrm>
            <a:off x="566928" y="5504688"/>
            <a:ext cx="11064240" cy="310896"/>
          </a:xfrm>
          <a:prstGeom prst="rect">
            <a:avLst/>
          </a:prstGeom>
          <a:noFill/>
          <a:ln/>
        </p:spPr>
        <p:txBody>
          <a:bodyPr wrap="square" lIns="0" tIns="0" rIns="0" bIns="0" rtlCol="0" anchor="ctr"/>
          <a:lstStyle/>
          <a:p>
            <a:pPr indent="0" marL="0">
              <a:buNone/>
            </a:pPr>
            <a:r>
              <a:rPr lang="en-US" sz="1250" b="1" dirty="0">
                <a:solidFill>
                  <a:srgbClr val="1B1A17"/>
                </a:solidFill>
                <a:latin typeface="Calibri" pitchFamily="34" charset="0"/>
                <a:ea typeface="Calibri" pitchFamily="34" charset="-122"/>
                <a:cs typeface="Calibri" pitchFamily="34" charset="-120"/>
              </a:rPr>
              <a:t>So what for Themis.ai:  the stated primary user sits exactly where demand is loudest and supply is thinnest.</a:t>
            </a:r>
            <a:endParaRPr lang="en-US" sz="1250" dirty="0"/>
          </a:p>
        </p:txBody>
      </p:sp>
      <p:sp>
        <p:nvSpPr>
          <p:cNvPr id="17" name="Text 15"/>
          <p:cNvSpPr txBox="1"/>
          <p:nvPr/>
        </p:nvSpPr>
        <p:spPr>
          <a:xfrm>
            <a:off x="566928" y="5870448"/>
            <a:ext cx="11064240" cy="274320"/>
          </a:xfrm>
          <a:prstGeom prst="rect">
            <a:avLst/>
          </a:prstGeom>
          <a:noFill/>
          <a:ln/>
        </p:spPr>
        <p:txBody>
          <a:bodyPr wrap="square" lIns="0" tIns="0" rIns="0" bIns="0" rtlCol="0" anchor="ctr"/>
          <a:lstStyle/>
          <a:p>
            <a:pPr indent="0" marL="0">
              <a:buNone/>
            </a:pPr>
            <a:r>
              <a:rPr lang="en-US" sz="1050" i="1" dirty="0">
                <a:solidFill>
                  <a:srgbClr val="55524B"/>
                </a:solidFill>
                <a:latin typeface="Calibri" pitchFamily="34" charset="0"/>
                <a:ea typeface="Calibri" pitchFamily="34" charset="-122"/>
                <a:cs typeface="Calibri" pitchFamily="34" charset="-120"/>
              </a:rPr>
              <a:t>Cross-check on fit over price:  “At small firms the seat license is the cheapest part of the line item, integration debt is what eats the budget.” (reddit-129, from 62 buyer assessments of solo and 1–5 attorney firms)</a:t>
            </a:r>
            <a:endParaRPr lang="en-US" sz="1050" dirty="0"/>
          </a:p>
        </p:txBody>
      </p:sp>
      <p:sp>
        <p:nvSpPr>
          <p:cNvPr id="18" name="Text 16"/>
          <p:cNvSpPr txBox="1"/>
          <p:nvPr/>
        </p:nvSpPr>
        <p:spPr>
          <a:xfrm>
            <a:off x="566928" y="6345936"/>
            <a:ext cx="7772400" cy="274320"/>
          </a:xfrm>
          <a:prstGeom prst="rect">
            <a:avLst/>
          </a:prstGeom>
          <a:noFill/>
          <a:ln/>
        </p:spPr>
        <p:txBody>
          <a:bodyPr wrap="square" lIns="0" tIns="0" rIns="0" bIns="0" rtlCol="0" anchor="ctr"/>
          <a:lstStyle/>
          <a:p>
            <a:pPr indent="0" marL="0">
              <a:buNone/>
            </a:pPr>
            <a:r>
              <a:rPr lang="en-US" sz="900" dirty="0">
                <a:solidFill>
                  <a:srgbClr val="7A756C"/>
                </a:solidFill>
                <a:latin typeface="Calibri" pitchFamily="34" charset="0"/>
                <a:ea typeface="Calibri" pitchFamily="34" charset="-122"/>
                <a:cs typeface="Calibri" pitchFamily="34" charset="-120"/>
              </a:rPr>
              <a:t>Themis.ai · Voice of the Practitioner · Finding 07</a:t>
            </a:r>
            <a:endParaRPr lang="en-US" sz="900" dirty="0"/>
          </a:p>
        </p:txBody>
      </p:sp>
      <p:sp>
        <p:nvSpPr>
          <p:cNvPr id="19" name="Text 17"/>
          <p:cNvSpPr txBox="1"/>
          <p:nvPr/>
        </p:nvSpPr>
        <p:spPr>
          <a:xfrm>
            <a:off x="11064240" y="6345936"/>
            <a:ext cx="566928" cy="274320"/>
          </a:xfrm>
          <a:prstGeom prst="rect">
            <a:avLst/>
          </a:prstGeom>
          <a:noFill/>
          <a:ln/>
        </p:spPr>
        <p:txBody>
          <a:bodyPr wrap="square" lIns="0" tIns="0" rIns="0" bIns="0" rtlCol="0" anchor="ctr"/>
          <a:lstStyle/>
          <a:p>
            <a:pPr algn="r" indent="0" marL="0">
              <a:buNone/>
            </a:pPr>
            <a:r>
              <a:rPr lang="en-US" sz="900" dirty="0">
                <a:solidFill>
                  <a:srgbClr val="7A756C"/>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5F1"/>
        </a:solidFill>
      </p:bgPr>
    </p:bg>
    <p:spTree>
      <p:nvGrpSpPr>
        <p:cNvPr id="1" name=""/>
        <p:cNvGrpSpPr/>
        <p:nvPr/>
      </p:nvGrpSpPr>
      <p:grpSpPr>
        <a:xfrm>
          <a:off x="0" y="0"/>
          <a:ext cx="0" cy="0"/>
          <a:chOff x="0" y="0"/>
          <a:chExt cx="0" cy="0"/>
        </a:xfrm>
      </p:grpSpPr>
      <p:sp>
        <p:nvSpPr>
          <p:cNvPr id="2" name="Text 0"/>
          <p:cNvSpPr txBox="1"/>
          <p:nvPr/>
        </p:nvSpPr>
        <p:spPr>
          <a:xfrm>
            <a:off x="566928" y="420624"/>
            <a:ext cx="10515600" cy="219456"/>
          </a:xfrm>
          <a:prstGeom prst="rect">
            <a:avLst/>
          </a:prstGeom>
          <a:noFill/>
          <a:ln/>
        </p:spPr>
        <p:txBody>
          <a:bodyPr wrap="square" lIns="0" tIns="0" rIns="0" bIns="0" rtlCol="0" anchor="ctr"/>
          <a:lstStyle/>
          <a:p>
            <a:pPr indent="0" marL="0">
              <a:buNone/>
            </a:pPr>
            <a:r>
              <a:rPr lang="en-US" sz="1050" b="1" spc="160" kern="0" dirty="0">
                <a:solidFill>
                  <a:srgbClr val="5F5AC0"/>
                </a:solidFill>
                <a:latin typeface="Calibri" pitchFamily="34" charset="0"/>
                <a:ea typeface="Calibri" pitchFamily="34" charset="-122"/>
                <a:cs typeface="Calibri" pitchFamily="34" charset="-120"/>
              </a:rPr>
              <a:t>MODEL SELECTION</a:t>
            </a:r>
            <a:endParaRPr lang="en-US" sz="1050" dirty="0"/>
          </a:p>
        </p:txBody>
      </p:sp>
      <p:sp>
        <p:nvSpPr>
          <p:cNvPr id="3" name="Text 1"/>
          <p:cNvSpPr txBox="1"/>
          <p:nvPr/>
        </p:nvSpPr>
        <p:spPr>
          <a:xfrm>
            <a:off x="566928" y="694944"/>
            <a:ext cx="10607040" cy="621792"/>
          </a:xfrm>
          <a:prstGeom prst="rect">
            <a:avLst/>
          </a:prstGeom>
          <a:noFill/>
          <a:ln/>
        </p:spPr>
        <p:txBody>
          <a:bodyPr wrap="square" lIns="0" tIns="0" rIns="0" bIns="0" rtlCol="0" anchor="ctr"/>
          <a:lstStyle/>
          <a:p>
            <a:pPr indent="0" marL="0">
              <a:buNone/>
            </a:pPr>
            <a:r>
              <a:rPr lang="en-US" sz="3100" b="1" dirty="0">
                <a:solidFill>
                  <a:srgbClr val="1B1A17"/>
                </a:solidFill>
                <a:latin typeface="Cambria" pitchFamily="34" charset="0"/>
                <a:ea typeface="Cambria" pitchFamily="34" charset="-122"/>
                <a:cs typeface="Cambria" pitchFamily="34" charset="-120"/>
              </a:rPr>
              <a:t>On the model question, the evidence does not settle</a:t>
            </a:r>
            <a:endParaRPr lang="en-US" sz="3100" dirty="0"/>
          </a:p>
        </p:txBody>
      </p:sp>
      <p:sp>
        <p:nvSpPr>
          <p:cNvPr id="4" name="Text 2"/>
          <p:cNvSpPr txBox="1"/>
          <p:nvPr/>
        </p:nvSpPr>
        <p:spPr>
          <a:xfrm>
            <a:off x="566928" y="1316736"/>
            <a:ext cx="10607040" cy="384048"/>
          </a:xfrm>
          <a:prstGeom prst="rect">
            <a:avLst/>
          </a:prstGeom>
          <a:noFill/>
          <a:ln/>
        </p:spPr>
        <p:txBody>
          <a:bodyPr wrap="square" lIns="0" tIns="0" rIns="0" bIns="0" rtlCol="0" anchor="ctr"/>
          <a:lstStyle/>
          <a:p>
            <a:pPr indent="0" marL="0">
              <a:buNone/>
            </a:pPr>
            <a:r>
              <a:rPr lang="en-US" sz="1400" dirty="0">
                <a:solidFill>
                  <a:srgbClr val="55524B"/>
                </a:solidFill>
                <a:latin typeface="Calibri" pitchFamily="34" charset="0"/>
                <a:ea typeface="Calibri" pitchFamily="34" charset="-122"/>
                <a:cs typeface="Calibri" pitchFamily="34" charset="-120"/>
              </a:rPr>
              <a:t>Practitioner reports split. That is the argument for making the provider a setting rather than a bet.</a:t>
            </a:r>
            <a:endParaRPr lang="en-US" sz="1400" dirty="0"/>
          </a:p>
        </p:txBody>
      </p:sp>
      <p:sp>
        <p:nvSpPr>
          <p:cNvPr id="5" name="Shape 3"/>
          <p:cNvSpPr/>
          <p:nvPr/>
        </p:nvSpPr>
        <p:spPr>
          <a:xfrm>
            <a:off x="566928" y="1847088"/>
            <a:ext cx="5394960" cy="3291840"/>
          </a:xfrm>
          <a:prstGeom prst="roundRect">
            <a:avLst>
              <a:gd name="adj" fmla="val 1528"/>
            </a:avLst>
          </a:prstGeom>
          <a:solidFill>
            <a:srgbClr val="FFFEFB"/>
          </a:solidFill>
          <a:ln w="9525">
            <a:solidFill>
              <a:srgbClr val="DED9D0"/>
            </a:solidFill>
            <a:prstDash val="solid"/>
          </a:ln>
        </p:spPr>
      </p:sp>
      <p:sp>
        <p:nvSpPr>
          <p:cNvPr id="6" name="Shape 4"/>
          <p:cNvSpPr/>
          <p:nvPr/>
        </p:nvSpPr>
        <p:spPr>
          <a:xfrm>
            <a:off x="841248" y="2066544"/>
            <a:ext cx="274320" cy="91440"/>
          </a:xfrm>
          <a:prstGeom prst="rect">
            <a:avLst/>
          </a:prstGeom>
          <a:solidFill>
            <a:srgbClr val="5F5AC0"/>
          </a:solidFill>
          <a:ln/>
        </p:spPr>
      </p:sp>
      <p:sp>
        <p:nvSpPr>
          <p:cNvPr id="7" name="Text 5"/>
          <p:cNvSpPr txBox="1"/>
          <p:nvPr/>
        </p:nvSpPr>
        <p:spPr>
          <a:xfrm>
            <a:off x="841248" y="2212848"/>
            <a:ext cx="4846320" cy="310896"/>
          </a:xfrm>
          <a:prstGeom prst="rect">
            <a:avLst/>
          </a:prstGeom>
          <a:noFill/>
          <a:ln/>
        </p:spPr>
        <p:txBody>
          <a:bodyPr wrap="square" lIns="0" tIns="0" rIns="0" bIns="0" rtlCol="0" anchor="ctr"/>
          <a:lstStyle/>
          <a:p>
            <a:pPr indent="0" marL="0">
              <a:buNone/>
            </a:pPr>
            <a:r>
              <a:rPr lang="en-US" sz="1500" b="1" dirty="0">
                <a:solidFill>
                  <a:srgbClr val="1B1A17"/>
                </a:solidFill>
                <a:latin typeface="Cambria" pitchFamily="34" charset="0"/>
                <a:ea typeface="Cambria" pitchFamily="34" charset="-122"/>
                <a:cs typeface="Cambria" pitchFamily="34" charset="-120"/>
              </a:rPr>
              <a:t>Reported in Claude’s favour</a:t>
            </a:r>
            <a:endParaRPr lang="en-US" sz="1500" dirty="0"/>
          </a:p>
        </p:txBody>
      </p:sp>
      <p:sp>
        <p:nvSpPr>
          <p:cNvPr id="8" name="Text 6"/>
          <p:cNvSpPr txBox="1"/>
          <p:nvPr/>
        </p:nvSpPr>
        <p:spPr>
          <a:xfrm>
            <a:off x="841248" y="2615184"/>
            <a:ext cx="4846320" cy="2377440"/>
          </a:xfrm>
          <a:prstGeom prst="rect">
            <a:avLst/>
          </a:prstGeom>
          <a:noFill/>
          <a:ln/>
        </p:spPr>
        <p:txBody>
          <a:bodyPr wrap="square" lIns="0" tIns="0" rIns="0" bIns="0" rtlCol="0" anchor="ctr"/>
          <a:lstStyle/>
          <a:p>
            <a:pPr marL="342900" indent="-342900">
              <a:lnSpc>
                <a:spcPts val="1500"/>
              </a:lnSpc>
              <a:spcAft>
                <a:spcPts val="600"/>
              </a:spcAft>
              <a:buSzPct val="100000"/>
              <a:buChar char="•"/>
            </a:pPr>
            <a:r>
              <a:rPr lang="en-US" sz="1150" dirty="0">
                <a:solidFill>
                  <a:srgbClr val="3A3733"/>
                </a:solidFill>
                <a:latin typeface="Calibri" pitchFamily="34" charset="0"/>
                <a:ea typeface="Calibri" pitchFamily="34" charset="-122"/>
                <a:cs typeface="Calibri" pitchFamily="34" charset="-120"/>
              </a:rPr>
              <a:t>Claude Opus caught a material heirship issue that CoCounsel, Harvey and Legora all missed (reddit-175)</a:t>
            </a:r>
            <a:endParaRPr lang="en-US" sz="1150" dirty="0"/>
          </a:p>
          <a:p>
            <a:pPr marL="342900" indent="-342900">
              <a:lnSpc>
                <a:spcPts val="1500"/>
              </a:lnSpc>
              <a:spcAft>
                <a:spcPts val="600"/>
              </a:spcAft>
              <a:buSzPct val="100000"/>
              <a:buChar char="•"/>
            </a:pPr>
            <a:r>
              <a:rPr lang="en-US" sz="1150" dirty="0">
                <a:solidFill>
                  <a:srgbClr val="3A3733"/>
                </a:solidFill>
                <a:latin typeface="Calibri" pitchFamily="34" charset="0"/>
                <a:ea typeface="Calibri" pitchFamily="34" charset="-122"/>
                <a:cs typeface="Calibri" pitchFamily="34" charset="-120"/>
              </a:rPr>
              <a:t>“I used claude opus recently and it was so so so much better [than Copilot] and I will lateral if I have to.” (reddit-078)</a:t>
            </a:r>
            <a:endParaRPr lang="en-US" sz="1150" dirty="0"/>
          </a:p>
          <a:p>
            <a:pPr marL="342900" indent="-342900">
              <a:lnSpc>
                <a:spcPts val="1500"/>
              </a:lnSpc>
              <a:spcAft>
                <a:spcPts val="600"/>
              </a:spcAft>
              <a:buSzPct val="100000"/>
              <a:buChar char="•"/>
            </a:pPr>
            <a:r>
              <a:rPr lang="en-US" sz="1150" dirty="0">
                <a:solidFill>
                  <a:srgbClr val="3A3733"/>
                </a:solidFill>
                <a:latin typeface="Calibri" pitchFamily="34" charset="0"/>
                <a:ea typeface="Calibri" pitchFamily="34" charset="-122"/>
                <a:cs typeface="Calibri" pitchFamily="34" charset="-120"/>
              </a:rPr>
              <a:t>“Claude is looking the best so far but that’s because it asks for clarification when it doesn’t know.” (reddit-038, reddit-183)</a:t>
            </a:r>
            <a:endParaRPr lang="en-US" sz="1150" dirty="0"/>
          </a:p>
          <a:p>
            <a:pPr marL="342900" indent="-342900">
              <a:lnSpc>
                <a:spcPts val="1500"/>
              </a:lnSpc>
              <a:spcAft>
                <a:spcPts val="600"/>
              </a:spcAft>
              <a:buSzPct val="100000"/>
              <a:buChar char="•"/>
            </a:pPr>
            <a:r>
              <a:rPr lang="en-US" sz="1150" dirty="0">
                <a:solidFill>
                  <a:srgbClr val="3A3733"/>
                </a:solidFill>
                <a:latin typeface="Calibri" pitchFamily="34" charset="0"/>
                <a:ea typeface="Calibri" pitchFamily="34" charset="-122"/>
                <a:cs typeface="Calibri" pitchFamily="34" charset="-120"/>
              </a:rPr>
              <a:t>A partner reported Claude Business plus agents outperforming his paralegal-and-associate team on a $100m mock loan, and beating CoCounsel (reddit-131)</a:t>
            </a:r>
            <a:endParaRPr lang="en-US" sz="1150" dirty="0"/>
          </a:p>
          <a:p>
            <a:pPr marL="342900" indent="-342900">
              <a:lnSpc>
                <a:spcPts val="1500"/>
              </a:lnSpc>
              <a:spcAft>
                <a:spcPts val="600"/>
              </a:spcAft>
              <a:buSzPct val="100000"/>
              <a:buChar char="•"/>
            </a:pPr>
            <a:r>
              <a:rPr lang="en-US" sz="1150" dirty="0">
                <a:solidFill>
                  <a:srgbClr val="3A3733"/>
                </a:solidFill>
                <a:latin typeface="Calibri" pitchFamily="34" charset="0"/>
                <a:ea typeface="Calibri" pitchFamily="34" charset="-122"/>
                <a:cs typeface="Calibri" pitchFamily="34" charset="-120"/>
              </a:rPr>
              <a:t>Claude Code judged materially better than Harvey’s harness on the same underlying model (reddit-096)</a:t>
            </a:r>
            <a:endParaRPr lang="en-US" sz="1150" dirty="0"/>
          </a:p>
        </p:txBody>
      </p:sp>
      <p:sp>
        <p:nvSpPr>
          <p:cNvPr id="9" name="Shape 7"/>
          <p:cNvSpPr/>
          <p:nvPr/>
        </p:nvSpPr>
        <p:spPr>
          <a:xfrm>
            <a:off x="6236208" y="1847088"/>
            <a:ext cx="5394960" cy="3291840"/>
          </a:xfrm>
          <a:prstGeom prst="roundRect">
            <a:avLst>
              <a:gd name="adj" fmla="val 1528"/>
            </a:avLst>
          </a:prstGeom>
          <a:solidFill>
            <a:srgbClr val="FFFEFB"/>
          </a:solidFill>
          <a:ln w="9525">
            <a:solidFill>
              <a:srgbClr val="DED9D0"/>
            </a:solidFill>
            <a:prstDash val="solid"/>
          </a:ln>
        </p:spPr>
      </p:sp>
      <p:sp>
        <p:nvSpPr>
          <p:cNvPr id="10" name="Shape 8"/>
          <p:cNvSpPr/>
          <p:nvPr/>
        </p:nvSpPr>
        <p:spPr>
          <a:xfrm>
            <a:off x="6510528" y="2066544"/>
            <a:ext cx="274320" cy="91440"/>
          </a:xfrm>
          <a:prstGeom prst="rect">
            <a:avLst/>
          </a:prstGeom>
          <a:solidFill>
            <a:srgbClr val="B33A20"/>
          </a:solidFill>
          <a:ln/>
        </p:spPr>
      </p:sp>
      <p:sp>
        <p:nvSpPr>
          <p:cNvPr id="11" name="Text 9"/>
          <p:cNvSpPr txBox="1"/>
          <p:nvPr/>
        </p:nvSpPr>
        <p:spPr>
          <a:xfrm>
            <a:off x="6510528" y="2212848"/>
            <a:ext cx="4846320" cy="310896"/>
          </a:xfrm>
          <a:prstGeom prst="rect">
            <a:avLst/>
          </a:prstGeom>
          <a:noFill/>
          <a:ln/>
        </p:spPr>
        <p:txBody>
          <a:bodyPr wrap="square" lIns="0" tIns="0" rIns="0" bIns="0" rtlCol="0" anchor="ctr"/>
          <a:lstStyle/>
          <a:p>
            <a:pPr indent="0" marL="0">
              <a:buNone/>
            </a:pPr>
            <a:r>
              <a:rPr lang="en-US" sz="1500" b="1" dirty="0">
                <a:solidFill>
                  <a:srgbClr val="1B1A17"/>
                </a:solidFill>
                <a:latin typeface="Cambria" pitchFamily="34" charset="0"/>
                <a:ea typeface="Cambria" pitchFamily="34" charset="-122"/>
                <a:cs typeface="Cambria" pitchFamily="34" charset="-120"/>
              </a:rPr>
              <a:t>Reported against it</a:t>
            </a:r>
            <a:endParaRPr lang="en-US" sz="1500" dirty="0"/>
          </a:p>
        </p:txBody>
      </p:sp>
      <p:sp>
        <p:nvSpPr>
          <p:cNvPr id="12" name="Text 10"/>
          <p:cNvSpPr txBox="1"/>
          <p:nvPr/>
        </p:nvSpPr>
        <p:spPr>
          <a:xfrm>
            <a:off x="6510528" y="2615184"/>
            <a:ext cx="4846320" cy="2377440"/>
          </a:xfrm>
          <a:prstGeom prst="rect">
            <a:avLst/>
          </a:prstGeom>
          <a:noFill/>
          <a:ln/>
        </p:spPr>
        <p:txBody>
          <a:bodyPr wrap="square" lIns="0" tIns="0" rIns="0" bIns="0" rtlCol="0" anchor="ctr"/>
          <a:lstStyle/>
          <a:p>
            <a:pPr marL="342900" indent="-342900">
              <a:lnSpc>
                <a:spcPts val="1500"/>
              </a:lnSpc>
              <a:spcAft>
                <a:spcPts val="600"/>
              </a:spcAft>
              <a:buSzPct val="100000"/>
              <a:buChar char="•"/>
            </a:pPr>
            <a:r>
              <a:rPr lang="en-US" sz="1150" dirty="0">
                <a:solidFill>
                  <a:srgbClr val="3A3733"/>
                </a:solidFill>
                <a:latin typeface="Calibri" pitchFamily="34" charset="0"/>
                <a:ea typeface="Calibri" pitchFamily="34" charset="-122"/>
                <a:cs typeface="Calibri" pitchFamily="34" charset="-120"/>
              </a:rPr>
              <a:t>A GC ran Harvey, ChatGPT and Claude on identical prompts and preferred ChatGPT for reasoning, citations, Word documents and redlines (reddit-110)</a:t>
            </a:r>
            <a:endParaRPr lang="en-US" sz="1150" dirty="0"/>
          </a:p>
          <a:p>
            <a:pPr marL="342900" indent="-342900">
              <a:lnSpc>
                <a:spcPts val="1500"/>
              </a:lnSpc>
              <a:spcAft>
                <a:spcPts val="600"/>
              </a:spcAft>
              <a:buSzPct val="100000"/>
              <a:buChar char="•"/>
            </a:pPr>
            <a:r>
              <a:rPr lang="en-US" sz="1150" dirty="0">
                <a:solidFill>
                  <a:srgbClr val="3A3733"/>
                </a:solidFill>
                <a:latin typeface="Calibri" pitchFamily="34" charset="0"/>
                <a:ea typeface="Calibri" pitchFamily="34" charset="-122"/>
                <a:cs typeface="Calibri" pitchFamily="34" charset="-120"/>
              </a:rPr>
              <a:t>“Claude has an annoying ‘personality’ and is wrong more often than GPT even on the highest thinking levels.” (reddit-164)</a:t>
            </a:r>
            <a:endParaRPr lang="en-US" sz="1150" dirty="0"/>
          </a:p>
          <a:p>
            <a:pPr marL="342900" indent="-342900">
              <a:lnSpc>
                <a:spcPts val="1500"/>
              </a:lnSpc>
              <a:spcAft>
                <a:spcPts val="600"/>
              </a:spcAft>
              <a:buSzPct val="100000"/>
              <a:buChar char="•"/>
            </a:pPr>
            <a:r>
              <a:rPr lang="en-US" sz="1150" dirty="0">
                <a:solidFill>
                  <a:srgbClr val="3A3733"/>
                </a:solidFill>
                <a:latin typeface="Calibri" pitchFamily="34" charset="0"/>
                <a:ea typeface="Calibri" pitchFamily="34" charset="-122"/>
                <a:cs typeface="Calibri" pitchFamily="34" charset="-120"/>
              </a:rPr>
              <a:t>Claude, Gemini and ChatGPT were all reported to miss crucial information on commercial review and summarisation (reddit-091)</a:t>
            </a:r>
            <a:endParaRPr lang="en-US" sz="1150" dirty="0"/>
          </a:p>
          <a:p>
            <a:pPr marL="342900" indent="-342900">
              <a:lnSpc>
                <a:spcPts val="1500"/>
              </a:lnSpc>
              <a:spcAft>
                <a:spcPts val="600"/>
              </a:spcAft>
              <a:buSzPct val="100000"/>
              <a:buChar char="•"/>
            </a:pPr>
            <a:r>
              <a:rPr lang="en-US" sz="1150" dirty="0">
                <a:solidFill>
                  <a:srgbClr val="3A3733"/>
                </a:solidFill>
                <a:latin typeface="Calibri" pitchFamily="34" charset="0"/>
                <a:ea typeface="Calibri" pitchFamily="34" charset="-122"/>
                <a:cs typeface="Calibri" pitchFamily="34" charset="-120"/>
              </a:rPr>
              <a:t>A 72-page merger-agreement first pass found all four tested models “usable” — cost, not quality, was the only clear differentiator (reddit-156)</a:t>
            </a:r>
            <a:endParaRPr lang="en-US" sz="1150" dirty="0"/>
          </a:p>
        </p:txBody>
      </p:sp>
      <p:sp>
        <p:nvSpPr>
          <p:cNvPr id="13" name="Shape 11"/>
          <p:cNvSpPr/>
          <p:nvPr/>
        </p:nvSpPr>
        <p:spPr>
          <a:xfrm>
            <a:off x="566928" y="5358384"/>
            <a:ext cx="11064240" cy="786384"/>
          </a:xfrm>
          <a:prstGeom prst="roundRect">
            <a:avLst>
              <a:gd name="adj" fmla="val 6395"/>
            </a:avLst>
          </a:prstGeom>
          <a:solidFill>
            <a:srgbClr val="1B1A17"/>
          </a:solidFill>
          <a:ln w="9525">
            <a:solidFill>
              <a:srgbClr val="1B1A17"/>
            </a:solidFill>
            <a:prstDash val="solid"/>
          </a:ln>
        </p:spPr>
      </p:sp>
      <p:sp>
        <p:nvSpPr>
          <p:cNvPr id="14" name="Text 12"/>
          <p:cNvSpPr txBox="1"/>
          <p:nvPr/>
        </p:nvSpPr>
        <p:spPr>
          <a:xfrm>
            <a:off x="896112" y="5468112"/>
            <a:ext cx="10424160" cy="566928"/>
          </a:xfrm>
          <a:prstGeom prst="rect">
            <a:avLst/>
          </a:prstGeom>
          <a:noFill/>
          <a:ln/>
        </p:spPr>
        <p:txBody>
          <a:bodyPr wrap="square" lIns="0" tIns="0" rIns="0" bIns="0" rtlCol="0" anchor="ctr"/>
          <a:lstStyle/>
          <a:p>
            <a:pPr indent="0" marL="0">
              <a:lnSpc>
                <a:spcPts val="1700"/>
              </a:lnSpc>
              <a:buNone/>
            </a:pPr>
            <a:r>
              <a:rPr lang="en-US" sz="1300" b="1" dirty="0">
                <a:solidFill>
                  <a:srgbClr val="FFFEFB"/>
                </a:solidFill>
                <a:latin typeface="Calibri" pitchFamily="34" charset="0"/>
                <a:ea typeface="Calibri" pitchFamily="34" charset="-122"/>
                <a:cs typeface="Calibri" pitchFamily="34" charset="-120"/>
              </a:rPr>
              <a:t>Read: </a:t>
            </a:r>
            <a:pPr indent="0" marL="0">
              <a:lnSpc>
                <a:spcPts val="1700"/>
              </a:lnSpc>
              <a:buNone/>
            </a:pPr>
            <a:r>
              <a:rPr lang="en-US" sz="1300" dirty="0">
                <a:solidFill>
                  <a:srgbClr val="D6D1C7"/>
                </a:solidFill>
                <a:latin typeface="Calibri" pitchFamily="34" charset="0"/>
                <a:ea typeface="Calibri" pitchFamily="34" charset="-122"/>
                <a:cs typeface="Calibri" pitchFamily="34" charset="-120"/>
              </a:rPr>
              <a:t>no model wins on the reported evidence, and the reports contradict each other within weeks. Themis.ai’s provider-adapter layer — mock, OpenAI-compatible and per-agent model routing — is the architecturally correct response to a market that has not settled.</a:t>
            </a:r>
            <a:endParaRPr lang="en-US" sz="1300" dirty="0"/>
          </a:p>
        </p:txBody>
      </p:sp>
      <p:sp>
        <p:nvSpPr>
          <p:cNvPr id="15" name="Text 13"/>
          <p:cNvSpPr txBox="1"/>
          <p:nvPr/>
        </p:nvSpPr>
        <p:spPr>
          <a:xfrm>
            <a:off x="566928" y="6345936"/>
            <a:ext cx="7772400" cy="274320"/>
          </a:xfrm>
          <a:prstGeom prst="rect">
            <a:avLst/>
          </a:prstGeom>
          <a:noFill/>
          <a:ln/>
        </p:spPr>
        <p:txBody>
          <a:bodyPr wrap="square" lIns="0" tIns="0" rIns="0" bIns="0" rtlCol="0" anchor="ctr"/>
          <a:lstStyle/>
          <a:p>
            <a:pPr indent="0" marL="0">
              <a:buNone/>
            </a:pPr>
            <a:r>
              <a:rPr lang="en-US" sz="900" dirty="0">
                <a:solidFill>
                  <a:srgbClr val="7A756C"/>
                </a:solidFill>
                <a:latin typeface="Calibri" pitchFamily="34" charset="0"/>
                <a:ea typeface="Calibri" pitchFamily="34" charset="-122"/>
                <a:cs typeface="Calibri" pitchFamily="34" charset="-120"/>
              </a:rPr>
              <a:t>Themis.ai · Voice of the Practitioner · Model selection</a:t>
            </a:r>
            <a:endParaRPr lang="en-US" sz="900" dirty="0"/>
          </a:p>
        </p:txBody>
      </p:sp>
      <p:sp>
        <p:nvSpPr>
          <p:cNvPr id="16" name="Text 14"/>
          <p:cNvSpPr txBox="1"/>
          <p:nvPr/>
        </p:nvSpPr>
        <p:spPr>
          <a:xfrm>
            <a:off x="11064240" y="6345936"/>
            <a:ext cx="566928" cy="274320"/>
          </a:xfrm>
          <a:prstGeom prst="rect">
            <a:avLst/>
          </a:prstGeom>
          <a:noFill/>
          <a:ln/>
        </p:spPr>
        <p:txBody>
          <a:bodyPr wrap="square" lIns="0" tIns="0" rIns="0" bIns="0" rtlCol="0" anchor="ctr"/>
          <a:lstStyle/>
          <a:p>
            <a:pPr algn="r" indent="0" marL="0">
              <a:buNone/>
            </a:pPr>
            <a:r>
              <a:rPr lang="en-US" sz="900" dirty="0">
                <a:solidFill>
                  <a:srgbClr val="7A756C"/>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5F1"/>
        </a:solidFill>
      </p:bgPr>
    </p:bg>
    <p:spTree>
      <p:nvGrpSpPr>
        <p:cNvPr id="1" name=""/>
        <p:cNvGrpSpPr/>
        <p:nvPr/>
      </p:nvGrpSpPr>
      <p:grpSpPr>
        <a:xfrm>
          <a:off x="0" y="0"/>
          <a:ext cx="0" cy="0"/>
          <a:chOff x="0" y="0"/>
          <a:chExt cx="0" cy="0"/>
        </a:xfrm>
      </p:grpSpPr>
      <p:sp>
        <p:nvSpPr>
          <p:cNvPr id="2" name="Text 0"/>
          <p:cNvSpPr txBox="1"/>
          <p:nvPr/>
        </p:nvSpPr>
        <p:spPr>
          <a:xfrm>
            <a:off x="566928" y="420624"/>
            <a:ext cx="10515600" cy="219456"/>
          </a:xfrm>
          <a:prstGeom prst="rect">
            <a:avLst/>
          </a:prstGeom>
          <a:noFill/>
          <a:ln/>
        </p:spPr>
        <p:txBody>
          <a:bodyPr wrap="square" lIns="0" tIns="0" rIns="0" bIns="0" rtlCol="0" anchor="ctr"/>
          <a:lstStyle/>
          <a:p>
            <a:pPr indent="0" marL="0">
              <a:buNone/>
            </a:pPr>
            <a:r>
              <a:rPr lang="en-US" sz="1050" b="1" spc="160" kern="0" dirty="0">
                <a:solidFill>
                  <a:srgbClr val="5F5AC0"/>
                </a:solidFill>
                <a:latin typeface="Calibri" pitchFamily="34" charset="0"/>
                <a:ea typeface="Calibri" pitchFamily="34" charset="-122"/>
                <a:cs typeface="Calibri" pitchFamily="34" charset="-120"/>
              </a:rPr>
              <a:t>GAP MAP · PART 1</a:t>
            </a:r>
            <a:endParaRPr lang="en-US" sz="1050" dirty="0"/>
          </a:p>
        </p:txBody>
      </p:sp>
      <p:sp>
        <p:nvSpPr>
          <p:cNvPr id="3" name="Text 1"/>
          <p:cNvSpPr txBox="1"/>
          <p:nvPr/>
        </p:nvSpPr>
        <p:spPr>
          <a:xfrm>
            <a:off x="566928" y="694944"/>
            <a:ext cx="10607040" cy="621792"/>
          </a:xfrm>
          <a:prstGeom prst="rect">
            <a:avLst/>
          </a:prstGeom>
          <a:noFill/>
          <a:ln/>
        </p:spPr>
        <p:txBody>
          <a:bodyPr wrap="square" lIns="0" tIns="0" rIns="0" bIns="0" rtlCol="0" anchor="ctr"/>
          <a:lstStyle/>
          <a:p>
            <a:pPr indent="0" marL="0">
              <a:buNone/>
            </a:pPr>
            <a:r>
              <a:rPr lang="en-US" sz="3100" b="1" dirty="0">
                <a:solidFill>
                  <a:srgbClr val="1B1A17"/>
                </a:solidFill>
                <a:latin typeface="Cambria" pitchFamily="34" charset="0"/>
                <a:ea typeface="Cambria" pitchFamily="34" charset="-122"/>
                <a:cs typeface="Cambria" pitchFamily="34" charset="-120"/>
              </a:rPr>
              <a:t>What the corpus asks for that Themis.ai has already built</a:t>
            </a:r>
            <a:endParaRPr lang="en-US" sz="3100" dirty="0"/>
          </a:p>
        </p:txBody>
      </p:sp>
      <p:sp>
        <p:nvSpPr>
          <p:cNvPr id="4" name="Text 2"/>
          <p:cNvSpPr txBox="1"/>
          <p:nvPr/>
        </p:nvSpPr>
        <p:spPr>
          <a:xfrm>
            <a:off x="566928" y="1316736"/>
            <a:ext cx="10607040" cy="384048"/>
          </a:xfrm>
          <a:prstGeom prst="rect">
            <a:avLst/>
          </a:prstGeom>
          <a:noFill/>
          <a:ln/>
        </p:spPr>
        <p:txBody>
          <a:bodyPr wrap="square" lIns="0" tIns="0" rIns="0" bIns="0" rtlCol="0" anchor="ctr"/>
          <a:lstStyle/>
          <a:p>
            <a:pPr indent="0" marL="0">
              <a:buNone/>
            </a:pPr>
            <a:r>
              <a:rPr lang="en-US" sz="1400" dirty="0">
                <a:solidFill>
                  <a:srgbClr val="55524B"/>
                </a:solidFill>
                <a:latin typeface="Calibri" pitchFamily="34" charset="0"/>
                <a:ea typeface="Calibri" pitchFamily="34" charset="-122"/>
                <a:cs typeface="Calibri" pitchFamily="34" charset="-120"/>
              </a:rPr>
              <a:t>Six demands recur across the evidence. Each is already implemented in the MVP.</a:t>
            </a:r>
            <a:endParaRPr lang="en-US" sz="1400" dirty="0"/>
          </a:p>
        </p:txBody>
      </p:sp>
      <p:sp>
        <p:nvSpPr>
          <p:cNvPr id="5" name="Shape 3"/>
          <p:cNvSpPr/>
          <p:nvPr/>
        </p:nvSpPr>
        <p:spPr>
          <a:xfrm>
            <a:off x="566928" y="1883664"/>
            <a:ext cx="3493008" cy="1938528"/>
          </a:xfrm>
          <a:prstGeom prst="roundRect">
            <a:avLst>
              <a:gd name="adj" fmla="val 2594"/>
            </a:avLst>
          </a:prstGeom>
          <a:solidFill>
            <a:srgbClr val="E0EFE9"/>
          </a:solidFill>
          <a:ln w="9525">
            <a:solidFill>
              <a:srgbClr val="C6DFD6"/>
            </a:solidFill>
            <a:prstDash val="solid"/>
          </a:ln>
        </p:spPr>
      </p:sp>
      <p:sp>
        <p:nvSpPr>
          <p:cNvPr id="6" name="Shape 4"/>
          <p:cNvSpPr/>
          <p:nvPr/>
        </p:nvSpPr>
        <p:spPr>
          <a:xfrm>
            <a:off x="822960" y="2103120"/>
            <a:ext cx="256032" cy="256032"/>
          </a:xfrm>
          <a:prstGeom prst="ellipse">
            <a:avLst/>
          </a:prstGeom>
          <a:solidFill>
            <a:srgbClr val="146B54"/>
          </a:solidFill>
          <a:ln/>
        </p:spPr>
      </p:sp>
      <p:sp>
        <p:nvSpPr>
          <p:cNvPr id="7" name="Text 5"/>
          <p:cNvSpPr txBox="1"/>
          <p:nvPr/>
        </p:nvSpPr>
        <p:spPr>
          <a:xfrm>
            <a:off x="822960" y="2107692"/>
            <a:ext cx="256032"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8" name="Text 6"/>
          <p:cNvSpPr txBox="1"/>
          <p:nvPr/>
        </p:nvSpPr>
        <p:spPr>
          <a:xfrm>
            <a:off x="1170432" y="2066544"/>
            <a:ext cx="2651760" cy="566928"/>
          </a:xfrm>
          <a:prstGeom prst="rect">
            <a:avLst/>
          </a:prstGeom>
          <a:noFill/>
          <a:ln/>
        </p:spPr>
        <p:txBody>
          <a:bodyPr wrap="square" lIns="0" tIns="0" rIns="0" bIns="0" rtlCol="0" anchor="ctr"/>
          <a:lstStyle/>
          <a:p>
            <a:pPr indent="0" marL="0">
              <a:lnSpc>
                <a:spcPts val="1700"/>
              </a:lnSpc>
              <a:buNone/>
            </a:pPr>
            <a:r>
              <a:rPr lang="en-US" sz="1350" b="1" dirty="0">
                <a:solidFill>
                  <a:srgbClr val="1B1A17"/>
                </a:solidFill>
                <a:latin typeface="Calibri" pitchFamily="34" charset="0"/>
                <a:ea typeface="Calibri" pitchFamily="34" charset="-122"/>
                <a:cs typeface="Calibri" pitchFamily="34" charset="-120"/>
              </a:rPr>
              <a:t>The matter as the container</a:t>
            </a:r>
            <a:endParaRPr lang="en-US" sz="1350" dirty="0"/>
          </a:p>
        </p:txBody>
      </p:sp>
      <p:sp>
        <p:nvSpPr>
          <p:cNvPr id="9" name="Text 7"/>
          <p:cNvSpPr txBox="1"/>
          <p:nvPr/>
        </p:nvSpPr>
        <p:spPr>
          <a:xfrm>
            <a:off x="841248" y="2688336"/>
            <a:ext cx="2944368" cy="859536"/>
          </a:xfrm>
          <a:prstGeom prst="rect">
            <a:avLst/>
          </a:prstGeom>
          <a:noFill/>
          <a:ln/>
        </p:spPr>
        <p:txBody>
          <a:bodyPr wrap="square" lIns="0" tIns="0" rIns="0" bIns="0" rtlCol="0" anchor="ctr"/>
          <a:lstStyle/>
          <a:p>
            <a:pPr indent="0" marL="0">
              <a:lnSpc>
                <a:spcPts val="1400"/>
              </a:lnSpc>
              <a:buNone/>
            </a:pPr>
            <a:r>
              <a:rPr lang="en-US" sz="1050" dirty="0">
                <a:solidFill>
                  <a:srgbClr val="3A3733"/>
                </a:solidFill>
                <a:latin typeface="Calibri" pitchFamily="34" charset="0"/>
                <a:ea typeface="Calibri" pitchFamily="34" charset="-122"/>
                <a:cs typeface="Calibri" pitchFamily="34" charset="-120"/>
              </a:rPr>
              <a:t>Three-pane matter workspace, Markdown matter records, file tree and matter-scoped chat — not a chat session tied to nothing.</a:t>
            </a:r>
            <a:endParaRPr lang="en-US" sz="1050" dirty="0"/>
          </a:p>
        </p:txBody>
      </p:sp>
      <p:sp>
        <p:nvSpPr>
          <p:cNvPr id="10" name="Text 8"/>
          <p:cNvSpPr txBox="1"/>
          <p:nvPr/>
        </p:nvSpPr>
        <p:spPr>
          <a:xfrm>
            <a:off x="841248" y="3511296"/>
            <a:ext cx="2944368" cy="237744"/>
          </a:xfrm>
          <a:prstGeom prst="rect">
            <a:avLst/>
          </a:prstGeom>
          <a:noFill/>
          <a:ln/>
        </p:spPr>
        <p:txBody>
          <a:bodyPr wrap="square" lIns="0" tIns="0" rIns="0" bIns="0" rtlCol="0" anchor="ctr"/>
          <a:lstStyle/>
          <a:p>
            <a:pPr indent="0" marL="0">
              <a:buNone/>
            </a:pPr>
            <a:r>
              <a:rPr lang="en-US" sz="900" b="1" dirty="0">
                <a:solidFill>
                  <a:srgbClr val="146B54"/>
                </a:solidFill>
                <a:latin typeface="Calibri" pitchFamily="34" charset="0"/>
                <a:ea typeface="Calibri" pitchFamily="34" charset="-122"/>
                <a:cs typeface="Calibri" pitchFamily="34" charset="-120"/>
              </a:rPr>
              <a:t>reddit-140 · 132 · 135</a:t>
            </a:r>
            <a:endParaRPr lang="en-US" sz="900" dirty="0"/>
          </a:p>
        </p:txBody>
      </p:sp>
      <p:sp>
        <p:nvSpPr>
          <p:cNvPr id="11" name="Shape 9"/>
          <p:cNvSpPr/>
          <p:nvPr/>
        </p:nvSpPr>
        <p:spPr>
          <a:xfrm>
            <a:off x="4279392" y="1883664"/>
            <a:ext cx="3493008" cy="1938528"/>
          </a:xfrm>
          <a:prstGeom prst="roundRect">
            <a:avLst>
              <a:gd name="adj" fmla="val 2594"/>
            </a:avLst>
          </a:prstGeom>
          <a:solidFill>
            <a:srgbClr val="E0EFE9"/>
          </a:solidFill>
          <a:ln w="9525">
            <a:solidFill>
              <a:srgbClr val="C6DFD6"/>
            </a:solidFill>
            <a:prstDash val="solid"/>
          </a:ln>
        </p:spPr>
      </p:sp>
      <p:sp>
        <p:nvSpPr>
          <p:cNvPr id="12" name="Shape 10"/>
          <p:cNvSpPr/>
          <p:nvPr/>
        </p:nvSpPr>
        <p:spPr>
          <a:xfrm>
            <a:off x="4535424" y="2103120"/>
            <a:ext cx="256032" cy="256032"/>
          </a:xfrm>
          <a:prstGeom prst="ellipse">
            <a:avLst/>
          </a:prstGeom>
          <a:solidFill>
            <a:srgbClr val="146B54"/>
          </a:solidFill>
          <a:ln/>
        </p:spPr>
      </p:sp>
      <p:sp>
        <p:nvSpPr>
          <p:cNvPr id="13" name="Text 11"/>
          <p:cNvSpPr txBox="1"/>
          <p:nvPr/>
        </p:nvSpPr>
        <p:spPr>
          <a:xfrm>
            <a:off x="4535424" y="2107692"/>
            <a:ext cx="256032"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4" name="Text 12"/>
          <p:cNvSpPr txBox="1"/>
          <p:nvPr/>
        </p:nvSpPr>
        <p:spPr>
          <a:xfrm>
            <a:off x="4882896" y="2066544"/>
            <a:ext cx="2651760" cy="566928"/>
          </a:xfrm>
          <a:prstGeom prst="rect">
            <a:avLst/>
          </a:prstGeom>
          <a:noFill/>
          <a:ln/>
        </p:spPr>
        <p:txBody>
          <a:bodyPr wrap="square" lIns="0" tIns="0" rIns="0" bIns="0" rtlCol="0" anchor="ctr"/>
          <a:lstStyle/>
          <a:p>
            <a:pPr indent="0" marL="0">
              <a:lnSpc>
                <a:spcPts val="1700"/>
              </a:lnSpc>
              <a:buNone/>
            </a:pPr>
            <a:r>
              <a:rPr lang="en-US" sz="1350" b="1" dirty="0">
                <a:solidFill>
                  <a:srgbClr val="1B1A17"/>
                </a:solidFill>
                <a:latin typeface="Calibri" pitchFamily="34" charset="0"/>
                <a:ea typeface="Calibri" pitchFamily="34" charset="-122"/>
                <a:cs typeface="Calibri" pitchFamily="34" charset="-120"/>
              </a:rPr>
              <a:t>Context that persists</a:t>
            </a:r>
            <a:endParaRPr lang="en-US" sz="1350" dirty="0"/>
          </a:p>
        </p:txBody>
      </p:sp>
      <p:sp>
        <p:nvSpPr>
          <p:cNvPr id="15" name="Text 13"/>
          <p:cNvSpPr txBox="1"/>
          <p:nvPr/>
        </p:nvSpPr>
        <p:spPr>
          <a:xfrm>
            <a:off x="4553712" y="2688336"/>
            <a:ext cx="2944368" cy="859536"/>
          </a:xfrm>
          <a:prstGeom prst="rect">
            <a:avLst/>
          </a:prstGeom>
          <a:noFill/>
          <a:ln/>
        </p:spPr>
        <p:txBody>
          <a:bodyPr wrap="square" lIns="0" tIns="0" rIns="0" bIns="0" rtlCol="0" anchor="ctr"/>
          <a:lstStyle/>
          <a:p>
            <a:pPr indent="0" marL="0">
              <a:lnSpc>
                <a:spcPts val="1400"/>
              </a:lnSpc>
              <a:buNone/>
            </a:pPr>
            <a:r>
              <a:rPr lang="en-US" sz="1050" dirty="0">
                <a:solidFill>
                  <a:srgbClr val="3A3733"/>
                </a:solidFill>
                <a:latin typeface="Calibri" pitchFamily="34" charset="0"/>
                <a:ea typeface="Calibri" pitchFamily="34" charset="-122"/>
                <a:cs typeface="Calibri" pitchFamily="34" charset="-120"/>
              </a:rPr>
              <a:t>Hot-loaded company profile, playbooks, memory, agents and workflows in a vault. The playbook is loaded once, not re-uploaded per chat.</a:t>
            </a:r>
            <a:endParaRPr lang="en-US" sz="1050" dirty="0"/>
          </a:p>
        </p:txBody>
      </p:sp>
      <p:sp>
        <p:nvSpPr>
          <p:cNvPr id="16" name="Text 14"/>
          <p:cNvSpPr txBox="1"/>
          <p:nvPr/>
        </p:nvSpPr>
        <p:spPr>
          <a:xfrm>
            <a:off x="4553712" y="3511296"/>
            <a:ext cx="2944368" cy="237744"/>
          </a:xfrm>
          <a:prstGeom prst="rect">
            <a:avLst/>
          </a:prstGeom>
          <a:noFill/>
          <a:ln/>
        </p:spPr>
        <p:txBody>
          <a:bodyPr wrap="square" lIns="0" tIns="0" rIns="0" bIns="0" rtlCol="0" anchor="ctr"/>
          <a:lstStyle/>
          <a:p>
            <a:pPr indent="0" marL="0">
              <a:buNone/>
            </a:pPr>
            <a:r>
              <a:rPr lang="en-US" sz="900" b="1" dirty="0">
                <a:solidFill>
                  <a:srgbClr val="146B54"/>
                </a:solidFill>
                <a:latin typeface="Calibri" pitchFamily="34" charset="0"/>
                <a:ea typeface="Calibri" pitchFamily="34" charset="-122"/>
                <a:cs typeface="Calibri" pitchFamily="34" charset="-120"/>
              </a:rPr>
              <a:t>reddit-127 · 132 · 135</a:t>
            </a:r>
            <a:endParaRPr lang="en-US" sz="900" dirty="0"/>
          </a:p>
        </p:txBody>
      </p:sp>
      <p:sp>
        <p:nvSpPr>
          <p:cNvPr id="17" name="Shape 15"/>
          <p:cNvSpPr/>
          <p:nvPr/>
        </p:nvSpPr>
        <p:spPr>
          <a:xfrm>
            <a:off x="7991856" y="1883664"/>
            <a:ext cx="3493008" cy="1938528"/>
          </a:xfrm>
          <a:prstGeom prst="roundRect">
            <a:avLst>
              <a:gd name="adj" fmla="val 2594"/>
            </a:avLst>
          </a:prstGeom>
          <a:solidFill>
            <a:srgbClr val="E0EFE9"/>
          </a:solidFill>
          <a:ln w="9525">
            <a:solidFill>
              <a:srgbClr val="C6DFD6"/>
            </a:solidFill>
            <a:prstDash val="solid"/>
          </a:ln>
        </p:spPr>
      </p:sp>
      <p:sp>
        <p:nvSpPr>
          <p:cNvPr id="18" name="Shape 16"/>
          <p:cNvSpPr/>
          <p:nvPr/>
        </p:nvSpPr>
        <p:spPr>
          <a:xfrm>
            <a:off x="8247888" y="2103120"/>
            <a:ext cx="256032" cy="256032"/>
          </a:xfrm>
          <a:prstGeom prst="ellipse">
            <a:avLst/>
          </a:prstGeom>
          <a:solidFill>
            <a:srgbClr val="146B54"/>
          </a:solidFill>
          <a:ln/>
        </p:spPr>
      </p:sp>
      <p:sp>
        <p:nvSpPr>
          <p:cNvPr id="19" name="Text 17"/>
          <p:cNvSpPr txBox="1"/>
          <p:nvPr/>
        </p:nvSpPr>
        <p:spPr>
          <a:xfrm>
            <a:off x="8247888" y="2107692"/>
            <a:ext cx="256032"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0" name="Text 18"/>
          <p:cNvSpPr txBox="1"/>
          <p:nvPr/>
        </p:nvSpPr>
        <p:spPr>
          <a:xfrm>
            <a:off x="8595360" y="2066544"/>
            <a:ext cx="2651760" cy="566928"/>
          </a:xfrm>
          <a:prstGeom prst="rect">
            <a:avLst/>
          </a:prstGeom>
          <a:noFill/>
          <a:ln/>
        </p:spPr>
        <p:txBody>
          <a:bodyPr wrap="square" lIns="0" tIns="0" rIns="0" bIns="0" rtlCol="0" anchor="ctr"/>
          <a:lstStyle/>
          <a:p>
            <a:pPr indent="0" marL="0">
              <a:lnSpc>
                <a:spcPts val="1700"/>
              </a:lnSpc>
              <a:buNone/>
            </a:pPr>
            <a:r>
              <a:rPr lang="en-US" sz="1350" b="1" dirty="0">
                <a:solidFill>
                  <a:srgbClr val="1B1A17"/>
                </a:solidFill>
                <a:latin typeface="Calibri" pitchFamily="34" charset="0"/>
                <a:ea typeface="Calibri" pitchFamily="34" charset="-122"/>
                <a:cs typeface="Calibri" pitchFamily="34" charset="-120"/>
              </a:rPr>
              <a:t>Decisions recorded with reasons</a:t>
            </a:r>
            <a:endParaRPr lang="en-US" sz="1350" dirty="0"/>
          </a:p>
        </p:txBody>
      </p:sp>
      <p:sp>
        <p:nvSpPr>
          <p:cNvPr id="21" name="Text 19"/>
          <p:cNvSpPr txBox="1"/>
          <p:nvPr/>
        </p:nvSpPr>
        <p:spPr>
          <a:xfrm>
            <a:off x="8266176" y="2688336"/>
            <a:ext cx="2944368" cy="859536"/>
          </a:xfrm>
          <a:prstGeom prst="rect">
            <a:avLst/>
          </a:prstGeom>
          <a:noFill/>
          <a:ln/>
        </p:spPr>
        <p:txBody>
          <a:bodyPr wrap="square" lIns="0" tIns="0" rIns="0" bIns="0" rtlCol="0" anchor="ctr"/>
          <a:lstStyle/>
          <a:p>
            <a:pPr indent="0" marL="0">
              <a:lnSpc>
                <a:spcPts val="1400"/>
              </a:lnSpc>
              <a:buNone/>
            </a:pPr>
            <a:r>
              <a:rPr lang="en-US" sz="1050" dirty="0">
                <a:solidFill>
                  <a:srgbClr val="3A3733"/>
                </a:solidFill>
                <a:latin typeface="Calibri" pitchFamily="34" charset="0"/>
                <a:ea typeface="Calibri" pitchFamily="34" charset="-122"/>
                <a:cs typeface="Calibri" pitchFamily="34" charset="-120"/>
              </a:rPr>
              <a:t>Decision register with rationale, conditions, revisit dates and a deterministic staleness audit.</a:t>
            </a:r>
            <a:endParaRPr lang="en-US" sz="1050" dirty="0"/>
          </a:p>
        </p:txBody>
      </p:sp>
      <p:sp>
        <p:nvSpPr>
          <p:cNvPr id="22" name="Text 20"/>
          <p:cNvSpPr txBox="1"/>
          <p:nvPr/>
        </p:nvSpPr>
        <p:spPr>
          <a:xfrm>
            <a:off x="8266176" y="3511296"/>
            <a:ext cx="2944368" cy="237744"/>
          </a:xfrm>
          <a:prstGeom prst="rect">
            <a:avLst/>
          </a:prstGeom>
          <a:noFill/>
          <a:ln/>
        </p:spPr>
        <p:txBody>
          <a:bodyPr wrap="square" lIns="0" tIns="0" rIns="0" bIns="0" rtlCol="0" anchor="ctr"/>
          <a:lstStyle/>
          <a:p>
            <a:pPr indent="0" marL="0">
              <a:buNone/>
            </a:pPr>
            <a:r>
              <a:rPr lang="en-US" sz="900" b="1" dirty="0">
                <a:solidFill>
                  <a:srgbClr val="146B54"/>
                </a:solidFill>
                <a:latin typeface="Calibri" pitchFamily="34" charset="0"/>
                <a:ea typeface="Calibri" pitchFamily="34" charset="-122"/>
                <a:cs typeface="Calibri" pitchFamily="34" charset="-120"/>
              </a:rPr>
              <a:t>reddit-135</a:t>
            </a:r>
            <a:endParaRPr lang="en-US" sz="900" dirty="0"/>
          </a:p>
        </p:txBody>
      </p:sp>
      <p:sp>
        <p:nvSpPr>
          <p:cNvPr id="23" name="Shape 21"/>
          <p:cNvSpPr/>
          <p:nvPr/>
        </p:nvSpPr>
        <p:spPr>
          <a:xfrm>
            <a:off x="566928" y="3968496"/>
            <a:ext cx="3493008" cy="1938528"/>
          </a:xfrm>
          <a:prstGeom prst="roundRect">
            <a:avLst>
              <a:gd name="adj" fmla="val 2594"/>
            </a:avLst>
          </a:prstGeom>
          <a:solidFill>
            <a:srgbClr val="E0EFE9"/>
          </a:solidFill>
          <a:ln w="9525">
            <a:solidFill>
              <a:srgbClr val="C6DFD6"/>
            </a:solidFill>
            <a:prstDash val="solid"/>
          </a:ln>
        </p:spPr>
      </p:sp>
      <p:sp>
        <p:nvSpPr>
          <p:cNvPr id="24" name="Shape 22"/>
          <p:cNvSpPr/>
          <p:nvPr/>
        </p:nvSpPr>
        <p:spPr>
          <a:xfrm>
            <a:off x="822960" y="4187952"/>
            <a:ext cx="256032" cy="256032"/>
          </a:xfrm>
          <a:prstGeom prst="ellipse">
            <a:avLst/>
          </a:prstGeom>
          <a:solidFill>
            <a:srgbClr val="146B54"/>
          </a:solidFill>
          <a:ln/>
        </p:spPr>
      </p:sp>
      <p:sp>
        <p:nvSpPr>
          <p:cNvPr id="25" name="Text 23"/>
          <p:cNvSpPr txBox="1"/>
          <p:nvPr/>
        </p:nvSpPr>
        <p:spPr>
          <a:xfrm>
            <a:off x="822960" y="4192524"/>
            <a:ext cx="256032"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6" name="Text 24"/>
          <p:cNvSpPr txBox="1"/>
          <p:nvPr/>
        </p:nvSpPr>
        <p:spPr>
          <a:xfrm>
            <a:off x="1170432" y="4151376"/>
            <a:ext cx="2651760" cy="566928"/>
          </a:xfrm>
          <a:prstGeom prst="rect">
            <a:avLst/>
          </a:prstGeom>
          <a:noFill/>
          <a:ln/>
        </p:spPr>
        <p:txBody>
          <a:bodyPr wrap="square" lIns="0" tIns="0" rIns="0" bIns="0" rtlCol="0" anchor="ctr"/>
          <a:lstStyle/>
          <a:p>
            <a:pPr indent="0" marL="0">
              <a:lnSpc>
                <a:spcPts val="1700"/>
              </a:lnSpc>
              <a:buNone/>
            </a:pPr>
            <a:r>
              <a:rPr lang="en-US" sz="1350" b="1" dirty="0">
                <a:solidFill>
                  <a:srgbClr val="1B1A17"/>
                </a:solidFill>
                <a:latin typeface="Calibri" pitchFamily="34" charset="0"/>
                <a:ea typeface="Calibri" pitchFamily="34" charset="-122"/>
                <a:cs typeface="Calibri" pitchFamily="34" charset="-120"/>
              </a:rPr>
              <a:t>Machine claim ≠ human record</a:t>
            </a:r>
            <a:endParaRPr lang="en-US" sz="1350" dirty="0"/>
          </a:p>
        </p:txBody>
      </p:sp>
      <p:sp>
        <p:nvSpPr>
          <p:cNvPr id="27" name="Text 25"/>
          <p:cNvSpPr txBox="1"/>
          <p:nvPr/>
        </p:nvSpPr>
        <p:spPr>
          <a:xfrm>
            <a:off x="841248" y="4773168"/>
            <a:ext cx="2944368" cy="859536"/>
          </a:xfrm>
          <a:prstGeom prst="rect">
            <a:avLst/>
          </a:prstGeom>
          <a:noFill/>
          <a:ln/>
        </p:spPr>
        <p:txBody>
          <a:bodyPr wrap="square" lIns="0" tIns="0" rIns="0" bIns="0" rtlCol="0" anchor="ctr"/>
          <a:lstStyle/>
          <a:p>
            <a:pPr indent="0" marL="0">
              <a:lnSpc>
                <a:spcPts val="1400"/>
              </a:lnSpc>
              <a:buNone/>
            </a:pPr>
            <a:r>
              <a:rPr lang="en-US" sz="1050" dirty="0">
                <a:solidFill>
                  <a:srgbClr val="3A3733"/>
                </a:solidFill>
                <a:latin typeface="Calibri" pitchFamily="34" charset="0"/>
                <a:ea typeface="Calibri" pitchFamily="34" charset="-122"/>
                <a:cs typeface="Calibri" pitchFamily="34" charset="-120"/>
              </a:rPr>
              <a:t>Distinct visual roles for agent-generated drafts and human-recorded facts; generated drafts stay labelled and attribution survives edits.</a:t>
            </a:r>
            <a:endParaRPr lang="en-US" sz="1050" dirty="0"/>
          </a:p>
        </p:txBody>
      </p:sp>
      <p:sp>
        <p:nvSpPr>
          <p:cNvPr id="28" name="Text 26"/>
          <p:cNvSpPr txBox="1"/>
          <p:nvPr/>
        </p:nvSpPr>
        <p:spPr>
          <a:xfrm>
            <a:off x="841248" y="5596128"/>
            <a:ext cx="2944368" cy="237744"/>
          </a:xfrm>
          <a:prstGeom prst="rect">
            <a:avLst/>
          </a:prstGeom>
          <a:noFill/>
          <a:ln/>
        </p:spPr>
        <p:txBody>
          <a:bodyPr wrap="square" lIns="0" tIns="0" rIns="0" bIns="0" rtlCol="0" anchor="ctr"/>
          <a:lstStyle/>
          <a:p>
            <a:pPr indent="0" marL="0">
              <a:buNone/>
            </a:pPr>
            <a:r>
              <a:rPr lang="en-US" sz="900" b="1" dirty="0">
                <a:solidFill>
                  <a:srgbClr val="146B54"/>
                </a:solidFill>
                <a:latin typeface="Calibri" pitchFamily="34" charset="0"/>
                <a:ea typeface="Calibri" pitchFamily="34" charset="-122"/>
                <a:cs typeface="Calibri" pitchFamily="34" charset="-120"/>
              </a:rPr>
              <a:t>reddit-081 · 133 · 170</a:t>
            </a:r>
            <a:endParaRPr lang="en-US" sz="900" dirty="0"/>
          </a:p>
        </p:txBody>
      </p:sp>
      <p:sp>
        <p:nvSpPr>
          <p:cNvPr id="29" name="Shape 27"/>
          <p:cNvSpPr/>
          <p:nvPr/>
        </p:nvSpPr>
        <p:spPr>
          <a:xfrm>
            <a:off x="4279392" y="3968496"/>
            <a:ext cx="3493008" cy="1938528"/>
          </a:xfrm>
          <a:prstGeom prst="roundRect">
            <a:avLst>
              <a:gd name="adj" fmla="val 2594"/>
            </a:avLst>
          </a:prstGeom>
          <a:solidFill>
            <a:srgbClr val="E0EFE9"/>
          </a:solidFill>
          <a:ln w="9525">
            <a:solidFill>
              <a:srgbClr val="C6DFD6"/>
            </a:solidFill>
            <a:prstDash val="solid"/>
          </a:ln>
        </p:spPr>
      </p:sp>
      <p:sp>
        <p:nvSpPr>
          <p:cNvPr id="30" name="Shape 28"/>
          <p:cNvSpPr/>
          <p:nvPr/>
        </p:nvSpPr>
        <p:spPr>
          <a:xfrm>
            <a:off x="4535424" y="4187952"/>
            <a:ext cx="256032" cy="256032"/>
          </a:xfrm>
          <a:prstGeom prst="ellipse">
            <a:avLst/>
          </a:prstGeom>
          <a:solidFill>
            <a:srgbClr val="146B54"/>
          </a:solidFill>
          <a:ln/>
        </p:spPr>
      </p:sp>
      <p:sp>
        <p:nvSpPr>
          <p:cNvPr id="31" name="Text 29"/>
          <p:cNvSpPr txBox="1"/>
          <p:nvPr/>
        </p:nvSpPr>
        <p:spPr>
          <a:xfrm>
            <a:off x="4535424" y="4192524"/>
            <a:ext cx="256032"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32" name="Text 30"/>
          <p:cNvSpPr txBox="1"/>
          <p:nvPr/>
        </p:nvSpPr>
        <p:spPr>
          <a:xfrm>
            <a:off x="4882896" y="4151376"/>
            <a:ext cx="2651760" cy="566928"/>
          </a:xfrm>
          <a:prstGeom prst="rect">
            <a:avLst/>
          </a:prstGeom>
          <a:noFill/>
          <a:ln/>
        </p:spPr>
        <p:txBody>
          <a:bodyPr wrap="square" lIns="0" tIns="0" rIns="0" bIns="0" rtlCol="0" anchor="ctr"/>
          <a:lstStyle/>
          <a:p>
            <a:pPr indent="0" marL="0">
              <a:lnSpc>
                <a:spcPts val="1700"/>
              </a:lnSpc>
              <a:buNone/>
            </a:pPr>
            <a:r>
              <a:rPr lang="en-US" sz="1350" b="1" dirty="0">
                <a:solidFill>
                  <a:srgbClr val="1B1A17"/>
                </a:solidFill>
                <a:latin typeface="Calibri" pitchFamily="34" charset="0"/>
                <a:ea typeface="Calibri" pitchFamily="34" charset="-122"/>
                <a:cs typeface="Calibri" pitchFamily="34" charset="-120"/>
              </a:rPr>
              <a:t>Redlines that come back as Word</a:t>
            </a:r>
            <a:endParaRPr lang="en-US" sz="1350" dirty="0"/>
          </a:p>
        </p:txBody>
      </p:sp>
      <p:sp>
        <p:nvSpPr>
          <p:cNvPr id="33" name="Text 31"/>
          <p:cNvSpPr txBox="1"/>
          <p:nvPr/>
        </p:nvSpPr>
        <p:spPr>
          <a:xfrm>
            <a:off x="4553712" y="4773168"/>
            <a:ext cx="2944368" cy="859536"/>
          </a:xfrm>
          <a:prstGeom prst="rect">
            <a:avLst/>
          </a:prstGeom>
          <a:noFill/>
          <a:ln/>
        </p:spPr>
        <p:txBody>
          <a:bodyPr wrap="square" lIns="0" tIns="0" rIns="0" bIns="0" rtlCol="0" anchor="ctr"/>
          <a:lstStyle/>
          <a:p>
            <a:pPr indent="0" marL="0">
              <a:lnSpc>
                <a:spcPts val="1400"/>
              </a:lnSpc>
              <a:buNone/>
            </a:pPr>
            <a:r>
              <a:rPr lang="en-US" sz="1050" dirty="0">
                <a:solidFill>
                  <a:srgbClr val="3A3733"/>
                </a:solidFill>
                <a:latin typeface="Calibri" pitchFamily="34" charset="0"/>
                <a:ea typeface="Calibri" pitchFamily="34" charset="-122"/>
                <a:cs typeface="Calibri" pitchFamily="34" charset="-120"/>
              </a:rPr>
              <a:t>Markdown comments and tracked changes with native DOCX and PDF review export.</a:t>
            </a:r>
            <a:endParaRPr lang="en-US" sz="1050" dirty="0"/>
          </a:p>
        </p:txBody>
      </p:sp>
      <p:sp>
        <p:nvSpPr>
          <p:cNvPr id="34" name="Text 32"/>
          <p:cNvSpPr txBox="1"/>
          <p:nvPr/>
        </p:nvSpPr>
        <p:spPr>
          <a:xfrm>
            <a:off x="4553712" y="5596128"/>
            <a:ext cx="2944368" cy="237744"/>
          </a:xfrm>
          <a:prstGeom prst="rect">
            <a:avLst/>
          </a:prstGeom>
          <a:noFill/>
          <a:ln/>
        </p:spPr>
        <p:txBody>
          <a:bodyPr wrap="square" lIns="0" tIns="0" rIns="0" bIns="0" rtlCol="0" anchor="ctr"/>
          <a:lstStyle/>
          <a:p>
            <a:pPr indent="0" marL="0">
              <a:buNone/>
            </a:pPr>
            <a:r>
              <a:rPr lang="en-US" sz="900" b="1" dirty="0">
                <a:solidFill>
                  <a:srgbClr val="146B54"/>
                </a:solidFill>
                <a:latin typeface="Calibri" pitchFamily="34" charset="0"/>
                <a:ea typeface="Calibri" pitchFamily="34" charset="-122"/>
                <a:cs typeface="Calibri" pitchFamily="34" charset="-120"/>
              </a:rPr>
              <a:t>reddit-127 · 132 · 171</a:t>
            </a:r>
            <a:endParaRPr lang="en-US" sz="900" dirty="0"/>
          </a:p>
        </p:txBody>
      </p:sp>
      <p:sp>
        <p:nvSpPr>
          <p:cNvPr id="35" name="Shape 33"/>
          <p:cNvSpPr/>
          <p:nvPr/>
        </p:nvSpPr>
        <p:spPr>
          <a:xfrm>
            <a:off x="7991856" y="3968496"/>
            <a:ext cx="3493008" cy="1938528"/>
          </a:xfrm>
          <a:prstGeom prst="roundRect">
            <a:avLst>
              <a:gd name="adj" fmla="val 2594"/>
            </a:avLst>
          </a:prstGeom>
          <a:solidFill>
            <a:srgbClr val="E0EFE9"/>
          </a:solidFill>
          <a:ln w="9525">
            <a:solidFill>
              <a:srgbClr val="C6DFD6"/>
            </a:solidFill>
            <a:prstDash val="solid"/>
          </a:ln>
        </p:spPr>
      </p:sp>
      <p:sp>
        <p:nvSpPr>
          <p:cNvPr id="36" name="Shape 34"/>
          <p:cNvSpPr/>
          <p:nvPr/>
        </p:nvSpPr>
        <p:spPr>
          <a:xfrm>
            <a:off x="8247888" y="4187952"/>
            <a:ext cx="256032" cy="256032"/>
          </a:xfrm>
          <a:prstGeom prst="ellipse">
            <a:avLst/>
          </a:prstGeom>
          <a:solidFill>
            <a:srgbClr val="146B54"/>
          </a:solidFill>
          <a:ln/>
        </p:spPr>
      </p:sp>
      <p:sp>
        <p:nvSpPr>
          <p:cNvPr id="37" name="Text 35"/>
          <p:cNvSpPr txBox="1"/>
          <p:nvPr/>
        </p:nvSpPr>
        <p:spPr>
          <a:xfrm>
            <a:off x="8247888" y="4192524"/>
            <a:ext cx="256032"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38" name="Text 36"/>
          <p:cNvSpPr txBox="1"/>
          <p:nvPr/>
        </p:nvSpPr>
        <p:spPr>
          <a:xfrm>
            <a:off x="8595360" y="4151376"/>
            <a:ext cx="2651760" cy="566928"/>
          </a:xfrm>
          <a:prstGeom prst="rect">
            <a:avLst/>
          </a:prstGeom>
          <a:noFill/>
          <a:ln/>
        </p:spPr>
        <p:txBody>
          <a:bodyPr wrap="square" lIns="0" tIns="0" rIns="0" bIns="0" rtlCol="0" anchor="ctr"/>
          <a:lstStyle/>
          <a:p>
            <a:pPr indent="0" marL="0">
              <a:lnSpc>
                <a:spcPts val="1700"/>
              </a:lnSpc>
              <a:buNone/>
            </a:pPr>
            <a:r>
              <a:rPr lang="en-US" sz="1350" b="1" dirty="0">
                <a:solidFill>
                  <a:srgbClr val="1B1A17"/>
                </a:solidFill>
                <a:latin typeface="Calibri" pitchFamily="34" charset="0"/>
                <a:ea typeface="Calibri" pitchFamily="34" charset="-122"/>
                <a:cs typeface="Calibri" pitchFamily="34" charset="-120"/>
              </a:rPr>
              <a:t>No forced data egress</a:t>
            </a:r>
            <a:endParaRPr lang="en-US" sz="1350" dirty="0"/>
          </a:p>
        </p:txBody>
      </p:sp>
      <p:sp>
        <p:nvSpPr>
          <p:cNvPr id="39" name="Text 37"/>
          <p:cNvSpPr txBox="1"/>
          <p:nvPr/>
        </p:nvSpPr>
        <p:spPr>
          <a:xfrm>
            <a:off x="8266176" y="4773168"/>
            <a:ext cx="2944368" cy="859536"/>
          </a:xfrm>
          <a:prstGeom prst="rect">
            <a:avLst/>
          </a:prstGeom>
          <a:noFill/>
          <a:ln/>
        </p:spPr>
        <p:txBody>
          <a:bodyPr wrap="square" lIns="0" tIns="0" rIns="0" bIns="0" rtlCol="0" anchor="ctr"/>
          <a:lstStyle/>
          <a:p>
            <a:pPr indent="0" marL="0">
              <a:lnSpc>
                <a:spcPts val="1400"/>
              </a:lnSpc>
              <a:buNone/>
            </a:pPr>
            <a:r>
              <a:rPr lang="en-US" sz="1050" dirty="0">
                <a:solidFill>
                  <a:srgbClr val="3A3733"/>
                </a:solidFill>
                <a:latin typeface="Calibri" pitchFamily="34" charset="0"/>
                <a:ea typeface="Calibri" pitchFamily="34" charset="-122"/>
                <a:cs typeface="Calibri" pitchFamily="34" charset="-120"/>
              </a:rPr>
              <a:t>Local-first, Markdown on disk, rebuildable index, mock mode with no API key, and an outbound policy that keeps private matter context local.</a:t>
            </a:r>
            <a:endParaRPr lang="en-US" sz="1050" dirty="0"/>
          </a:p>
        </p:txBody>
      </p:sp>
      <p:sp>
        <p:nvSpPr>
          <p:cNvPr id="40" name="Text 38"/>
          <p:cNvSpPr txBox="1"/>
          <p:nvPr/>
        </p:nvSpPr>
        <p:spPr>
          <a:xfrm>
            <a:off x="8266176" y="5596128"/>
            <a:ext cx="2944368" cy="237744"/>
          </a:xfrm>
          <a:prstGeom prst="rect">
            <a:avLst/>
          </a:prstGeom>
          <a:noFill/>
          <a:ln/>
        </p:spPr>
        <p:txBody>
          <a:bodyPr wrap="square" lIns="0" tIns="0" rIns="0" bIns="0" rtlCol="0" anchor="ctr"/>
          <a:lstStyle/>
          <a:p>
            <a:pPr indent="0" marL="0">
              <a:buNone/>
            </a:pPr>
            <a:r>
              <a:rPr lang="en-US" sz="900" b="1" dirty="0">
                <a:solidFill>
                  <a:srgbClr val="146B54"/>
                </a:solidFill>
                <a:latin typeface="Calibri" pitchFamily="34" charset="0"/>
                <a:ea typeface="Calibri" pitchFamily="34" charset="-122"/>
                <a:cs typeface="Calibri" pitchFamily="34" charset="-120"/>
              </a:rPr>
              <a:t>reddit-139 · 025 · 191 · 200</a:t>
            </a:r>
            <a:endParaRPr lang="en-US" sz="900" dirty="0"/>
          </a:p>
        </p:txBody>
      </p:sp>
      <p:sp>
        <p:nvSpPr>
          <p:cNvPr id="41" name="Text 39"/>
          <p:cNvSpPr txBox="1"/>
          <p:nvPr/>
        </p:nvSpPr>
        <p:spPr>
          <a:xfrm>
            <a:off x="566928" y="6345936"/>
            <a:ext cx="7772400" cy="274320"/>
          </a:xfrm>
          <a:prstGeom prst="rect">
            <a:avLst/>
          </a:prstGeom>
          <a:noFill/>
          <a:ln/>
        </p:spPr>
        <p:txBody>
          <a:bodyPr wrap="square" lIns="0" tIns="0" rIns="0" bIns="0" rtlCol="0" anchor="ctr"/>
          <a:lstStyle/>
          <a:p>
            <a:pPr indent="0" marL="0">
              <a:buNone/>
            </a:pPr>
            <a:r>
              <a:rPr lang="en-US" sz="900" dirty="0">
                <a:solidFill>
                  <a:srgbClr val="7A756C"/>
                </a:solidFill>
                <a:latin typeface="Calibri" pitchFamily="34" charset="0"/>
                <a:ea typeface="Calibri" pitchFamily="34" charset="-122"/>
                <a:cs typeface="Calibri" pitchFamily="34" charset="-120"/>
              </a:rPr>
              <a:t>Themis.ai · Voice of the Practitioner · Gap map 1 of 2</a:t>
            </a:r>
            <a:endParaRPr lang="en-US" sz="900" dirty="0"/>
          </a:p>
        </p:txBody>
      </p:sp>
      <p:sp>
        <p:nvSpPr>
          <p:cNvPr id="42" name="Text 40"/>
          <p:cNvSpPr txBox="1"/>
          <p:nvPr/>
        </p:nvSpPr>
        <p:spPr>
          <a:xfrm>
            <a:off x="11064240" y="6345936"/>
            <a:ext cx="566928" cy="274320"/>
          </a:xfrm>
          <a:prstGeom prst="rect">
            <a:avLst/>
          </a:prstGeom>
          <a:noFill/>
          <a:ln/>
        </p:spPr>
        <p:txBody>
          <a:bodyPr wrap="square" lIns="0" tIns="0" rIns="0" bIns="0" rtlCol="0" anchor="ctr"/>
          <a:lstStyle/>
          <a:p>
            <a:pPr algn="r" indent="0" marL="0">
              <a:buNone/>
            </a:pPr>
            <a:r>
              <a:rPr lang="en-US" sz="900" dirty="0">
                <a:solidFill>
                  <a:srgbClr val="7A756C"/>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5F1"/>
        </a:solidFill>
      </p:bgPr>
    </p:bg>
    <p:spTree>
      <p:nvGrpSpPr>
        <p:cNvPr id="1" name=""/>
        <p:cNvGrpSpPr/>
        <p:nvPr/>
      </p:nvGrpSpPr>
      <p:grpSpPr>
        <a:xfrm>
          <a:off x="0" y="0"/>
          <a:ext cx="0" cy="0"/>
          <a:chOff x="0" y="0"/>
          <a:chExt cx="0" cy="0"/>
        </a:xfrm>
      </p:grpSpPr>
      <p:sp>
        <p:nvSpPr>
          <p:cNvPr id="2" name="Text 0"/>
          <p:cNvSpPr txBox="1"/>
          <p:nvPr/>
        </p:nvSpPr>
        <p:spPr>
          <a:xfrm>
            <a:off x="566928" y="420624"/>
            <a:ext cx="10515600" cy="219456"/>
          </a:xfrm>
          <a:prstGeom prst="rect">
            <a:avLst/>
          </a:prstGeom>
          <a:noFill/>
          <a:ln/>
        </p:spPr>
        <p:txBody>
          <a:bodyPr wrap="square" lIns="0" tIns="0" rIns="0" bIns="0" rtlCol="0" anchor="ctr"/>
          <a:lstStyle/>
          <a:p>
            <a:pPr indent="0" marL="0">
              <a:buNone/>
            </a:pPr>
            <a:r>
              <a:rPr lang="en-US" sz="1050" b="1" spc="160" kern="0" dirty="0">
                <a:solidFill>
                  <a:srgbClr val="5F5AC0"/>
                </a:solidFill>
                <a:latin typeface="Calibri" pitchFamily="34" charset="0"/>
                <a:ea typeface="Calibri" pitchFamily="34" charset="-122"/>
                <a:cs typeface="Calibri" pitchFamily="34" charset="-120"/>
              </a:rPr>
              <a:t>GAP MAP · PART 2</a:t>
            </a:r>
            <a:endParaRPr lang="en-US" sz="1050" dirty="0"/>
          </a:p>
        </p:txBody>
      </p:sp>
      <p:sp>
        <p:nvSpPr>
          <p:cNvPr id="3" name="Text 1"/>
          <p:cNvSpPr txBox="1"/>
          <p:nvPr/>
        </p:nvSpPr>
        <p:spPr>
          <a:xfrm>
            <a:off x="566928" y="694944"/>
            <a:ext cx="10607040" cy="621792"/>
          </a:xfrm>
          <a:prstGeom prst="rect">
            <a:avLst/>
          </a:prstGeom>
          <a:noFill/>
          <a:ln/>
        </p:spPr>
        <p:txBody>
          <a:bodyPr wrap="square" lIns="0" tIns="0" rIns="0" bIns="0" rtlCol="0" anchor="ctr"/>
          <a:lstStyle/>
          <a:p>
            <a:pPr indent="0" marL="0">
              <a:buNone/>
            </a:pPr>
            <a:r>
              <a:rPr lang="en-US" sz="3100" b="1" dirty="0">
                <a:solidFill>
                  <a:srgbClr val="1B1A17"/>
                </a:solidFill>
                <a:latin typeface="Cambria" pitchFamily="34" charset="0"/>
                <a:ea typeface="Cambria" pitchFamily="34" charset="-122"/>
                <a:cs typeface="Cambria" pitchFamily="34" charset="-120"/>
              </a:rPr>
              <a:t>What is not built yet — in build order</a:t>
            </a:r>
            <a:endParaRPr lang="en-US" sz="3100" dirty="0"/>
          </a:p>
        </p:txBody>
      </p:sp>
      <p:sp>
        <p:nvSpPr>
          <p:cNvPr id="4" name="Text 2"/>
          <p:cNvSpPr txBox="1"/>
          <p:nvPr/>
        </p:nvSpPr>
        <p:spPr>
          <a:xfrm>
            <a:off x="566928" y="1316736"/>
            <a:ext cx="10607040" cy="384048"/>
          </a:xfrm>
          <a:prstGeom prst="rect">
            <a:avLst/>
          </a:prstGeom>
          <a:noFill/>
          <a:ln/>
        </p:spPr>
        <p:txBody>
          <a:bodyPr wrap="square" lIns="0" tIns="0" rIns="0" bIns="0" rtlCol="0" anchor="ctr"/>
          <a:lstStyle/>
          <a:p>
            <a:pPr indent="0" marL="0">
              <a:buNone/>
            </a:pPr>
            <a:r>
              <a:rPr lang="en-US" sz="1400" dirty="0">
                <a:solidFill>
                  <a:srgbClr val="55524B"/>
                </a:solidFill>
                <a:latin typeface="Calibri" pitchFamily="34" charset="0"/>
                <a:ea typeface="Calibri" pitchFamily="34" charset="-122"/>
                <a:cs typeface="Calibri" pitchFamily="34" charset="-120"/>
              </a:rPr>
              <a:t>Ranked by how often the corpus names it as the reason a tool was rejected or distrusted.</a:t>
            </a:r>
            <a:endParaRPr lang="en-US" sz="1400" dirty="0"/>
          </a:p>
        </p:txBody>
      </p:sp>
      <p:sp>
        <p:nvSpPr>
          <p:cNvPr id="5" name="Shape 3"/>
          <p:cNvSpPr/>
          <p:nvPr/>
        </p:nvSpPr>
        <p:spPr>
          <a:xfrm>
            <a:off x="566928" y="1792224"/>
            <a:ext cx="11064240" cy="658368"/>
          </a:xfrm>
          <a:prstGeom prst="roundRect">
            <a:avLst>
              <a:gd name="adj" fmla="val 7639"/>
            </a:avLst>
          </a:prstGeom>
          <a:solidFill>
            <a:srgbClr val="F8E3DC"/>
          </a:solidFill>
          <a:ln w="9525">
            <a:solidFill>
              <a:srgbClr val="EFD9A0"/>
            </a:solidFill>
            <a:prstDash val="solid"/>
          </a:ln>
        </p:spPr>
      </p:sp>
      <p:sp>
        <p:nvSpPr>
          <p:cNvPr id="6" name="Text 4"/>
          <p:cNvSpPr txBox="1"/>
          <p:nvPr/>
        </p:nvSpPr>
        <p:spPr>
          <a:xfrm>
            <a:off x="749808" y="1938528"/>
            <a:ext cx="384048" cy="384048"/>
          </a:xfrm>
          <a:prstGeom prst="rect">
            <a:avLst/>
          </a:prstGeom>
          <a:noFill/>
          <a:ln/>
        </p:spPr>
        <p:txBody>
          <a:bodyPr wrap="square" lIns="0" tIns="0" rIns="0" bIns="0" rtlCol="0" anchor="ctr"/>
          <a:lstStyle/>
          <a:p>
            <a:pPr algn="ctr" indent="0" marL="0">
              <a:buNone/>
            </a:pPr>
            <a:r>
              <a:rPr lang="en-US" sz="2000" b="1" dirty="0">
                <a:solidFill>
                  <a:srgbClr val="B33A20"/>
                </a:solidFill>
                <a:latin typeface="Cambria" pitchFamily="34" charset="0"/>
                <a:ea typeface="Cambria" pitchFamily="34" charset="-122"/>
                <a:cs typeface="Cambria" pitchFamily="34" charset="-120"/>
              </a:rPr>
              <a:t>1</a:t>
            </a:r>
            <a:endParaRPr lang="en-US" sz="2000" dirty="0"/>
          </a:p>
        </p:txBody>
      </p:sp>
      <p:sp>
        <p:nvSpPr>
          <p:cNvPr id="7" name="Text 5"/>
          <p:cNvSpPr txBox="1"/>
          <p:nvPr/>
        </p:nvSpPr>
        <p:spPr>
          <a:xfrm>
            <a:off x="1207008" y="1847088"/>
            <a:ext cx="2724912" cy="566928"/>
          </a:xfrm>
          <a:prstGeom prst="rect">
            <a:avLst/>
          </a:prstGeom>
          <a:noFill/>
          <a:ln/>
        </p:spPr>
        <p:txBody>
          <a:bodyPr wrap="square" lIns="0" tIns="0" rIns="0" bIns="0" rtlCol="0" anchor="ctr"/>
          <a:lstStyle/>
          <a:p>
            <a:pPr indent="0" marL="0">
              <a:lnSpc>
                <a:spcPts val="1600"/>
              </a:lnSpc>
              <a:buNone/>
            </a:pPr>
            <a:r>
              <a:rPr lang="en-US" sz="1300" b="1" dirty="0">
                <a:solidFill>
                  <a:srgbClr val="1B1A17"/>
                </a:solidFill>
                <a:latin typeface="Calibri" pitchFamily="34" charset="0"/>
                <a:ea typeface="Calibri" pitchFamily="34" charset="-122"/>
                <a:cs typeface="Calibri" pitchFamily="34" charset="-120"/>
              </a:rPr>
              <a:t>Grounded citation layer</a:t>
            </a:r>
            <a:endParaRPr lang="en-US" sz="1300" dirty="0"/>
          </a:p>
        </p:txBody>
      </p:sp>
      <p:sp>
        <p:nvSpPr>
          <p:cNvPr id="8" name="Text 6"/>
          <p:cNvSpPr txBox="1"/>
          <p:nvPr/>
        </p:nvSpPr>
        <p:spPr>
          <a:xfrm>
            <a:off x="3986784" y="1847088"/>
            <a:ext cx="3200400" cy="566928"/>
          </a:xfrm>
          <a:prstGeom prst="rect">
            <a:avLst/>
          </a:prstGeom>
          <a:noFill/>
          <a:ln/>
        </p:spPr>
        <p:txBody>
          <a:bodyPr wrap="square" lIns="0" tIns="0" rIns="0" bIns="0" rtlCol="0" anchor="ctr"/>
          <a:lstStyle/>
          <a:p>
            <a:pPr indent="0" marL="0">
              <a:lnSpc>
                <a:spcPts val="1300"/>
              </a:lnSpc>
              <a:buNone/>
            </a:pPr>
            <a:r>
              <a:rPr lang="en-US" sz="1000" dirty="0">
                <a:solidFill>
                  <a:srgbClr val="3A3733"/>
                </a:solidFill>
                <a:latin typeface="Calibri" pitchFamily="34" charset="0"/>
                <a:ea typeface="Calibri" pitchFamily="34" charset="-122"/>
                <a:cs typeface="Calibri" pitchFamily="34" charset="-120"/>
              </a:rPr>
              <a:t>Connector to Westlaw, Lexis or vLex, or a verification gate that refuses to emit an unverified authority.</a:t>
            </a:r>
            <a:endParaRPr lang="en-US" sz="1000" dirty="0"/>
          </a:p>
        </p:txBody>
      </p:sp>
      <p:sp>
        <p:nvSpPr>
          <p:cNvPr id="9" name="Text 7"/>
          <p:cNvSpPr txBox="1"/>
          <p:nvPr/>
        </p:nvSpPr>
        <p:spPr>
          <a:xfrm>
            <a:off x="7278624" y="1847088"/>
            <a:ext cx="3529584" cy="566928"/>
          </a:xfrm>
          <a:prstGeom prst="rect">
            <a:avLst/>
          </a:prstGeom>
          <a:noFill/>
          <a:ln/>
        </p:spPr>
        <p:txBody>
          <a:bodyPr wrap="square" lIns="0" tIns="0" rIns="0" bIns="0" rtlCol="0" anchor="ctr"/>
          <a:lstStyle/>
          <a:p>
            <a:pPr indent="0" marL="0">
              <a:lnSpc>
                <a:spcPts val="1300"/>
              </a:lnSpc>
              <a:buNone/>
            </a:pPr>
            <a:r>
              <a:rPr lang="en-US" sz="1000" dirty="0">
                <a:solidFill>
                  <a:srgbClr val="3A3733"/>
                </a:solidFill>
                <a:latin typeface="Calibri" pitchFamily="34" charset="0"/>
                <a:ea typeface="Calibri" pitchFamily="34" charset="-122"/>
                <a:cs typeface="Calibri" pitchFamily="34" charset="-120"/>
              </a:rPr>
              <a:t>61 records demand verification; 22 report fabricated authorities. Without this, Themis.ai inherits the objection that broke trust in every general model.</a:t>
            </a:r>
            <a:endParaRPr lang="en-US" sz="1000" dirty="0"/>
          </a:p>
        </p:txBody>
      </p:sp>
      <p:sp>
        <p:nvSpPr>
          <p:cNvPr id="10" name="Text 8"/>
          <p:cNvSpPr txBox="1"/>
          <p:nvPr/>
        </p:nvSpPr>
        <p:spPr>
          <a:xfrm>
            <a:off x="10881360" y="1847088"/>
            <a:ext cx="658368" cy="566928"/>
          </a:xfrm>
          <a:prstGeom prst="rect">
            <a:avLst/>
          </a:prstGeom>
          <a:noFill/>
          <a:ln/>
        </p:spPr>
        <p:txBody>
          <a:bodyPr wrap="square" lIns="0" tIns="0" rIns="0" bIns="0" rtlCol="0" anchor="ctr"/>
          <a:lstStyle/>
          <a:p>
            <a:pPr algn="r" indent="0" marL="0">
              <a:buNone/>
            </a:pPr>
            <a:r>
              <a:rPr lang="en-US" sz="950" b="1" dirty="0">
                <a:solidFill>
                  <a:srgbClr val="B33A20"/>
                </a:solidFill>
                <a:latin typeface="Calibri" pitchFamily="34" charset="0"/>
                <a:ea typeface="Calibri" pitchFamily="34" charset="-122"/>
                <a:cs typeface="Calibri" pitchFamily="34" charset="-120"/>
              </a:rPr>
              <a:t>Not built</a:t>
            </a:r>
            <a:endParaRPr lang="en-US" sz="950" dirty="0"/>
          </a:p>
        </p:txBody>
      </p:sp>
      <p:sp>
        <p:nvSpPr>
          <p:cNvPr id="11" name="Shape 9"/>
          <p:cNvSpPr/>
          <p:nvPr/>
        </p:nvSpPr>
        <p:spPr>
          <a:xfrm>
            <a:off x="566928" y="2487168"/>
            <a:ext cx="11064240" cy="658368"/>
          </a:xfrm>
          <a:prstGeom prst="roundRect">
            <a:avLst>
              <a:gd name="adj" fmla="val 7639"/>
            </a:avLst>
          </a:prstGeom>
          <a:solidFill>
            <a:srgbClr val="F8E3DC"/>
          </a:solidFill>
          <a:ln w="9525">
            <a:solidFill>
              <a:srgbClr val="EFD9A0"/>
            </a:solidFill>
            <a:prstDash val="solid"/>
          </a:ln>
        </p:spPr>
      </p:sp>
      <p:sp>
        <p:nvSpPr>
          <p:cNvPr id="12" name="Text 10"/>
          <p:cNvSpPr txBox="1"/>
          <p:nvPr/>
        </p:nvSpPr>
        <p:spPr>
          <a:xfrm>
            <a:off x="749808" y="2633472"/>
            <a:ext cx="384048" cy="384048"/>
          </a:xfrm>
          <a:prstGeom prst="rect">
            <a:avLst/>
          </a:prstGeom>
          <a:noFill/>
          <a:ln/>
        </p:spPr>
        <p:txBody>
          <a:bodyPr wrap="square" lIns="0" tIns="0" rIns="0" bIns="0" rtlCol="0" anchor="ctr"/>
          <a:lstStyle/>
          <a:p>
            <a:pPr algn="ctr" indent="0" marL="0">
              <a:buNone/>
            </a:pPr>
            <a:r>
              <a:rPr lang="en-US" sz="2000" b="1" dirty="0">
                <a:solidFill>
                  <a:srgbClr val="B33A20"/>
                </a:solidFill>
                <a:latin typeface="Cambria" pitchFamily="34" charset="0"/>
                <a:ea typeface="Cambria" pitchFamily="34" charset="-122"/>
                <a:cs typeface="Cambria" pitchFamily="34" charset="-120"/>
              </a:rPr>
              <a:t>2</a:t>
            </a:r>
            <a:endParaRPr lang="en-US" sz="2000" dirty="0"/>
          </a:p>
        </p:txBody>
      </p:sp>
      <p:sp>
        <p:nvSpPr>
          <p:cNvPr id="13" name="Text 11"/>
          <p:cNvSpPr txBox="1"/>
          <p:nvPr/>
        </p:nvSpPr>
        <p:spPr>
          <a:xfrm>
            <a:off x="1207008" y="2542032"/>
            <a:ext cx="2724912" cy="566928"/>
          </a:xfrm>
          <a:prstGeom prst="rect">
            <a:avLst/>
          </a:prstGeom>
          <a:noFill/>
          <a:ln/>
        </p:spPr>
        <p:txBody>
          <a:bodyPr wrap="square" lIns="0" tIns="0" rIns="0" bIns="0" rtlCol="0" anchor="ctr"/>
          <a:lstStyle/>
          <a:p>
            <a:pPr indent="0" marL="0">
              <a:lnSpc>
                <a:spcPts val="1600"/>
              </a:lnSpc>
              <a:buNone/>
            </a:pPr>
            <a:r>
              <a:rPr lang="en-US" sz="1300" b="1" dirty="0">
                <a:solidFill>
                  <a:srgbClr val="1B1A17"/>
                </a:solidFill>
                <a:latin typeface="Calibri" pitchFamily="34" charset="0"/>
                <a:ea typeface="Calibri" pitchFamily="34" charset="-122"/>
                <a:cs typeface="Calibri" pitchFamily="34" charset="-120"/>
              </a:rPr>
              <a:t>Word, Outlook and DMS integration</a:t>
            </a:r>
            <a:endParaRPr lang="en-US" sz="1300" dirty="0"/>
          </a:p>
        </p:txBody>
      </p:sp>
      <p:sp>
        <p:nvSpPr>
          <p:cNvPr id="14" name="Text 12"/>
          <p:cNvSpPr txBox="1"/>
          <p:nvPr/>
        </p:nvSpPr>
        <p:spPr>
          <a:xfrm>
            <a:off x="3986784" y="2542032"/>
            <a:ext cx="3200400" cy="566928"/>
          </a:xfrm>
          <a:prstGeom prst="rect">
            <a:avLst/>
          </a:prstGeom>
          <a:noFill/>
          <a:ln/>
        </p:spPr>
        <p:txBody>
          <a:bodyPr wrap="square" lIns="0" tIns="0" rIns="0" bIns="0" rtlCol="0" anchor="ctr"/>
          <a:lstStyle/>
          <a:p>
            <a:pPr indent="0" marL="0">
              <a:lnSpc>
                <a:spcPts val="1300"/>
              </a:lnSpc>
              <a:buNone/>
            </a:pPr>
            <a:r>
              <a:rPr lang="en-US" sz="1000" dirty="0">
                <a:solidFill>
                  <a:srgbClr val="3A3733"/>
                </a:solidFill>
                <a:latin typeface="Calibri" pitchFamily="34" charset="0"/>
                <a:ea typeface="Calibri" pitchFamily="34" charset="-122"/>
                <a:cs typeface="Calibri" pitchFamily="34" charset="-120"/>
              </a:rPr>
              <a:t>In-place drafting and redlining where lawyers actually work; semantic search across the document system and email.</a:t>
            </a:r>
            <a:endParaRPr lang="en-US" sz="1000" dirty="0"/>
          </a:p>
        </p:txBody>
      </p:sp>
      <p:sp>
        <p:nvSpPr>
          <p:cNvPr id="15" name="Text 13"/>
          <p:cNvSpPr txBox="1"/>
          <p:nvPr/>
        </p:nvSpPr>
        <p:spPr>
          <a:xfrm>
            <a:off x="7278624" y="2542032"/>
            <a:ext cx="3529584" cy="566928"/>
          </a:xfrm>
          <a:prstGeom prst="rect">
            <a:avLst/>
          </a:prstGeom>
          <a:noFill/>
          <a:ln/>
        </p:spPr>
        <p:txBody>
          <a:bodyPr wrap="square" lIns="0" tIns="0" rIns="0" bIns="0" rtlCol="0" anchor="ctr"/>
          <a:lstStyle/>
          <a:p>
            <a:pPr indent="0" marL="0">
              <a:lnSpc>
                <a:spcPts val="1300"/>
              </a:lnSpc>
              <a:buNone/>
            </a:pPr>
            <a:r>
              <a:rPr lang="en-US" sz="1000" dirty="0">
                <a:solidFill>
                  <a:srgbClr val="3A3733"/>
                </a:solidFill>
                <a:latin typeface="Calibri" pitchFamily="34" charset="0"/>
                <a:ea typeface="Calibri" pitchFamily="34" charset="-122"/>
                <a:cs typeface="Calibri" pitchFamily="34" charset="-120"/>
              </a:rPr>
              <a:t>39 records. “Spellbook … works inside Word” was decisive for one buyer (reddit-014); DMS search is named the top unmet BigLaw use (reddit-092).</a:t>
            </a:r>
            <a:endParaRPr lang="en-US" sz="1000" dirty="0"/>
          </a:p>
        </p:txBody>
      </p:sp>
      <p:sp>
        <p:nvSpPr>
          <p:cNvPr id="16" name="Text 14"/>
          <p:cNvSpPr txBox="1"/>
          <p:nvPr/>
        </p:nvSpPr>
        <p:spPr>
          <a:xfrm>
            <a:off x="10881360" y="2542032"/>
            <a:ext cx="658368" cy="566928"/>
          </a:xfrm>
          <a:prstGeom prst="rect">
            <a:avLst/>
          </a:prstGeom>
          <a:noFill/>
          <a:ln/>
        </p:spPr>
        <p:txBody>
          <a:bodyPr wrap="square" lIns="0" tIns="0" rIns="0" bIns="0" rtlCol="0" anchor="ctr"/>
          <a:lstStyle/>
          <a:p>
            <a:pPr algn="r" indent="0" marL="0">
              <a:buNone/>
            </a:pPr>
            <a:r>
              <a:rPr lang="en-US" sz="950" b="1" dirty="0">
                <a:solidFill>
                  <a:srgbClr val="B33A20"/>
                </a:solidFill>
                <a:latin typeface="Calibri" pitchFamily="34" charset="0"/>
                <a:ea typeface="Calibri" pitchFamily="34" charset="-122"/>
                <a:cs typeface="Calibri" pitchFamily="34" charset="-120"/>
              </a:rPr>
              <a:t>Not built</a:t>
            </a:r>
            <a:endParaRPr lang="en-US" sz="950" dirty="0"/>
          </a:p>
        </p:txBody>
      </p:sp>
      <p:sp>
        <p:nvSpPr>
          <p:cNvPr id="17" name="Shape 15"/>
          <p:cNvSpPr/>
          <p:nvPr/>
        </p:nvSpPr>
        <p:spPr>
          <a:xfrm>
            <a:off x="566928" y="3182112"/>
            <a:ext cx="11064240" cy="658368"/>
          </a:xfrm>
          <a:prstGeom prst="roundRect">
            <a:avLst>
              <a:gd name="adj" fmla="val 7639"/>
            </a:avLst>
          </a:prstGeom>
          <a:solidFill>
            <a:srgbClr val="FDEEC0"/>
          </a:solidFill>
          <a:ln w="9525">
            <a:solidFill>
              <a:srgbClr val="EFD9A0"/>
            </a:solidFill>
            <a:prstDash val="solid"/>
          </a:ln>
        </p:spPr>
      </p:sp>
      <p:sp>
        <p:nvSpPr>
          <p:cNvPr id="18" name="Text 16"/>
          <p:cNvSpPr txBox="1"/>
          <p:nvPr/>
        </p:nvSpPr>
        <p:spPr>
          <a:xfrm>
            <a:off x="749808" y="3328416"/>
            <a:ext cx="384048" cy="384048"/>
          </a:xfrm>
          <a:prstGeom prst="rect">
            <a:avLst/>
          </a:prstGeom>
          <a:noFill/>
          <a:ln/>
        </p:spPr>
        <p:txBody>
          <a:bodyPr wrap="square" lIns="0" tIns="0" rIns="0" bIns="0" rtlCol="0" anchor="ctr"/>
          <a:lstStyle/>
          <a:p>
            <a:pPr algn="ctr" indent="0" marL="0">
              <a:buNone/>
            </a:pPr>
            <a:r>
              <a:rPr lang="en-US" sz="2000" b="1" dirty="0">
                <a:solidFill>
                  <a:srgbClr val="E0A008"/>
                </a:solidFill>
                <a:latin typeface="Cambria" pitchFamily="34" charset="0"/>
                <a:ea typeface="Cambria" pitchFamily="34" charset="-122"/>
                <a:cs typeface="Cambria" pitchFamily="34" charset="-120"/>
              </a:rPr>
              <a:t>3</a:t>
            </a:r>
            <a:endParaRPr lang="en-US" sz="2000" dirty="0"/>
          </a:p>
        </p:txBody>
      </p:sp>
      <p:sp>
        <p:nvSpPr>
          <p:cNvPr id="19" name="Text 17"/>
          <p:cNvSpPr txBox="1"/>
          <p:nvPr/>
        </p:nvSpPr>
        <p:spPr>
          <a:xfrm>
            <a:off x="1207008" y="3236976"/>
            <a:ext cx="2724912" cy="566928"/>
          </a:xfrm>
          <a:prstGeom prst="rect">
            <a:avLst/>
          </a:prstGeom>
          <a:noFill/>
          <a:ln/>
        </p:spPr>
        <p:txBody>
          <a:bodyPr wrap="square" lIns="0" tIns="0" rIns="0" bIns="0" rtlCol="0" anchor="ctr"/>
          <a:lstStyle/>
          <a:p>
            <a:pPr indent="0" marL="0">
              <a:lnSpc>
                <a:spcPts val="1600"/>
              </a:lnSpc>
              <a:buNone/>
            </a:pPr>
            <a:r>
              <a:rPr lang="en-US" sz="1300" b="1" dirty="0">
                <a:solidFill>
                  <a:srgbClr val="1B1A17"/>
                </a:solidFill>
                <a:latin typeface="Calibri" pitchFamily="34" charset="0"/>
                <a:ea typeface="Calibri" pitchFamily="34" charset="-122"/>
                <a:cs typeface="Calibri" pitchFamily="34" charset="-120"/>
              </a:rPr>
              <a:t>Structured playbook and clause engine</a:t>
            </a:r>
            <a:endParaRPr lang="en-US" sz="1300" dirty="0"/>
          </a:p>
        </p:txBody>
      </p:sp>
      <p:sp>
        <p:nvSpPr>
          <p:cNvPr id="20" name="Text 18"/>
          <p:cNvSpPr txBox="1"/>
          <p:nvPr/>
        </p:nvSpPr>
        <p:spPr>
          <a:xfrm>
            <a:off x="3986784" y="3236976"/>
            <a:ext cx="3200400" cy="566928"/>
          </a:xfrm>
          <a:prstGeom prst="rect">
            <a:avLst/>
          </a:prstGeom>
          <a:noFill/>
          <a:ln/>
        </p:spPr>
        <p:txBody>
          <a:bodyPr wrap="square" lIns="0" tIns="0" rIns="0" bIns="0" rtlCol="0" anchor="ctr"/>
          <a:lstStyle/>
          <a:p>
            <a:pPr indent="0" marL="0">
              <a:lnSpc>
                <a:spcPts val="1300"/>
              </a:lnSpc>
              <a:buNone/>
            </a:pPr>
            <a:r>
              <a:rPr lang="en-US" sz="1000" dirty="0">
                <a:solidFill>
                  <a:srgbClr val="3A3733"/>
                </a:solidFill>
                <a:latin typeface="Calibri" pitchFamily="34" charset="0"/>
                <a:ea typeface="Calibri" pitchFamily="34" charset="-122"/>
                <a:cs typeface="Calibri" pitchFamily="34" charset="-120"/>
              </a:rPr>
              <a:t>Clause deviation detection, fallback positions and risk scoring against a stored playbook — not a prose prompt.</a:t>
            </a:r>
            <a:endParaRPr lang="en-US" sz="1000" dirty="0"/>
          </a:p>
        </p:txBody>
      </p:sp>
      <p:sp>
        <p:nvSpPr>
          <p:cNvPr id="21" name="Text 19"/>
          <p:cNvSpPr txBox="1"/>
          <p:nvPr/>
        </p:nvSpPr>
        <p:spPr>
          <a:xfrm>
            <a:off x="7278624" y="3236976"/>
            <a:ext cx="3529584" cy="566928"/>
          </a:xfrm>
          <a:prstGeom prst="rect">
            <a:avLst/>
          </a:prstGeom>
          <a:noFill/>
          <a:ln/>
        </p:spPr>
        <p:txBody>
          <a:bodyPr wrap="square" lIns="0" tIns="0" rIns="0" bIns="0" rtlCol="0" anchor="ctr"/>
          <a:lstStyle/>
          <a:p>
            <a:pPr indent="0" marL="0">
              <a:lnSpc>
                <a:spcPts val="1300"/>
              </a:lnSpc>
              <a:buNone/>
            </a:pPr>
            <a:r>
              <a:rPr lang="en-US" sz="1000" dirty="0">
                <a:solidFill>
                  <a:srgbClr val="3A3733"/>
                </a:solidFill>
                <a:latin typeface="Calibri" pitchFamily="34" charset="0"/>
                <a:ea typeface="Calibri" pitchFamily="34" charset="-122"/>
                <a:cs typeface="Calibri" pitchFamily="34" charset="-120"/>
              </a:rPr>
              <a:t>“Tools have structured areas for UI to insert your playbooks or clauses to check.” (reddit-158)  “It does an even better job when playbooks guide the analysis.” (reddit-114)</a:t>
            </a:r>
            <a:endParaRPr lang="en-US" sz="1000" dirty="0"/>
          </a:p>
        </p:txBody>
      </p:sp>
      <p:sp>
        <p:nvSpPr>
          <p:cNvPr id="22" name="Text 20"/>
          <p:cNvSpPr txBox="1"/>
          <p:nvPr/>
        </p:nvSpPr>
        <p:spPr>
          <a:xfrm>
            <a:off x="10881360" y="3236976"/>
            <a:ext cx="658368" cy="566928"/>
          </a:xfrm>
          <a:prstGeom prst="rect">
            <a:avLst/>
          </a:prstGeom>
          <a:noFill/>
          <a:ln/>
        </p:spPr>
        <p:txBody>
          <a:bodyPr wrap="square" lIns="0" tIns="0" rIns="0" bIns="0" rtlCol="0" anchor="ctr"/>
          <a:lstStyle/>
          <a:p>
            <a:pPr algn="r" indent="0" marL="0">
              <a:buNone/>
            </a:pPr>
            <a:r>
              <a:rPr lang="en-US" sz="950" b="1" dirty="0">
                <a:solidFill>
                  <a:srgbClr val="E0A008"/>
                </a:solidFill>
                <a:latin typeface="Calibri" pitchFamily="34" charset="0"/>
                <a:ea typeface="Calibri" pitchFamily="34" charset="-122"/>
                <a:cs typeface="Calibri" pitchFamily="34" charset="-120"/>
              </a:rPr>
              <a:t>Partial</a:t>
            </a:r>
            <a:endParaRPr lang="en-US" sz="950" dirty="0"/>
          </a:p>
        </p:txBody>
      </p:sp>
      <p:sp>
        <p:nvSpPr>
          <p:cNvPr id="23" name="Shape 21"/>
          <p:cNvSpPr/>
          <p:nvPr/>
        </p:nvSpPr>
        <p:spPr>
          <a:xfrm>
            <a:off x="566928" y="3877056"/>
            <a:ext cx="11064240" cy="658368"/>
          </a:xfrm>
          <a:prstGeom prst="roundRect">
            <a:avLst>
              <a:gd name="adj" fmla="val 7639"/>
            </a:avLst>
          </a:prstGeom>
          <a:solidFill>
            <a:srgbClr val="F8E3DC"/>
          </a:solidFill>
          <a:ln w="9525">
            <a:solidFill>
              <a:srgbClr val="EFD9A0"/>
            </a:solidFill>
            <a:prstDash val="solid"/>
          </a:ln>
        </p:spPr>
      </p:sp>
      <p:sp>
        <p:nvSpPr>
          <p:cNvPr id="24" name="Text 22"/>
          <p:cNvSpPr txBox="1"/>
          <p:nvPr/>
        </p:nvSpPr>
        <p:spPr>
          <a:xfrm>
            <a:off x="749808" y="4023360"/>
            <a:ext cx="384048" cy="384048"/>
          </a:xfrm>
          <a:prstGeom prst="rect">
            <a:avLst/>
          </a:prstGeom>
          <a:noFill/>
          <a:ln/>
        </p:spPr>
        <p:txBody>
          <a:bodyPr wrap="square" lIns="0" tIns="0" rIns="0" bIns="0" rtlCol="0" anchor="ctr"/>
          <a:lstStyle/>
          <a:p>
            <a:pPr algn="ctr" indent="0" marL="0">
              <a:buNone/>
            </a:pPr>
            <a:r>
              <a:rPr lang="en-US" sz="2000" b="1" dirty="0">
                <a:solidFill>
                  <a:srgbClr val="B33A20"/>
                </a:solidFill>
                <a:latin typeface="Cambria" pitchFamily="34" charset="0"/>
                <a:ea typeface="Cambria" pitchFamily="34" charset="-122"/>
                <a:cs typeface="Cambria" pitchFamily="34" charset="-120"/>
              </a:rPr>
              <a:t>4</a:t>
            </a:r>
            <a:endParaRPr lang="en-US" sz="2000" dirty="0"/>
          </a:p>
        </p:txBody>
      </p:sp>
      <p:sp>
        <p:nvSpPr>
          <p:cNvPr id="25" name="Text 23"/>
          <p:cNvSpPr txBox="1"/>
          <p:nvPr/>
        </p:nvSpPr>
        <p:spPr>
          <a:xfrm>
            <a:off x="1207008" y="3931920"/>
            <a:ext cx="2724912" cy="566928"/>
          </a:xfrm>
          <a:prstGeom prst="rect">
            <a:avLst/>
          </a:prstGeom>
          <a:noFill/>
          <a:ln/>
        </p:spPr>
        <p:txBody>
          <a:bodyPr wrap="square" lIns="0" tIns="0" rIns="0" bIns="0" rtlCol="0" anchor="ctr"/>
          <a:lstStyle/>
          <a:p>
            <a:pPr indent="0" marL="0">
              <a:lnSpc>
                <a:spcPts val="1600"/>
              </a:lnSpc>
              <a:buNone/>
            </a:pPr>
            <a:r>
              <a:rPr lang="en-US" sz="1300" b="1" dirty="0">
                <a:solidFill>
                  <a:srgbClr val="1B1A17"/>
                </a:solidFill>
                <a:latin typeface="Calibri" pitchFamily="34" charset="0"/>
                <a:ea typeface="Calibri" pitchFamily="34" charset="-122"/>
                <a:cs typeface="Calibri" pitchFamily="34" charset="-120"/>
              </a:rPr>
              <a:t>Shared vault for a small team</a:t>
            </a:r>
            <a:endParaRPr lang="en-US" sz="1300" dirty="0"/>
          </a:p>
        </p:txBody>
      </p:sp>
      <p:sp>
        <p:nvSpPr>
          <p:cNvPr id="26" name="Text 24"/>
          <p:cNvSpPr txBox="1"/>
          <p:nvPr/>
        </p:nvSpPr>
        <p:spPr>
          <a:xfrm>
            <a:off x="3986784" y="3931920"/>
            <a:ext cx="3200400" cy="566928"/>
          </a:xfrm>
          <a:prstGeom prst="rect">
            <a:avLst/>
          </a:prstGeom>
          <a:noFill/>
          <a:ln/>
        </p:spPr>
        <p:txBody>
          <a:bodyPr wrap="square" lIns="0" tIns="0" rIns="0" bIns="0" rtlCol="0" anchor="ctr"/>
          <a:lstStyle/>
          <a:p>
            <a:pPr indent="0" marL="0">
              <a:lnSpc>
                <a:spcPts val="1300"/>
              </a:lnSpc>
              <a:buNone/>
            </a:pPr>
            <a:r>
              <a:rPr lang="en-US" sz="1000" dirty="0">
                <a:solidFill>
                  <a:srgbClr val="3A3733"/>
                </a:solidFill>
                <a:latin typeface="Calibri" pitchFamily="34" charset="0"/>
                <a:ea typeface="Calibri" pitchFamily="34" charset="-122"/>
                <a:cs typeface="Calibri" pitchFamily="34" charset="-120"/>
              </a:rPr>
              <a:t>Seats, permissions and a shared matter store for two to ten users.</a:t>
            </a:r>
            <a:endParaRPr lang="en-US" sz="1000" dirty="0"/>
          </a:p>
        </p:txBody>
      </p:sp>
      <p:sp>
        <p:nvSpPr>
          <p:cNvPr id="27" name="Text 25"/>
          <p:cNvSpPr txBox="1"/>
          <p:nvPr/>
        </p:nvSpPr>
        <p:spPr>
          <a:xfrm>
            <a:off x="7278624" y="3931920"/>
            <a:ext cx="3529584" cy="566928"/>
          </a:xfrm>
          <a:prstGeom prst="rect">
            <a:avLst/>
          </a:prstGeom>
          <a:noFill/>
          <a:ln/>
        </p:spPr>
        <p:txBody>
          <a:bodyPr wrap="square" lIns="0" tIns="0" rIns="0" bIns="0" rtlCol="0" anchor="ctr"/>
          <a:lstStyle/>
          <a:p>
            <a:pPr indent="0" marL="0">
              <a:lnSpc>
                <a:spcPts val="1300"/>
              </a:lnSpc>
              <a:buNone/>
            </a:pPr>
            <a:r>
              <a:rPr lang="en-US" sz="1000" dirty="0">
                <a:solidFill>
                  <a:srgbClr val="3A3733"/>
                </a:solidFill>
                <a:latin typeface="Calibri" pitchFamily="34" charset="0"/>
                <a:ea typeface="Calibri" pitchFamily="34" charset="-122"/>
                <a:cs typeface="Calibri" pitchFamily="34" charset="-120"/>
              </a:rPr>
              <a:t>“A ‘vault’ like Harvey but for a handful of users and maybe not as pricey.” (reddit-152)  Matter-level controls are the partner’s condition (reddit-025).</a:t>
            </a:r>
            <a:endParaRPr lang="en-US" sz="1000" dirty="0"/>
          </a:p>
        </p:txBody>
      </p:sp>
      <p:sp>
        <p:nvSpPr>
          <p:cNvPr id="28" name="Text 26"/>
          <p:cNvSpPr txBox="1"/>
          <p:nvPr/>
        </p:nvSpPr>
        <p:spPr>
          <a:xfrm>
            <a:off x="10881360" y="3931920"/>
            <a:ext cx="658368" cy="566928"/>
          </a:xfrm>
          <a:prstGeom prst="rect">
            <a:avLst/>
          </a:prstGeom>
          <a:noFill/>
          <a:ln/>
        </p:spPr>
        <p:txBody>
          <a:bodyPr wrap="square" lIns="0" tIns="0" rIns="0" bIns="0" rtlCol="0" anchor="ctr"/>
          <a:lstStyle/>
          <a:p>
            <a:pPr algn="r" indent="0" marL="0">
              <a:buNone/>
            </a:pPr>
            <a:r>
              <a:rPr lang="en-US" sz="950" b="1" dirty="0">
                <a:solidFill>
                  <a:srgbClr val="B33A20"/>
                </a:solidFill>
                <a:latin typeface="Calibri" pitchFamily="34" charset="0"/>
                <a:ea typeface="Calibri" pitchFamily="34" charset="-122"/>
                <a:cs typeface="Calibri" pitchFamily="34" charset="-120"/>
              </a:rPr>
              <a:t>Not built</a:t>
            </a:r>
            <a:endParaRPr lang="en-US" sz="950" dirty="0"/>
          </a:p>
        </p:txBody>
      </p:sp>
      <p:sp>
        <p:nvSpPr>
          <p:cNvPr id="29" name="Shape 27"/>
          <p:cNvSpPr/>
          <p:nvPr/>
        </p:nvSpPr>
        <p:spPr>
          <a:xfrm>
            <a:off x="566928" y="4572000"/>
            <a:ext cx="11064240" cy="658368"/>
          </a:xfrm>
          <a:prstGeom prst="roundRect">
            <a:avLst>
              <a:gd name="adj" fmla="val 7639"/>
            </a:avLst>
          </a:prstGeom>
          <a:solidFill>
            <a:srgbClr val="FDEEC0"/>
          </a:solidFill>
          <a:ln w="9525">
            <a:solidFill>
              <a:srgbClr val="EFD9A0"/>
            </a:solidFill>
            <a:prstDash val="solid"/>
          </a:ln>
        </p:spPr>
      </p:sp>
      <p:sp>
        <p:nvSpPr>
          <p:cNvPr id="30" name="Text 28"/>
          <p:cNvSpPr txBox="1"/>
          <p:nvPr/>
        </p:nvSpPr>
        <p:spPr>
          <a:xfrm>
            <a:off x="749808" y="4718304"/>
            <a:ext cx="384048" cy="384048"/>
          </a:xfrm>
          <a:prstGeom prst="rect">
            <a:avLst/>
          </a:prstGeom>
          <a:noFill/>
          <a:ln/>
        </p:spPr>
        <p:txBody>
          <a:bodyPr wrap="square" lIns="0" tIns="0" rIns="0" bIns="0" rtlCol="0" anchor="ctr"/>
          <a:lstStyle/>
          <a:p>
            <a:pPr algn="ctr" indent="0" marL="0">
              <a:buNone/>
            </a:pPr>
            <a:r>
              <a:rPr lang="en-US" sz="2000" b="1" dirty="0">
                <a:solidFill>
                  <a:srgbClr val="E0A008"/>
                </a:solidFill>
                <a:latin typeface="Cambria" pitchFamily="34" charset="0"/>
                <a:ea typeface="Cambria" pitchFamily="34" charset="-122"/>
                <a:cs typeface="Cambria" pitchFamily="34" charset="-120"/>
              </a:rPr>
              <a:t>5</a:t>
            </a:r>
            <a:endParaRPr lang="en-US" sz="2000" dirty="0"/>
          </a:p>
        </p:txBody>
      </p:sp>
      <p:sp>
        <p:nvSpPr>
          <p:cNvPr id="31" name="Text 29"/>
          <p:cNvSpPr txBox="1"/>
          <p:nvPr/>
        </p:nvSpPr>
        <p:spPr>
          <a:xfrm>
            <a:off x="1207008" y="4626864"/>
            <a:ext cx="2724912" cy="566928"/>
          </a:xfrm>
          <a:prstGeom prst="rect">
            <a:avLst/>
          </a:prstGeom>
          <a:noFill/>
          <a:ln/>
        </p:spPr>
        <p:txBody>
          <a:bodyPr wrap="square" lIns="0" tIns="0" rIns="0" bIns="0" rtlCol="0" anchor="ctr"/>
          <a:lstStyle/>
          <a:p>
            <a:pPr indent="0" marL="0">
              <a:lnSpc>
                <a:spcPts val="1600"/>
              </a:lnSpc>
              <a:buNone/>
            </a:pPr>
            <a:r>
              <a:rPr lang="en-US" sz="1300" b="1" dirty="0">
                <a:solidFill>
                  <a:srgbClr val="1B1A17"/>
                </a:solidFill>
                <a:latin typeface="Calibri" pitchFamily="34" charset="0"/>
                <a:ea typeface="Calibri" pitchFamily="34" charset="-122"/>
                <a:cs typeface="Calibri" pitchFamily="34" charset="-120"/>
              </a:rPr>
              <a:t>External intake channels</a:t>
            </a:r>
            <a:endParaRPr lang="en-US" sz="1300" dirty="0"/>
          </a:p>
        </p:txBody>
      </p:sp>
      <p:sp>
        <p:nvSpPr>
          <p:cNvPr id="32" name="Text 30"/>
          <p:cNvSpPr txBox="1"/>
          <p:nvPr/>
        </p:nvSpPr>
        <p:spPr>
          <a:xfrm>
            <a:off x="3986784" y="4626864"/>
            <a:ext cx="3200400" cy="566928"/>
          </a:xfrm>
          <a:prstGeom prst="rect">
            <a:avLst/>
          </a:prstGeom>
          <a:noFill/>
          <a:ln/>
        </p:spPr>
        <p:txBody>
          <a:bodyPr wrap="square" lIns="0" tIns="0" rIns="0" bIns="0" rtlCol="0" anchor="ctr"/>
          <a:lstStyle/>
          <a:p>
            <a:pPr indent="0" marL="0">
              <a:lnSpc>
                <a:spcPts val="1300"/>
              </a:lnSpc>
              <a:buNone/>
            </a:pPr>
            <a:r>
              <a:rPr lang="en-US" sz="1000" dirty="0">
                <a:solidFill>
                  <a:srgbClr val="3A3733"/>
                </a:solidFill>
                <a:latin typeface="Calibri" pitchFamily="34" charset="0"/>
                <a:ea typeface="Calibri" pitchFamily="34" charset="-122"/>
                <a:cs typeface="Calibri" pitchFamily="34" charset="-120"/>
              </a:rPr>
              <a:t>Email, Slack and ticket intake into the matter, so work does not sit in an inbox waiting to be pasted.</a:t>
            </a:r>
            <a:endParaRPr lang="en-US" sz="1000" dirty="0"/>
          </a:p>
        </p:txBody>
      </p:sp>
      <p:sp>
        <p:nvSpPr>
          <p:cNvPr id="33" name="Text 31"/>
          <p:cNvSpPr txBox="1"/>
          <p:nvPr/>
        </p:nvSpPr>
        <p:spPr>
          <a:xfrm>
            <a:off x="7278624" y="4626864"/>
            <a:ext cx="3529584" cy="566928"/>
          </a:xfrm>
          <a:prstGeom prst="rect">
            <a:avLst/>
          </a:prstGeom>
          <a:noFill/>
          <a:ln/>
        </p:spPr>
        <p:txBody>
          <a:bodyPr wrap="square" lIns="0" tIns="0" rIns="0" bIns="0" rtlCol="0" anchor="ctr"/>
          <a:lstStyle/>
          <a:p>
            <a:pPr indent="0" marL="0">
              <a:lnSpc>
                <a:spcPts val="1300"/>
              </a:lnSpc>
              <a:buNone/>
            </a:pPr>
            <a:r>
              <a:rPr lang="en-US" sz="1000" dirty="0">
                <a:solidFill>
                  <a:srgbClr val="3A3733"/>
                </a:solidFill>
                <a:latin typeface="Calibri" pitchFamily="34" charset="0"/>
                <a:ea typeface="Calibri" pitchFamily="34" charset="-122"/>
                <a:cs typeface="Calibri" pitchFamily="34" charset="-120"/>
              </a:rPr>
              <a:t>“Contracts waiting in inboxes” is named as a core failure (reddit-135); lawyers work from email (reddit-106).</a:t>
            </a:r>
            <a:endParaRPr lang="en-US" sz="1000" dirty="0"/>
          </a:p>
        </p:txBody>
      </p:sp>
      <p:sp>
        <p:nvSpPr>
          <p:cNvPr id="34" name="Text 32"/>
          <p:cNvSpPr txBox="1"/>
          <p:nvPr/>
        </p:nvSpPr>
        <p:spPr>
          <a:xfrm>
            <a:off x="10881360" y="4626864"/>
            <a:ext cx="658368" cy="566928"/>
          </a:xfrm>
          <a:prstGeom prst="rect">
            <a:avLst/>
          </a:prstGeom>
          <a:noFill/>
          <a:ln/>
        </p:spPr>
        <p:txBody>
          <a:bodyPr wrap="square" lIns="0" tIns="0" rIns="0" bIns="0" rtlCol="0" anchor="ctr"/>
          <a:lstStyle/>
          <a:p>
            <a:pPr algn="r" indent="0" marL="0">
              <a:buNone/>
            </a:pPr>
            <a:r>
              <a:rPr lang="en-US" sz="950" b="1" dirty="0">
                <a:solidFill>
                  <a:srgbClr val="E0A008"/>
                </a:solidFill>
                <a:latin typeface="Calibri" pitchFamily="34" charset="0"/>
                <a:ea typeface="Calibri" pitchFamily="34" charset="-122"/>
                <a:cs typeface="Calibri" pitchFamily="34" charset="-120"/>
              </a:rPr>
              <a:t>Partial</a:t>
            </a:r>
            <a:endParaRPr lang="en-US" sz="950" dirty="0"/>
          </a:p>
        </p:txBody>
      </p:sp>
      <p:sp>
        <p:nvSpPr>
          <p:cNvPr id="35" name="Shape 33"/>
          <p:cNvSpPr/>
          <p:nvPr/>
        </p:nvSpPr>
        <p:spPr>
          <a:xfrm>
            <a:off x="566928" y="5266944"/>
            <a:ext cx="11064240" cy="658368"/>
          </a:xfrm>
          <a:prstGeom prst="roundRect">
            <a:avLst>
              <a:gd name="adj" fmla="val 7639"/>
            </a:avLst>
          </a:prstGeom>
          <a:solidFill>
            <a:srgbClr val="FDEEC0"/>
          </a:solidFill>
          <a:ln w="9525">
            <a:solidFill>
              <a:srgbClr val="EFD9A0"/>
            </a:solidFill>
            <a:prstDash val="solid"/>
          </a:ln>
        </p:spPr>
      </p:sp>
      <p:sp>
        <p:nvSpPr>
          <p:cNvPr id="36" name="Text 34"/>
          <p:cNvSpPr txBox="1"/>
          <p:nvPr/>
        </p:nvSpPr>
        <p:spPr>
          <a:xfrm>
            <a:off x="749808" y="5413248"/>
            <a:ext cx="384048" cy="384048"/>
          </a:xfrm>
          <a:prstGeom prst="rect">
            <a:avLst/>
          </a:prstGeom>
          <a:noFill/>
          <a:ln/>
        </p:spPr>
        <p:txBody>
          <a:bodyPr wrap="square" lIns="0" tIns="0" rIns="0" bIns="0" rtlCol="0" anchor="ctr"/>
          <a:lstStyle/>
          <a:p>
            <a:pPr algn="ctr" indent="0" marL="0">
              <a:buNone/>
            </a:pPr>
            <a:r>
              <a:rPr lang="en-US" sz="2000" b="1" dirty="0">
                <a:solidFill>
                  <a:srgbClr val="E0A008"/>
                </a:solidFill>
                <a:latin typeface="Cambria" pitchFamily="34" charset="0"/>
                <a:ea typeface="Cambria" pitchFamily="34" charset="-122"/>
                <a:cs typeface="Cambria" pitchFamily="34" charset="-120"/>
              </a:rPr>
              <a:t>6</a:t>
            </a:r>
            <a:endParaRPr lang="en-US" sz="2000" dirty="0"/>
          </a:p>
        </p:txBody>
      </p:sp>
      <p:sp>
        <p:nvSpPr>
          <p:cNvPr id="37" name="Text 35"/>
          <p:cNvSpPr txBox="1"/>
          <p:nvPr/>
        </p:nvSpPr>
        <p:spPr>
          <a:xfrm>
            <a:off x="1207008" y="5321808"/>
            <a:ext cx="2724912" cy="566928"/>
          </a:xfrm>
          <a:prstGeom prst="rect">
            <a:avLst/>
          </a:prstGeom>
          <a:noFill/>
          <a:ln/>
        </p:spPr>
        <p:txBody>
          <a:bodyPr wrap="square" lIns="0" tIns="0" rIns="0" bIns="0" rtlCol="0" anchor="ctr"/>
          <a:lstStyle/>
          <a:p>
            <a:pPr indent="0" marL="0">
              <a:lnSpc>
                <a:spcPts val="1600"/>
              </a:lnSpc>
              <a:buNone/>
            </a:pPr>
            <a:r>
              <a:rPr lang="en-US" sz="1300" b="1" dirty="0">
                <a:solidFill>
                  <a:srgbClr val="1B1A17"/>
                </a:solidFill>
                <a:latin typeface="Calibri" pitchFamily="34" charset="0"/>
                <a:ea typeface="Calibri" pitchFamily="34" charset="-122"/>
                <a:cs typeface="Calibri" pitchFamily="34" charset="-120"/>
              </a:rPr>
              <a:t>Packaged deployment and a data term sheet</a:t>
            </a:r>
            <a:endParaRPr lang="en-US" sz="1300" dirty="0"/>
          </a:p>
        </p:txBody>
      </p:sp>
      <p:sp>
        <p:nvSpPr>
          <p:cNvPr id="38" name="Text 36"/>
          <p:cNvSpPr txBox="1"/>
          <p:nvPr/>
        </p:nvSpPr>
        <p:spPr>
          <a:xfrm>
            <a:off x="3986784" y="5321808"/>
            <a:ext cx="3200400" cy="566928"/>
          </a:xfrm>
          <a:prstGeom prst="rect">
            <a:avLst/>
          </a:prstGeom>
          <a:noFill/>
          <a:ln/>
        </p:spPr>
        <p:txBody>
          <a:bodyPr wrap="square" lIns="0" tIns="0" rIns="0" bIns="0" rtlCol="0" anchor="ctr"/>
          <a:lstStyle/>
          <a:p>
            <a:pPr indent="0" marL="0">
              <a:lnSpc>
                <a:spcPts val="1300"/>
              </a:lnSpc>
              <a:buNone/>
            </a:pPr>
            <a:r>
              <a:rPr lang="en-US" sz="1000" dirty="0">
                <a:solidFill>
                  <a:srgbClr val="3A3733"/>
                </a:solidFill>
                <a:latin typeface="Calibri" pitchFamily="34" charset="0"/>
                <a:ea typeface="Calibri" pitchFamily="34" charset="-122"/>
                <a:cs typeface="Calibri" pitchFamily="34" charset="-120"/>
              </a:rPr>
              <a:t>A deployable build plus written answers on retention, training and disclosure, ready for infosec and DPIA review.</a:t>
            </a:r>
            <a:endParaRPr lang="en-US" sz="1000" dirty="0"/>
          </a:p>
        </p:txBody>
      </p:sp>
      <p:sp>
        <p:nvSpPr>
          <p:cNvPr id="39" name="Text 37"/>
          <p:cNvSpPr txBox="1"/>
          <p:nvPr/>
        </p:nvSpPr>
        <p:spPr>
          <a:xfrm>
            <a:off x="7278624" y="5321808"/>
            <a:ext cx="3529584" cy="566928"/>
          </a:xfrm>
          <a:prstGeom prst="rect">
            <a:avLst/>
          </a:prstGeom>
          <a:noFill/>
          <a:ln/>
        </p:spPr>
        <p:txBody>
          <a:bodyPr wrap="square" lIns="0" tIns="0" rIns="0" bIns="0" rtlCol="0" anchor="ctr"/>
          <a:lstStyle/>
          <a:p>
            <a:pPr indent="0" marL="0">
              <a:lnSpc>
                <a:spcPts val="1300"/>
              </a:lnSpc>
              <a:buNone/>
            </a:pPr>
            <a:r>
              <a:rPr lang="en-US" sz="1000" dirty="0">
                <a:solidFill>
                  <a:srgbClr val="3A3733"/>
                </a:solidFill>
                <a:latin typeface="Calibri" pitchFamily="34" charset="0"/>
                <a:ea typeface="Calibri" pitchFamily="34" charset="-122"/>
                <a:cs typeface="Calibri" pitchFamily="34" charset="-120"/>
              </a:rPr>
              <a:t>“Ask questions about pricing, data handling, what happens to your documents.” (reddit-159)  Infosec and DPIAs are the stated switching delay (reddit-146).</a:t>
            </a:r>
            <a:endParaRPr lang="en-US" sz="1000" dirty="0"/>
          </a:p>
        </p:txBody>
      </p:sp>
      <p:sp>
        <p:nvSpPr>
          <p:cNvPr id="40" name="Text 38"/>
          <p:cNvSpPr txBox="1"/>
          <p:nvPr/>
        </p:nvSpPr>
        <p:spPr>
          <a:xfrm>
            <a:off x="10881360" y="5321808"/>
            <a:ext cx="658368" cy="566928"/>
          </a:xfrm>
          <a:prstGeom prst="rect">
            <a:avLst/>
          </a:prstGeom>
          <a:noFill/>
          <a:ln/>
        </p:spPr>
        <p:txBody>
          <a:bodyPr wrap="square" lIns="0" tIns="0" rIns="0" bIns="0" rtlCol="0" anchor="ctr"/>
          <a:lstStyle/>
          <a:p>
            <a:pPr algn="r" indent="0" marL="0">
              <a:buNone/>
            </a:pPr>
            <a:r>
              <a:rPr lang="en-US" sz="950" b="1" dirty="0">
                <a:solidFill>
                  <a:srgbClr val="E0A008"/>
                </a:solidFill>
                <a:latin typeface="Calibri" pitchFamily="34" charset="0"/>
                <a:ea typeface="Calibri" pitchFamily="34" charset="-122"/>
                <a:cs typeface="Calibri" pitchFamily="34" charset="-120"/>
              </a:rPr>
              <a:t>Partial</a:t>
            </a:r>
            <a:endParaRPr lang="en-US" sz="950" dirty="0"/>
          </a:p>
        </p:txBody>
      </p:sp>
      <p:sp>
        <p:nvSpPr>
          <p:cNvPr id="41" name="Text 39"/>
          <p:cNvSpPr txBox="1"/>
          <p:nvPr/>
        </p:nvSpPr>
        <p:spPr>
          <a:xfrm>
            <a:off x="566928" y="5961888"/>
            <a:ext cx="11064240" cy="292608"/>
          </a:xfrm>
          <a:prstGeom prst="rect">
            <a:avLst/>
          </a:prstGeom>
          <a:noFill/>
          <a:ln/>
        </p:spPr>
        <p:txBody>
          <a:bodyPr wrap="square" lIns="0" tIns="0" rIns="0" bIns="0" rtlCol="0" anchor="ctr"/>
          <a:lstStyle/>
          <a:p>
            <a:pPr indent="0" marL="0">
              <a:buNone/>
            </a:pPr>
            <a:r>
              <a:rPr lang="en-US" sz="1200" b="1" dirty="0">
                <a:solidFill>
                  <a:srgbClr val="1B1A17"/>
                </a:solidFill>
                <a:latin typeface="Calibri" pitchFamily="34" charset="0"/>
                <a:ea typeface="Calibri" pitchFamily="34" charset="-122"/>
                <a:cs typeface="Calibri" pitchFamily="34" charset="-120"/>
              </a:rPr>
              <a:t>All six sit on Themis.ai’s existing “Later” list. The corpus does not add scope — it orders it, and puts grounded citations first.</a:t>
            </a:r>
            <a:endParaRPr lang="en-US" sz="1200" dirty="0"/>
          </a:p>
        </p:txBody>
      </p:sp>
      <p:sp>
        <p:nvSpPr>
          <p:cNvPr id="42" name="Text 40"/>
          <p:cNvSpPr txBox="1"/>
          <p:nvPr/>
        </p:nvSpPr>
        <p:spPr>
          <a:xfrm>
            <a:off x="566928" y="6345936"/>
            <a:ext cx="7772400" cy="274320"/>
          </a:xfrm>
          <a:prstGeom prst="rect">
            <a:avLst/>
          </a:prstGeom>
          <a:noFill/>
          <a:ln/>
        </p:spPr>
        <p:txBody>
          <a:bodyPr wrap="square" lIns="0" tIns="0" rIns="0" bIns="0" rtlCol="0" anchor="ctr"/>
          <a:lstStyle/>
          <a:p>
            <a:pPr indent="0" marL="0">
              <a:buNone/>
            </a:pPr>
            <a:r>
              <a:rPr lang="en-US" sz="900" dirty="0">
                <a:solidFill>
                  <a:srgbClr val="7A756C"/>
                </a:solidFill>
                <a:latin typeface="Calibri" pitchFamily="34" charset="0"/>
                <a:ea typeface="Calibri" pitchFamily="34" charset="-122"/>
                <a:cs typeface="Calibri" pitchFamily="34" charset="-120"/>
              </a:rPr>
              <a:t>Themis.ai · Voice of the Practitioner · Gap map 2 of 2</a:t>
            </a:r>
            <a:endParaRPr lang="en-US" sz="900" dirty="0"/>
          </a:p>
        </p:txBody>
      </p:sp>
      <p:sp>
        <p:nvSpPr>
          <p:cNvPr id="43" name="Text 41"/>
          <p:cNvSpPr txBox="1"/>
          <p:nvPr/>
        </p:nvSpPr>
        <p:spPr>
          <a:xfrm>
            <a:off x="11064240" y="6345936"/>
            <a:ext cx="566928" cy="274320"/>
          </a:xfrm>
          <a:prstGeom prst="rect">
            <a:avLst/>
          </a:prstGeom>
          <a:noFill/>
          <a:ln/>
        </p:spPr>
        <p:txBody>
          <a:bodyPr wrap="square" lIns="0" tIns="0" rIns="0" bIns="0" rtlCol="0" anchor="ctr"/>
          <a:lstStyle/>
          <a:p>
            <a:pPr algn="r" indent="0" marL="0">
              <a:buNone/>
            </a:pPr>
            <a:r>
              <a:rPr lang="en-US" sz="900" dirty="0">
                <a:solidFill>
                  <a:srgbClr val="7A756C"/>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B1A17"/>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B1A17"/>
          </a:solidFill>
          <a:ln/>
        </p:spPr>
      </p:sp>
      <p:sp>
        <p:nvSpPr>
          <p:cNvPr id="3" name="Text 1"/>
          <p:cNvSpPr txBox="1"/>
          <p:nvPr/>
        </p:nvSpPr>
        <p:spPr>
          <a:xfrm>
            <a:off x="822960" y="786384"/>
            <a:ext cx="10058400" cy="274320"/>
          </a:xfrm>
          <a:prstGeom prst="rect">
            <a:avLst/>
          </a:prstGeom>
          <a:noFill/>
          <a:ln/>
        </p:spPr>
        <p:txBody>
          <a:bodyPr wrap="square" lIns="0" tIns="0" rIns="0" bIns="0" rtlCol="0" anchor="ctr"/>
          <a:lstStyle/>
          <a:p>
            <a:pPr indent="0" marL="0">
              <a:buNone/>
            </a:pPr>
            <a:r>
              <a:rPr lang="en-US" sz="1100" b="1" spc="220" kern="0" dirty="0">
                <a:solidFill>
                  <a:srgbClr val="9B96E0"/>
                </a:solidFill>
                <a:latin typeface="Calibri" pitchFamily="34" charset="0"/>
                <a:ea typeface="Calibri" pitchFamily="34" charset="-122"/>
                <a:cs typeface="Calibri" pitchFamily="34" charset="-120"/>
              </a:rPr>
              <a:t>THE ARGUMENT IN ONE LINE</a:t>
            </a:r>
            <a:endParaRPr lang="en-US" sz="1100" dirty="0"/>
          </a:p>
        </p:txBody>
      </p:sp>
      <p:sp>
        <p:nvSpPr>
          <p:cNvPr id="4" name="Text 2"/>
          <p:cNvSpPr txBox="1"/>
          <p:nvPr/>
        </p:nvSpPr>
        <p:spPr>
          <a:xfrm>
            <a:off x="822960" y="1207008"/>
            <a:ext cx="10515600" cy="1371600"/>
          </a:xfrm>
          <a:prstGeom prst="rect">
            <a:avLst/>
          </a:prstGeom>
          <a:noFill/>
          <a:ln/>
        </p:spPr>
        <p:txBody>
          <a:bodyPr wrap="square" lIns="0" tIns="0" rIns="0" bIns="0" rtlCol="0" anchor="ctr"/>
          <a:lstStyle/>
          <a:p>
            <a:pPr indent="0" marL="0">
              <a:lnSpc>
                <a:spcPts val="4400"/>
              </a:lnSpc>
              <a:buNone/>
            </a:pPr>
            <a:r>
              <a:rPr lang="en-US" sz="3300" b="1" dirty="0">
                <a:solidFill>
                  <a:srgbClr val="FFFEFB"/>
                </a:solidFill>
                <a:latin typeface="Cambria" pitchFamily="34" charset="0"/>
                <a:ea typeface="Cambria" pitchFamily="34" charset="-122"/>
                <a:cs typeface="Cambria" pitchFamily="34" charset="-120"/>
              </a:rPr>
              <a:t>The market converged on the model layer and left the matter layer empty. Themis.ai is built on the matter layer.</a:t>
            </a:r>
            <a:endParaRPr lang="en-US" sz="3300" dirty="0"/>
          </a:p>
        </p:txBody>
      </p:sp>
      <p:sp>
        <p:nvSpPr>
          <p:cNvPr id="5" name="Shape 3"/>
          <p:cNvSpPr/>
          <p:nvPr/>
        </p:nvSpPr>
        <p:spPr>
          <a:xfrm>
            <a:off x="822960" y="2798064"/>
            <a:ext cx="10515600" cy="10973"/>
          </a:xfrm>
          <a:prstGeom prst="rect">
            <a:avLst/>
          </a:prstGeom>
          <a:solidFill>
            <a:srgbClr val="46433D"/>
          </a:solidFill>
          <a:ln/>
        </p:spPr>
      </p:sp>
      <p:sp>
        <p:nvSpPr>
          <p:cNvPr id="6" name="Text 4"/>
          <p:cNvSpPr txBox="1"/>
          <p:nvPr/>
        </p:nvSpPr>
        <p:spPr>
          <a:xfrm>
            <a:off x="822960" y="3035808"/>
            <a:ext cx="5120640" cy="292608"/>
          </a:xfrm>
          <a:prstGeom prst="rect">
            <a:avLst/>
          </a:prstGeom>
          <a:noFill/>
          <a:ln/>
        </p:spPr>
        <p:txBody>
          <a:bodyPr wrap="square" lIns="0" tIns="0" rIns="0" bIns="0" rtlCol="0" anchor="ctr"/>
          <a:lstStyle/>
          <a:p>
            <a:pPr indent="0" marL="0">
              <a:buNone/>
            </a:pPr>
            <a:r>
              <a:rPr lang="en-US" sz="1400" b="1" dirty="0">
                <a:solidFill>
                  <a:srgbClr val="FFFEFB"/>
                </a:solidFill>
                <a:latin typeface="Calibri" pitchFamily="34" charset="0"/>
                <a:ea typeface="Calibri" pitchFamily="34" charset="-122"/>
                <a:cs typeface="Calibri" pitchFamily="34" charset="-120"/>
              </a:rPr>
              <a:t>What would change this reading</a:t>
            </a:r>
            <a:endParaRPr lang="en-US" sz="1400" dirty="0"/>
          </a:p>
        </p:txBody>
      </p:sp>
      <p:sp>
        <p:nvSpPr>
          <p:cNvPr id="7" name="Text 5"/>
          <p:cNvSpPr txBox="1"/>
          <p:nvPr/>
        </p:nvSpPr>
        <p:spPr>
          <a:xfrm>
            <a:off x="822960" y="3401568"/>
            <a:ext cx="5120640" cy="1920240"/>
          </a:xfrm>
          <a:prstGeom prst="rect">
            <a:avLst/>
          </a:prstGeom>
          <a:noFill/>
          <a:ln/>
        </p:spPr>
        <p:txBody>
          <a:bodyPr wrap="square" lIns="0" tIns="0" rIns="0" bIns="0" rtlCol="0" anchor="ctr"/>
          <a:lstStyle/>
          <a:p>
            <a:pPr marL="342900" indent="-342900">
              <a:lnSpc>
                <a:spcPts val="1600"/>
              </a:lnSpc>
              <a:spcAft>
                <a:spcPts val="700"/>
              </a:spcAft>
              <a:buSzPct val="100000"/>
              <a:buChar char="•"/>
            </a:pPr>
            <a:r>
              <a:rPr lang="en-US" sz="1200" dirty="0">
                <a:solidFill>
                  <a:srgbClr val="C9C4BA"/>
                </a:solidFill>
                <a:latin typeface="Calibri" pitchFamily="34" charset="0"/>
                <a:ea typeface="Calibri" pitchFamily="34" charset="-122"/>
                <a:cs typeface="Calibri" pitchFamily="34" charset="-120"/>
              </a:rPr>
              <a:t>A specialist platform publishing a matched-prompt benchmark it wins — none exists in 203 records</a:t>
            </a:r>
            <a:endParaRPr lang="en-US" sz="1200" dirty="0"/>
          </a:p>
          <a:p>
            <a:pPr marL="342900" indent="-342900">
              <a:lnSpc>
                <a:spcPts val="1600"/>
              </a:lnSpc>
              <a:spcAft>
                <a:spcPts val="700"/>
              </a:spcAft>
              <a:buSzPct val="100000"/>
              <a:buChar char="•"/>
            </a:pPr>
            <a:r>
              <a:rPr lang="en-US" sz="1200" dirty="0">
                <a:solidFill>
                  <a:srgbClr val="C9C4BA"/>
                </a:solidFill>
                <a:latin typeface="Calibri" pitchFamily="34" charset="0"/>
                <a:ea typeface="Calibri" pitchFamily="34" charset="-122"/>
                <a:cs typeface="Calibri" pitchFamily="34" charset="-120"/>
              </a:rPr>
              <a:t>Harvey’s Tenet model closing the quality gap the wrapper critique opened (reddit-173)</a:t>
            </a:r>
            <a:endParaRPr lang="en-US" sz="1200" dirty="0"/>
          </a:p>
          <a:p>
            <a:pPr marL="342900" indent="-342900">
              <a:lnSpc>
                <a:spcPts val="1600"/>
              </a:lnSpc>
              <a:spcAft>
                <a:spcPts val="700"/>
              </a:spcAft>
              <a:buSzPct val="100000"/>
              <a:buChar char="•"/>
            </a:pPr>
            <a:r>
              <a:rPr lang="en-US" sz="1200" dirty="0">
                <a:solidFill>
                  <a:srgbClr val="C9C4BA"/>
                </a:solidFill>
                <a:latin typeface="Calibri" pitchFamily="34" charset="0"/>
                <a:ea typeface="Calibri" pitchFamily="34" charset="-122"/>
                <a:cs typeface="Calibri" pitchFamily="34" charset="-120"/>
              </a:rPr>
              <a:t>Frontier vendors shipping the matter object themselves, at which point this is a distribution race</a:t>
            </a:r>
            <a:endParaRPr lang="en-US" sz="1200" dirty="0"/>
          </a:p>
          <a:p>
            <a:pPr marL="342900" indent="-342900">
              <a:lnSpc>
                <a:spcPts val="1600"/>
              </a:lnSpc>
              <a:spcAft>
                <a:spcPts val="700"/>
              </a:spcAft>
              <a:buSzPct val="100000"/>
              <a:buChar char="•"/>
            </a:pPr>
            <a:r>
              <a:rPr lang="en-US" sz="1200" dirty="0">
                <a:solidFill>
                  <a:srgbClr val="C9C4BA"/>
                </a:solidFill>
                <a:latin typeface="Calibri" pitchFamily="34" charset="0"/>
                <a:ea typeface="Calibri" pitchFamily="34" charset="-122"/>
                <a:cs typeface="Calibri" pitchFamily="34" charset="-120"/>
              </a:rPr>
              <a:t>Enterprise procurement hardening around a short vendor list before small teams can self-serve</a:t>
            </a:r>
            <a:endParaRPr lang="en-US" sz="1200" dirty="0"/>
          </a:p>
        </p:txBody>
      </p:sp>
      <p:sp>
        <p:nvSpPr>
          <p:cNvPr id="8" name="Text 6"/>
          <p:cNvSpPr txBox="1"/>
          <p:nvPr/>
        </p:nvSpPr>
        <p:spPr>
          <a:xfrm>
            <a:off x="6309360" y="3035808"/>
            <a:ext cx="5029200" cy="292608"/>
          </a:xfrm>
          <a:prstGeom prst="rect">
            <a:avLst/>
          </a:prstGeom>
          <a:noFill/>
          <a:ln/>
        </p:spPr>
        <p:txBody>
          <a:bodyPr wrap="square" lIns="0" tIns="0" rIns="0" bIns="0" rtlCol="0" anchor="ctr"/>
          <a:lstStyle/>
          <a:p>
            <a:pPr indent="0" marL="0">
              <a:buNone/>
            </a:pPr>
            <a:r>
              <a:rPr lang="en-US" sz="1400" b="1" dirty="0">
                <a:solidFill>
                  <a:srgbClr val="FFFEFB"/>
                </a:solidFill>
                <a:latin typeface="Calibri" pitchFamily="34" charset="0"/>
                <a:ea typeface="Calibri" pitchFamily="34" charset="-122"/>
                <a:cs typeface="Calibri" pitchFamily="34" charset="-120"/>
              </a:rPr>
              <a:t>How much weight this evidence carries</a:t>
            </a:r>
            <a:endParaRPr lang="en-US" sz="1400" dirty="0"/>
          </a:p>
        </p:txBody>
      </p:sp>
      <p:sp>
        <p:nvSpPr>
          <p:cNvPr id="9" name="Text 7"/>
          <p:cNvSpPr txBox="1"/>
          <p:nvPr/>
        </p:nvSpPr>
        <p:spPr>
          <a:xfrm>
            <a:off x="6309360" y="3401568"/>
            <a:ext cx="5029200" cy="1920240"/>
          </a:xfrm>
          <a:prstGeom prst="rect">
            <a:avLst/>
          </a:prstGeom>
          <a:noFill/>
          <a:ln/>
        </p:spPr>
        <p:txBody>
          <a:bodyPr wrap="square" lIns="0" tIns="0" rIns="0" bIns="0" rtlCol="0" anchor="ctr"/>
          <a:lstStyle/>
          <a:p>
            <a:pPr marL="342900" indent="-342900">
              <a:lnSpc>
                <a:spcPts val="1600"/>
              </a:lnSpc>
              <a:spcAft>
                <a:spcPts val="700"/>
              </a:spcAft>
              <a:buSzPct val="100000"/>
              <a:buChar char="•"/>
            </a:pPr>
            <a:r>
              <a:rPr lang="en-US" sz="1200" dirty="0">
                <a:solidFill>
                  <a:srgbClr val="C9C4BA"/>
                </a:solidFill>
                <a:latin typeface="Calibri" pitchFamily="34" charset="0"/>
                <a:ea typeface="Calibri" pitchFamily="34" charset="-122"/>
                <a:cs typeface="Calibri" pitchFamily="34" charset="-120"/>
              </a:rPr>
              <a:t>Self-selected practitioner reports — not a survey, not a controlled trial, and skeptics post more than satisfied users</a:t>
            </a:r>
            <a:endParaRPr lang="en-US" sz="1200" dirty="0"/>
          </a:p>
          <a:p>
            <a:pPr marL="342900" indent="-342900">
              <a:lnSpc>
                <a:spcPts val="1600"/>
              </a:lnSpc>
              <a:spcAft>
                <a:spcPts val="700"/>
              </a:spcAft>
              <a:buSzPct val="100000"/>
              <a:buChar char="•"/>
            </a:pPr>
            <a:r>
              <a:rPr lang="en-US" sz="1200" dirty="0">
                <a:solidFill>
                  <a:srgbClr val="C9C4BA"/>
                </a:solidFill>
                <a:latin typeface="Calibri" pitchFamily="34" charset="0"/>
                <a:ea typeface="Calibri" pitchFamily="34" charset="-122"/>
                <a:cs typeface="Calibri" pitchFamily="34" charset="-120"/>
              </a:rPr>
              <a:t>Confidence graded at capture: 117 high, 63 medium, 12 low, 11 unusable</a:t>
            </a:r>
            <a:endParaRPr lang="en-US" sz="1200" dirty="0"/>
          </a:p>
          <a:p>
            <a:pPr marL="342900" indent="-342900">
              <a:lnSpc>
                <a:spcPts val="1600"/>
              </a:lnSpc>
              <a:spcAft>
                <a:spcPts val="700"/>
              </a:spcAft>
              <a:buSzPct val="100000"/>
              <a:buChar char="•"/>
            </a:pPr>
            <a:r>
              <a:rPr lang="en-US" sz="1200" dirty="0">
                <a:solidFill>
                  <a:srgbClr val="C9C4BA"/>
                </a:solidFill>
                <a:latin typeface="Calibri" pitchFamily="34" charset="0"/>
                <a:ea typeface="Calibri" pitchFamily="34" charset="-122"/>
                <a:cs typeface="Calibri" pitchFamily="34" charset="-120"/>
              </a:rPr>
              <a:t>71% of records come from three subreddits; BigLaw and legaltech are over-represented against small firms</a:t>
            </a:r>
            <a:endParaRPr lang="en-US" sz="1200" dirty="0"/>
          </a:p>
          <a:p>
            <a:pPr marL="342900" indent="-342900">
              <a:lnSpc>
                <a:spcPts val="1600"/>
              </a:lnSpc>
              <a:spcAft>
                <a:spcPts val="700"/>
              </a:spcAft>
              <a:buSzPct val="100000"/>
              <a:buChar char="•"/>
            </a:pPr>
            <a:r>
              <a:rPr lang="en-US" sz="1200" dirty="0">
                <a:solidFill>
                  <a:srgbClr val="C9C4BA"/>
                </a:solidFill>
                <a:latin typeface="Calibri" pitchFamily="34" charset="0"/>
                <a:ea typeface="Calibri" pitchFamily="34" charset="-122"/>
                <a:cs typeface="Calibri" pitchFamily="34" charset="-120"/>
              </a:rPr>
              <a:t>116 records are dated March–August 2026 — a snapshot of now, not a trend line</a:t>
            </a:r>
            <a:endParaRPr lang="en-US" sz="1200" dirty="0"/>
          </a:p>
        </p:txBody>
      </p:sp>
      <p:sp>
        <p:nvSpPr>
          <p:cNvPr id="10" name="Text 8"/>
          <p:cNvSpPr txBox="1"/>
          <p:nvPr/>
        </p:nvSpPr>
        <p:spPr>
          <a:xfrm>
            <a:off x="822960" y="5943600"/>
            <a:ext cx="8229600" cy="274320"/>
          </a:xfrm>
          <a:prstGeom prst="rect">
            <a:avLst/>
          </a:prstGeom>
          <a:noFill/>
          <a:ln/>
        </p:spPr>
        <p:txBody>
          <a:bodyPr wrap="square" lIns="0" tIns="0" rIns="0" bIns="0" rtlCol="0" anchor="ctr"/>
          <a:lstStyle/>
          <a:p>
            <a:pPr indent="0" marL="0">
              <a:buNone/>
            </a:pPr>
            <a:r>
              <a:rPr lang="en-US" sz="1050" dirty="0">
                <a:solidFill>
                  <a:srgbClr val="7C766D"/>
                </a:solidFill>
                <a:latin typeface="Calibri" pitchFamily="34" charset="0"/>
                <a:ea typeface="Calibri" pitchFamily="34" charset="-122"/>
                <a:cs typeface="Calibri" pitchFamily="34" charset="-120"/>
              </a:rPr>
              <a:t>Source corpus: legal-ai-reddit-source-corpus.jsonl · 203 records · 16 discovery passes · compiled 1 September 2026</a:t>
            </a:r>
            <a:endParaRPr lang="en-US" sz="1050" dirty="0"/>
          </a:p>
        </p:txBody>
      </p:sp>
      <p:sp>
        <p:nvSpPr>
          <p:cNvPr id="11" name="Text 9"/>
          <p:cNvSpPr txBox="1"/>
          <p:nvPr/>
        </p:nvSpPr>
        <p:spPr>
          <a:xfrm>
            <a:off x="9418320" y="5943600"/>
            <a:ext cx="1965960" cy="274320"/>
          </a:xfrm>
          <a:prstGeom prst="rect">
            <a:avLst/>
          </a:prstGeom>
          <a:noFill/>
          <a:ln/>
        </p:spPr>
        <p:txBody>
          <a:bodyPr wrap="square" lIns="0" tIns="0" rIns="0" bIns="0" rtlCol="0" anchor="ctr"/>
          <a:lstStyle/>
          <a:p>
            <a:pPr algn="r" indent="0" marL="0">
              <a:buNone/>
            </a:pPr>
            <a:r>
              <a:rPr lang="en-US" sz="1100" b="1" spc="200" kern="0" dirty="0">
                <a:solidFill>
                  <a:srgbClr val="9B96E0"/>
                </a:solidFill>
                <a:latin typeface="Calibri" pitchFamily="34" charset="0"/>
                <a:ea typeface="Calibri" pitchFamily="34" charset="-122"/>
                <a:cs typeface="Calibri" pitchFamily="34" charset="-120"/>
              </a:rPr>
              <a:t>THEMIS · AI</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Themis.ai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Legal AI: Voice of the Practitioner</dc:title>
  <dc:subject>PptxGenJS Presentation</dc:subject>
  <dc:creator>Themis.ai</dc:creator>
  <cp:lastModifiedBy>Themis.ai</cp:lastModifiedBy>
  <cp:revision>1</cp:revision>
  <dcterms:created xsi:type="dcterms:W3CDTF">2026-09-01T06:24:06Z</dcterms:created>
  <dcterms:modified xsi:type="dcterms:W3CDTF">2026-09-01T06:24:06Z</dcterms:modified>
</cp:coreProperties>
</file>