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95ac41643b445a" /><Relationship Type="http://schemas.openxmlformats.org/officeDocument/2006/relationships/extended-properties" Target="/docProps/app.xml" Id="Rfcbbde041f8a4886" /><Relationship Type="http://schemas.openxmlformats.org/officeDocument/2006/relationships/officeDocument" Target="/ppt/presentation.xml" Id="R0e823c0fa1f04a19" /></Relationships>
</file>

<file path=ppt/presentation.xml><?xml version="1.0" encoding="utf-8"?>
<p:presentation xmlns:p="http://schemas.openxmlformats.org/presentationml/2006/main">
  <p:sldMasterIdLst>
    <p:sldMasterId xmlns:r="http://schemas.openxmlformats.org/officeDocument/2006/relationships" id="2147483648" r:id="Rf159ae54a8ef40d6"/>
  </p:sldMasterIdLst>
  <p:notesMasterIdLst>
    <p:notesMasterId xmlns:r="http://schemas.openxmlformats.org/officeDocument/2006/relationships" r:id="Rb62020ac495f48fb"/>
  </p:notesMasterIdLst>
  <p:sldIdLst>
    <p:sldId xmlns:r="http://schemas.openxmlformats.org/officeDocument/2006/relationships" id="256" r:id="R51a9da701bf34e9a"/>
    <p:sldId xmlns:r="http://schemas.openxmlformats.org/officeDocument/2006/relationships" id="257" r:id="R7c97b4c67ea94178"/>
    <p:sldId xmlns:r="http://schemas.openxmlformats.org/officeDocument/2006/relationships" id="258" r:id="R7418df95ae624bc6"/>
    <p:sldId xmlns:r="http://schemas.openxmlformats.org/officeDocument/2006/relationships" id="259" r:id="R9dd285ab23ef4c34"/>
    <p:sldId xmlns:r="http://schemas.openxmlformats.org/officeDocument/2006/relationships" id="260" r:id="R2f085c79a2524b52"/>
    <p:sldId xmlns:r="http://schemas.openxmlformats.org/officeDocument/2006/relationships" id="261" r:id="R7aa12043a4444016"/>
    <p:sldId xmlns:r="http://schemas.openxmlformats.org/officeDocument/2006/relationships" id="262" r:id="R26af589357da4def"/>
    <p:sldId xmlns:r="http://schemas.openxmlformats.org/officeDocument/2006/relationships" id="263" r:id="R288a9d9418254783"/>
    <p:sldId xmlns:r="http://schemas.openxmlformats.org/officeDocument/2006/relationships" id="264" r:id="Raf1164983ead4440"/>
    <p:sldId xmlns:r="http://schemas.openxmlformats.org/officeDocument/2006/relationships" id="265" r:id="R23e9dfe801f247ca"/>
    <p:sldId xmlns:r="http://schemas.openxmlformats.org/officeDocument/2006/relationships" id="266" r:id="Rb871bf083c8a44e4"/>
    <p:sldId xmlns:r="http://schemas.openxmlformats.org/officeDocument/2006/relationships" id="267" r:id="Rabfa121047ab43d6"/>
    <p:sldId xmlns:r="http://schemas.openxmlformats.org/officeDocument/2006/relationships" id="268" r:id="Ra803ccc6c1ee4347"/>
    <p:sldId xmlns:r="http://schemas.openxmlformats.org/officeDocument/2006/relationships" id="269" r:id="R8df91d9f55ea4d2f"/>
    <p:sldId xmlns:r="http://schemas.openxmlformats.org/officeDocument/2006/relationships" id="270" r:id="Rb7d765c8963649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57d9f7c57846af" /><Relationship Type="http://schemas.openxmlformats.org/officeDocument/2006/relationships/slideMaster" Target="/ppt/slideMasters/slideMaster1.xml" Id="Rf159ae54a8ef40d6" /><Relationship Type="http://schemas.openxmlformats.org/officeDocument/2006/relationships/notesMaster" Target="/ppt/notesMasters/notesMaster1.xml" Id="Rb62020ac495f48fb" /><Relationship Type="http://schemas.openxmlformats.org/officeDocument/2006/relationships/presProps" Target="/ppt/presProps.xml" Id="Rf9b709a9f8804ffd" /><Relationship Type="http://schemas.openxmlformats.org/officeDocument/2006/relationships/tableStyles" Target="/ppt/tableStyles.xml" Id="R02fa59167b2a4d14" /><Relationship Type="http://schemas.openxmlformats.org/officeDocument/2006/relationships/slide" Target="/ppt/slides/slide1.xml" Id="R51a9da701bf34e9a" /><Relationship Type="http://schemas.openxmlformats.org/officeDocument/2006/relationships/slide" Target="/ppt/slides/slide2.xml" Id="R7c97b4c67ea94178" /><Relationship Type="http://schemas.openxmlformats.org/officeDocument/2006/relationships/slide" Target="/ppt/slides/slide3.xml" Id="R7418df95ae624bc6" /><Relationship Type="http://schemas.openxmlformats.org/officeDocument/2006/relationships/slide" Target="/ppt/slides/slide4.xml" Id="R9dd285ab23ef4c34" /><Relationship Type="http://schemas.openxmlformats.org/officeDocument/2006/relationships/slide" Target="/ppt/slides/slide5.xml" Id="R2f085c79a2524b52" /><Relationship Type="http://schemas.openxmlformats.org/officeDocument/2006/relationships/slide" Target="/ppt/slides/slide6.xml" Id="R7aa12043a4444016" /><Relationship Type="http://schemas.openxmlformats.org/officeDocument/2006/relationships/slide" Target="/ppt/slides/slide7.xml" Id="R26af589357da4def" /><Relationship Type="http://schemas.openxmlformats.org/officeDocument/2006/relationships/slide" Target="/ppt/slides/slide8.xml" Id="R288a9d9418254783" /><Relationship Type="http://schemas.openxmlformats.org/officeDocument/2006/relationships/slide" Target="/ppt/slides/slide9.xml" Id="Raf1164983ead4440" /><Relationship Type="http://schemas.openxmlformats.org/officeDocument/2006/relationships/slide" Target="/ppt/slides/slide10.xml" Id="R23e9dfe801f247ca" /><Relationship Type="http://schemas.openxmlformats.org/officeDocument/2006/relationships/slide" Target="/ppt/slides/slide11.xml" Id="Rb871bf083c8a44e4" /><Relationship Type="http://schemas.openxmlformats.org/officeDocument/2006/relationships/slide" Target="/ppt/slides/slide12.xml" Id="Rabfa121047ab43d6" /><Relationship Type="http://schemas.openxmlformats.org/officeDocument/2006/relationships/slide" Target="/ppt/slides/slide13.xml" Id="Ra803ccc6c1ee4347" /><Relationship Type="http://schemas.openxmlformats.org/officeDocument/2006/relationships/slide" Target="/ppt/slides/slide14.xml" Id="R8df91d9f55ea4d2f" /><Relationship Type="http://schemas.openxmlformats.org/officeDocument/2006/relationships/slide" Target="/ppt/slides/slide15.xml" Id="Rb7d765c8963649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14cb91a1a148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e0cbac89724ffb" /><Relationship Type="http://schemas.openxmlformats.org/officeDocument/2006/relationships/notesMaster" Target="/ppt/notesMasters/notesMaster1.xml" Id="R2e2c9f7d7e5444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4dedbe0ee34eff" /><Relationship Type="http://schemas.openxmlformats.org/officeDocument/2006/relationships/notesMaster" Target="/ppt/notesMasters/notesMaster1.xml" Id="R4694571588b94c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b7ab06c11249bd" /><Relationship Type="http://schemas.openxmlformats.org/officeDocument/2006/relationships/notesMaster" Target="/ppt/notesMasters/notesMaster1.xml" Id="R2a6a76f0b8e545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1593028a49451b" /><Relationship Type="http://schemas.openxmlformats.org/officeDocument/2006/relationships/notesMaster" Target="/ppt/notesMasters/notesMaster1.xml" Id="Rbfdabebcb86943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e7f9252d3d440c" /><Relationship Type="http://schemas.openxmlformats.org/officeDocument/2006/relationships/notesMaster" Target="/ppt/notesMasters/notesMaster1.xml" Id="Raf30c69ced2c4a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af00ff617f4031" /><Relationship Type="http://schemas.openxmlformats.org/officeDocument/2006/relationships/notesMaster" Target="/ppt/notesMasters/notesMaster1.xml" Id="R88c0da1bdfa547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57fcb5578c4f3b" /><Relationship Type="http://schemas.openxmlformats.org/officeDocument/2006/relationships/notesMaster" Target="/ppt/notesMasters/notesMaster1.xml" Id="Rc494a181f38347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017c0276094b01" /><Relationship Type="http://schemas.openxmlformats.org/officeDocument/2006/relationships/notesMaster" Target="/ppt/notesMasters/notesMaster1.xml" Id="R29397fbb702244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ef63009d9b4982" /><Relationship Type="http://schemas.openxmlformats.org/officeDocument/2006/relationships/notesMaster" Target="/ppt/notesMasters/notesMaster1.xml" Id="R7633cf2306e043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40b249d7774204" /><Relationship Type="http://schemas.openxmlformats.org/officeDocument/2006/relationships/notesMaster" Target="/ppt/notesMasters/notesMaster1.xml" Id="Rfbf82232e0964d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ac8a1bdb9a4b2b" /><Relationship Type="http://schemas.openxmlformats.org/officeDocument/2006/relationships/notesMaster" Target="/ppt/notesMasters/notesMaster1.xml" Id="R6ec40a7c714c47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52eab1b6bd4cab" /><Relationship Type="http://schemas.openxmlformats.org/officeDocument/2006/relationships/notesMaster" Target="/ppt/notesMasters/notesMaster1.xml" Id="R1dc81db4f3ed4c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f5c081c5524242" /><Relationship Type="http://schemas.openxmlformats.org/officeDocument/2006/relationships/notesMaster" Target="/ppt/notesMasters/notesMaster1.xml" Id="R172bfa37d4774b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63c13159574adc" /><Relationship Type="http://schemas.openxmlformats.org/officeDocument/2006/relationships/notesMaster" Target="/ppt/notesMasters/notesMaster1.xml" Id="R094de5414df64a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c25dae4cf947b4" /><Relationship Type="http://schemas.openxmlformats.org/officeDocument/2006/relationships/notesMaster" Target="/ppt/notesMasters/notesMaster1.xml" Id="Rfe90daf07b5944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Not a measured customer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visual issue map and hypothetical comparison are proposed next work.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displayed quote is a contiguous excerpt from the founder’s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f429e7029f49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d754e75e8e467a" /><Relationship Type="http://schemas.openxmlformats.org/officeDocument/2006/relationships/slideLayout" Target="/ppt/slideLayouts/slideLayout1.xml" Id="R30e1175b8fdf41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e1175b8fdf41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6f82a9d4714fe5" /><Relationship Type="http://schemas.openxmlformats.org/officeDocument/2006/relationships/image" Target="/ppt/media/image.png" Id="R78cff87f54c244c7" /><Relationship Type="http://schemas.openxmlformats.org/officeDocument/2006/relationships/notesSlide" Target="/ppt/notesSlides/notesSlide1.xml" Id="R7bf5d30a4c4942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93bd4930a94721" /><Relationship Type="http://schemas.openxmlformats.org/officeDocument/2006/relationships/notesSlide" Target="/ppt/notesSlides/notesSlide2.xml" Id="R10bf238c33b241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9e771a1955480a" /><Relationship Type="http://schemas.openxmlformats.org/officeDocument/2006/relationships/notesSlide" Target="/ppt/notesSlides/notesSlide3.xml" Id="Ra21ae70177744d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47eebe302b4dfb" /><Relationship Type="http://schemas.openxmlformats.org/officeDocument/2006/relationships/notesSlide" Target="/ppt/notesSlides/notesSlide4.xml" Id="R309592fb25ee43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97e7c4a29b4702" /><Relationship Type="http://schemas.openxmlformats.org/officeDocument/2006/relationships/notesSlide" Target="/ppt/notesSlides/notesSlide5.xml" Id="Re8e88018536c40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e595042e1949e1" /><Relationship Type="http://schemas.openxmlformats.org/officeDocument/2006/relationships/notesSlide" Target="/ppt/notesSlides/notesSlide6.xml" Id="R0af41a6c8e3b47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3af840f71540c3" /><Relationship Type="http://schemas.openxmlformats.org/officeDocument/2006/relationships/notesSlide" Target="/ppt/notesSlides/notesSlide7.xml" Id="R36a2c6e0408c43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0f9a2d16324fb4" /><Relationship Type="http://schemas.openxmlformats.org/officeDocument/2006/relationships/notesSlide" Target="/ppt/notesSlides/notesSlide8.xml" Id="R5cfd145c17ab46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eb2fa477e7461d" /><Relationship Type="http://schemas.openxmlformats.org/officeDocument/2006/relationships/notesSlide" Target="/ppt/notesSlides/notesSlide9.xml" Id="R84c9b4544dab41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896e2b806741b9" /><Relationship Type="http://schemas.openxmlformats.org/officeDocument/2006/relationships/notesSlide" Target="/ppt/notesSlides/notesSlide10.xml" Id="R9c86f9b9876948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43119f9cb7488f" /><Relationship Type="http://schemas.openxmlformats.org/officeDocument/2006/relationships/notesSlide" Target="/ppt/notesSlides/notesSlide11.xml" Id="R4b701d931bd744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13ee90c13f4f61" /><Relationship Type="http://schemas.openxmlformats.org/officeDocument/2006/relationships/image" Target="/ppt/media/image2.png" Id="Rf8ea9063b9fa4259" /><Relationship Type="http://schemas.openxmlformats.org/officeDocument/2006/relationships/notesSlide" Target="/ppt/notesSlides/notesSlide12.xml" Id="R9bcb4fce2cad45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54d7d969194def" /><Relationship Type="http://schemas.openxmlformats.org/officeDocument/2006/relationships/notesSlide" Target="/ppt/notesSlides/notesSlide13.xml" Id="Rd8345270425246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b18383a5cc4f18" /><Relationship Type="http://schemas.openxmlformats.org/officeDocument/2006/relationships/image" Target="/ppt/media/image3.png" Id="Rb3e1a492f6d648ee" /><Relationship Type="http://schemas.openxmlformats.org/officeDocument/2006/relationships/notesSlide" Target="/ppt/notesSlides/notesSlide14.xml" Id="Rb2c5e74849ed49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a1fa826df4a4b98" /><Relationship Type="http://schemas.openxmlformats.org/officeDocument/2006/relationships/notesSlide" Target="/ppt/notesSlides/notesSlide15.xml" Id="R29abb6d2e2004b55"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8cff87f54c244c7"/>
          <a:srcRect xmlns:a="http://schemas.openxmlformats.org/drawingml/2006/main" l="26941" t="0" r="2694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3490D3-411A-4FC3-8F14-13B945505EFD}"/>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3" name="">
            <a:extLst xmlns:a="http://schemas.openxmlformats.org/drawingml/2006/main">
              <a:ext uri="{FF2B5EF4-FFF2-40B4-BE49-F238E27FC236}">
                <a16:creationId xmlns:a16="http://schemas.microsoft.com/office/drawing/2014/main" id="{0271E1AB-E1F3-4C08-80C9-2ACDA6D97100}"/>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4" name="">
            <a:extLst xmlns:a="http://schemas.openxmlformats.org/drawingml/2006/main">
              <a:ext uri="{FF2B5EF4-FFF2-40B4-BE49-F238E27FC236}">
                <a16:creationId xmlns:a16="http://schemas.microsoft.com/office/drawing/2014/main" id="{1F1374F0-571C-492C-B123-2F9F2DF48F5E}"/>
              </a:ext>
            </a:extLst>
          </p:cNvPr>
          <p:cNvSpPr>
            <a:spLocks xmlns:a="http://schemas.openxmlformats.org/drawingml/2006/main" noGrp="1"/>
          </p:cNvSpPr>
          <p:nvPr/>
        </p:nvSpPr>
        <p:spPr>
          <a:xfrm xmlns:a="http://schemas.openxmlformats.org/drawingml/2006/main">
            <a:off x="647700" y="4876800"/>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DBE1EB"/>
                </a:solidFill>
                <a:latin typeface="Arial"/>
                <a:ea typeface="Arial"/>
                <a:cs typeface="Arial"/>
              </a:defRPr>
            </a:pPr>
            <a:r>
              <a:rPr sz="2025" b="0">
                <a:solidFill>
                  <a:srgbClr val="DBE1EB"/>
                </a:solidFill>
                <a:latin typeface="Arial"/>
                <a:ea typeface="Arial"/>
                <a:cs typeface="Arial"/>
              </a:rPr>
              <a:t>A legal workspace for consequential</a:t>
            </a:r>
          </a:p>
          <a:p xmlns:a="http://schemas.openxmlformats.org/drawingml/2006/main">
            <a:pPr>
              <a:lnSpc>
                <a:spcPct val="110000"/>
              </a:lnSpc>
              <a:buNone/>
              <a:defRPr sz="2025" b="0">
                <a:solidFill>
                  <a:srgbClr val="DBE1EB"/>
                </a:solidFill>
                <a:latin typeface="Arial"/>
                <a:ea typeface="Arial"/>
                <a:cs typeface="Arial"/>
              </a:defRPr>
            </a:pPr>
            <a:r>
              <a:rPr sz="2025" b="0">
                <a:solidFill>
                  <a:srgbClr val="DBE1EB"/>
                </a:solidFill>
                <a:latin typeface="Arial"/>
                <a:ea typeface="Arial"/>
                <a:cs typeface="Arial"/>
              </a:rPr>
              <a:t>questions and small teams</a:t>
            </a:r>
          </a:p>
        </p:txBody>
      </p:sp>
      <p:sp>
        <p:nvSpPr>
          <p:cNvPr id="5" name="">
            <a:extLst xmlns:a="http://schemas.openxmlformats.org/drawingml/2006/main">
              <a:ext uri="{FF2B5EF4-FFF2-40B4-BE49-F238E27FC236}">
                <a16:creationId xmlns:a16="http://schemas.microsoft.com/office/drawing/2014/main" id="{2F027F88-48E2-4F4B-80D8-D1E4D34CB459}"/>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206657175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9DE267-D840-43F2-9E33-B32AAF351884}"/>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4F0DF2AB-6535-4A1C-9D2E-7658F1EEA8B6}"/>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03BDEC70-B28C-4074-8842-B0A31228F79B}"/>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62E9F34-82F5-4592-B8D8-C63D26C538B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2EA1257-948E-49CF-A1DF-CB4DCCFF404C}"/>
              </a:ext>
            </a:extLst>
          </p:cNvPr>
          <p:cNvSpPr>
            <a:spLocks xmlns:a="http://schemas.openxmlformats.org/drawingml/2006/main" noGrp="1"/>
          </p:cNvSpPr>
          <p:nvPr/>
        </p:nvSpPr>
        <p:spPr>
          <a:xfrm xmlns:a="http://schemas.openxmlformats.org/drawingml/2006/main">
            <a:off x="609600" y="23336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7C91C11-78DD-443B-BD91-C9A014095F00}"/>
              </a:ext>
            </a:extLst>
          </p:cNvPr>
          <p:cNvSpPr>
            <a:spLocks xmlns:a="http://schemas.openxmlformats.org/drawingml/2006/main" noGrp="1"/>
          </p:cNvSpPr>
          <p:nvPr/>
        </p:nvSpPr>
        <p:spPr>
          <a:xfrm xmlns:a="http://schemas.openxmlformats.org/drawingml/2006/main">
            <a:off x="1181100" y="233362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Rebuild the context</a:t>
            </a:r>
          </a:p>
        </p:txBody>
      </p:sp>
      <p:sp>
        <p:nvSpPr>
          <p:cNvPr id="7" name="">
            <a:extLst xmlns:a="http://schemas.openxmlformats.org/drawingml/2006/main">
              <a:ext uri="{FF2B5EF4-FFF2-40B4-BE49-F238E27FC236}">
                <a16:creationId xmlns:a16="http://schemas.microsoft.com/office/drawing/2014/main" id="{B1FE8BA5-E821-40A6-BDDA-AE5A70627BD6}"/>
              </a:ext>
            </a:extLst>
          </p:cNvPr>
          <p:cNvSpPr>
            <a:spLocks xmlns:a="http://schemas.openxmlformats.org/drawingml/2006/main" noGrp="1"/>
          </p:cNvSpPr>
          <p:nvPr/>
        </p:nvSpPr>
        <p:spPr>
          <a:xfrm xmlns:a="http://schemas.openxmlformats.org/drawingml/2006/main">
            <a:off x="1181100" y="2838450"/>
            <a:ext cx="452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Collect documents, explain the business, and reconstruct what happened.</a:t>
            </a:r>
          </a:p>
        </p:txBody>
      </p:sp>
      <p:sp>
        <p:nvSpPr>
          <p:cNvPr id="8" name="">
            <a:extLst xmlns:a="http://schemas.openxmlformats.org/drawingml/2006/main">
              <a:ext uri="{FF2B5EF4-FFF2-40B4-BE49-F238E27FC236}">
                <a16:creationId xmlns:a16="http://schemas.microsoft.com/office/drawing/2014/main" id="{2AD58A19-E4E9-483A-A768-59CEAEB75B60}"/>
              </a:ext>
            </a:extLst>
          </p:cNvPr>
          <p:cNvSpPr>
            <a:spLocks xmlns:a="http://schemas.openxmlformats.org/drawingml/2006/main" noGrp="1"/>
          </p:cNvSpPr>
          <p:nvPr/>
        </p:nvSpPr>
        <p:spPr>
          <a:xfrm xmlns:a="http://schemas.openxmlformats.org/drawingml/2006/main">
            <a:off x="6381750" y="23336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90E610C-0DCA-4972-915C-90D7F92DBBCC}"/>
              </a:ext>
            </a:extLst>
          </p:cNvPr>
          <p:cNvSpPr>
            <a:spLocks xmlns:a="http://schemas.openxmlformats.org/drawingml/2006/main" noGrp="1"/>
          </p:cNvSpPr>
          <p:nvPr/>
        </p:nvSpPr>
        <p:spPr>
          <a:xfrm xmlns:a="http://schemas.openxmlformats.org/drawingml/2006/main">
            <a:off x="6953250" y="233362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Challenge the answer</a:t>
            </a:r>
          </a:p>
        </p:txBody>
      </p:sp>
      <p:sp>
        <p:nvSpPr>
          <p:cNvPr id="10" name="">
            <a:extLst xmlns:a="http://schemas.openxmlformats.org/drawingml/2006/main">
              <a:ext uri="{FF2B5EF4-FFF2-40B4-BE49-F238E27FC236}">
                <a16:creationId xmlns:a16="http://schemas.microsoft.com/office/drawing/2014/main" id="{4FAAFA48-7A0D-4A96-86FD-1E38CE177509}"/>
              </a:ext>
            </a:extLst>
          </p:cNvPr>
          <p:cNvSpPr>
            <a:spLocks xmlns:a="http://schemas.openxmlformats.org/drawingml/2006/main" noGrp="1"/>
          </p:cNvSpPr>
          <p:nvPr/>
        </p:nvSpPr>
        <p:spPr>
          <a:xfrm xmlns:a="http://schemas.openxmlformats.org/drawingml/2006/main">
            <a:off x="6953250" y="2838450"/>
            <a:ext cx="452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Find hidden assumptions. Check sources. Correct unwarranted certainty.</a:t>
            </a:r>
          </a:p>
        </p:txBody>
      </p:sp>
      <p:sp>
        <p:nvSpPr>
          <p:cNvPr id="11" name="">
            <a:extLst xmlns:a="http://schemas.openxmlformats.org/drawingml/2006/main">
              <a:ext uri="{FF2B5EF4-FFF2-40B4-BE49-F238E27FC236}">
                <a16:creationId xmlns:a16="http://schemas.microsoft.com/office/drawing/2014/main" id="{0BC858FA-1F5B-43B7-AFCF-42B5C757F12C}"/>
              </a:ext>
            </a:extLst>
          </p:cNvPr>
          <p:cNvSpPr>
            <a:spLocks xmlns:a="http://schemas.openxmlformats.org/drawingml/2006/main" noGrp="1"/>
          </p:cNvSpPr>
          <p:nvPr/>
        </p:nvSpPr>
        <p:spPr>
          <a:xfrm xmlns:a="http://schemas.openxmlformats.org/drawingml/2006/main">
            <a:off x="1181100" y="47053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0">
                <a:solidFill>
                  <a:srgbClr val="17243E"/>
                </a:solidFill>
                <a:latin typeface="Georgia"/>
                <a:ea typeface="Georgia"/>
                <a:cs typeface="Georgia"/>
              </a:defRPr>
            </a:pPr>
            <a:r>
              <a:rPr sz="2850" b="0">
                <a:solidFill>
                  <a:srgbClr val="17243E"/>
                </a:solidFill>
                <a:latin typeface="Georgia"/>
                <a:ea typeface="Georgia"/>
                <a:cs typeface="Georgia"/>
              </a:rPr>
              <a:t>A fast answer can still leave the lawyer with most of the work.</a:t>
            </a:r>
          </a:p>
        </p:txBody>
      </p:sp>
    </p:spTree>
    <p:extLst>
      <p:ext uri="{BB962C8B-B14F-4D97-AF65-F5344CB8AC3E}">
        <p14:creationId xmlns:p14="http://schemas.microsoft.com/office/powerpoint/2010/main" val="1885937696"/>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A4A980-CD4A-4879-9F55-5CD84B3CB644}"/>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08A57B58-DD82-4D16-8C25-914408B53616}"/>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The lawyer needs to know</a:t>
            </a:r>
          </a:p>
          <a:p xmlns:a="http://schemas.openxmlformats.org/drawingml/2006/main">
            <a:pPr>
              <a:lnSpc>
                <a:spcPct val="110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what the answer depends on.</a:t>
            </a:r>
          </a:p>
        </p:txBody>
      </p:sp>
      <p:sp>
        <p:nvSpPr>
          <p:cNvPr id="3" name="">
            <a:extLst xmlns:a="http://schemas.openxmlformats.org/drawingml/2006/main">
              <a:ext uri="{FF2B5EF4-FFF2-40B4-BE49-F238E27FC236}">
                <a16:creationId xmlns:a16="http://schemas.microsoft.com/office/drawing/2014/main" id="{765B68FB-8F10-4480-B700-079F187081B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27F2815-E772-426B-A3AE-627B9216D62C}"/>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4D34FA3-8694-41DA-99F2-A67B0B7A0B3B}"/>
              </a:ext>
            </a:extLst>
          </p:cNvPr>
          <p:cNvSpPr>
            <a:spLocks xmlns:a="http://schemas.openxmlformats.org/drawingml/2006/main" noGrp="1"/>
          </p:cNvSpPr>
          <p:nvPr/>
        </p:nvSpPr>
        <p:spPr>
          <a:xfrm xmlns:a="http://schemas.openxmlformats.org/drawingml/2006/main">
            <a:off x="609600" y="24669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1">
                <a:solidFill>
                  <a:srgbClr val="D8B66A"/>
                </a:solidFill>
                <a:latin typeface="Arial"/>
                <a:ea typeface="Arial"/>
                <a:cs typeface="Arial"/>
              </a:defRPr>
            </a:pPr>
            <a:r>
              <a:rPr sz="1500" b="1">
                <a:solidFill>
                  <a:srgbClr val="D8B66A"/>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F9445D63-5A13-434B-B7A5-A75A9F290F21}"/>
              </a:ext>
            </a:extLst>
          </p:cNvPr>
          <p:cNvSpPr>
            <a:spLocks xmlns:a="http://schemas.openxmlformats.org/drawingml/2006/main" noGrp="1"/>
          </p:cNvSpPr>
          <p:nvPr/>
        </p:nvSpPr>
        <p:spPr>
          <a:xfrm xmlns:a="http://schemas.openxmlformats.org/drawingml/2006/main">
            <a:off x="609600" y="2981325"/>
            <a:ext cx="4191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75" b="0">
                <a:solidFill>
                  <a:srgbClr val="FAF8F2"/>
                </a:solidFill>
                <a:latin typeface="Georgia"/>
                <a:ea typeface="Georgia"/>
                <a:cs typeface="Georgia"/>
              </a:defRPr>
            </a:pPr>
            <a:r>
              <a:rPr sz="3675" b="0">
                <a:solidFill>
                  <a:srgbClr val="FAF8F2"/>
                </a:solidFill>
                <a:latin typeface="Georgia"/>
                <a:ea typeface="Georgia"/>
                <a:cs typeface="Georgia"/>
              </a:rPr>
              <a:t>“Can we do this?”</a:t>
            </a:r>
          </a:p>
        </p:txBody>
      </p:sp>
      <p:sp>
        <p:nvSpPr>
          <p:cNvPr id="7" name="">
            <a:extLst xmlns:a="http://schemas.openxmlformats.org/drawingml/2006/main">
              <a:ext uri="{FF2B5EF4-FFF2-40B4-BE49-F238E27FC236}">
                <a16:creationId xmlns:a16="http://schemas.microsoft.com/office/drawing/2014/main" id="{27EAE091-C93B-4161-B5F3-37079362413C}"/>
              </a:ext>
            </a:extLst>
          </p:cNvPr>
          <p:cNvSpPr>
            <a:spLocks xmlns:a="http://schemas.openxmlformats.org/drawingml/2006/main" noGrp="1"/>
          </p:cNvSpPr>
          <p:nvPr/>
        </p:nvSpPr>
        <p:spPr>
          <a:xfrm xmlns:a="http://schemas.openxmlformats.org/drawingml/2006/main">
            <a:off x="5810250" y="24669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1">
                <a:solidFill>
                  <a:srgbClr val="D8B66A"/>
                </a:solidFill>
                <a:latin typeface="Arial"/>
                <a:ea typeface="Arial"/>
                <a:cs typeface="Arial"/>
              </a:defRPr>
            </a:pPr>
            <a:r>
              <a:rPr sz="1500" b="1">
                <a:solidFill>
                  <a:srgbClr val="D8B66A"/>
                </a:solidFill>
                <a:latin typeface="Arial"/>
                <a:ea typeface="Arial"/>
                <a:cs typeface="Arial"/>
              </a:rPr>
              <a:t>The work behind it</a:t>
            </a:r>
          </a:p>
        </p:txBody>
      </p:sp>
      <p:sp>
        <p:nvSpPr>
          <p:cNvPr id="8" name="">
            <a:extLst xmlns:a="http://schemas.openxmlformats.org/drawingml/2006/main">
              <a:ext uri="{FF2B5EF4-FFF2-40B4-BE49-F238E27FC236}">
                <a16:creationId xmlns:a16="http://schemas.microsoft.com/office/drawing/2014/main" id="{F748778A-3EC9-43FF-863B-3EF4B01978B6}"/>
              </a:ext>
            </a:extLst>
          </p:cNvPr>
          <p:cNvSpPr>
            <a:spLocks xmlns:a="http://schemas.openxmlformats.org/drawingml/2006/main" noGrp="1"/>
          </p:cNvSpPr>
          <p:nvPr/>
        </p:nvSpPr>
        <p:spPr>
          <a:xfrm xmlns:a="http://schemas.openxmlformats.org/drawingml/2006/main">
            <a:off x="5810250" y="3019425"/>
            <a:ext cx="5667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Which facts matter?</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Which assumptions carry the answer?</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What changes if a fact is wrong?</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What else is around the corner?</a:t>
            </a:r>
          </a:p>
        </p:txBody>
      </p:sp>
      <p:sp>
        <p:nvSpPr>
          <p:cNvPr id="9" name="">
            <a:extLst xmlns:a="http://schemas.openxmlformats.org/drawingml/2006/main">
              <a:ext uri="{FF2B5EF4-FFF2-40B4-BE49-F238E27FC236}">
                <a16:creationId xmlns:a16="http://schemas.microsoft.com/office/drawing/2014/main" id="{7373278C-1E07-47A8-A56B-F34B7DB3CAFE}"/>
              </a:ext>
            </a:extLst>
          </p:cNvPr>
          <p:cNvSpPr>
            <a:spLocks xmlns:a="http://schemas.openxmlformats.org/drawingml/2006/main" noGrp="1"/>
          </p:cNvSpPr>
          <p:nvPr/>
        </p:nvSpPr>
        <p:spPr>
          <a:xfrm xmlns:a="http://schemas.openxmlformats.org/drawingml/2006/main">
            <a:off x="609600" y="57721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Arial"/>
                <a:ea typeface="Arial"/>
                <a:cs typeface="Arial"/>
              </a:defRPr>
            </a:pPr>
            <a:r>
              <a:rPr sz="1800" b="0">
                <a:solidFill>
                  <a:srgbClr val="DCE1EA"/>
                </a:solidFill>
                <a:latin typeface="Arial"/>
                <a:ea typeface="Arial"/>
                <a:cs typeface="Arial"/>
              </a:rPr>
              <a:t>A useful answer includes enough of the surrounding legal terrain to act.</a:t>
            </a:r>
          </a:p>
        </p:txBody>
      </p:sp>
    </p:spTree>
    <p:extLst>
      <p:ext uri="{BB962C8B-B14F-4D97-AF65-F5344CB8AC3E}">
        <p14:creationId xmlns:p14="http://schemas.microsoft.com/office/powerpoint/2010/main" val="349106750"/>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2C5F7C-C8D9-4D78-BA53-C43D7336EE4D}"/>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780A3696-82D8-4DD4-9725-D2AE5831848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Model capability creates an opening.</a:t>
            </a:r>
          </a:p>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legal work needs a better fit.</a:t>
            </a:r>
          </a:p>
        </p:txBody>
      </p:sp>
      <p:sp>
        <p:nvSpPr>
          <p:cNvPr id="3" name="">
            <a:extLst xmlns:a="http://schemas.openxmlformats.org/drawingml/2006/main">
              <a:ext uri="{FF2B5EF4-FFF2-40B4-BE49-F238E27FC236}">
                <a16:creationId xmlns:a16="http://schemas.microsoft.com/office/drawing/2014/main" id="{9626EF12-846F-41AA-B55F-4F53CBE2F713}"/>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F4E6D34-576C-4CE0-8377-90DFA2647E6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800E96E-8237-42B0-BC11-5D0911127B0E}"/>
              </a:ext>
            </a:extLst>
          </p:cNvPr>
          <p:cNvSpPr>
            <a:spLocks xmlns:a="http://schemas.openxmlformats.org/drawingml/2006/main" noGrp="1"/>
          </p:cNvSpPr>
          <p:nvPr/>
        </p:nvSpPr>
        <p:spPr>
          <a:xfrm xmlns:a="http://schemas.openxmlformats.org/drawingml/2006/main">
            <a:off x="609600" y="2476500"/>
            <a:ext cx="4953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Brian began building Themis when AI became useful enough in his own work to take on substantial research and drafting.</a:t>
            </a:r>
          </a:p>
        </p:txBody>
      </p:sp>
      <p:sp>
        <p:nvSpPr>
          <p:cNvPr id="6" name="">
            <a:extLst xmlns:a="http://schemas.openxmlformats.org/drawingml/2006/main">
              <a:ext uri="{FF2B5EF4-FFF2-40B4-BE49-F238E27FC236}">
                <a16:creationId xmlns:a16="http://schemas.microsoft.com/office/drawing/2014/main" id="{4AE1A8D7-6230-4AEC-9891-F3903A8F0855}"/>
              </a:ext>
            </a:extLst>
          </p:cNvPr>
          <p:cNvSpPr>
            <a:spLocks xmlns:a="http://schemas.openxmlformats.org/drawingml/2006/main" noGrp="1"/>
          </p:cNvSpPr>
          <p:nvPr/>
        </p:nvSpPr>
        <p:spPr>
          <a:xfrm xmlns:a="http://schemas.openxmlformats.org/drawingml/2006/main">
            <a:off x="6667500" y="24574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1">
                <a:solidFill>
                  <a:srgbClr val="4169A4"/>
                </a:solidFill>
                <a:latin typeface="Arial"/>
                <a:ea typeface="Arial"/>
                <a:cs typeface="Arial"/>
              </a:defRPr>
            </a:pPr>
            <a:r>
              <a:rPr sz="1725" b="1">
                <a:solidFill>
                  <a:srgbClr val="4169A4"/>
                </a:solidFill>
                <a:latin typeface="Arial"/>
                <a:ea typeface="Arial"/>
                <a:cs typeface="Arial"/>
              </a:rPr>
              <a:t>The remaining burden</a:t>
            </a:r>
          </a:p>
        </p:txBody>
      </p:sp>
      <p:sp>
        <p:nvSpPr>
          <p:cNvPr id="7" name="">
            <a:extLst xmlns:a="http://schemas.openxmlformats.org/drawingml/2006/main">
              <a:ext uri="{FF2B5EF4-FFF2-40B4-BE49-F238E27FC236}">
                <a16:creationId xmlns:a16="http://schemas.microsoft.com/office/drawing/2014/main" id="{6C9F80DE-982F-4956-AE27-4DDC01FFFB1D}"/>
              </a:ext>
            </a:extLst>
          </p:cNvPr>
          <p:cNvSpPr>
            <a:spLocks xmlns:a="http://schemas.openxmlformats.org/drawingml/2006/main" noGrp="1"/>
          </p:cNvSpPr>
          <p:nvPr/>
        </p:nvSpPr>
        <p:spPr>
          <a:xfrm xmlns:a="http://schemas.openxmlformats.org/drawingml/2006/main">
            <a:off x="6667500" y="3028950"/>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Repeated context-setting</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Steering the research</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Testing the assumptions</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Assembling a usable result</a:t>
            </a:r>
          </a:p>
        </p:txBody>
      </p:sp>
      <p:sp>
        <p:nvSpPr>
          <p:cNvPr id="8" name="">
            <a:extLst xmlns:a="http://schemas.openxmlformats.org/drawingml/2006/main">
              <a:ext uri="{FF2B5EF4-FFF2-40B4-BE49-F238E27FC236}">
                <a16:creationId xmlns:a16="http://schemas.microsoft.com/office/drawing/2014/main" id="{81F1CF44-52BA-475A-9A02-ED811EAAD5FE}"/>
              </a:ext>
            </a:extLst>
          </p:cNvPr>
          <p:cNvSpPr>
            <a:spLocks xmlns:a="http://schemas.openxmlformats.org/drawingml/2006/main" noGrp="1"/>
          </p:cNvSpPr>
          <p:nvPr/>
        </p:nvSpPr>
        <p:spPr>
          <a:xfrm xmlns:a="http://schemas.openxmlformats.org/drawingml/2006/main">
            <a:off x="609600" y="57245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Founder thesis: better fit to legal work can turn capability into capacity.</a:t>
            </a:r>
          </a:p>
        </p:txBody>
      </p:sp>
    </p:spTree>
    <p:extLst>
      <p:ext uri="{BB962C8B-B14F-4D97-AF65-F5344CB8AC3E}">
        <p14:creationId xmlns:p14="http://schemas.microsoft.com/office/powerpoint/2010/main" val="1674796302"/>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F0D2E1-3F64-4DA1-8027-736877BA997F}"/>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3893B5E9-C4DC-419C-932A-639493F3CB26}"/>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Understand the issue quickly.</a:t>
            </a:r>
          </a:p>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Explore the parts that matter.</a:t>
            </a:r>
          </a:p>
        </p:txBody>
      </p:sp>
      <p:sp>
        <p:nvSpPr>
          <p:cNvPr id="3" name="">
            <a:extLst xmlns:a="http://schemas.openxmlformats.org/drawingml/2006/main">
              <a:ext uri="{FF2B5EF4-FFF2-40B4-BE49-F238E27FC236}">
                <a16:creationId xmlns:a16="http://schemas.microsoft.com/office/drawing/2014/main" id="{28A9020E-7AC1-4032-9DEB-2BC6B1D9F661}"/>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82BA946-470A-4B66-984F-8D553FFD03B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9256E42-2369-4B84-8583-9E3B803CD451}"/>
              </a:ext>
            </a:extLst>
          </p:cNvPr>
          <p:cNvSpPr>
            <a:spLocks xmlns:a="http://schemas.openxmlformats.org/drawingml/2006/main" noGrp="1"/>
          </p:cNvSpPr>
          <p:nvPr/>
        </p:nvSpPr>
        <p:spPr>
          <a:xfrm xmlns:a="http://schemas.openxmlformats.org/drawingml/2006/main">
            <a:off x="609600" y="2390775"/>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A matter-centered workspace that connects the business question with facts, research, work product, and recorded decisions.</a:t>
            </a:r>
          </a:p>
        </p:txBody>
      </p:sp>
      <p:sp>
        <p:nvSpPr>
          <p:cNvPr id="6" name="">
            <a:extLst xmlns:a="http://schemas.openxmlformats.org/drawingml/2006/main">
              <a:ext uri="{FF2B5EF4-FFF2-40B4-BE49-F238E27FC236}">
                <a16:creationId xmlns:a16="http://schemas.microsoft.com/office/drawing/2014/main" id="{D9788628-CF7C-480F-BF56-774960AC4EF0}"/>
              </a:ext>
            </a:extLst>
          </p:cNvPr>
          <p:cNvSpPr>
            <a:spLocks xmlns:a="http://schemas.openxmlformats.org/drawingml/2006/main" noGrp="1"/>
          </p:cNvSpPr>
          <p:nvPr/>
        </p:nvSpPr>
        <p:spPr>
          <a:xfrm xmlns:a="http://schemas.openxmlformats.org/drawingml/2006/main">
            <a:off x="6667500" y="239077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A concise, supported answer</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Visible assumptions and alternatives</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Room to expand the inquiry</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Context that carries forward</a:t>
            </a:r>
          </a:p>
        </p:txBody>
      </p:sp>
      <p:sp>
        <p:nvSpPr>
          <p:cNvPr id="7" name="">
            <a:extLst xmlns:a="http://schemas.openxmlformats.org/drawingml/2006/main">
              <a:ext uri="{FF2B5EF4-FFF2-40B4-BE49-F238E27FC236}">
                <a16:creationId xmlns:a16="http://schemas.microsoft.com/office/drawing/2014/main" id="{2F89CFE7-AF8A-4C06-A977-F777DCD411B6}"/>
              </a:ext>
            </a:extLst>
          </p:cNvPr>
          <p:cNvSpPr>
            <a:spLocks xmlns:a="http://schemas.openxmlformats.org/drawingml/2006/main" noGrp="1"/>
          </p:cNvSpPr>
          <p:nvPr/>
        </p:nvSpPr>
        <p:spPr>
          <a:xfrm xmlns:a="http://schemas.openxmlformats.org/drawingml/2006/main">
            <a:off x="609600" y="51054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625" b="0">
                <a:solidFill>
                  <a:srgbClr val="4169A4"/>
                </a:solidFill>
                <a:latin typeface="Georgia"/>
                <a:ea typeface="Georgia"/>
                <a:cs typeface="Georgia"/>
              </a:defRPr>
            </a:pPr>
            <a:r>
              <a:rPr sz="26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178847227"/>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FFE2B5-62B4-46E0-B0DD-21601AA2159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1C62A539-EDD3-475C-939E-D923BB0E5840}"/>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F5C33D50-8CE1-4DCF-9A44-1C3E224E706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BE0F10B-21A8-497D-B7C2-8D65A2D67D10}"/>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graphicFrame>
        <p:nvGraphicFramePr>
          <p:cNvPr id="11" name=""/>
          <p:cNvGraphicFramePr/>
          <p:nvPr/>
        </p:nvGraphicFramePr>
        <p:xfrm>
          <a:off xmlns:a="http://schemas.openxmlformats.org/drawingml/2006/main" x="609600" y="2447925"/>
          <a:ext xmlns:a="http://schemas.openxmlformats.org/drawingml/2006/main" cx="10972800" cy="290512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21CC0C40-B175-4F35-B497-63C31F5A08D1}"/>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122798934"/>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F99C3E3-FEA8-4770-BC7F-17F4910DCCD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C7F328B8-8137-434A-9768-2B6BAA4256A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changed fact. A clearer legal picture.</a:t>
            </a:r>
          </a:p>
        </p:txBody>
      </p:sp>
      <p:sp>
        <p:nvSpPr>
          <p:cNvPr id="3" name="">
            <a:extLst xmlns:a="http://schemas.openxmlformats.org/drawingml/2006/main">
              <a:ext uri="{FF2B5EF4-FFF2-40B4-BE49-F238E27FC236}">
                <a16:creationId xmlns:a16="http://schemas.microsoft.com/office/drawing/2014/main" id="{0380024D-E568-45C7-B33D-715389107EF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0F3F207-C99C-4FBD-B8FE-5EFB13E20AC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C9F4550C-4968-418D-95B3-4586660E2B46}"/>
              </a:ext>
            </a:extLst>
          </p:cNvPr>
          <p:cNvSpPr>
            <a:spLocks xmlns:a="http://schemas.openxmlformats.org/drawingml/2006/main" noGrp="1"/>
          </p:cNvSpPr>
          <p:nvPr/>
        </p:nvSpPr>
        <p:spPr>
          <a:xfrm xmlns:a="http://schemas.openxmlformats.org/drawingml/2006/main">
            <a:off x="609600" y="205740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A payments business wants to change how funds move between two parties.</a:t>
            </a:r>
          </a:p>
        </p:txBody>
      </p:sp>
      <p:sp>
        <p:nvSpPr>
          <p:cNvPr id="6" name="">
            <a:extLst xmlns:a="http://schemas.openxmlformats.org/drawingml/2006/main">
              <a:ext uri="{FF2B5EF4-FFF2-40B4-BE49-F238E27FC236}">
                <a16:creationId xmlns:a16="http://schemas.microsoft.com/office/drawing/2014/main" id="{1DCA0F55-3C78-489D-9225-9094B7230B08}"/>
              </a:ext>
            </a:extLst>
          </p:cNvPr>
          <p:cNvSpPr>
            <a:spLocks xmlns:a="http://schemas.openxmlformats.org/drawingml/2006/main" noGrp="1"/>
          </p:cNvSpPr>
          <p:nvPr/>
        </p:nvSpPr>
        <p:spPr>
          <a:xfrm xmlns:a="http://schemas.openxmlformats.org/drawingml/2006/main">
            <a:off x="6096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49CCED1-3225-4360-8E38-E796EA5496C0}"/>
              </a:ext>
            </a:extLst>
          </p:cNvPr>
          <p:cNvSpPr>
            <a:spLocks xmlns:a="http://schemas.openxmlformats.org/drawingml/2006/main" noGrp="1"/>
          </p:cNvSpPr>
          <p:nvPr/>
        </p:nvSpPr>
        <p:spPr>
          <a:xfrm xmlns:a="http://schemas.openxmlformats.org/drawingml/2006/main">
            <a:off x="1181100" y="311467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Understand</a:t>
            </a:r>
          </a:p>
        </p:txBody>
      </p:sp>
      <p:sp>
        <p:nvSpPr>
          <p:cNvPr id="8" name="">
            <a:extLst xmlns:a="http://schemas.openxmlformats.org/drawingml/2006/main">
              <a:ext uri="{FF2B5EF4-FFF2-40B4-BE49-F238E27FC236}">
                <a16:creationId xmlns:a16="http://schemas.microsoft.com/office/drawing/2014/main" id="{590F1C81-DF1F-4F30-ADF0-41AF78A1BC46}"/>
              </a:ext>
            </a:extLst>
          </p:cNvPr>
          <p:cNvSpPr>
            <a:spLocks xmlns:a="http://schemas.openxmlformats.org/drawingml/2006/main" noGrp="1"/>
          </p:cNvSpPr>
          <p:nvPr/>
        </p:nvSpPr>
        <p:spPr>
          <a:xfrm xmlns:a="http://schemas.openxmlformats.org/drawingml/2006/main">
            <a:off x="1181100" y="3619500"/>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See the question, parties, timing, and current analysis.</a:t>
            </a:r>
          </a:p>
        </p:txBody>
      </p:sp>
      <p:sp>
        <p:nvSpPr>
          <p:cNvPr id="9" name="">
            <a:extLst xmlns:a="http://schemas.openxmlformats.org/drawingml/2006/main">
              <a:ext uri="{FF2B5EF4-FFF2-40B4-BE49-F238E27FC236}">
                <a16:creationId xmlns:a16="http://schemas.microsoft.com/office/drawing/2014/main" id="{9F7DEB70-6461-4451-AA8E-08739BF0EC64}"/>
              </a:ext>
            </a:extLst>
          </p:cNvPr>
          <p:cNvSpPr>
            <a:spLocks xmlns:a="http://schemas.openxmlformats.org/drawingml/2006/main" noGrp="1"/>
          </p:cNvSpPr>
          <p:nvPr/>
        </p:nvSpPr>
        <p:spPr>
          <a:xfrm xmlns:a="http://schemas.openxmlformats.org/drawingml/2006/main">
            <a:off x="43434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192F12A-C039-4027-AA5D-C103A4726724}"/>
              </a:ext>
            </a:extLst>
          </p:cNvPr>
          <p:cNvSpPr>
            <a:spLocks xmlns:a="http://schemas.openxmlformats.org/drawingml/2006/main" noGrp="1"/>
          </p:cNvSpPr>
          <p:nvPr/>
        </p:nvSpPr>
        <p:spPr>
          <a:xfrm xmlns:a="http://schemas.openxmlformats.org/drawingml/2006/main">
            <a:off x="4914900" y="311467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Explore</a:t>
            </a:r>
          </a:p>
        </p:txBody>
      </p:sp>
      <p:sp>
        <p:nvSpPr>
          <p:cNvPr id="11" name="">
            <a:extLst xmlns:a="http://schemas.openxmlformats.org/drawingml/2006/main">
              <a:ext uri="{FF2B5EF4-FFF2-40B4-BE49-F238E27FC236}">
                <a16:creationId xmlns:a16="http://schemas.microsoft.com/office/drawing/2014/main" id="{F711A92B-8163-4904-8F9A-5BC08F4C5DD2}"/>
              </a:ext>
            </a:extLst>
          </p:cNvPr>
          <p:cNvSpPr>
            <a:spLocks xmlns:a="http://schemas.openxmlformats.org/drawingml/2006/main" noGrp="1"/>
          </p:cNvSpPr>
          <p:nvPr/>
        </p:nvSpPr>
        <p:spPr>
          <a:xfrm xmlns:a="http://schemas.openxmlformats.org/drawingml/2006/main">
            <a:off x="4914900" y="3619500"/>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Ask whether funds enter a company-controlled account, even briefly.</a:t>
            </a:r>
          </a:p>
        </p:txBody>
      </p:sp>
      <p:sp>
        <p:nvSpPr>
          <p:cNvPr id="12" name="">
            <a:extLst xmlns:a="http://schemas.openxmlformats.org/drawingml/2006/main">
              <a:ext uri="{FF2B5EF4-FFF2-40B4-BE49-F238E27FC236}">
                <a16:creationId xmlns:a16="http://schemas.microsoft.com/office/drawing/2014/main" id="{E816E8E0-FD40-4E41-BB47-9311F1FF72B7}"/>
              </a:ext>
            </a:extLst>
          </p:cNvPr>
          <p:cNvSpPr>
            <a:spLocks xmlns:a="http://schemas.openxmlformats.org/drawingml/2006/main" noGrp="1"/>
          </p:cNvSpPr>
          <p:nvPr/>
        </p:nvSpPr>
        <p:spPr>
          <a:xfrm xmlns:a="http://schemas.openxmlformats.org/drawingml/2006/main">
            <a:off x="80772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7B69088-6594-49EE-898B-9C9382C35795}"/>
              </a:ext>
            </a:extLst>
          </p:cNvPr>
          <p:cNvSpPr>
            <a:spLocks xmlns:a="http://schemas.openxmlformats.org/drawingml/2006/main" noGrp="1"/>
          </p:cNvSpPr>
          <p:nvPr/>
        </p:nvSpPr>
        <p:spPr>
          <a:xfrm xmlns:a="http://schemas.openxmlformats.org/drawingml/2006/main">
            <a:off x="8648700" y="31146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Compare</a:t>
            </a:r>
          </a:p>
        </p:txBody>
      </p:sp>
      <p:sp>
        <p:nvSpPr>
          <p:cNvPr id="14" name="">
            <a:extLst xmlns:a="http://schemas.openxmlformats.org/drawingml/2006/main">
              <a:ext uri="{FF2B5EF4-FFF2-40B4-BE49-F238E27FC236}">
                <a16:creationId xmlns:a16="http://schemas.microsoft.com/office/drawing/2014/main" id="{1CCCD7EA-7461-4DA5-9A20-7FD0407C7907}"/>
              </a:ext>
            </a:extLst>
          </p:cNvPr>
          <p:cNvSpPr>
            <a:spLocks xmlns:a="http://schemas.openxmlformats.org/drawingml/2006/main" noGrp="1"/>
          </p:cNvSpPr>
          <p:nvPr/>
        </p:nvSpPr>
        <p:spPr>
          <a:xfrm xmlns:a="http://schemas.openxmlformats.org/drawingml/2006/main">
            <a:off x="8648700" y="3619500"/>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Explore that fact pattern and see which analysis may change.</a:t>
            </a:r>
          </a:p>
        </p:txBody>
      </p:sp>
      <p:sp>
        <p:nvSpPr>
          <p:cNvPr id="15" name="">
            <a:extLst xmlns:a="http://schemas.openxmlformats.org/drawingml/2006/main">
              <a:ext uri="{FF2B5EF4-FFF2-40B4-BE49-F238E27FC236}">
                <a16:creationId xmlns:a16="http://schemas.microsoft.com/office/drawing/2014/main" id="{074A86FE-EE83-42B1-A39B-BE2291BFF718}"/>
              </a:ext>
            </a:extLst>
          </p:cNvPr>
          <p:cNvSpPr>
            <a:spLocks xmlns:a="http://schemas.openxmlformats.org/drawingml/2006/main" noGrp="1"/>
          </p:cNvSpPr>
          <p:nvPr/>
        </p:nvSpPr>
        <p:spPr>
          <a:xfrm xmlns:a="http://schemas.openxmlformats.org/drawingml/2006/main">
            <a:off x="609600" y="5562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0">
                <a:solidFill>
                  <a:srgbClr val="4169A4"/>
                </a:solidFill>
                <a:latin typeface="Georgia"/>
                <a:ea typeface="Georgia"/>
                <a:cs typeface="Georgia"/>
              </a:defRPr>
            </a:pPr>
            <a:r>
              <a:rPr sz="2550" b="0">
                <a:solidFill>
                  <a:srgbClr val="4169A4"/>
                </a:solidFill>
                <a:latin typeface="Georgia"/>
                <a:ea typeface="Georgia"/>
                <a:cs typeface="Georgia"/>
              </a:rPr>
              <a:t>The lawyer chooses the branch and owns the decision.</a:t>
            </a:r>
          </a:p>
        </p:txBody>
      </p:sp>
      <p:sp>
        <p:nvSpPr>
          <p:cNvPr id="16" name="">
            <a:extLst xmlns:a="http://schemas.openxmlformats.org/drawingml/2006/main">
              <a:ext uri="{FF2B5EF4-FFF2-40B4-BE49-F238E27FC236}">
                <a16:creationId xmlns:a16="http://schemas.microsoft.com/office/drawing/2014/main" id="{BE641D20-319A-42EE-8C97-37BAB505C2CA}"/>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677319359"/>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0D2CC9-456D-43C5-9908-D94AA4FFAAB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AC84147B-AA21-4693-9E07-701D663F690C}"/>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Solo GCs and legal teams under ten</a:t>
            </a:r>
          </a:p>
        </p:txBody>
      </p:sp>
      <p:sp>
        <p:nvSpPr>
          <p:cNvPr id="3" name="">
            <a:extLst xmlns:a="http://schemas.openxmlformats.org/drawingml/2006/main">
              <a:ext uri="{FF2B5EF4-FFF2-40B4-BE49-F238E27FC236}">
                <a16:creationId xmlns:a16="http://schemas.microsoft.com/office/drawing/2014/main" id="{8F1DD186-DD25-486A-B284-7BAADAE28231}"/>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E970A41-1B0B-4621-A572-9EC848978CF7}"/>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E169187-A910-4278-8D8E-27CFBA25E6EE}"/>
              </a:ext>
            </a:extLst>
          </p:cNvPr>
          <p:cNvSpPr>
            <a:spLocks xmlns:a="http://schemas.openxmlformats.org/drawingml/2006/main" noGrp="1"/>
          </p:cNvSpPr>
          <p:nvPr/>
        </p:nvSpPr>
        <p:spPr>
          <a:xfrm xmlns:a="http://schemas.openxmlformats.org/drawingml/2006/main">
            <a:off x="609600" y="22860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0050" b="0">
                <a:solidFill>
                  <a:srgbClr val="4169A4"/>
                </a:solidFill>
                <a:latin typeface="Georgia"/>
                <a:ea typeface="Georgia"/>
                <a:cs typeface="Georgia"/>
              </a:defRPr>
            </a:pPr>
            <a:r>
              <a:rPr sz="10050" b="0">
                <a:solidFill>
                  <a:srgbClr val="4169A4"/>
                </a:solidFill>
                <a:latin typeface="Georgia"/>
                <a:ea typeface="Georgia"/>
                <a:cs typeface="Georgia"/>
              </a:rPr>
              <a:t>1</a:t>
            </a:r>
          </a:p>
        </p:txBody>
      </p:sp>
      <p:sp>
        <p:nvSpPr>
          <p:cNvPr id="6" name="">
            <a:extLst xmlns:a="http://schemas.openxmlformats.org/drawingml/2006/main">
              <a:ext uri="{FF2B5EF4-FFF2-40B4-BE49-F238E27FC236}">
                <a16:creationId xmlns:a16="http://schemas.microsoft.com/office/drawing/2014/main" id="{624E9BAF-F846-489A-A6A1-83D700672B46}"/>
              </a:ext>
            </a:extLst>
          </p:cNvPr>
          <p:cNvSpPr>
            <a:spLocks xmlns:a="http://schemas.openxmlformats.org/drawingml/2006/main" noGrp="1"/>
          </p:cNvSpPr>
          <p:nvPr/>
        </p:nvSpPr>
        <p:spPr>
          <a:xfrm xmlns:a="http://schemas.openxmlformats.org/drawingml/2006/main">
            <a:off x="609600" y="403860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775" b="1">
                <a:solidFill>
                  <a:srgbClr val="17243E"/>
                </a:solidFill>
                <a:latin typeface="Georgia"/>
                <a:ea typeface="Georgia"/>
                <a:cs typeface="Georgia"/>
              </a:defRPr>
            </a:pPr>
            <a:r>
              <a:rPr sz="2775" b="1">
                <a:solidFill>
                  <a:srgbClr val="17243E"/>
                </a:solidFill>
                <a:latin typeface="Georgia"/>
                <a:ea typeface="Georgia"/>
                <a:cs typeface="Georgia"/>
              </a:rPr>
              <a:t>Lawyer first</a:t>
            </a:r>
          </a:p>
        </p:txBody>
      </p:sp>
      <p:sp>
        <p:nvSpPr>
          <p:cNvPr id="7" name="">
            <a:extLst xmlns:a="http://schemas.openxmlformats.org/drawingml/2006/main">
              <a:ext uri="{FF2B5EF4-FFF2-40B4-BE49-F238E27FC236}">
                <a16:creationId xmlns:a16="http://schemas.microsoft.com/office/drawing/2014/main" id="{006ED22E-65FD-452A-8EF1-E12CD1B5596C}"/>
              </a:ext>
            </a:extLst>
          </p:cNvPr>
          <p:cNvSpPr>
            <a:spLocks xmlns:a="http://schemas.openxmlformats.org/drawingml/2006/main" noGrp="1"/>
          </p:cNvSpPr>
          <p:nvPr/>
        </p:nvSpPr>
        <p:spPr>
          <a:xfrm xmlns:a="http://schemas.openxmlformats.org/drawingml/2006/main">
            <a:off x="609600" y="46958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Earn repeat use on consequential product and business questions.</a:t>
            </a:r>
          </a:p>
        </p:txBody>
      </p:sp>
      <p:sp>
        <p:nvSpPr>
          <p:cNvPr id="8" name="">
            <a:extLst xmlns:a="http://schemas.openxmlformats.org/drawingml/2006/main">
              <a:ext uri="{FF2B5EF4-FFF2-40B4-BE49-F238E27FC236}">
                <a16:creationId xmlns:a16="http://schemas.microsoft.com/office/drawing/2014/main" id="{5A52AEC3-7537-427B-AD6C-D2047269332D}"/>
              </a:ext>
            </a:extLst>
          </p:cNvPr>
          <p:cNvSpPr>
            <a:spLocks xmlns:a="http://schemas.openxmlformats.org/drawingml/2006/main" noGrp="1"/>
          </p:cNvSpPr>
          <p:nvPr/>
        </p:nvSpPr>
        <p:spPr>
          <a:xfrm xmlns:a="http://schemas.openxmlformats.org/drawingml/2006/main">
            <a:off x="6705600" y="2286000"/>
            <a:ext cx="4000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0050" b="0">
                <a:solidFill>
                  <a:srgbClr val="17243E"/>
                </a:solidFill>
                <a:latin typeface="Georgia"/>
                <a:ea typeface="Georgia"/>
                <a:cs typeface="Georgia"/>
              </a:defRPr>
            </a:pPr>
            <a:r>
              <a:rPr sz="10050" b="0">
                <a:solidFill>
                  <a:srgbClr val="17243E"/>
                </a:solidFill>
                <a:latin typeface="Georgia"/>
                <a:ea typeface="Georgia"/>
                <a:cs typeface="Georgia"/>
              </a:rPr>
              <a:t>&lt;10</a:t>
            </a:r>
          </a:p>
        </p:txBody>
      </p:sp>
      <p:sp>
        <p:nvSpPr>
          <p:cNvPr id="9" name="">
            <a:extLst xmlns:a="http://schemas.openxmlformats.org/drawingml/2006/main">
              <a:ext uri="{FF2B5EF4-FFF2-40B4-BE49-F238E27FC236}">
                <a16:creationId xmlns:a16="http://schemas.microsoft.com/office/drawing/2014/main" id="{1DD336F7-C28F-41C9-8736-4981B4A453A9}"/>
              </a:ext>
            </a:extLst>
          </p:cNvPr>
          <p:cNvSpPr>
            <a:spLocks xmlns:a="http://schemas.openxmlformats.org/drawingml/2006/main" noGrp="1"/>
          </p:cNvSpPr>
          <p:nvPr/>
        </p:nvSpPr>
        <p:spPr>
          <a:xfrm xmlns:a="http://schemas.openxmlformats.org/drawingml/2006/main">
            <a:off x="6705600" y="4038600"/>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775" b="1">
                <a:solidFill>
                  <a:srgbClr val="17243E"/>
                </a:solidFill>
                <a:latin typeface="Georgia"/>
                <a:ea typeface="Georgia"/>
                <a:cs typeface="Georgia"/>
              </a:defRPr>
            </a:pPr>
            <a:r>
              <a:rPr sz="2775" b="1">
                <a:solidFill>
                  <a:srgbClr val="17243E"/>
                </a:solidFill>
                <a:latin typeface="Georgia"/>
                <a:ea typeface="Georgia"/>
                <a:cs typeface="Georgia"/>
              </a:rPr>
              <a:t>Team expansion</a:t>
            </a:r>
          </a:p>
        </p:txBody>
      </p:sp>
      <p:sp>
        <p:nvSpPr>
          <p:cNvPr id="10" name="">
            <a:extLst xmlns:a="http://schemas.openxmlformats.org/drawingml/2006/main">
              <a:ext uri="{FF2B5EF4-FFF2-40B4-BE49-F238E27FC236}">
                <a16:creationId xmlns:a16="http://schemas.microsoft.com/office/drawing/2014/main" id="{51EC1459-683E-4C55-A598-B0221C0B0FFC}"/>
              </a:ext>
            </a:extLst>
          </p:cNvPr>
          <p:cNvSpPr>
            <a:spLocks xmlns:a="http://schemas.openxmlformats.org/drawingml/2006/main" noGrp="1"/>
          </p:cNvSpPr>
          <p:nvPr/>
        </p:nvSpPr>
        <p:spPr>
          <a:xfrm xmlns:a="http://schemas.openxmlformats.org/drawingml/2006/main">
            <a:off x="6705600" y="46958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Carry context to the next lawyer so the team can share the work.</a:t>
            </a:r>
          </a:p>
        </p:txBody>
      </p:sp>
      <p:sp>
        <p:nvSpPr>
          <p:cNvPr id="11" name="">
            <a:extLst xmlns:a="http://schemas.openxmlformats.org/drawingml/2006/main">
              <a:ext uri="{FF2B5EF4-FFF2-40B4-BE49-F238E27FC236}">
                <a16:creationId xmlns:a16="http://schemas.microsoft.com/office/drawing/2014/main" id="{39C04158-C7C6-4DB3-A17B-790C1385B8F7}"/>
              </a:ext>
            </a:extLst>
          </p:cNvPr>
          <p:cNvSpPr>
            <a:spLocks xmlns:a="http://schemas.openxmlformats.org/drawingml/2006/main" noGrp="1"/>
          </p:cNvSpPr>
          <p:nvPr/>
        </p:nvSpPr>
        <p:spPr>
          <a:xfrm xmlns:a="http://schemas.openxmlformats.org/drawingml/2006/main">
            <a:off x="609600" y="6057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596273"/>
                </a:solidFill>
                <a:latin typeface="Arial"/>
                <a:ea typeface="Arial"/>
                <a:cs typeface="Arial"/>
              </a:defRPr>
            </a:pPr>
            <a:r>
              <a:rPr sz="1350" b="0">
                <a:solidFill>
                  <a:srgbClr val="596273"/>
                </a:solidFill>
                <a:latin typeface="Arial"/>
                <a:ea typeface="Arial"/>
                <a:cs typeface="Arial"/>
              </a:rPr>
              <a:t>Shared matters are a proposed expansion after individual value is demonstrated.</a:t>
            </a:r>
          </a:p>
        </p:txBody>
      </p:sp>
    </p:spTree>
    <p:extLst>
      <p:ext uri="{BB962C8B-B14F-4D97-AF65-F5344CB8AC3E}">
        <p14:creationId xmlns:p14="http://schemas.microsoft.com/office/powerpoint/2010/main" val="503940841"/>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FC8B23A-4520-48F7-AF51-6ECBD3ED8584}"/>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F142FE29-202F-45F4-B2C1-54F437D0F938}"/>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FAF8F2"/>
                </a:solidFill>
                <a:latin typeface="Georgia"/>
                <a:ea typeface="Georgia"/>
                <a:cs typeface="Georgia"/>
              </a:defRPr>
            </a:pPr>
            <a:r>
              <a:rPr sz="3300" b="1">
                <a:solidFill>
                  <a:srgbClr val="FAF8F2"/>
                </a:solidFill>
                <a:latin typeface="Georgia"/>
                <a:ea typeface="Georgia"/>
                <a:cs typeface="Georgia"/>
              </a:rPr>
              <a:t>Trust is earned by how the product behaves.</a:t>
            </a:r>
          </a:p>
        </p:txBody>
      </p:sp>
      <p:sp>
        <p:nvSpPr>
          <p:cNvPr id="3" name="">
            <a:extLst xmlns:a="http://schemas.openxmlformats.org/drawingml/2006/main">
              <a:ext uri="{FF2B5EF4-FFF2-40B4-BE49-F238E27FC236}">
                <a16:creationId xmlns:a16="http://schemas.microsoft.com/office/drawing/2014/main" id="{C8884AD6-27EE-4758-A02B-5B87E42F2B5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49528AF-C4AB-4FE5-A4D2-DD130A52A0E4}"/>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A872233E-1AB0-4120-BB55-78392A02DEC9}"/>
              </a:ext>
            </a:extLst>
          </p:cNvPr>
          <p:cNvSpPr>
            <a:spLocks xmlns:a="http://schemas.openxmlformats.org/drawingml/2006/main" noGrp="1"/>
          </p:cNvSpPr>
          <p:nvPr/>
        </p:nvSpPr>
        <p:spPr>
          <a:xfrm xmlns:a="http://schemas.openxmlformats.org/drawingml/2006/main">
            <a:off x="609600" y="22574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Humble, not performative.</a:t>
            </a:r>
          </a:p>
        </p:txBody>
      </p:sp>
      <p:sp>
        <p:nvSpPr>
          <p:cNvPr id="6" name="">
            <a:extLst xmlns:a="http://schemas.openxmlformats.org/drawingml/2006/main">
              <a:ext uri="{FF2B5EF4-FFF2-40B4-BE49-F238E27FC236}">
                <a16:creationId xmlns:a16="http://schemas.microsoft.com/office/drawing/2014/main" id="{3EABD5C3-C886-4B6E-BE60-5E45DD5DA20F}"/>
              </a:ext>
            </a:extLst>
          </p:cNvPr>
          <p:cNvSpPr>
            <a:spLocks xmlns:a="http://schemas.openxmlformats.org/drawingml/2006/main" noGrp="1"/>
          </p:cNvSpPr>
          <p:nvPr/>
        </p:nvSpPr>
        <p:spPr>
          <a:xfrm xmlns:a="http://schemas.openxmlformats.org/drawingml/2006/main">
            <a:off x="609600" y="2771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Shows uncertainty.</a:t>
            </a:r>
          </a:p>
        </p:txBody>
      </p:sp>
      <p:sp>
        <p:nvSpPr>
          <p:cNvPr id="7" name="">
            <a:extLst xmlns:a="http://schemas.openxmlformats.org/drawingml/2006/main">
              <a:ext uri="{FF2B5EF4-FFF2-40B4-BE49-F238E27FC236}">
                <a16:creationId xmlns:a16="http://schemas.microsoft.com/office/drawing/2014/main" id="{78858E44-6B35-4949-A084-7EB080F70D05}"/>
              </a:ext>
            </a:extLst>
          </p:cNvPr>
          <p:cNvSpPr>
            <a:spLocks xmlns:a="http://schemas.openxmlformats.org/drawingml/2006/main" noGrp="1"/>
          </p:cNvSpPr>
          <p:nvPr/>
        </p:nvSpPr>
        <p:spPr>
          <a:xfrm xmlns:a="http://schemas.openxmlformats.org/drawingml/2006/main">
            <a:off x="6553200" y="22574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Curious, not merely declarative.</a:t>
            </a:r>
          </a:p>
        </p:txBody>
      </p:sp>
      <p:sp>
        <p:nvSpPr>
          <p:cNvPr id="8" name="">
            <a:extLst xmlns:a="http://schemas.openxmlformats.org/drawingml/2006/main">
              <a:ext uri="{FF2B5EF4-FFF2-40B4-BE49-F238E27FC236}">
                <a16:creationId xmlns:a16="http://schemas.microsoft.com/office/drawing/2014/main" id="{254C739F-D6FF-479E-BDC3-F4AA14E5EA92}"/>
              </a:ext>
            </a:extLst>
          </p:cNvPr>
          <p:cNvSpPr>
            <a:spLocks xmlns:a="http://schemas.openxmlformats.org/drawingml/2006/main" noGrp="1"/>
          </p:cNvSpPr>
          <p:nvPr/>
        </p:nvSpPr>
        <p:spPr>
          <a:xfrm xmlns:a="http://schemas.openxmlformats.org/drawingml/2006/main">
            <a:off x="6553200" y="2771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Surfaces the missing fact.</a:t>
            </a:r>
          </a:p>
        </p:txBody>
      </p:sp>
      <p:sp>
        <p:nvSpPr>
          <p:cNvPr id="9" name="">
            <a:extLst xmlns:a="http://schemas.openxmlformats.org/drawingml/2006/main">
              <a:ext uri="{FF2B5EF4-FFF2-40B4-BE49-F238E27FC236}">
                <a16:creationId xmlns:a16="http://schemas.microsoft.com/office/drawing/2014/main" id="{FB843BAE-D694-4F44-B6A3-174662748CCF}"/>
              </a:ext>
            </a:extLst>
          </p:cNvPr>
          <p:cNvSpPr>
            <a:spLocks xmlns:a="http://schemas.openxmlformats.org/drawingml/2006/main" noGrp="1"/>
          </p:cNvSpPr>
          <p:nvPr/>
        </p:nvSpPr>
        <p:spPr>
          <a:xfrm xmlns:a="http://schemas.openxmlformats.org/drawingml/2006/main">
            <a:off x="609600" y="34671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Present, not intrusive.</a:t>
            </a:r>
          </a:p>
        </p:txBody>
      </p:sp>
      <p:sp>
        <p:nvSpPr>
          <p:cNvPr id="10" name="">
            <a:extLst xmlns:a="http://schemas.openxmlformats.org/drawingml/2006/main">
              <a:ext uri="{FF2B5EF4-FFF2-40B4-BE49-F238E27FC236}">
                <a16:creationId xmlns:a16="http://schemas.microsoft.com/office/drawing/2014/main" id="{13EBA78A-C223-4B71-96A1-5D828A506869}"/>
              </a:ext>
            </a:extLst>
          </p:cNvPr>
          <p:cNvSpPr>
            <a:spLocks xmlns:a="http://schemas.openxmlformats.org/drawingml/2006/main" noGrp="1"/>
          </p:cNvSpPr>
          <p:nvPr/>
        </p:nvSpPr>
        <p:spPr>
          <a:xfrm xmlns:a="http://schemas.openxmlformats.org/drawingml/2006/main">
            <a:off x="609600" y="39814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Stays available.</a:t>
            </a:r>
          </a:p>
        </p:txBody>
      </p:sp>
      <p:sp>
        <p:nvSpPr>
          <p:cNvPr id="11" name="">
            <a:extLst xmlns:a="http://schemas.openxmlformats.org/drawingml/2006/main">
              <a:ext uri="{FF2B5EF4-FFF2-40B4-BE49-F238E27FC236}">
                <a16:creationId xmlns:a16="http://schemas.microsoft.com/office/drawing/2014/main" id="{5FA73ABB-1D4B-4334-90AF-86BAE88646A1}"/>
              </a:ext>
            </a:extLst>
          </p:cNvPr>
          <p:cNvSpPr>
            <a:spLocks xmlns:a="http://schemas.openxmlformats.org/drawingml/2006/main" noGrp="1"/>
          </p:cNvSpPr>
          <p:nvPr/>
        </p:nvSpPr>
        <p:spPr>
          <a:xfrm xmlns:a="http://schemas.openxmlformats.org/drawingml/2006/main">
            <a:off x="6553200" y="34671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Persistent, not forgetful.</a:t>
            </a:r>
          </a:p>
        </p:txBody>
      </p:sp>
      <p:sp>
        <p:nvSpPr>
          <p:cNvPr id="12" name="">
            <a:extLst xmlns:a="http://schemas.openxmlformats.org/drawingml/2006/main">
              <a:ext uri="{FF2B5EF4-FFF2-40B4-BE49-F238E27FC236}">
                <a16:creationId xmlns:a16="http://schemas.microsoft.com/office/drawing/2014/main" id="{5B3A64B8-F5C9-4F1B-8916-D895CC9E1B2F}"/>
              </a:ext>
            </a:extLst>
          </p:cNvPr>
          <p:cNvSpPr>
            <a:spLocks xmlns:a="http://schemas.openxmlformats.org/drawingml/2006/main" noGrp="1"/>
          </p:cNvSpPr>
          <p:nvPr/>
        </p:nvSpPr>
        <p:spPr>
          <a:xfrm xmlns:a="http://schemas.openxmlformats.org/drawingml/2006/main">
            <a:off x="6553200" y="39814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Carries context forward.</a:t>
            </a:r>
          </a:p>
        </p:txBody>
      </p:sp>
      <p:sp>
        <p:nvSpPr>
          <p:cNvPr id="13" name="">
            <a:extLst xmlns:a="http://schemas.openxmlformats.org/drawingml/2006/main">
              <a:ext uri="{FF2B5EF4-FFF2-40B4-BE49-F238E27FC236}">
                <a16:creationId xmlns:a16="http://schemas.microsoft.com/office/drawing/2014/main" id="{0B7622FC-09C2-49A4-921A-A4603E87C87A}"/>
              </a:ext>
            </a:extLst>
          </p:cNvPr>
          <p:cNvSpPr>
            <a:spLocks xmlns:a="http://schemas.openxmlformats.org/drawingml/2006/main" noGrp="1"/>
          </p:cNvSpPr>
          <p:nvPr/>
        </p:nvSpPr>
        <p:spPr>
          <a:xfrm xmlns:a="http://schemas.openxmlformats.org/drawingml/2006/main">
            <a:off x="609600" y="46767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Supportive, not substitutive.</a:t>
            </a:r>
          </a:p>
        </p:txBody>
      </p:sp>
      <p:sp>
        <p:nvSpPr>
          <p:cNvPr id="14" name="">
            <a:extLst xmlns:a="http://schemas.openxmlformats.org/drawingml/2006/main">
              <a:ext uri="{FF2B5EF4-FFF2-40B4-BE49-F238E27FC236}">
                <a16:creationId xmlns:a16="http://schemas.microsoft.com/office/drawing/2014/main" id="{E9DF3EBC-81BA-495B-B666-F98BB777513D}"/>
              </a:ext>
            </a:extLst>
          </p:cNvPr>
          <p:cNvSpPr>
            <a:spLocks xmlns:a="http://schemas.openxmlformats.org/drawingml/2006/main" noGrp="1"/>
          </p:cNvSpPr>
          <p:nvPr/>
        </p:nvSpPr>
        <p:spPr>
          <a:xfrm xmlns:a="http://schemas.openxmlformats.org/drawingml/2006/main">
            <a:off x="609600" y="5191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Strengthens the lawyer’s judgment.</a:t>
            </a:r>
          </a:p>
        </p:txBody>
      </p:sp>
      <p:sp>
        <p:nvSpPr>
          <p:cNvPr id="15" name="">
            <a:extLst xmlns:a="http://schemas.openxmlformats.org/drawingml/2006/main">
              <a:ext uri="{FF2B5EF4-FFF2-40B4-BE49-F238E27FC236}">
                <a16:creationId xmlns:a16="http://schemas.microsoft.com/office/drawing/2014/main" id="{C4A376CC-8898-4585-9C2F-927BC37B3135}"/>
              </a:ext>
            </a:extLst>
          </p:cNvPr>
          <p:cNvSpPr>
            <a:spLocks xmlns:a="http://schemas.openxmlformats.org/drawingml/2006/main" noGrp="1"/>
          </p:cNvSpPr>
          <p:nvPr/>
        </p:nvSpPr>
        <p:spPr>
          <a:xfrm xmlns:a="http://schemas.openxmlformats.org/drawingml/2006/main">
            <a:off x="6553200" y="46767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Faithful, not revisionist.</a:t>
            </a:r>
          </a:p>
        </p:txBody>
      </p:sp>
      <p:sp>
        <p:nvSpPr>
          <p:cNvPr id="16" name="">
            <a:extLst xmlns:a="http://schemas.openxmlformats.org/drawingml/2006/main">
              <a:ext uri="{FF2B5EF4-FFF2-40B4-BE49-F238E27FC236}">
                <a16:creationId xmlns:a16="http://schemas.microsoft.com/office/drawing/2014/main" id="{02D40739-9CFC-49AB-9D81-4089829ABC24}"/>
              </a:ext>
            </a:extLst>
          </p:cNvPr>
          <p:cNvSpPr>
            <a:spLocks xmlns:a="http://schemas.openxmlformats.org/drawingml/2006/main" noGrp="1"/>
          </p:cNvSpPr>
          <p:nvPr/>
        </p:nvSpPr>
        <p:spPr>
          <a:xfrm xmlns:a="http://schemas.openxmlformats.org/drawingml/2006/main">
            <a:off x="6553200" y="5191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Preserves the lawyer’s decision.</a:t>
            </a:r>
          </a:p>
        </p:txBody>
      </p:sp>
    </p:spTree>
    <p:extLst>
      <p:ext uri="{BB962C8B-B14F-4D97-AF65-F5344CB8AC3E}">
        <p14:creationId xmlns:p14="http://schemas.microsoft.com/office/powerpoint/2010/main" val="1396839625"/>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766FED-2398-418F-81F2-2161B594584D}"/>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34604D97-4BF3-40B8-AFF0-82E866A5C173}"/>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Useful work earns the next matter.</a:t>
            </a:r>
          </a:p>
        </p:txBody>
      </p:sp>
      <p:sp>
        <p:nvSpPr>
          <p:cNvPr id="3" name="">
            <a:extLst xmlns:a="http://schemas.openxmlformats.org/drawingml/2006/main">
              <a:ext uri="{FF2B5EF4-FFF2-40B4-BE49-F238E27FC236}">
                <a16:creationId xmlns:a16="http://schemas.microsoft.com/office/drawing/2014/main" id="{8C8544C9-48AD-4956-AA9B-541147578153}"/>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8B86784-C021-420E-9192-29ABB482D4D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6F59AE27-8C56-4BAD-A284-AEB43105E233}"/>
              </a:ext>
            </a:extLst>
          </p:cNvPr>
          <p:cNvSpPr>
            <a:spLocks xmlns:a="http://schemas.openxmlformats.org/drawingml/2006/main" noGrp="1"/>
          </p:cNvSpPr>
          <p:nvPr/>
        </p:nvSpPr>
        <p:spPr>
          <a:xfrm xmlns:a="http://schemas.openxmlformats.org/drawingml/2006/main">
            <a:off x="609600" y="2266950"/>
            <a:ext cx="5429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4169A4"/>
                </a:solidFill>
                <a:latin typeface="Georgia"/>
                <a:ea typeface="Georgia"/>
                <a:cs typeface="Georgia"/>
              </a:defRPr>
            </a:pPr>
            <a:r>
              <a:rPr sz="3600" b="1">
                <a:solidFill>
                  <a:srgbClr val="4169A4"/>
                </a:solidFill>
                <a:latin typeface="Georgia"/>
                <a:ea typeface="Georgia"/>
                <a:cs typeface="Georgia"/>
              </a:rPr>
              <a:t>Relevant context can earn</a:t>
            </a:r>
          </a:p>
          <a:p xmlns:a="http://schemas.openxmlformats.org/drawingml/2006/main">
            <a:pPr>
              <a:lnSpc>
                <a:spcPct val="110000"/>
              </a:lnSpc>
              <a:buNone/>
              <a:defRPr sz="3600" b="1">
                <a:solidFill>
                  <a:srgbClr val="4169A4"/>
                </a:solidFill>
                <a:latin typeface="Georgia"/>
                <a:ea typeface="Georgia"/>
                <a:cs typeface="Georgia"/>
              </a:defRPr>
            </a:pPr>
            <a:r>
              <a:rPr sz="3600" b="1">
                <a:solidFill>
                  <a:srgbClr val="4169A4"/>
                </a:solidFill>
                <a:latin typeface="Georgia"/>
                <a:ea typeface="Georgia"/>
                <a:cs typeface="Georgia"/>
              </a:rPr>
              <a:t>a lasting place.</a:t>
            </a:r>
          </a:p>
        </p:txBody>
      </p:sp>
      <p:sp>
        <p:nvSpPr>
          <p:cNvPr id="6" name="">
            <a:extLst xmlns:a="http://schemas.openxmlformats.org/drawingml/2006/main">
              <a:ext uri="{FF2B5EF4-FFF2-40B4-BE49-F238E27FC236}">
                <a16:creationId xmlns:a16="http://schemas.microsoft.com/office/drawing/2014/main" id="{21BDD17C-C0FA-4802-811F-74F726F1FA47}"/>
              </a:ext>
            </a:extLst>
          </p:cNvPr>
          <p:cNvSpPr>
            <a:spLocks xmlns:a="http://schemas.openxmlformats.org/drawingml/2006/main" noGrp="1"/>
          </p:cNvSpPr>
          <p:nvPr/>
        </p:nvSpPr>
        <p:spPr>
          <a:xfrm xmlns:a="http://schemas.openxmlformats.org/drawingml/2006/main">
            <a:off x="6991350" y="2343150"/>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The alternative today</a:t>
            </a:r>
          </a:p>
        </p:txBody>
      </p:sp>
      <p:sp>
        <p:nvSpPr>
          <p:cNvPr id="7" name="">
            <a:extLst xmlns:a="http://schemas.openxmlformats.org/drawingml/2006/main">
              <a:ext uri="{FF2B5EF4-FFF2-40B4-BE49-F238E27FC236}">
                <a16:creationId xmlns:a16="http://schemas.microsoft.com/office/drawing/2014/main" id="{EC17850B-01CB-487E-94F9-F00FAE6BA8D4}"/>
              </a:ext>
            </a:extLst>
          </p:cNvPr>
          <p:cNvSpPr>
            <a:spLocks xmlns:a="http://schemas.openxmlformats.org/drawingml/2006/main" noGrp="1"/>
          </p:cNvSpPr>
          <p:nvPr/>
        </p:nvSpPr>
        <p:spPr>
          <a:xfrm xmlns:a="http://schemas.openxmlformats.org/drawingml/2006/main">
            <a:off x="6991350" y="2886075"/>
            <a:ext cx="4381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General AI, research sources, documents, colleagues, and manual tracking.</a:t>
            </a:r>
          </a:p>
        </p:txBody>
      </p:sp>
      <p:sp>
        <p:nvSpPr>
          <p:cNvPr id="8" name="">
            <a:extLst xmlns:a="http://schemas.openxmlformats.org/drawingml/2006/main">
              <a:ext uri="{FF2B5EF4-FFF2-40B4-BE49-F238E27FC236}">
                <a16:creationId xmlns:a16="http://schemas.microsoft.com/office/drawing/2014/main" id="{F5186E28-532F-48CB-8C4E-C09D05EEB019}"/>
              </a:ext>
            </a:extLst>
          </p:cNvPr>
          <p:cNvSpPr>
            <a:spLocks xmlns:a="http://schemas.openxmlformats.org/drawingml/2006/main" noGrp="1"/>
          </p:cNvSpPr>
          <p:nvPr/>
        </p:nvSpPr>
        <p:spPr>
          <a:xfrm xmlns:a="http://schemas.openxmlformats.org/drawingml/2006/main">
            <a:off x="609600" y="46005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1">
                <a:solidFill>
                  <a:srgbClr val="17243E"/>
                </a:solidFill>
                <a:latin typeface="Georgia"/>
                <a:ea typeface="Georgia"/>
                <a:cs typeface="Georgia"/>
              </a:defRPr>
            </a:pPr>
            <a:r>
              <a:rPr sz="2550" b="1">
                <a:solidFill>
                  <a:srgbClr val="17243E"/>
                </a:solidFill>
                <a:latin typeface="Georgia"/>
                <a:ea typeface="Georgia"/>
                <a:cs typeface="Georgia"/>
              </a:rPr>
              <a:t>Themis must reduce total effort</a:t>
            </a:r>
          </a:p>
        </p:txBody>
      </p:sp>
      <p:sp>
        <p:nvSpPr>
          <p:cNvPr id="9" name="">
            <a:extLst xmlns:a="http://schemas.openxmlformats.org/drawingml/2006/main">
              <a:ext uri="{FF2B5EF4-FFF2-40B4-BE49-F238E27FC236}">
                <a16:creationId xmlns:a16="http://schemas.microsoft.com/office/drawing/2014/main" id="{36CB8200-13F1-44EC-931D-D7E30462DF19}"/>
              </a:ext>
            </a:extLst>
          </p:cNvPr>
          <p:cNvSpPr>
            <a:spLocks xmlns:a="http://schemas.openxmlformats.org/drawingml/2006/main" noGrp="1"/>
          </p:cNvSpPr>
          <p:nvPr/>
        </p:nvSpPr>
        <p:spPr>
          <a:xfrm xmlns:a="http://schemas.openxmlformats.org/drawingml/2006/main">
            <a:off x="609600" y="52101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Including prompting, checking, correction, and finding prior context.</a:t>
            </a:r>
          </a:p>
        </p:txBody>
      </p:sp>
    </p:spTree>
    <p:extLst>
      <p:ext uri="{BB962C8B-B14F-4D97-AF65-F5344CB8AC3E}">
        <p14:creationId xmlns:p14="http://schemas.microsoft.com/office/powerpoint/2010/main" val="1932961148"/>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0378B4-108F-42E4-A0D8-A39FA0407F20}"/>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D836613B-3F3B-490B-ADB0-DFCEF4B768B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350" b="1">
                <a:solidFill>
                  <a:srgbClr val="17243E"/>
                </a:solidFill>
                <a:latin typeface="Georgia"/>
                <a:ea typeface="Georgia"/>
                <a:cs typeface="Georgia"/>
              </a:defRPr>
            </a:pPr>
            <a:r>
              <a:rPr sz="4350" b="1">
                <a:solidFill>
                  <a:srgbClr val="17243E"/>
                </a:solidFill>
                <a:latin typeface="Georgia"/>
                <a:ea typeface="Georgia"/>
                <a:cs typeface="Georgia"/>
              </a:rPr>
              <a:t>Brian Harris</a:t>
            </a:r>
          </a:p>
        </p:txBody>
      </p:sp>
      <p:sp>
        <p:nvSpPr>
          <p:cNvPr id="3" name="">
            <a:extLst xmlns:a="http://schemas.openxmlformats.org/drawingml/2006/main">
              <a:ext uri="{FF2B5EF4-FFF2-40B4-BE49-F238E27FC236}">
                <a16:creationId xmlns:a16="http://schemas.microsoft.com/office/drawing/2014/main" id="{26FE49A1-39E9-47D3-926A-8A283A94FBF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C1A9A48-47BA-49A5-8980-7CC8C1585BFD}"/>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E447F9A3-18E3-43A5-AEE6-1F56A826D73A}"/>
              </a:ext>
            </a:extLst>
          </p:cNvPr>
          <p:cNvSpPr>
            <a:spLocks xmlns:a="http://schemas.openxmlformats.org/drawingml/2006/main" noGrp="1"/>
          </p:cNvSpPr>
          <p:nvPr/>
        </p:nvSpPr>
        <p:spPr>
          <a:xfrm xmlns:a="http://schemas.openxmlformats.org/drawingml/2006/main">
            <a:off x="609600" y="19240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1">
                <a:solidFill>
                  <a:srgbClr val="4169A4"/>
                </a:solidFill>
                <a:latin typeface="Arial"/>
                <a:ea typeface="Arial"/>
                <a:cs typeface="Arial"/>
              </a:defRPr>
            </a:pPr>
            <a:r>
              <a:rPr sz="1950" b="1">
                <a:solidFill>
                  <a:srgbClr val="4169A4"/>
                </a:solidFill>
                <a:latin typeface="Arial"/>
                <a:ea typeface="Arial"/>
                <a:cs typeface="Arial"/>
              </a:rPr>
              <a:t>Sole founder</a:t>
            </a:r>
          </a:p>
        </p:txBody>
      </p:sp>
      <p:sp>
        <p:nvSpPr>
          <p:cNvPr id="6" name="">
            <a:extLst xmlns:a="http://schemas.openxmlformats.org/drawingml/2006/main">
              <a:ext uri="{FF2B5EF4-FFF2-40B4-BE49-F238E27FC236}">
                <a16:creationId xmlns:a16="http://schemas.microsoft.com/office/drawing/2014/main" id="{0E93B160-7AF8-4A7C-92B9-935724D1BD0A}"/>
              </a:ext>
            </a:extLst>
          </p:cNvPr>
          <p:cNvSpPr>
            <a:spLocks xmlns:a="http://schemas.openxmlformats.org/drawingml/2006/main" noGrp="1"/>
          </p:cNvSpPr>
          <p:nvPr/>
        </p:nvSpPr>
        <p:spPr>
          <a:xfrm xmlns:a="http://schemas.openxmlformats.org/drawingml/2006/main">
            <a:off x="609600" y="2743200"/>
            <a:ext cx="266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450" b="0">
                <a:solidFill>
                  <a:srgbClr val="17243E"/>
                </a:solidFill>
                <a:latin typeface="Georgia"/>
                <a:ea typeface="Georgia"/>
                <a:cs typeface="Georgia"/>
              </a:defRPr>
            </a:pPr>
            <a:r>
              <a:rPr sz="9450" b="0">
                <a:solidFill>
                  <a:srgbClr val="17243E"/>
                </a:solidFill>
                <a:latin typeface="Georgia"/>
                <a:ea typeface="Georgia"/>
                <a:cs typeface="Georgia"/>
              </a:rPr>
              <a:t>17</a:t>
            </a:r>
          </a:p>
        </p:txBody>
      </p:sp>
      <p:sp>
        <p:nvSpPr>
          <p:cNvPr id="7" name="">
            <a:extLst xmlns:a="http://schemas.openxmlformats.org/drawingml/2006/main">
              <a:ext uri="{FF2B5EF4-FFF2-40B4-BE49-F238E27FC236}">
                <a16:creationId xmlns:a16="http://schemas.microsoft.com/office/drawing/2014/main" id="{60BACA49-18DB-40F6-AF23-1765B546B4A4}"/>
              </a:ext>
            </a:extLst>
          </p:cNvPr>
          <p:cNvSpPr>
            <a:spLocks xmlns:a="http://schemas.openxmlformats.org/drawingml/2006/main" noGrp="1"/>
          </p:cNvSpPr>
          <p:nvPr/>
        </p:nvSpPr>
        <p:spPr>
          <a:xfrm xmlns:a="http://schemas.openxmlformats.org/drawingml/2006/main">
            <a:off x="609600" y="4400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years in legal practice</a:t>
            </a:r>
          </a:p>
        </p:txBody>
      </p:sp>
      <p:sp>
        <p:nvSpPr>
          <p:cNvPr id="8" name="">
            <a:extLst xmlns:a="http://schemas.openxmlformats.org/drawingml/2006/main">
              <a:ext uri="{FF2B5EF4-FFF2-40B4-BE49-F238E27FC236}">
                <a16:creationId xmlns:a16="http://schemas.microsoft.com/office/drawing/2014/main" id="{0FC7A786-B3FF-4B69-AB17-292C636EFC93}"/>
              </a:ext>
            </a:extLst>
          </p:cNvPr>
          <p:cNvSpPr>
            <a:spLocks xmlns:a="http://schemas.openxmlformats.org/drawingml/2006/main" noGrp="1"/>
          </p:cNvSpPr>
          <p:nvPr/>
        </p:nvSpPr>
        <p:spPr>
          <a:xfrm xmlns:a="http://schemas.openxmlformats.org/drawingml/2006/main">
            <a:off x="609600" y="5143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0">
                <a:solidFill>
                  <a:srgbClr val="4169A4"/>
                </a:solidFill>
                <a:latin typeface="Georgia"/>
                <a:ea typeface="Georgia"/>
                <a:cs typeface="Georgia"/>
              </a:defRPr>
            </a:pPr>
            <a:r>
              <a:rPr sz="2550" b="0">
                <a:solidFill>
                  <a:srgbClr val="4169A4"/>
                </a:solidFill>
                <a:latin typeface="Georgia"/>
                <a:ea typeface="Georgia"/>
                <a:cs typeface="Georgia"/>
              </a:rPr>
              <a:t>“I wanted to find a way</a:t>
            </a:r>
          </a:p>
          <a:p xmlns:a="http://schemas.openxmlformats.org/drawingml/2006/main">
            <a:pPr>
              <a:lnSpc>
                <a:spcPct val="110000"/>
              </a:lnSpc>
              <a:buNone/>
              <a:defRPr sz="2550" b="0">
                <a:solidFill>
                  <a:srgbClr val="4169A4"/>
                </a:solidFill>
                <a:latin typeface="Georgia"/>
                <a:ea typeface="Georgia"/>
                <a:cs typeface="Georgia"/>
              </a:defRPr>
            </a:pPr>
            <a:r>
              <a:rPr sz="2550" b="0">
                <a:solidFill>
                  <a:srgbClr val="4169A4"/>
                </a:solidFill>
                <a:latin typeface="Georgia"/>
                <a:ea typeface="Georgia"/>
                <a:cs typeface="Georgia"/>
              </a:rPr>
              <a:t>to multiply myself.”</a:t>
            </a:r>
          </a:p>
        </p:txBody>
      </p:sp>
      <p:sp>
        <p:nvSpPr>
          <p:cNvPr id="9" name="">
            <a:extLst xmlns:a="http://schemas.openxmlformats.org/drawingml/2006/main">
              <a:ext uri="{FF2B5EF4-FFF2-40B4-BE49-F238E27FC236}">
                <a16:creationId xmlns:a16="http://schemas.microsoft.com/office/drawing/2014/main" id="{FD34DBBE-28E6-4B07-9EAD-D96D224C74FC}"/>
              </a:ext>
            </a:extLst>
          </p:cNvPr>
          <p:cNvSpPr>
            <a:spLocks xmlns:a="http://schemas.openxmlformats.org/drawingml/2006/main" noGrp="1"/>
          </p:cNvSpPr>
          <p:nvPr/>
        </p:nvSpPr>
        <p:spPr>
          <a:xfrm xmlns:a="http://schemas.openxmlformats.org/drawingml/2006/main">
            <a:off x="6305550" y="22574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Built and led legal teams</a:t>
            </a:r>
          </a:p>
        </p:txBody>
      </p:sp>
      <p:sp>
        <p:nvSpPr>
          <p:cNvPr id="10" name="">
            <a:extLst xmlns:a="http://schemas.openxmlformats.org/drawingml/2006/main">
              <a:ext uri="{FF2B5EF4-FFF2-40B4-BE49-F238E27FC236}">
                <a16:creationId xmlns:a16="http://schemas.microsoft.com/office/drawing/2014/main" id="{B46C2A09-936A-4B52-9A56-0CF4F5E0ECC1}"/>
              </a:ext>
            </a:extLst>
          </p:cNvPr>
          <p:cNvSpPr>
            <a:spLocks xmlns:a="http://schemas.openxmlformats.org/drawingml/2006/main" noGrp="1"/>
          </p:cNvSpPr>
          <p:nvPr/>
        </p:nvSpPr>
        <p:spPr>
          <a:xfrm xmlns:a="http://schemas.openxmlformats.org/drawingml/2006/main">
            <a:off x="6305550" y="280035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Founding legal leadership at Settle and Manifest. Product and regulatory counsel at Affirm. Associate GC at Facebook.</a:t>
            </a:r>
          </a:p>
        </p:txBody>
      </p:sp>
      <p:sp>
        <p:nvSpPr>
          <p:cNvPr id="11" name="">
            <a:extLst xmlns:a="http://schemas.openxmlformats.org/drawingml/2006/main">
              <a:ext uri="{FF2B5EF4-FFF2-40B4-BE49-F238E27FC236}">
                <a16:creationId xmlns:a16="http://schemas.microsoft.com/office/drawing/2014/main" id="{5520B759-04FC-4AD8-ADC5-A4F30B6D84C7}"/>
              </a:ext>
            </a:extLst>
          </p:cNvPr>
          <p:cNvSpPr>
            <a:spLocks xmlns:a="http://schemas.openxmlformats.org/drawingml/2006/main" noGrp="1"/>
          </p:cNvSpPr>
          <p:nvPr/>
        </p:nvSpPr>
        <p:spPr>
          <a:xfrm xmlns:a="http://schemas.openxmlformats.org/drawingml/2006/main">
            <a:off x="6305550" y="43434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Legal judgment meets technical depth</a:t>
            </a:r>
          </a:p>
        </p:txBody>
      </p:sp>
      <p:sp>
        <p:nvSpPr>
          <p:cNvPr id="12" name="">
            <a:extLst xmlns:a="http://schemas.openxmlformats.org/drawingml/2006/main">
              <a:ext uri="{FF2B5EF4-FFF2-40B4-BE49-F238E27FC236}">
                <a16:creationId xmlns:a16="http://schemas.microsoft.com/office/drawing/2014/main" id="{F906ECF3-A56F-4CBA-95D8-6766F91EC14F}"/>
              </a:ext>
            </a:extLst>
          </p:cNvPr>
          <p:cNvSpPr>
            <a:spLocks xmlns:a="http://schemas.openxmlformats.org/drawingml/2006/main" noGrp="1"/>
          </p:cNvSpPr>
          <p:nvPr/>
        </p:nvSpPr>
        <p:spPr>
          <a:xfrm xmlns:a="http://schemas.openxmlformats.org/drawingml/2006/main">
            <a:off x="6305550" y="4943475"/>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Earlier AI and language-processing research at Georgia Tech. Northwestern J.D. and Georgia Tech M.S. in Computer Science.</a:t>
            </a:r>
          </a:p>
        </p:txBody>
      </p:sp>
    </p:spTree>
    <p:extLst>
      <p:ext uri="{BB962C8B-B14F-4D97-AF65-F5344CB8AC3E}">
        <p14:creationId xmlns:p14="http://schemas.microsoft.com/office/powerpoint/2010/main" val="651385613"/>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F9C45B-0580-4CF6-B726-9EA56E6554E0}"/>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4A932A63-CB09-4083-AC90-787178B40160}"/>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proof is real attorney use.</a:t>
            </a:r>
          </a:p>
        </p:txBody>
      </p:sp>
      <p:sp>
        <p:nvSpPr>
          <p:cNvPr id="3" name="">
            <a:extLst xmlns:a="http://schemas.openxmlformats.org/drawingml/2006/main">
              <a:ext uri="{FF2B5EF4-FFF2-40B4-BE49-F238E27FC236}">
                <a16:creationId xmlns:a16="http://schemas.microsoft.com/office/drawing/2014/main" id="{70FB01C0-A87F-4C9D-B6A1-8C37B4A37408}"/>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88B08BF-79FE-413D-AA8A-5F77C74B14A4}"/>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8ea9063b9fa4259"/>
          <a:stretch xmlns:a="http://schemas.openxmlformats.org/drawingml/2006/main"/>
        </p:blipFill>
        <p:spPr>
          <a:xfrm xmlns:a="http://schemas.openxmlformats.org/drawingml/2006/main">
            <a:off x="611505" y="2257425"/>
            <a:ext cx="6568440" cy="41052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B8626D7-0381-4D58-8408-1E10D1BA4FF9}"/>
              </a:ext>
            </a:extLst>
          </p:cNvPr>
          <p:cNvSpPr>
            <a:spLocks xmlns:a="http://schemas.openxmlformats.org/drawingml/2006/main" noGrp="1"/>
          </p:cNvSpPr>
          <p:nvPr/>
        </p:nvSpPr>
        <p:spPr>
          <a:xfrm xmlns:a="http://schemas.openxmlformats.org/drawingml/2006/main">
            <a:off x="7696200" y="228600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Local prototype</a:t>
            </a:r>
          </a:p>
        </p:txBody>
      </p:sp>
      <p:sp>
        <p:nvSpPr>
          <p:cNvPr id="7" name="">
            <a:extLst xmlns:a="http://schemas.openxmlformats.org/drawingml/2006/main">
              <a:ext uri="{FF2B5EF4-FFF2-40B4-BE49-F238E27FC236}">
                <a16:creationId xmlns:a16="http://schemas.microsoft.com/office/drawing/2014/main" id="{EF758EFE-A823-4366-B66D-B6805E216227}"/>
              </a:ext>
            </a:extLst>
          </p:cNvPr>
          <p:cNvSpPr>
            <a:spLocks xmlns:a="http://schemas.openxmlformats.org/drawingml/2006/main" noGrp="1"/>
          </p:cNvSpPr>
          <p:nvPr/>
        </p:nvSpPr>
        <p:spPr>
          <a:xfrm xmlns:a="http://schemas.openxmlformats.org/drawingml/2006/main">
            <a:off x="7696200" y="2847975"/>
            <a:ext cx="3857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Matter records, research, editable drafts, persistent context, and explicit decisions.</a:t>
            </a:r>
          </a:p>
        </p:txBody>
      </p:sp>
      <p:sp>
        <p:nvSpPr>
          <p:cNvPr id="8" name="">
            <a:extLst xmlns:a="http://schemas.openxmlformats.org/drawingml/2006/main">
              <a:ext uri="{FF2B5EF4-FFF2-40B4-BE49-F238E27FC236}">
                <a16:creationId xmlns:a16="http://schemas.microsoft.com/office/drawing/2014/main" id="{AAD121EF-FD14-4B52-BF67-CCE39427EF14}"/>
              </a:ext>
            </a:extLst>
          </p:cNvPr>
          <p:cNvSpPr>
            <a:spLocks xmlns:a="http://schemas.openxmlformats.org/drawingml/2006/main" noGrp="1"/>
          </p:cNvSpPr>
          <p:nvPr/>
        </p:nvSpPr>
        <p:spPr>
          <a:xfrm xmlns:a="http://schemas.openxmlformats.org/drawingml/2006/main">
            <a:off x="7696200" y="44005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Next milestone</a:t>
            </a:r>
          </a:p>
        </p:txBody>
      </p:sp>
      <p:sp>
        <p:nvSpPr>
          <p:cNvPr id="9" name="">
            <a:extLst xmlns:a="http://schemas.openxmlformats.org/drawingml/2006/main">
              <a:ext uri="{FF2B5EF4-FFF2-40B4-BE49-F238E27FC236}">
                <a16:creationId xmlns:a16="http://schemas.microsoft.com/office/drawing/2014/main" id="{801E6BE4-88E0-46B9-A3D9-D0BB193647EA}"/>
              </a:ext>
            </a:extLst>
          </p:cNvPr>
          <p:cNvSpPr>
            <a:spLocks xmlns:a="http://schemas.openxmlformats.org/drawingml/2006/main" noGrp="1"/>
          </p:cNvSpPr>
          <p:nvPr/>
        </p:nvSpPr>
        <p:spPr>
          <a:xfrm xmlns:a="http://schemas.openxmlformats.org/drawingml/2006/main">
            <a:off x="7696200" y="4962525"/>
            <a:ext cx="3857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A focused attorney pilot with a concise answer, clear sources, and room to explore.</a:t>
            </a:r>
          </a:p>
        </p:txBody>
      </p:sp>
      <p:sp>
        <p:nvSpPr>
          <p:cNvPr id="10" name="">
            <a:extLst xmlns:a="http://schemas.openxmlformats.org/drawingml/2006/main">
              <a:ext uri="{FF2B5EF4-FFF2-40B4-BE49-F238E27FC236}">
                <a16:creationId xmlns:a16="http://schemas.microsoft.com/office/drawing/2014/main" id="{DDA5E9EA-A629-48C9-B6AA-A87FD69918AC}"/>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1157248545"/>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EDD9A3-FA98-46E1-BB26-D45D970DB03F}"/>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476CE6F3-A065-4562-A7AC-FBD87096B958}"/>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050" b="1">
                <a:solidFill>
                  <a:srgbClr val="FAF8F2"/>
                </a:solidFill>
                <a:latin typeface="Georgia"/>
                <a:ea typeface="Georgia"/>
                <a:cs typeface="Georgia"/>
              </a:defRPr>
            </a:pPr>
            <a:r>
              <a:rPr sz="4050" b="1">
                <a:solidFill>
                  <a:srgbClr val="FAF8F2"/>
                </a:solidFill>
                <a:latin typeface="Georgia"/>
                <a:ea typeface="Georgia"/>
                <a:cs typeface="Georgia"/>
              </a:rPr>
              <a:t>More capacity for the work</a:t>
            </a:r>
          </a:p>
          <a:p xmlns:a="http://schemas.openxmlformats.org/drawingml/2006/main">
            <a:pPr>
              <a:lnSpc>
                <a:spcPct val="110000"/>
              </a:lnSpc>
              <a:buNone/>
              <a:defRPr sz="4050" b="1">
                <a:solidFill>
                  <a:srgbClr val="FAF8F2"/>
                </a:solidFill>
                <a:latin typeface="Georgia"/>
                <a:ea typeface="Georgia"/>
                <a:cs typeface="Georgia"/>
              </a:defRPr>
            </a:pPr>
            <a:r>
              <a:rPr sz="4050" b="1">
                <a:solidFill>
                  <a:srgbClr val="FAF8F2"/>
                </a:solidFill>
                <a:latin typeface="Georgia"/>
                <a:ea typeface="Georgia"/>
                <a:cs typeface="Georgia"/>
              </a:rPr>
              <a:t>only the lawyer can do.</a:t>
            </a:r>
          </a:p>
        </p:txBody>
      </p:sp>
      <p:sp>
        <p:nvSpPr>
          <p:cNvPr id="3" name="">
            <a:extLst xmlns:a="http://schemas.openxmlformats.org/drawingml/2006/main">
              <a:ext uri="{FF2B5EF4-FFF2-40B4-BE49-F238E27FC236}">
                <a16:creationId xmlns:a16="http://schemas.microsoft.com/office/drawing/2014/main" id="{F688D162-7DDE-4212-B5D0-A7B7ED907BF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399A3AA-B91A-44BB-82B4-9756520859A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D42020C-FAF7-413D-AA4F-7D144873846F}"/>
              </a:ext>
            </a:extLst>
          </p:cNvPr>
          <p:cNvSpPr>
            <a:spLocks xmlns:a="http://schemas.openxmlformats.org/drawingml/2006/main" noGrp="1"/>
          </p:cNvSpPr>
          <p:nvPr/>
        </p:nvSpPr>
        <p:spPr>
          <a:xfrm xmlns:a="http://schemas.openxmlformats.org/drawingml/2006/main">
            <a:off x="609600" y="2686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1">
                <a:solidFill>
                  <a:srgbClr val="D8B66A"/>
                </a:solidFill>
                <a:latin typeface="Arial"/>
                <a:ea typeface="Arial"/>
                <a:cs typeface="Arial"/>
              </a:defRPr>
            </a:pPr>
            <a:r>
              <a:rPr sz="2025" b="1">
                <a:solidFill>
                  <a:srgbClr val="D8B66A"/>
                </a:solidFill>
                <a:latin typeface="Arial"/>
                <a:ea typeface="Arial"/>
                <a:cs typeface="Arial"/>
              </a:rPr>
              <a:t>Seeking early investment to fund</a:t>
            </a:r>
          </a:p>
        </p:txBody>
      </p:sp>
      <p:sp>
        <p:nvSpPr>
          <p:cNvPr id="6" name="">
            <a:extLst xmlns:a="http://schemas.openxmlformats.org/drawingml/2006/main">
              <a:ext uri="{FF2B5EF4-FFF2-40B4-BE49-F238E27FC236}">
                <a16:creationId xmlns:a16="http://schemas.microsoft.com/office/drawing/2014/main" id="{09B52306-1F00-42E3-A9D3-DF3AFB2AE620}"/>
              </a:ext>
            </a:extLst>
          </p:cNvPr>
          <p:cNvSpPr>
            <a:spLocks xmlns:a="http://schemas.openxmlformats.org/drawingml/2006/main" noGrp="1"/>
          </p:cNvSpPr>
          <p:nvPr/>
        </p:nvSpPr>
        <p:spPr>
          <a:xfrm xmlns:a="http://schemas.openxmlformats.org/drawingml/2006/main">
            <a:off x="609600" y="34099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Full-time founder focus</a:t>
            </a:r>
          </a:p>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Founding technical and business leaders</a:t>
            </a:r>
          </a:p>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Attorney pilots and rapid product improvement</a:t>
            </a:r>
          </a:p>
        </p:txBody>
      </p:sp>
      <p:sp>
        <p:nvSpPr>
          <p:cNvPr id="7" name="">
            <a:extLst xmlns:a="http://schemas.openxmlformats.org/drawingml/2006/main">
              <a:ext uri="{FF2B5EF4-FFF2-40B4-BE49-F238E27FC236}">
                <a16:creationId xmlns:a16="http://schemas.microsoft.com/office/drawing/2014/main" id="{A9C52076-24F0-47B8-A7B0-834E310EEAA6}"/>
              </a:ext>
            </a:extLst>
          </p:cNvPr>
          <p:cNvSpPr>
            <a:spLocks xmlns:a="http://schemas.openxmlformats.org/drawingml/2006/main" noGrp="1"/>
          </p:cNvSpPr>
          <p:nvPr/>
        </p:nvSpPr>
        <p:spPr>
          <a:xfrm xmlns:a="http://schemas.openxmlformats.org/drawingml/2006/main">
            <a:off x="609600" y="53054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DCE1EA"/>
                </a:solidFill>
                <a:latin typeface="Georgia"/>
                <a:ea typeface="Georgia"/>
                <a:cs typeface="Georgia"/>
              </a:defRPr>
            </a:pPr>
            <a:r>
              <a:rPr sz="2250" b="0">
                <a:solidFill>
                  <a:srgbClr val="DCE1EA"/>
                </a:solidFill>
                <a:latin typeface="Georgia"/>
                <a:ea typeface="Georgia"/>
                <a:cs typeface="Georgia"/>
              </a:rPr>
              <a:t>The milestone: lawyers find enough value to return with the next matter.</a:t>
            </a:r>
          </a:p>
        </p:txBody>
      </p:sp>
    </p:spTree>
    <p:extLst>
      <p:ext uri="{BB962C8B-B14F-4D97-AF65-F5344CB8AC3E}">
        <p14:creationId xmlns:p14="http://schemas.microsoft.com/office/powerpoint/2010/main" val="1401251938"/>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3e1a492f6d648ee"/>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365947531"/>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592FAC-4546-4F6C-A2E2-CF792FFB956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7B5B4DAD-3AA3-4909-997E-F7C56AF7777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49A2CB8E-3733-4DC7-961D-AF914A39206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E9EE14A-2382-4593-9A43-EB68C407BFC6}"/>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C1C661C1-30B6-4918-8B44-26D199713DE0}"/>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90F1C880-BAB0-4EDC-9696-CC35C4638A3C}"/>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E7722D79-7CA5-4D81-BBCB-39CBC5CA210E}"/>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81AF6D7E-E6F1-431C-BA42-A1DFA032410B}"/>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BF8360C5-0ABA-489C-9409-FF4F48D80D31}"/>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5382743A-C61D-43A5-9A65-0593B24A5AFF}"/>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94B10601-3EAA-4AA8-8A5F-BB4A28C3F33B}"/>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B69F0ED5-AB77-44C7-B246-CC3C4E7263BA}"/>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572285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2026-09-04T22:48:08.4160000Z</dcterms:created>
  <dcterms:modified xsi:type="dcterms:W3CDTF">2026-09-04T22:48:08.4160000Z</dcterms:modified>
</coreProperties>
</file>