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6effeed6a2445f" /><Relationship Type="http://schemas.openxmlformats.org/officeDocument/2006/relationships/extended-properties" Target="/docProps/app.xml" Id="R458080e4ed014c16" /><Relationship Type="http://schemas.openxmlformats.org/officeDocument/2006/relationships/officeDocument" Target="/ppt/presentation.xml" Id="Rce2c799e37294261" /></Relationships>
</file>

<file path=ppt/presentation.xml><?xml version="1.0" encoding="utf-8"?>
<p:presentation xmlns:p="http://schemas.openxmlformats.org/presentationml/2006/main">
  <p:sldMasterIdLst>
    <p:sldMasterId xmlns:r="http://schemas.openxmlformats.org/officeDocument/2006/relationships" id="2147483648" r:id="Rd7375df81f564c6d"/>
  </p:sldMasterIdLst>
  <p:notesMasterIdLst>
    <p:notesMasterId xmlns:r="http://schemas.openxmlformats.org/officeDocument/2006/relationships" r:id="Rc99365f853cc4a8d"/>
  </p:notesMasterIdLst>
  <p:sldIdLst>
    <p:sldId xmlns:r="http://schemas.openxmlformats.org/officeDocument/2006/relationships" id="256" r:id="Rb18532f36fe043c1"/>
    <p:sldId xmlns:r="http://schemas.openxmlformats.org/officeDocument/2006/relationships" id="257" r:id="Re2d6036dad914997"/>
    <p:sldId xmlns:r="http://schemas.openxmlformats.org/officeDocument/2006/relationships" id="258" r:id="R196f8deefb1144dd"/>
    <p:sldId xmlns:r="http://schemas.openxmlformats.org/officeDocument/2006/relationships" id="259" r:id="R4cffead8c40e49a1"/>
    <p:sldId xmlns:r="http://schemas.openxmlformats.org/officeDocument/2006/relationships" id="260" r:id="R21dbae5dcd01416a"/>
    <p:sldId xmlns:r="http://schemas.openxmlformats.org/officeDocument/2006/relationships" id="261" r:id="Rde938c12788c4fc2"/>
    <p:sldId xmlns:r="http://schemas.openxmlformats.org/officeDocument/2006/relationships" id="262" r:id="Rea22bd6825ce4b7c"/>
    <p:sldId xmlns:r="http://schemas.openxmlformats.org/officeDocument/2006/relationships" id="263" r:id="R5748a58092ee45ba"/>
    <p:sldId xmlns:r="http://schemas.openxmlformats.org/officeDocument/2006/relationships" id="264" r:id="R6a08bbcdc8674b1f"/>
    <p:sldId xmlns:r="http://schemas.openxmlformats.org/officeDocument/2006/relationships" id="265" r:id="Rdc7d2bf194314420"/>
    <p:sldId xmlns:r="http://schemas.openxmlformats.org/officeDocument/2006/relationships" id="266" r:id="R668dbf74ff754f34"/>
    <p:sldId xmlns:r="http://schemas.openxmlformats.org/officeDocument/2006/relationships" id="267" r:id="R2252dd23300441b9"/>
    <p:sldId xmlns:r="http://schemas.openxmlformats.org/officeDocument/2006/relationships" id="268" r:id="Rc74cef8d9d5c4e04"/>
    <p:sldId xmlns:r="http://schemas.openxmlformats.org/officeDocument/2006/relationships" id="269" r:id="R45785157c4414b9e"/>
    <p:sldId xmlns:r="http://schemas.openxmlformats.org/officeDocument/2006/relationships" id="270" r:id="R383f3e5a10f54511"/>
    <p:sldId xmlns:r="http://schemas.openxmlformats.org/officeDocument/2006/relationships" id="271" r:id="R55add7118dc546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033feeb7a94ee7" /><Relationship Type="http://schemas.openxmlformats.org/officeDocument/2006/relationships/slideMaster" Target="/ppt/slideMasters/slideMaster1.xml" Id="Rd7375df81f564c6d" /><Relationship Type="http://schemas.openxmlformats.org/officeDocument/2006/relationships/notesMaster" Target="/ppt/notesMasters/notesMaster1.xml" Id="Rc99365f853cc4a8d" /><Relationship Type="http://schemas.openxmlformats.org/officeDocument/2006/relationships/presProps" Target="/ppt/presProps.xml" Id="Rdc9f46e83736493e" /><Relationship Type="http://schemas.openxmlformats.org/officeDocument/2006/relationships/tableStyles" Target="/ppt/tableStyles.xml" Id="R30a149ab9c8d485c" /><Relationship Type="http://schemas.openxmlformats.org/officeDocument/2006/relationships/slide" Target="/ppt/slides/slide1.xml" Id="Rb18532f36fe043c1" /><Relationship Type="http://schemas.openxmlformats.org/officeDocument/2006/relationships/slide" Target="/ppt/slides/slide2.xml" Id="Re2d6036dad914997" /><Relationship Type="http://schemas.openxmlformats.org/officeDocument/2006/relationships/slide" Target="/ppt/slides/slide3.xml" Id="R196f8deefb1144dd" /><Relationship Type="http://schemas.openxmlformats.org/officeDocument/2006/relationships/slide" Target="/ppt/slides/slide4.xml" Id="R4cffead8c40e49a1" /><Relationship Type="http://schemas.openxmlformats.org/officeDocument/2006/relationships/slide" Target="/ppt/slides/slide5.xml" Id="R21dbae5dcd01416a" /><Relationship Type="http://schemas.openxmlformats.org/officeDocument/2006/relationships/slide" Target="/ppt/slides/slide6.xml" Id="Rde938c12788c4fc2" /><Relationship Type="http://schemas.openxmlformats.org/officeDocument/2006/relationships/slide" Target="/ppt/slides/slide7.xml" Id="Rea22bd6825ce4b7c" /><Relationship Type="http://schemas.openxmlformats.org/officeDocument/2006/relationships/slide" Target="/ppt/slides/slide8.xml" Id="R5748a58092ee45ba" /><Relationship Type="http://schemas.openxmlformats.org/officeDocument/2006/relationships/slide" Target="/ppt/slides/slide9.xml" Id="R6a08bbcdc8674b1f" /><Relationship Type="http://schemas.openxmlformats.org/officeDocument/2006/relationships/slide" Target="/ppt/slides/slide10.xml" Id="Rdc7d2bf194314420" /><Relationship Type="http://schemas.openxmlformats.org/officeDocument/2006/relationships/slide" Target="/ppt/slides/slide11.xml" Id="R668dbf74ff754f34" /><Relationship Type="http://schemas.openxmlformats.org/officeDocument/2006/relationships/slide" Target="/ppt/slides/slide12.xml" Id="R2252dd23300441b9" /><Relationship Type="http://schemas.openxmlformats.org/officeDocument/2006/relationships/slide" Target="/ppt/slides/slide13.xml" Id="Rc74cef8d9d5c4e04" /><Relationship Type="http://schemas.openxmlformats.org/officeDocument/2006/relationships/slide" Target="/ppt/slides/slide14.xml" Id="R45785157c4414b9e" /><Relationship Type="http://schemas.openxmlformats.org/officeDocument/2006/relationships/slide" Target="/ppt/slides/slide15.xml" Id="R383f3e5a10f54511" /><Relationship Type="http://schemas.openxmlformats.org/officeDocument/2006/relationships/slide" Target="/ppt/slides/slide16.xml" Id="R55add7118dc546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81de4d29ab4e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8253097a284d51" /><Relationship Type="http://schemas.openxmlformats.org/officeDocument/2006/relationships/notesMaster" Target="/ppt/notesMasters/notesMaster1.xml" Id="Rb0f39d2d24014b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5d8e74be384490" /><Relationship Type="http://schemas.openxmlformats.org/officeDocument/2006/relationships/notesMaster" Target="/ppt/notesMasters/notesMaster1.xml" Id="Rfb9fb1499d1646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4588fb9c7d4905" /><Relationship Type="http://schemas.openxmlformats.org/officeDocument/2006/relationships/notesMaster" Target="/ppt/notesMasters/notesMaster1.xml" Id="Rc855f5df578e43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da0f2f4aee4aac" /><Relationship Type="http://schemas.openxmlformats.org/officeDocument/2006/relationships/notesMaster" Target="/ppt/notesMasters/notesMaster1.xml" Id="R77619123ad4b41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85f64b0be74d7f" /><Relationship Type="http://schemas.openxmlformats.org/officeDocument/2006/relationships/notesMaster" Target="/ppt/notesMasters/notesMaster1.xml" Id="R61e74c6af2d249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420a7a231440c9" /><Relationship Type="http://schemas.openxmlformats.org/officeDocument/2006/relationships/notesMaster" Target="/ppt/notesMasters/notesMaster1.xml" Id="Rcd272d7b2f704e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87275b7cf44245" /><Relationship Type="http://schemas.openxmlformats.org/officeDocument/2006/relationships/notesMaster" Target="/ppt/notesMasters/notesMaster1.xml" Id="Reff64eb139394d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1b57d2d4644812" /><Relationship Type="http://schemas.openxmlformats.org/officeDocument/2006/relationships/notesMaster" Target="/ppt/notesMasters/notesMaster1.xml" Id="R5188723d309644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98452f52684fb5" /><Relationship Type="http://schemas.openxmlformats.org/officeDocument/2006/relationships/notesMaster" Target="/ppt/notesMasters/notesMaster1.xml" Id="R3f55248a6a5044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af2cb6b86d43df" /><Relationship Type="http://schemas.openxmlformats.org/officeDocument/2006/relationships/notesMaster" Target="/ppt/notesMasters/notesMaster1.xml" Id="Ra3ddded05d4f48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24525310e1c408e" /><Relationship Type="http://schemas.openxmlformats.org/officeDocument/2006/relationships/notesMaster" Target="/ppt/notesMasters/notesMaster1.xml" Id="R904069ec2555405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ce66087b0b4dc9" /><Relationship Type="http://schemas.openxmlformats.org/officeDocument/2006/relationships/notesMaster" Target="/ppt/notesMasters/notesMaster1.xml" Id="R671fd7a8e0cd46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61144f162744875" /><Relationship Type="http://schemas.openxmlformats.org/officeDocument/2006/relationships/notesMaster" Target="/ppt/notesMasters/notesMaster1.xml" Id="Rdbaa282062e8492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ab4d79512d46a5" /><Relationship Type="http://schemas.openxmlformats.org/officeDocument/2006/relationships/notesMaster" Target="/ppt/notesMasters/notesMaster1.xml" Id="R4d084b98e5b84da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4898e692e7460b" /><Relationship Type="http://schemas.openxmlformats.org/officeDocument/2006/relationships/notesMaster" Target="/ppt/notesMasters/notesMaster1.xml" Id="Rdf4c7979dfb04e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2b90591bfb04b16" /><Relationship Type="http://schemas.openxmlformats.org/officeDocument/2006/relationships/notesMaster" Target="/ppt/notesMasters/notesMaster1.xml" Id="Rc955fe7fffc247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is a capable AI companion and a system already adapted to lawyers. The intended outcome is confidence earned through understanding the issue and choices, with more time for business judgment. These are intended benefits, not measured outcomes. Founder-approved statement: Themis equips lawyers to advise with confidence—and gives them more time to be present in the room, shaping business decisions. Existing Themis cover artwork: output/deck/assets/bright-editorial/cover-flashlight-bw.png.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business request, not a customer quote or legal conclusion. Founder experience and four exploratory interviews in output/research/raw/interviews/in-house-counsel/ inform the problem: incomplete intake, research and verification effort, unfamiliar questions and the need to understand the surrounding answer space. The product north star in AGENTS.md and brand_pitch.md is to reduce cognitive load and equip the lawyer for the decision. Context storage is a supporting capability, not the problem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founder-approved positioning in this conversation. Answer space means the plausible options, supporting evidence, assumptions and facts that can change the recommendation. Themis should conduct useful preparation and expose issues without requiring the lawyer to design an AI system. The proposed distinction is the default experience and effort required, not an exclusive ability to reason or ask questions. Prototype supports matters, instructions and editable work product; reliable unprompted discovery and automatic adaptation remain outcomes to validate. Confidence follows a basis for advice, not model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output/deck/screenshots/matter-relay.png. Fictional Relay data: vault/03_Matters/relay-open-banking/recommendations.md and drafts/decision-note.md. The seed differentiates continued account connectivity from proposed use for card/lending offers, and sets up alternative customer reauthorization timing. This is an illustration of a useful issue map and decision preparation, not a recorded AI exchange or validated legal advice. Screenshot crop preserves the matter summary and question to resolve. It does not establish that Themis discovered the issues autonomously.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founder-supplied Brian Resume 01_21_26.docx (1).pdf and brand_pitch.md. Settle: Founding General Counsel, Chief Compliance Officer and Secretary (2021–2024). Manifest: Founding Chief Legal Officer and Chief Compliance Officer (resume dated January 2026). Affirm: product/regulatory counsel leadership (2016–2020), grew that team from three to eight attorneys. Facebook: Associate General Counsel, Portal (2020–2021). Georgia Tech Research Scientist I (2004–2006), AI/NLP document classification and automated redaction research. M.S. CS Georgia Tech, J.D. Northwestern. Seventeen years is current founder-reported experience; resume says 15+. Employer names describe experience, not customer relationships or endorsement. Do not infer current employment from an older Present entry. Brian is the sole founder. A founding technical leader is a planned hire, not an existing team member.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2026: https://claude.com/plugins/legal ; https://help.openai.com/en/articles/10169521-projects-in-chatgpt ; https://www.harvey.ai/platform/agents ; https://legora.com/ ; https://legal.thomsonreuters.com/en/products/cocounsel-legal ; https://gc.ai/pricing. These platforms overlap materially with the Themis thesis. Claude has a legal plugin configured to organizational playbooks. Harvey markets judgment, legal agents, preferences and review-ready work. GC AI directly serves in-house lawyers and sells individual seats. Do not claim competitors only produce answers, cannot explore, lack lawyer workflows, or cannot adapt. Themis’s proposed advantage combines a narrow buyer, matter preparation, visible decision alternatives and lower steering effort. It is a product/market thesis, not demonstrated superiority or an established moat. Earn repeat use through useful work; reusable practice-specific instructions and evaluation cases could improve that experience over time. No cross-customer data network effect is assumed. Pilot comparison should use reasonably configured Claude/ChatGPT and the specialist tool the lawyer currently 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https://www.acc.com/sites/default/files/2026-01/2026-ACC-Chief-Legal-Officers-Survey-Key-Findings.pdf , page 2, finding 05. Survey covers 1,049 participants, 20 industries and 43 countries. The estimates are not restricted to small teams or the United States. Commercial interpretation: departments are adopting AI while expecting stable legal headcount, making the way AI supports existing lawyers a timely buying choice. This does not establish that the market is unserved, that competitors have not solved parts of the problem, or that Themis has proven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founder experience and four exploratory counsel interviews in output/research/raw/interviews/in-house-counsel/. Initial segment, buying trigger and channel are business choices, not measured market shares. First legal hires and product counsel on lean technology/fintech teams have broad questions, limited specialist support and a founder-reachable professional network. No channel partnership, referral, signed pilot or pipeline count is claimed. Proposed 90-day targets: 20 qualified conversations, 10 pilot lawyers and five paying lawyers, beginning when pilot access is ready. Later expansion into other industries and shared team matters depends on observed value and further product development.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Approved Lean Canvas v4 pricing: $400/seat/month, billed monthly, one seat or more, no required annual commitment or setup fee. At 12 months of continued use, revenue per seat is $4,800. Capacity illustration: $400 ÷ $250/hour = 1.6 hours/month = 96 minutes/month ÷ four weeks = 24 minutes/week. The $250/hour is a modeling assumption, not a measured cost rate. Time recovery is not cash savings or proven ROI. Gross margin target 80% requires direct delivery costs at or below $80/paid seat/month, including applicable model, research, hosting and support costs. Usage allowance must be tested; unlimited usage is not promised. Public comparison: GC AI Individual $500/month (https://gc.ai/pricing). Repository reddit-163 reports Harvey $425/seat/month with five seats and a 12-month term (https://www.reddit.com/r/legaltech/comments/1v1q70k/help_me_understand_what_harvey_has_that_claude/), implying $25,500/year for that quote. This is a single anonymous reported quote, not a payment or universal price. Themis must win on useful work as well as initial commitment.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Population source: ACC 2025 analysis of 2024 BLS employment data, https://www.acc.com/sites/default/files/resources/upload/US-In-house-Counsel-Population-Statistics.pdf , pp. 1–2. ACC estimates about 145,000 U.S. in-house lawyers by subtracting law firm and government lawyers from total employed lawyers. Revenue model: 145,000 × $400/month × 12 = $696,000,000/year at full adoption with constant pricing. 21,000 × $4,800 = $100,800,000/year, approximately $100m; 21,000/145,000 = 14.48%. This is a scale illustration, not a forecast, goal with a defined deadline, established serviceable obtainable market, or assertion that acquiring 14.5% is easy. The initially reachable subset of solo/small technology and fintech legal teams is not independently sized, so no arbitrary percentage is presented as measured demand. Expansion from the initial segment to broader in-house counsel requires product and distribution work. No international, law-firm, outside-counsel spend or labor savings is added to subscription market size.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stage carried from v11 and brand_pitch.md: working local prototype and four exploratory interviews. No actual paying customer or verified paid traction evidence was supplied. Prototype screenshot is seeded fiction, not live customer usage. Targets carried from prior deck, recalculated at approved $400 pricing: 50 × $400 × 12 = $240,000 recurring annual run rate. This is not cumulative recognized revenue. Repeat-use target: 60% of activated pilot lawyers who complete a first matter start a second distinct matter within 30 days. Effort target: median 25% reduction on matched tasks versus configured usual tools, including setup, prompting, source checking, corrections and drafting. Pair readiness with an explanation of the recommendation, material alternatives and what would change it. Targets prove initial paid usefulness, not Series A readiness or repeatable venture-scale distribution. Unit-cost target and customer acquisition evidence remain necessary.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$1.5m pre-seed raise and 18-month period carried from prior deck, not a committed round or finalized term sheet. Capital supports founder focus, founding technical delivery, customer development and pilot delivery. Technical leadership remains an open role. Financing instrument, final compensation and hiring sequence remain open. Appendix budget totals $1.5m, including contingency. Closing line is the exact founder-approved positioning and an intended product outcome. No proven time saving or investment return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sources: gc: https://gc.ai/pricing ; harvey: https://www.harvey.ai/platform/agents ; legora: https://legora.com/ ; claude: https://claude.com/plugins/legal ; gpt: https://help.openai.com/en/articles/10169521-projects-in-chatgpt ; tr: https://legal.thomsonreuters.com/en/products/cocounsel-legal. Checked September 2026. Harvey already emphasizes judgment and adaptation to customer playbooks/preferences. Legora markets legal research, agents and in-house use. CoCounsel combines legal work assistance with research offerings; access varies by plan. GC AI provides in-house skills, Word editing, connectors and individual seats. Claude’s legal plugin is designed for in-house workflows and requires playbook configuration. ChatGPT supports continuing project context and custom instructions. This slide intentionally avoids unsupported feature exclusivity or claims that other models refuse exploration. Themis must show value against the actual alternative each pilot lawyer 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 population source https://www.acc.com/sites/default/files/resources/upload/US-In-house-Counsel-Population-Statistics.pdf. Themis proposal: $400 monthly, no annual term. The $4,800 row annualizes continued use rather than imposing an annual purchase. Reported Harvey terms: https://www.reddit.com/r/legaltech/comments/1v1q70k/help_me_understand_what_harvey_has_that_claude/ ; source reddit-163 in output/research/raw/legal-ai-reddit-source-corpus.jsonl, live quote verified. Single quote cannot establish universal contract minimums. GC AI public Individual price is $500/month, https://gc.ai/pricing. Other repository report reddit-117 contains a lower Harvey tier near $399, as well as $1,200 and $2,400 scopes, and secondhand Legora pricing around $400/month: https://www.reddit.com/r/legaltech/comments/1qvwswa/pricing_harvey_v_claude_v_legora_v_cocounsel_from/ . These are inconsistent scopes and anonymous reports, not comparable vendor rate cards. Legora does not publish a standard seat rate on its homepage and has announced usage-based Agent Pro pricing; no verified all-in rate assumed. Initial segment size is still to be established. Market counts and annualized prices are a scenario, not revenue forecasts or demand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budget carried from v11: $900,000 + $180,000 + $150,000 + $120,000 + $150,000 = $1,500,000. Average 18-month envelope including contingency is $83,333/month. Founder and technical delivery includes compensation, taxes/benefits and contractor capacity, with exact staffing assumptions still open. It is a proposed financing and learning plan, not approved spend or a committed raise. At $400/month, 50 paid seats yield $20,000 monthly recurring revenue ($240,000 annualized), materially below this average spending envelope. The round funds validation and further company development, not a modeled break-even point. Team sharing and automatic adaptation need further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Supplied Themis brand-principles source retained unchanged from the earlier deck. Text is part of the original raster artwork. Humble, curious, present, persistent, supportive and faithful describe intended product behavior, not outcome guarantees. Persistent context supports the product but is not the lead commercial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abc1e289d24d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a237973fb2482a" /><Relationship Type="http://schemas.openxmlformats.org/officeDocument/2006/relationships/slideLayout" Target="/ppt/slideLayouts/slideLayout1.xml" Id="Ree1f5aeca91543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1f5aeca91543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497e77eab54619" /><Relationship Type="http://schemas.openxmlformats.org/officeDocument/2006/relationships/image" Target="/ppt/media/image.png" Id="R45e6a5c913d54a3b" /><Relationship Type="http://schemas.openxmlformats.org/officeDocument/2006/relationships/notesSlide" Target="/ppt/notesSlides/notesSlide1.xml" Id="R63a1c6ea87794f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93c44483fc4920" /><Relationship Type="http://schemas.openxmlformats.org/officeDocument/2006/relationships/notesSlide" Target="/ppt/notesSlides/notesSlide2.xml" Id="R52ed0ed6fe824d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b016ed1baf545d1" /><Relationship Type="http://schemas.openxmlformats.org/officeDocument/2006/relationships/notesSlide" Target="/ppt/notesSlides/notesSlide3.xml" Id="R41bf39996e1b4c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20f6564c5c4a57" /><Relationship Type="http://schemas.openxmlformats.org/officeDocument/2006/relationships/image" Target="/ppt/media/image2.png" Id="Ra02e374fdf404aef" /><Relationship Type="http://schemas.openxmlformats.org/officeDocument/2006/relationships/notesSlide" Target="/ppt/notesSlides/notesSlide4.xml" Id="R4d1d74151dfc47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dd89a444b4485b" /><Relationship Type="http://schemas.openxmlformats.org/officeDocument/2006/relationships/notesSlide" Target="/ppt/notesSlides/notesSlide5.xml" Id="R600bc5e9baee45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067df869a84829" /><Relationship Type="http://schemas.openxmlformats.org/officeDocument/2006/relationships/notesSlide" Target="/ppt/notesSlides/notesSlide6.xml" Id="Rc979df20359146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13627495b914370" /><Relationship Type="http://schemas.openxmlformats.org/officeDocument/2006/relationships/notesSlide" Target="/ppt/notesSlides/notesSlide7.xml" Id="R3c6b89d8c5194e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3f92645e1a6410f" /><Relationship Type="http://schemas.openxmlformats.org/officeDocument/2006/relationships/notesSlide" Target="/ppt/notesSlides/notesSlide8.xml" Id="Rfe0b875a466b41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5a9daa925494b98" /><Relationship Type="http://schemas.openxmlformats.org/officeDocument/2006/relationships/notesSlide" Target="/ppt/notesSlides/notesSlide9.xml" Id="R0f12a95b8d7440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083fd3852e64f97" /><Relationship Type="http://schemas.openxmlformats.org/officeDocument/2006/relationships/notesSlide" Target="/ppt/notesSlides/notesSlide10.xml" Id="R32b202ebf08749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383e9b3b0fc48e4" /><Relationship Type="http://schemas.openxmlformats.org/officeDocument/2006/relationships/notesSlide" Target="/ppt/notesSlides/notesSlide11.xml" Id="R6fc8df8ed7aa4a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f87e04f0b3c4f1d" /><Relationship Type="http://schemas.openxmlformats.org/officeDocument/2006/relationships/notesSlide" Target="/ppt/notesSlides/notesSlide12.xml" Id="R920e9d0f6e0841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2f0fd71db5347ac" /><Relationship Type="http://schemas.openxmlformats.org/officeDocument/2006/relationships/notesSlide" Target="/ppt/notesSlides/notesSlide13.xml" Id="Rb68c711db58049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4acdb2b763d4775" /><Relationship Type="http://schemas.openxmlformats.org/officeDocument/2006/relationships/notesSlide" Target="/ppt/notesSlides/notesSlide14.xml" Id="R92e795a8ac63474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4c2fa9938e24435" /><Relationship Type="http://schemas.openxmlformats.org/officeDocument/2006/relationships/notesSlide" Target="/ppt/notesSlides/notesSlide15.xml" Id="R7031444de95f447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a28035327464f13" /><Relationship Type="http://schemas.openxmlformats.org/officeDocument/2006/relationships/image" Target="/ppt/media/image3.png" Id="R7e8f17193d5c4dc2" /><Relationship Type="http://schemas.openxmlformats.org/officeDocument/2006/relationships/notesSlide" Target="/ppt/notesSlides/notesSlide16.xml" Id="Rf957828fbea34727" /></Relationships>
</file>

<file path=ppt/slides/slide1.xml><?xml version="1.0" encoding="utf-8"?>
<p:sld xmlns:p="http://schemas.openxmlformats.org/presentationml/2006/main">
  <p:cSld>
    <p:bg>
      <p:bgPr>
        <a:solidFill xmlns:a="http://schemas.openxmlformats.org/drawingml/2006/main">
          <a:srgbClr val="101B30"/>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5e6a5c913d54a3b"/>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EC8DDE6-FF45-4AC9-8C0C-E00C85F321BA}"/>
              </a:ext>
            </a:extLst>
          </p:cNvPr>
          <p:cNvSpPr>
            <a:spLocks xmlns:a="http://schemas.openxmlformats.org/drawingml/2006/main" noGrp="1"/>
          </p:cNvSpPr>
          <p:nvPr/>
        </p:nvSpPr>
        <p:spPr>
          <a:xfrm xmlns:a="http://schemas.openxmlformats.org/drawingml/2006/main">
            <a:off x="0" y="0"/>
            <a:ext cx="7000875" cy="6858000"/>
          </a:xfrm>
          <a:prstGeom xmlns:a="http://schemas.openxmlformats.org/drawingml/2006/main" prst="rect">
            <a:avLst/>
          </a:prstGeom>
          <a:solidFill xmlns:a="http://schemas.openxmlformats.org/drawingml/2006/main">
            <a:srgbClr val="101B30"/>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1C929C39-84D2-4C48-AB74-9ADDD9D57CA1}"/>
              </a:ext>
            </a:extLst>
          </p:cNvPr>
          <p:cNvSpPr>
            <a:spLocks xmlns:a="http://schemas.openxmlformats.org/drawingml/2006/main" noGrp="1"/>
          </p:cNvSpPr>
          <p:nvPr/>
        </p:nvSpPr>
        <p:spPr>
          <a:xfrm xmlns:a="http://schemas.openxmlformats.org/drawingml/2006/main">
            <a:off x="609600" y="5238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850" b="1">
                <a:solidFill>
                  <a:srgbClr val="F7F5F0"/>
                </a:solidFill>
                <a:latin typeface="Arial"/>
                <a:ea typeface="Arial"/>
                <a:cs typeface="Arial"/>
              </a:defRPr>
            </a:pPr>
            <a:r>
              <a:rPr sz="2850" b="1">
                <a:solidFill>
                  <a:srgbClr val="F7F5F0"/>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A22A143-D784-4826-B128-5FEBF86D117E}"/>
              </a:ext>
            </a:extLst>
          </p:cNvPr>
          <p:cNvSpPr>
            <a:spLocks xmlns:a="http://schemas.openxmlformats.org/drawingml/2006/main" noGrp="1"/>
          </p:cNvSpPr>
          <p:nvPr/>
        </p:nvSpPr>
        <p:spPr>
          <a:xfrm xmlns:a="http://schemas.openxmlformats.org/drawingml/2006/main">
            <a:off x="609600" y="2219325"/>
            <a:ext cx="62579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4200" b="1">
                <a:solidFill>
                  <a:srgbClr val="F7F5F0"/>
                </a:solidFill>
                <a:latin typeface="Arial"/>
                <a:ea typeface="Arial"/>
                <a:cs typeface="Arial"/>
              </a:defRPr>
            </a:pPr>
            <a:r>
              <a:rPr sz="4200" b="1">
                <a:solidFill>
                  <a:srgbClr val="F7F5F0"/>
                </a:solidFill>
                <a:latin typeface="Arial"/>
                <a:ea typeface="Arial"/>
                <a:cs typeface="Arial"/>
              </a:rPr>
              <a:t>The AI companion</a:t>
            </a:r>
          </a:p>
          <a:p xmlns:a="http://schemas.openxmlformats.org/drawingml/2006/main">
            <a:pPr>
              <a:lnSpc>
                <a:spcPct val="106000"/>
              </a:lnSpc>
              <a:buNone/>
              <a:defRPr sz="4200" b="1">
                <a:solidFill>
                  <a:srgbClr val="F7F5F0"/>
                </a:solidFill>
                <a:latin typeface="Arial"/>
                <a:ea typeface="Arial"/>
                <a:cs typeface="Arial"/>
              </a:defRPr>
            </a:pPr>
            <a:r>
              <a:rPr sz="4200" b="1">
                <a:solidFill>
                  <a:srgbClr val="F7F5F0"/>
                </a:solidFill>
                <a:latin typeface="Arial"/>
                <a:ea typeface="Arial"/>
                <a:cs typeface="Arial"/>
              </a:rPr>
              <a:t>for in-house counsel</a:t>
            </a:r>
          </a:p>
        </p:txBody>
      </p:sp>
      <p:sp>
        <p:nvSpPr>
          <p:cNvPr id="5" name="">
            <a:extLst xmlns:a="http://schemas.openxmlformats.org/drawingml/2006/main">
              <a:ext uri="{FF2B5EF4-FFF2-40B4-BE49-F238E27FC236}">
                <a16:creationId xmlns:a16="http://schemas.microsoft.com/office/drawing/2014/main" id="{0E43AA5C-08A9-484E-8A0E-44FEBE854B76}"/>
              </a:ext>
            </a:extLst>
          </p:cNvPr>
          <p:cNvSpPr>
            <a:spLocks xmlns:a="http://schemas.openxmlformats.org/drawingml/2006/main" noGrp="1"/>
          </p:cNvSpPr>
          <p:nvPr/>
        </p:nvSpPr>
        <p:spPr>
          <a:xfrm xmlns:a="http://schemas.openxmlformats.org/drawingml/2006/main">
            <a:off x="609600" y="4181475"/>
            <a:ext cx="609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00" b="1">
                <a:solidFill>
                  <a:srgbClr val="ADA9FF"/>
                </a:solidFill>
                <a:latin typeface="Arial"/>
                <a:ea typeface="Arial"/>
                <a:cs typeface="Arial"/>
              </a:defRPr>
            </a:pPr>
            <a:r>
              <a:rPr sz="2400" b="1">
                <a:solidFill>
                  <a:srgbClr val="ADA9FF"/>
                </a:solidFill>
                <a:latin typeface="Arial"/>
                <a:ea typeface="Arial"/>
                <a:cs typeface="Arial"/>
              </a:rPr>
              <a:t>Equipped to advise with confidence.</a:t>
            </a:r>
          </a:p>
        </p:txBody>
      </p:sp>
      <p:sp>
        <p:nvSpPr>
          <p:cNvPr id="6" name="">
            <a:extLst xmlns:a="http://schemas.openxmlformats.org/drawingml/2006/main">
              <a:ext uri="{FF2B5EF4-FFF2-40B4-BE49-F238E27FC236}">
                <a16:creationId xmlns:a16="http://schemas.microsoft.com/office/drawing/2014/main" id="{50FF1B80-9F5B-4B4E-A6DB-33D8A107BE70}"/>
              </a:ext>
            </a:extLst>
          </p:cNvPr>
          <p:cNvSpPr>
            <a:spLocks xmlns:a="http://schemas.openxmlformats.org/drawingml/2006/main" noGrp="1"/>
          </p:cNvSpPr>
          <p:nvPr/>
        </p:nvSpPr>
        <p:spPr>
          <a:xfrm xmlns:a="http://schemas.openxmlformats.org/drawingml/2006/main">
            <a:off x="609600" y="5200650"/>
            <a:ext cx="609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F7F5F0"/>
                </a:solidFill>
                <a:latin typeface="Arial"/>
                <a:ea typeface="Arial"/>
                <a:cs typeface="Arial"/>
              </a:defRPr>
            </a:pPr>
            <a:r>
              <a:rPr sz="2100" b="0">
                <a:solidFill>
                  <a:srgbClr val="F7F5F0"/>
                </a:solidFill>
                <a:latin typeface="Arial"/>
                <a:ea typeface="Arial"/>
                <a:cs typeface="Arial"/>
              </a:rPr>
              <a:t>More time to be present in the room,</a:t>
            </a:r>
          </a:p>
          <a:p xmlns:a="http://schemas.openxmlformats.org/drawingml/2006/main">
            <a:pPr>
              <a:lnSpc>
                <a:spcPct val="106000"/>
              </a:lnSpc>
              <a:buNone/>
              <a:defRPr sz="2100" b="0">
                <a:solidFill>
                  <a:srgbClr val="F7F5F0"/>
                </a:solidFill>
                <a:latin typeface="Arial"/>
                <a:ea typeface="Arial"/>
                <a:cs typeface="Arial"/>
              </a:defRPr>
            </a:pPr>
            <a:r>
              <a:rPr sz="2100" b="0">
                <a:solidFill>
                  <a:srgbClr val="F7F5F0"/>
                </a:solidFill>
                <a:latin typeface="Arial"/>
                <a:ea typeface="Arial"/>
                <a:cs typeface="Arial"/>
              </a:rPr>
              <a:t>shaping business decisions.</a:t>
            </a:r>
          </a:p>
        </p:txBody>
      </p:sp>
      <p:sp>
        <p:nvSpPr>
          <p:cNvPr id="7" name="">
            <a:extLst xmlns:a="http://schemas.openxmlformats.org/drawingml/2006/main">
              <a:ext uri="{FF2B5EF4-FFF2-40B4-BE49-F238E27FC236}">
                <a16:creationId xmlns:a16="http://schemas.microsoft.com/office/drawing/2014/main" id="{E6392D9F-D1B0-4D40-9B51-C2D398620327}"/>
              </a:ext>
            </a:extLst>
          </p:cNvPr>
          <p:cNvSpPr>
            <a:spLocks xmlns:a="http://schemas.openxmlformats.org/drawingml/2006/main" noGrp="1"/>
          </p:cNvSpPr>
          <p:nvPr/>
        </p:nvSpPr>
        <p:spPr>
          <a:xfrm xmlns:a="http://schemas.openxmlformats.org/drawingml/2006/main">
            <a:off x="609600" y="6438900"/>
            <a:ext cx="6238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00" b="0">
                <a:solidFill>
                  <a:srgbClr val="D6DAE5"/>
                </a:solidFill>
                <a:latin typeface="Arial"/>
                <a:ea typeface="Arial"/>
                <a:cs typeface="Arial"/>
              </a:defRPr>
            </a:pPr>
            <a:r>
              <a:rPr sz="1200" b="0">
                <a:solidFill>
                  <a:srgbClr val="D6DAE5"/>
                </a:solidFill>
                <a:latin typeface="Arial"/>
                <a:ea typeface="Arial"/>
                <a:cs typeface="Arial"/>
              </a:rPr>
              <a:t>Brian Harris, Founder   /   September 2026</a:t>
            </a:r>
          </a:p>
        </p:txBody>
      </p:sp>
    </p:spTree>
    <p:extLst>
      <p:ext uri="{BB962C8B-B14F-4D97-AF65-F5344CB8AC3E}">
        <p14:creationId xmlns:p14="http://schemas.microsoft.com/office/powerpoint/2010/main" val="1088669700"/>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B1B2374-BE8E-4B2C-9982-FC94271CF287}"/>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PROBLEM</a:t>
            </a:r>
          </a:p>
        </p:txBody>
      </p:sp>
      <p:sp>
        <p:nvSpPr>
          <p:cNvPr id="2" name="">
            <a:extLst xmlns:a="http://schemas.openxmlformats.org/drawingml/2006/main">
              <a:ext uri="{FF2B5EF4-FFF2-40B4-BE49-F238E27FC236}">
                <a16:creationId xmlns:a16="http://schemas.microsoft.com/office/drawing/2014/main" id="{E740F296-CC72-4A3A-ACF2-1C361E957F5D}"/>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The business needs advice.</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The lawyer has to investigate first</a:t>
            </a:r>
          </a:p>
        </p:txBody>
      </p:sp>
      <p:sp>
        <p:nvSpPr>
          <p:cNvPr id="3" name="">
            <a:extLst xmlns:a="http://schemas.openxmlformats.org/drawingml/2006/main">
              <a:ext uri="{FF2B5EF4-FFF2-40B4-BE49-F238E27FC236}">
                <a16:creationId xmlns:a16="http://schemas.microsoft.com/office/drawing/2014/main" id="{27772398-2DBE-460A-8137-F4B11A4C30AB}"/>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1176EA9-6C34-4FF7-B837-11C4D6234A6A}"/>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37923D16-E065-428B-A4E8-6089573D1F10}"/>
              </a:ext>
            </a:extLst>
          </p:cNvPr>
          <p:cNvSpPr>
            <a:spLocks xmlns:a="http://schemas.openxmlformats.org/drawingml/2006/main" noGrp="1"/>
          </p:cNvSpPr>
          <p:nvPr/>
        </p:nvSpPr>
        <p:spPr>
          <a:xfrm xmlns:a="http://schemas.openxmlformats.org/drawingml/2006/main">
            <a:off x="609600" y="26860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THE REQUEST</a:t>
            </a:r>
          </a:p>
        </p:txBody>
      </p:sp>
      <p:sp>
        <p:nvSpPr>
          <p:cNvPr id="6" name="">
            <a:extLst xmlns:a="http://schemas.openxmlformats.org/drawingml/2006/main">
              <a:ext uri="{FF2B5EF4-FFF2-40B4-BE49-F238E27FC236}">
                <a16:creationId xmlns:a16="http://schemas.microsoft.com/office/drawing/2014/main" id="{853BF99C-CADB-44FB-BE2A-10CD1DCB8118}"/>
              </a:ext>
            </a:extLst>
          </p:cNvPr>
          <p:cNvSpPr>
            <a:spLocks xmlns:a="http://schemas.openxmlformats.org/drawingml/2006/main" noGrp="1"/>
          </p:cNvSpPr>
          <p:nvPr/>
        </p:nvSpPr>
        <p:spPr>
          <a:xfrm xmlns:a="http://schemas.openxmlformats.org/drawingml/2006/main">
            <a:off x="609600" y="3124200"/>
            <a:ext cx="4762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700" b="1">
                <a:solidFill>
                  <a:srgbClr val="101B30"/>
                </a:solidFill>
                <a:latin typeface="Arial"/>
                <a:ea typeface="Arial"/>
                <a:cs typeface="Arial"/>
              </a:defRPr>
            </a:pPr>
            <a:r>
              <a:rPr sz="2700" b="1">
                <a:solidFill>
                  <a:srgbClr val="101B30"/>
                </a:solidFill>
                <a:latin typeface="Arial"/>
                <a:ea typeface="Arial"/>
                <a:cs typeface="Arial"/>
              </a:rPr>
              <a:t>A product team wants to</a:t>
            </a:r>
          </a:p>
          <a:p xmlns:a="http://schemas.openxmlformats.org/drawingml/2006/main">
            <a:pPr>
              <a:lnSpc>
                <a:spcPct val="106000"/>
              </a:lnSpc>
              <a:buNone/>
              <a:defRPr sz="2700" b="1">
                <a:solidFill>
                  <a:srgbClr val="101B30"/>
                </a:solidFill>
                <a:latin typeface="Arial"/>
                <a:ea typeface="Arial"/>
                <a:cs typeface="Arial"/>
              </a:defRPr>
            </a:pPr>
            <a:r>
              <a:rPr sz="2700" b="1">
                <a:solidFill>
                  <a:srgbClr val="101B30"/>
                </a:solidFill>
                <a:latin typeface="Arial"/>
                <a:ea typeface="Arial"/>
                <a:cs typeface="Arial"/>
              </a:rPr>
              <a:t>reuse customer data.</a:t>
            </a:r>
          </a:p>
        </p:txBody>
      </p:sp>
      <p:sp>
        <p:nvSpPr>
          <p:cNvPr id="7" name="">
            <a:extLst xmlns:a="http://schemas.openxmlformats.org/drawingml/2006/main">
              <a:ext uri="{FF2B5EF4-FFF2-40B4-BE49-F238E27FC236}">
                <a16:creationId xmlns:a16="http://schemas.microsoft.com/office/drawing/2014/main" id="{D1799ABC-5ACB-44AF-9385-CAC52B8E3FDA}"/>
              </a:ext>
            </a:extLst>
          </p:cNvPr>
          <p:cNvSpPr>
            <a:spLocks xmlns:a="http://schemas.openxmlformats.org/drawingml/2006/main" noGrp="1"/>
          </p:cNvSpPr>
          <p:nvPr/>
        </p:nvSpPr>
        <p:spPr>
          <a:xfrm xmlns:a="http://schemas.openxmlformats.org/drawingml/2006/main">
            <a:off x="609600" y="4362450"/>
            <a:ext cx="476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The question leaves out the purpose,</a:t>
            </a:r>
          </a:p>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permissions and timing.</a:t>
            </a:r>
          </a:p>
        </p:txBody>
      </p:sp>
      <p:sp>
        <p:nvSpPr>
          <p:cNvPr id="8" name="">
            <a:extLst xmlns:a="http://schemas.openxmlformats.org/drawingml/2006/main">
              <a:ext uri="{FF2B5EF4-FFF2-40B4-BE49-F238E27FC236}">
                <a16:creationId xmlns:a16="http://schemas.microsoft.com/office/drawing/2014/main" id="{7008DC10-FBF9-48C1-AD95-611A50DE3046}"/>
              </a:ext>
            </a:extLst>
          </p:cNvPr>
          <p:cNvSpPr>
            <a:spLocks xmlns:a="http://schemas.openxmlformats.org/drawingml/2006/main" noGrp="1"/>
          </p:cNvSpPr>
          <p:nvPr/>
        </p:nvSpPr>
        <p:spPr>
          <a:xfrm xmlns:a="http://schemas.openxmlformats.org/drawingml/2006/main">
            <a:off x="6638925" y="2686050"/>
            <a:ext cx="490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THE WORK BEHIND THE ADVICE</a:t>
            </a:r>
          </a:p>
        </p:txBody>
      </p:sp>
      <p:sp>
        <p:nvSpPr>
          <p:cNvPr id="9" name="">
            <a:extLst xmlns:a="http://schemas.openxmlformats.org/drawingml/2006/main">
              <a:ext uri="{FF2B5EF4-FFF2-40B4-BE49-F238E27FC236}">
                <a16:creationId xmlns:a16="http://schemas.microsoft.com/office/drawing/2014/main" id="{5FF82E11-7B81-4ECC-BB60-BF97484F0826}"/>
              </a:ext>
            </a:extLst>
          </p:cNvPr>
          <p:cNvSpPr>
            <a:spLocks xmlns:a="http://schemas.openxmlformats.org/drawingml/2006/main" noGrp="1"/>
          </p:cNvSpPr>
          <p:nvPr/>
        </p:nvSpPr>
        <p:spPr>
          <a:xfrm xmlns:a="http://schemas.openxmlformats.org/drawingml/2006/main">
            <a:off x="6638925" y="3124200"/>
            <a:ext cx="4905375"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Find the facts that change the analysis.</a:t>
            </a:r>
          </a:p>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Research unfamiliar issues.</a:t>
            </a:r>
          </a:p>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Work through the available choices.</a:t>
            </a:r>
          </a:p>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Prepare advice the business can use.</a:t>
            </a:r>
          </a:p>
        </p:txBody>
      </p:sp>
      <p:sp>
        <p:nvSpPr>
          <p:cNvPr id="10" name="">
            <a:extLst xmlns:a="http://schemas.openxmlformats.org/drawingml/2006/main">
              <a:ext uri="{FF2B5EF4-FFF2-40B4-BE49-F238E27FC236}">
                <a16:creationId xmlns:a16="http://schemas.microsoft.com/office/drawing/2014/main" id="{C807ACA4-89E7-4B53-BFF0-206ECC32696B}"/>
              </a:ext>
            </a:extLst>
          </p:cNvPr>
          <p:cNvSpPr>
            <a:spLocks xmlns:a="http://schemas.openxmlformats.org/drawingml/2006/main" noGrp="1"/>
          </p:cNvSpPr>
          <p:nvPr/>
        </p:nvSpPr>
        <p:spPr>
          <a:xfrm xmlns:a="http://schemas.openxmlformats.org/drawingml/2006/main">
            <a:off x="609600" y="54578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00" b="1">
                <a:solidFill>
                  <a:srgbClr val="535CB4"/>
                </a:solidFill>
                <a:latin typeface="Arial"/>
                <a:ea typeface="Arial"/>
                <a:cs typeface="Arial"/>
              </a:defRPr>
            </a:pPr>
            <a:r>
              <a:rPr sz="2400" b="1">
                <a:solidFill>
                  <a:srgbClr val="535CB4"/>
                </a:solidFill>
                <a:latin typeface="Arial"/>
                <a:ea typeface="Arial"/>
                <a:cs typeface="Arial"/>
              </a:rPr>
              <a:t>While the lawyer prepares, business decisions keep moving.</a:t>
            </a:r>
          </a:p>
        </p:txBody>
      </p:sp>
    </p:spTree>
    <p:extLst>
      <p:ext uri="{BB962C8B-B14F-4D97-AF65-F5344CB8AC3E}">
        <p14:creationId xmlns:p14="http://schemas.microsoft.com/office/powerpoint/2010/main" val="1520822019"/>
      </p:ext>
    </p:extLst>
  </p:cSld>
</p:sld>
</file>

<file path=ppt/slides/slide3.xml><?xml version="1.0" encoding="utf-8"?>
<p:sld xmlns:p="http://schemas.openxmlformats.org/presentationml/2006/main">
  <p:cSld>
    <p:bg>
      <p:bgPr>
        <a:solidFill xmlns:a="http://schemas.openxmlformats.org/drawingml/2006/main">
          <a:srgbClr val="101B3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5177BCF-B2F6-4CFE-83B7-E9698443ECC6}"/>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ADA9FF"/>
                </a:solidFill>
                <a:latin typeface="Arial"/>
                <a:ea typeface="Arial"/>
                <a:cs typeface="Arial"/>
              </a:defRPr>
            </a:pPr>
            <a:r>
              <a:rPr sz="1125" b="1">
                <a:solidFill>
                  <a:srgbClr val="ADA9FF"/>
                </a:solidFill>
                <a:latin typeface="Arial"/>
                <a:ea typeface="Arial"/>
                <a:cs typeface="Arial"/>
              </a:rPr>
              <a:t>SOLUTION</a:t>
            </a:r>
          </a:p>
        </p:txBody>
      </p:sp>
      <p:sp>
        <p:nvSpPr>
          <p:cNvPr id="2" name="">
            <a:extLst xmlns:a="http://schemas.openxmlformats.org/drawingml/2006/main">
              <a:ext uri="{FF2B5EF4-FFF2-40B4-BE49-F238E27FC236}">
                <a16:creationId xmlns:a16="http://schemas.microsoft.com/office/drawing/2014/main" id="{B0B9D854-34FD-49B1-B819-E7ADA65D2AB2}"/>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F7F5F0"/>
                </a:solidFill>
                <a:latin typeface="Arial"/>
                <a:ea typeface="Arial"/>
                <a:cs typeface="Arial"/>
              </a:defRPr>
            </a:pPr>
            <a:r>
              <a:rPr sz="3825" b="1">
                <a:solidFill>
                  <a:srgbClr val="F7F5F0"/>
                </a:solidFill>
                <a:latin typeface="Arial"/>
                <a:ea typeface="Arial"/>
                <a:cs typeface="Arial"/>
              </a:rPr>
              <a:t>Confidence comes from</a:t>
            </a:r>
          </a:p>
          <a:p xmlns:a="http://schemas.openxmlformats.org/drawingml/2006/main">
            <a:pPr>
              <a:lnSpc>
                <a:spcPct val="106000"/>
              </a:lnSpc>
              <a:buNone/>
              <a:defRPr sz="3825" b="1">
                <a:solidFill>
                  <a:srgbClr val="F7F5F0"/>
                </a:solidFill>
                <a:latin typeface="Arial"/>
                <a:ea typeface="Arial"/>
                <a:cs typeface="Arial"/>
              </a:defRPr>
            </a:pPr>
            <a:r>
              <a:rPr sz="3825" b="1">
                <a:solidFill>
                  <a:srgbClr val="F7F5F0"/>
                </a:solidFill>
                <a:latin typeface="Arial"/>
                <a:ea typeface="Arial"/>
                <a:cs typeface="Arial"/>
              </a:rPr>
              <a:t>understanding the choices</a:t>
            </a:r>
          </a:p>
        </p:txBody>
      </p:sp>
      <p:sp>
        <p:nvSpPr>
          <p:cNvPr id="3" name="">
            <a:extLst xmlns:a="http://schemas.openxmlformats.org/drawingml/2006/main">
              <a:ext uri="{FF2B5EF4-FFF2-40B4-BE49-F238E27FC236}">
                <a16:creationId xmlns:a16="http://schemas.microsoft.com/office/drawing/2014/main" id="{4740CE6B-DB59-439B-B7E4-B032B655D771}"/>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D6DAE5"/>
                </a:solidFill>
                <a:latin typeface="Arial"/>
                <a:ea typeface="Arial"/>
                <a:cs typeface="Arial"/>
              </a:defRPr>
            </a:pPr>
            <a:r>
              <a:rPr sz="900" b="1">
                <a:solidFill>
                  <a:srgbClr val="D6DAE5"/>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D1B19085-92F8-4D17-9851-0E60C85959E2}"/>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D6DAE5"/>
                </a:solidFill>
                <a:latin typeface="Arial"/>
                <a:ea typeface="Arial"/>
                <a:cs typeface="Arial"/>
              </a:defRPr>
            </a:pPr>
            <a:r>
              <a:rPr sz="900" b="0">
                <a:solidFill>
                  <a:srgbClr val="D6DAE5"/>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A17BB0D-7358-4D54-AED4-BD3E7A5ACD6A}"/>
              </a:ext>
            </a:extLst>
          </p:cNvPr>
          <p:cNvSpPr>
            <a:spLocks xmlns:a="http://schemas.openxmlformats.org/drawingml/2006/main" noGrp="1"/>
          </p:cNvSpPr>
          <p:nvPr/>
        </p:nvSpPr>
        <p:spPr>
          <a:xfrm xmlns:a="http://schemas.openxmlformats.org/drawingml/2006/main">
            <a:off x="609600" y="2505075"/>
            <a:ext cx="108394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925" b="1">
                <a:solidFill>
                  <a:srgbClr val="F7F5F0"/>
                </a:solidFill>
                <a:latin typeface="Arial"/>
                <a:ea typeface="Arial"/>
                <a:cs typeface="Arial"/>
              </a:defRPr>
            </a:pPr>
            <a:r>
              <a:rPr sz="2925" b="1">
                <a:solidFill>
                  <a:srgbClr val="F7F5F0"/>
                </a:solidFill>
                <a:latin typeface="Arial"/>
                <a:ea typeface="Arial"/>
                <a:cs typeface="Arial"/>
              </a:rPr>
              <a:t>Themis prepares the matter.</a:t>
            </a:r>
          </a:p>
          <a:p xmlns:a="http://schemas.openxmlformats.org/drawingml/2006/main">
            <a:pPr>
              <a:lnSpc>
                <a:spcPct val="106000"/>
              </a:lnSpc>
              <a:buNone/>
              <a:defRPr sz="2925" b="1">
                <a:solidFill>
                  <a:srgbClr val="F7F5F0"/>
                </a:solidFill>
                <a:latin typeface="Arial"/>
                <a:ea typeface="Arial"/>
                <a:cs typeface="Arial"/>
              </a:defRPr>
            </a:pPr>
            <a:r>
              <a:rPr sz="2925" b="1">
                <a:solidFill>
                  <a:srgbClr val="F7F5F0"/>
                </a:solidFill>
                <a:latin typeface="Arial"/>
                <a:ea typeface="Arial"/>
                <a:cs typeface="Arial"/>
              </a:rPr>
              <a:t>The lawyer explores the answer space.</a:t>
            </a:r>
          </a:p>
        </p:txBody>
      </p:sp>
      <p:sp>
        <p:nvSpPr>
          <p:cNvPr id="6" name="">
            <a:extLst xmlns:a="http://schemas.openxmlformats.org/drawingml/2006/main">
              <a:ext uri="{FF2B5EF4-FFF2-40B4-BE49-F238E27FC236}">
                <a16:creationId xmlns:a16="http://schemas.microsoft.com/office/drawing/2014/main" id="{2DBCA8D8-6272-49C8-9FC1-67F3BCF31C49}"/>
              </a:ext>
            </a:extLst>
          </p:cNvPr>
          <p:cNvSpPr>
            <a:spLocks xmlns:a="http://schemas.openxmlformats.org/drawingml/2006/main" noGrp="1"/>
          </p:cNvSpPr>
          <p:nvPr/>
        </p:nvSpPr>
        <p:spPr>
          <a:xfrm xmlns:a="http://schemas.openxmlformats.org/drawingml/2006/main">
            <a:off x="609600" y="3933825"/>
            <a:ext cx="5657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ADA9FF"/>
                </a:solidFill>
                <a:latin typeface="Arial"/>
                <a:ea typeface="Arial"/>
                <a:cs typeface="Arial"/>
              </a:defRPr>
            </a:pPr>
            <a:r>
              <a:rPr sz="1275" b="1">
                <a:solidFill>
                  <a:srgbClr val="ADA9FF"/>
                </a:solidFill>
                <a:latin typeface="Arial"/>
                <a:ea typeface="Arial"/>
                <a:cs typeface="Arial"/>
              </a:rPr>
              <a:t>A SYSTEM ALREADY ADAPTED TO LAWYERS</a:t>
            </a:r>
          </a:p>
        </p:txBody>
      </p:sp>
      <p:sp>
        <p:nvSpPr>
          <p:cNvPr id="7" name="">
            <a:extLst xmlns:a="http://schemas.openxmlformats.org/drawingml/2006/main">
              <a:ext uri="{FF2B5EF4-FFF2-40B4-BE49-F238E27FC236}">
                <a16:creationId xmlns:a16="http://schemas.microsoft.com/office/drawing/2014/main" id="{912F1671-3A68-49BA-B57B-576B89F97DD9}"/>
              </a:ext>
            </a:extLst>
          </p:cNvPr>
          <p:cNvSpPr>
            <a:spLocks xmlns:a="http://schemas.openxmlformats.org/drawingml/2006/main" noGrp="1"/>
          </p:cNvSpPr>
          <p:nvPr/>
        </p:nvSpPr>
        <p:spPr>
          <a:xfrm xmlns:a="http://schemas.openxmlformats.org/drawingml/2006/main">
            <a:off x="609600" y="4352925"/>
            <a:ext cx="54102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75" b="0">
                <a:solidFill>
                  <a:srgbClr val="F7F5F0"/>
                </a:solidFill>
                <a:latin typeface="Arial"/>
                <a:ea typeface="Arial"/>
                <a:cs typeface="Arial"/>
              </a:defRPr>
            </a:pPr>
            <a:r>
              <a:rPr sz="2175" b="0">
                <a:solidFill>
                  <a:srgbClr val="F7F5F0"/>
                </a:solidFill>
                <a:latin typeface="Arial"/>
                <a:ea typeface="Arial"/>
                <a:cs typeface="Arial"/>
              </a:rPr>
              <a:t>Research and editable drafts.</a:t>
            </a:r>
          </a:p>
          <a:p xmlns:a="http://schemas.openxmlformats.org/drawingml/2006/main">
            <a:pPr>
              <a:lnSpc>
                <a:spcPct val="106000"/>
              </a:lnSpc>
              <a:buNone/>
              <a:defRPr sz="2175" b="0">
                <a:solidFill>
                  <a:srgbClr val="F7F5F0"/>
                </a:solidFill>
                <a:latin typeface="Arial"/>
                <a:ea typeface="Arial"/>
                <a:cs typeface="Arial"/>
              </a:defRPr>
            </a:pPr>
            <a:r>
              <a:rPr sz="2175" b="0">
                <a:solidFill>
                  <a:srgbClr val="F7F5F0"/>
                </a:solidFill>
                <a:latin typeface="Arial"/>
                <a:ea typeface="Arial"/>
                <a:cs typeface="Arial"/>
              </a:rPr>
              <a:t>Material assumptions made visible.</a:t>
            </a:r>
          </a:p>
          <a:p xmlns:a="http://schemas.openxmlformats.org/drawingml/2006/main">
            <a:pPr>
              <a:lnSpc>
                <a:spcPct val="106000"/>
              </a:lnSpc>
              <a:buNone/>
              <a:defRPr sz="2175" b="0">
                <a:solidFill>
                  <a:srgbClr val="F7F5F0"/>
                </a:solidFill>
                <a:latin typeface="Arial"/>
                <a:ea typeface="Arial"/>
                <a:cs typeface="Arial"/>
              </a:defRPr>
            </a:pPr>
            <a:r>
              <a:rPr sz="2175" b="0">
                <a:solidFill>
                  <a:srgbClr val="F7F5F0"/>
                </a:solidFill>
                <a:latin typeface="Arial"/>
                <a:ea typeface="Arial"/>
                <a:cs typeface="Arial"/>
              </a:rPr>
              <a:t>Useful questions to explore next.</a:t>
            </a:r>
          </a:p>
        </p:txBody>
      </p:sp>
      <p:sp>
        <p:nvSpPr>
          <p:cNvPr id="8" name="">
            <a:extLst xmlns:a="http://schemas.openxmlformats.org/drawingml/2006/main">
              <a:ext uri="{FF2B5EF4-FFF2-40B4-BE49-F238E27FC236}">
                <a16:creationId xmlns:a16="http://schemas.microsoft.com/office/drawing/2014/main" id="{40968799-164C-4F00-A078-58E1489700DC}"/>
              </a:ext>
            </a:extLst>
          </p:cNvPr>
          <p:cNvSpPr>
            <a:spLocks xmlns:a="http://schemas.openxmlformats.org/drawingml/2006/main" noGrp="1"/>
          </p:cNvSpPr>
          <p:nvPr/>
        </p:nvSpPr>
        <p:spPr>
          <a:xfrm xmlns:a="http://schemas.openxmlformats.org/drawingml/2006/main">
            <a:off x="6886575" y="3933825"/>
            <a:ext cx="4676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ADA9FF"/>
                </a:solidFill>
                <a:latin typeface="Arial"/>
                <a:ea typeface="Arial"/>
                <a:cs typeface="Arial"/>
              </a:defRPr>
            </a:pPr>
            <a:r>
              <a:rPr sz="1275" b="1">
                <a:solidFill>
                  <a:srgbClr val="ADA9FF"/>
                </a:solidFill>
                <a:latin typeface="Arial"/>
                <a:ea typeface="Arial"/>
                <a:cs typeface="Arial"/>
              </a:rPr>
              <a:t>A BASIS FOR THE LAWYER’S JUDGMENT</a:t>
            </a:r>
          </a:p>
        </p:txBody>
      </p:sp>
      <p:sp>
        <p:nvSpPr>
          <p:cNvPr id="9" name="">
            <a:extLst xmlns:a="http://schemas.openxmlformats.org/drawingml/2006/main">
              <a:ext uri="{FF2B5EF4-FFF2-40B4-BE49-F238E27FC236}">
                <a16:creationId xmlns:a16="http://schemas.microsoft.com/office/drawing/2014/main" id="{B343B188-FA80-4573-AA98-91CAD7BE01DB}"/>
              </a:ext>
            </a:extLst>
          </p:cNvPr>
          <p:cNvSpPr>
            <a:spLocks xmlns:a="http://schemas.openxmlformats.org/drawingml/2006/main" noGrp="1"/>
          </p:cNvSpPr>
          <p:nvPr/>
        </p:nvSpPr>
        <p:spPr>
          <a:xfrm xmlns:a="http://schemas.openxmlformats.org/drawingml/2006/main">
            <a:off x="6886575" y="4352925"/>
            <a:ext cx="46767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F7F5F0"/>
                </a:solidFill>
                <a:latin typeface="Arial"/>
                <a:ea typeface="Arial"/>
                <a:cs typeface="Arial"/>
              </a:defRPr>
            </a:pPr>
            <a:r>
              <a:rPr sz="2100" b="0">
                <a:solidFill>
                  <a:srgbClr val="F7F5F0"/>
                </a:solidFill>
                <a:latin typeface="Arial"/>
                <a:ea typeface="Arial"/>
                <a:cs typeface="Arial"/>
              </a:rPr>
              <a:t>Work through the options together.</a:t>
            </a:r>
          </a:p>
          <a:p xmlns:a="http://schemas.openxmlformats.org/drawingml/2006/main">
            <a:pPr>
              <a:lnSpc>
                <a:spcPct val="106000"/>
              </a:lnSpc>
              <a:buNone/>
              <a:defRPr sz="2100" b="0">
                <a:solidFill>
                  <a:srgbClr val="F7F5F0"/>
                </a:solidFill>
                <a:latin typeface="Arial"/>
                <a:ea typeface="Arial"/>
                <a:cs typeface="Arial"/>
              </a:defRPr>
            </a:pPr>
            <a:r>
              <a:rPr sz="2100" b="0">
                <a:solidFill>
                  <a:srgbClr val="F7F5F0"/>
                </a:solidFill>
                <a:latin typeface="Arial"/>
                <a:ea typeface="Arial"/>
                <a:cs typeface="Arial"/>
              </a:rPr>
              <a:t>See what could change the advice.</a:t>
            </a:r>
          </a:p>
          <a:p xmlns:a="http://schemas.openxmlformats.org/drawingml/2006/main">
            <a:pPr>
              <a:lnSpc>
                <a:spcPct val="106000"/>
              </a:lnSpc>
              <a:buNone/>
              <a:defRPr sz="2100" b="0">
                <a:solidFill>
                  <a:srgbClr val="F7F5F0"/>
                </a:solidFill>
                <a:latin typeface="Arial"/>
                <a:ea typeface="Arial"/>
                <a:cs typeface="Arial"/>
              </a:defRPr>
            </a:pPr>
            <a:r>
              <a:rPr sz="2100" b="0">
                <a:solidFill>
                  <a:srgbClr val="F7F5F0"/>
                </a:solidFill>
                <a:latin typeface="Arial"/>
                <a:ea typeface="Arial"/>
                <a:cs typeface="Arial"/>
              </a:rPr>
              <a:t>Decide what to recommend and why.</a:t>
            </a:r>
          </a:p>
        </p:txBody>
      </p:sp>
      <p:sp>
        <p:nvSpPr>
          <p:cNvPr id="10" name="">
            <a:extLst xmlns:a="http://schemas.openxmlformats.org/drawingml/2006/main">
              <a:ext uri="{FF2B5EF4-FFF2-40B4-BE49-F238E27FC236}">
                <a16:creationId xmlns:a16="http://schemas.microsoft.com/office/drawing/2014/main" id="{CF9113CD-2B2D-4C98-B722-3363334695CF}"/>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D6DAE5"/>
                </a:solidFill>
                <a:latin typeface="Arial"/>
                <a:ea typeface="Arial"/>
                <a:cs typeface="Arial"/>
              </a:defRPr>
            </a:pPr>
            <a:r>
              <a:rPr sz="1125" b="0">
                <a:solidFill>
                  <a:srgbClr val="D6DAE5"/>
                </a:solidFill>
                <a:latin typeface="Arial"/>
                <a:ea typeface="Arial"/>
                <a:cs typeface="Arial"/>
              </a:rPr>
              <a:t>Product thesis. The lawyer directs the inquiry and owns the decision.</a:t>
            </a:r>
          </a:p>
        </p:txBody>
      </p:sp>
    </p:spTree>
    <p:extLst>
      <p:ext uri="{BB962C8B-B14F-4D97-AF65-F5344CB8AC3E}">
        <p14:creationId xmlns:p14="http://schemas.microsoft.com/office/powerpoint/2010/main" val="216564269"/>
      </p:ext>
    </p:extLst>
  </p:cSld>
</p:sld>
</file>

<file path=ppt/slides/slide4.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7F5F0"/>
        </ns1:solidFill>
      </ns0:bgPr>
    </ns0:bg>
    <ns0:spTree>
      <ns0:nvGrpSpPr>
        <ns0:cNvPr id="1" name=""/>
        <ns0:cNvGrpSpPr/>
        <ns0:nvPr/>
      </ns0:nvGrpSpPr>
      <ns0:grpSpPr>
        <ns1:xfrm/>
      </ns0:grpSpPr>
      <ns0:sp>
        <ns0:nvSpPr>
          <ns0:cNvPr id="12" name="">
            <ns1:extLst>
              <ns1:ext uri="{FF2B5EF4-FFF2-40B4-BE49-F238E27FC236}">
                <ns2:creationId id="{57A2F2F1-B4A0-48E4-8DFE-7DCA681A5F32}"/>
              </ns1:ext>
            </ns1:extLst>
          </ns0:cNvPr>
          <ns0:cNvSpPr>
            <ns1:spLocks noGrp="1"/>
          </ns0:cNvSpPr>
          <ns0:nvPr/>
        </ns0:nvSpPr>
        <ns0:spPr>
          <ns1:xfrm>
            <ns1:off x="609600" y="352425"/>
            <ns1:ext cx="10572750" cy="228600"/>
          </ns1:xfrm>
          <ns1:prstGeom prst="rect">
            <ns1:avLst/>
          </ns1:prstGeom>
          <ns1:noFill/>
          <ns1:ln w="0">
            <ns1:noFill/>
          </ns1:ln>
        </ns0:spPr>
        <ns0:txBody>
          <ns1:bodyPr wrap="square" lIns="0" tIns="0" rIns="0" bIns="0">
            <ns1:noAutofit/>
          </ns1:bodyPr>
          <ns1:lstStyle/>
          <ns1:p>
            <ns1:pPr>
              <ns1:lnSpc>
                <ns1:spcPct val="106000"/>
              </ns1:lnSpc>
              <ns1:buNone/>
              <ns1:defRPr sz="1125" b="1">
                <ns1:solidFill>
                  <ns1:srgbClr val="535CB4"/>
                </ns1:solidFill>
                <ns1:latin typeface="Arial"/>
                <ns1:ea typeface="Arial"/>
                <ns1:cs typeface="Arial"/>
              </ns1:defRPr>
            </ns1:pPr>
            <ns1:r>
              <ns1:rPr sz="1125" b="1">
                <ns1:solidFill>
                  <ns1:srgbClr val="535CB4"/>
                </ns1:solidFill>
                <ns1:latin typeface="Arial"/>
                <ns1:ea typeface="Arial"/>
                <ns1:cs typeface="Arial"/>
              </ns1:rPr>
              <ns1:t>PRODUCT IN PRACTICE</ns1:t>
            </ns1:r>
          </ns1:p>
        </ns0:txBody>
      </ns0:sp>
      <ns0:sp>
        <ns0:nvSpPr>
          <ns0:cNvPr id="2" name="">
            <ns1:extLst>
              <ns1:ext uri="{FF2B5EF4-FFF2-40B4-BE49-F238E27FC236}">
                <ns2:creationId id="{64D3CBAB-81B8-4401-BDA8-D8CFEC08D74E}"/>
              </ns1:ext>
            </ns1:extLst>
          </ns0:cNvPr>
          <ns0:cNvSpPr>
            <ns1:spLocks noGrp="1"/>
          </ns0:cNvSpPr>
          <ns0:nvPr/>
        </ns0:nvSpPr>
        <ns0:spPr>
          <ns1:xfrm>
            <ns1:off x="609600" y="885825"/>
            <ns1:ext cx="10953750" cy="1257300"/>
          </ns1:xfrm>
          <ns1:prstGeom prst="rect">
            <ns1:avLst/>
          </ns1:prstGeom>
          <ns1:noFill/>
          <ns1:ln w="0">
            <ns1:noFill/>
          </ns1:ln>
        </ns0:spPr>
        <ns0:txBody>
          <ns1:bodyPr wrap="square" lIns="0" tIns="0" rIns="0" bIns="0">
            <ns1:noAutofit/>
          </ns1:bodyPr>
          <ns1:lstStyle/>
          <ns1:p>
            <ns1:pPr>
              <ns1:lnSpc>
                <ns1:spcPct val="106000"/>
              </ns1:lnSpc>
              <ns1:buNone/>
              <ns1:defRPr sz="3825" b="1">
                <ns1:solidFill>
                  <ns1:srgbClr val="101B30"/>
                </ns1:solidFill>
                <ns1:latin typeface="Arial"/>
                <ns1:ea typeface="Arial"/>
                <ns1:cs typeface="Arial"/>
              </ns1:defRPr>
            </ns1:pPr>
            <ns1:r>
              <ns1:rPr sz="3825" b="1">
                <ns1:solidFill>
                  <ns1:srgbClr val="101B30"/>
                </ns1:solidFill>
                <ns1:latin typeface="Arial"/>
                <ns1:ea typeface="Arial"/>
                <ns1:cs typeface="Arial"/>
              </ns1:rPr>
              <ns1:t>A migration request hides</ns1:t>
            </ns1:r>
          </ns1:p>
          <ns1:p>
            <ns1:pPr>
              <ns1:lnSpc>
                <ns1:spcPct val="106000"/>
              </ns1:lnSpc>
              <ns1:buNone/>
              <ns1:defRPr sz="3825" b="1">
                <ns1:solidFill>
                  <ns1:srgbClr val="101B30"/>
                </ns1:solidFill>
                <ns1:latin typeface="Arial"/>
                <ns1:ea typeface="Arial"/>
                <ns1:cs typeface="Arial"/>
              </ns1:defRPr>
            </ns1:pPr>
            <ns1:r>
              <ns1:rPr sz="3825" b="1">
                <ns1:solidFill>
                  <ns1:srgbClr val="101B30"/>
                </ns1:solidFill>
                <ns1:latin typeface="Arial"/>
                <ns1:ea typeface="Arial"/>
                <ns1:cs typeface="Arial"/>
              </ns1:rPr>
              <ns1:t>a separate data-use decision</ns1:t>
            </ns1:r>
          </ns1:p>
        </ns0:txBody>
      </ns0:sp>
      <ns0:sp>
        <ns0:nvSpPr>
          <ns0:cNvPr id="3" name="">
            <ns1:extLst>
              <ns1:ext uri="{FF2B5EF4-FFF2-40B4-BE49-F238E27FC236}">
                <ns2:creationId id="{C802820C-F22F-4FE6-AC38-A48DB01AB009}"/>
              </ns1:ext>
            </ns1:extLst>
          </ns0:cNvPr>
          <ns0:cNvSpPr>
            <ns1:spLocks noGrp="1"/>
          </ns0:cNvSpPr>
          <ns0:nvPr/>
        </ns0:nvSpPr>
        <ns0:spPr>
          <ns1:xfrm>
            <ns1:off x="609600" y="6496050"/>
            <ns1:ext cx="1905000" cy="171450"/>
          </ns1:xfrm>
          <ns1:prstGeom prst="rect">
            <ns1:avLst/>
          </ns1:prstGeom>
          <ns1:noFill/>
          <ns1:ln w="0">
            <ns1:noFill/>
          </ns1:ln>
        </ns0:spPr>
        <ns0:txBody>
          <ns1:bodyPr wrap="square" lIns="0" tIns="0" rIns="0" bIns="0">
            <ns1:noAutofit/>
          </ns1:bodyPr>
          <ns1:lstStyle/>
          <ns1:p>
            <ns1:pPr>
              <ns1:lnSpc>
                <ns1:spcPct val="106000"/>
              </ns1:lnSpc>
              <ns1:buNone/>
              <ns1:defRPr sz="900" b="1">
                <ns1:solidFill>
                  <ns1:srgbClr val="596173"/>
                </ns1:solidFill>
                <ns1:latin typeface="Arial"/>
                <ns1:ea typeface="Arial"/>
                <ns1:cs typeface="Arial"/>
              </ns1:defRPr>
            </ns1:pPr>
            <ns1:r>
              <ns1:rPr sz="900" b="1">
                <ns1:solidFill>
                  <ns1:srgbClr val="596173"/>
                </ns1:solidFill>
                <ns1:latin typeface="Arial"/>
                <ns1:ea typeface="Arial"/>
                <ns1:cs typeface="Arial"/>
              </ns1:rPr>
              <ns1:t>THEMIS</ns1:t>
            </ns1:r>
          </ns1:p>
        </ns0:txBody>
      </ns0:sp>
      <ns0:sp>
        <ns0:nvSpPr>
          <ns0:cNvPr id="4" name="">
            <ns1:extLst>
              <ns1:ext uri="{FF2B5EF4-FFF2-40B4-BE49-F238E27FC236}">
                <ns2:creationId id="{A5AA17D4-E9BB-48D3-AE15-E99100DD0794}"/>
              </ns1:ext>
            </ns1:extLst>
          </ns0:cNvPr>
          <ns0:cNvSpPr>
            <ns1:spLocks noGrp="1"/>
          </ns0:cNvSpPr>
          <ns0:nvPr/>
        </ns0:nvSpPr>
        <ns0:spPr>
          <ns1:xfrm>
            <ns1:off x="11144250" y="6496050"/>
            <ns1:ext cx="457200" cy="171450"/>
          </ns1:xfrm>
          <ns1:prstGeom prst="rect">
            <ns1:avLst/>
          </ns1:prstGeom>
          <ns1:noFill/>
          <ns1:ln w="0">
            <ns1:noFill/>
          </ns1:ln>
        </ns0:spPr>
        <ns0:txBody>
          <ns1:bodyPr wrap="square" lIns="0" tIns="0" rIns="0" bIns="0">
            <ns1:noAutofit/>
          </ns1:bodyPr>
          <ns1:lstStyle/>
          <ns1:p>
            <ns1:pPr>
              <ns1:lnSpc>
                <ns1:spcPct val="106000"/>
              </ns1:lnSpc>
              <ns1:buNone/>
              <ns1:defRPr sz="900" b="0">
                <ns1:solidFill>
                  <ns1:srgbClr val="596173"/>
                </ns1:solidFill>
                <ns1:latin typeface="Arial"/>
                <ns1:ea typeface="Arial"/>
                <ns1:cs typeface="Arial"/>
              </ns1:defRPr>
            </ns1:pPr>
            <ns1:r>
              <ns1:rPr sz="900" b="0">
                <ns1:solidFill>
                  <ns1:srgbClr val="596173"/>
                </ns1:solidFill>
                <ns1:latin typeface="Arial"/>
                <ns1:ea typeface="Arial"/>
                <ns1:cs typeface="Arial"/>
              </ns1:rPr>
              <ns1:t>04</ns1:t>
            </ns1:r>
          </ns1:p>
        </ns0:txBody>
      </ns0:sp>
      <ns0:sp>
        <ns0:nvSpPr>
          <ns0:cNvPr id="5" name="">
            <ns1:extLst>
              <ns1:ext uri="{FF2B5EF4-FFF2-40B4-BE49-F238E27FC236}">
                <ns2:creationId id="{CC6D11BC-6A64-4926-8EB6-A6EBF2778EAA}"/>
              </ns1:ext>
            </ns1:extLst>
          </ns0:cNvPr>
          <ns0:cNvSpPr>
            <ns1:spLocks noGrp="1"/>
          </ns0:cNvSpPr>
          <ns0:nvPr/>
        </ns0:nvSpPr>
        <ns0:spPr>
          <ns1:xfrm>
            <ns1:off x="609600" y="2524125"/>
            <ns1:ext cx="4286250" cy="285750"/>
          </ns1:xfrm>
          <ns1:prstGeom prst="rect">
            <ns1:avLst/>
          </ns1:prstGeom>
          <ns1:noFill/>
          <ns1:ln w="0">
            <ns1:noFill/>
          </ns1:ln>
        </ns0:spPr>
        <ns0:txBody>
          <ns1:bodyPr wrap="square" lIns="0" tIns="0" rIns="0" bIns="0">
            <ns1:noAutofit/>
          </ns1:bodyPr>
          <ns1:lstStyle/>
          <ns1:p>
            <ns1:pPr>
              <ns1:lnSpc>
                <ns1:spcPct val="106000"/>
              </ns1:lnSpc>
              <ns1:buNone/>
              <ns1:defRPr sz="1275" b="1">
                <ns1:solidFill>
                  <ns1:srgbClr val="535CB4"/>
                </ns1:solidFill>
                <ns1:latin typeface="Arial"/>
                <ns1:ea typeface="Arial"/>
                <ns1:cs typeface="Arial"/>
              </ns1:defRPr>
            </ns1:pPr>
            <ns1:r>
              <ns1:rPr sz="1275" b="1">
                <ns1:solidFill>
                  <ns1:srgbClr val="535CB4"/>
                </ns1:solidFill>
                <ns1:latin typeface="Arial"/>
                <ns1:ea typeface="Arial"/>
                <ns1:cs typeface="Arial"/>
              </ns1:rPr>
              <ns1:t>ILLUSTRATIVE MATTER</ns1:t>
            </ns1:r>
          </ns1:p>
        </ns0:txBody>
      </ns0:sp>
      <ns0:sp>
        <ns0:nvSpPr>
          <ns0:cNvPr id="6" name="">
            <ns1:extLst>
              <ns1:ext uri="{FF2B5EF4-FFF2-40B4-BE49-F238E27FC236}">
                <ns2:creationId id="{5EB93994-C69D-4020-B0BD-365F58F99E4B}"/>
              </ns1:ext>
            </ns1:extLst>
          </ns0:cNvPr>
          <ns0:cNvSpPr>
            <ns1:spLocks noGrp="1"/>
          </ns0:cNvSpPr>
          <ns0:nvPr/>
        </ns0:nvSpPr>
        <ns0:spPr>
          <ns1:xfrm>
            <ns1:off x="609600" y="2933700"/>
            <ns1:ext cx="4105275" cy="876300"/>
          </ns1:xfrm>
          <ns1:prstGeom prst="rect">
            <ns1:avLst/>
          </ns1:prstGeom>
          <ns1:noFill/>
          <ns1:ln w="0">
            <ns1:noFill/>
          </ns1:ln>
        </ns0:spPr>
        <ns0:txBody>
          <ns1:bodyPr wrap="square" lIns="0" tIns="0" rIns="0" bIns="0">
            <ns1:noAutofit/>
          </ns1:bodyPr>
          <ns1:lstStyle/>
          <ns1:p>
            <ns1:pPr>
              <ns1:lnSpc>
                <ns1:spcPct val="106000"/>
              </ns1:lnSpc>
              <ns1:buNone/>
              <ns1:defRPr sz="2325" b="1">
                <ns1:solidFill>
                  <ns1:srgbClr val="101B30"/>
                </ns1:solidFill>
                <ns1:latin typeface="Arial"/>
                <ns1:ea typeface="Arial"/>
                <ns1:cs typeface="Arial"/>
              </ns1:defRPr>
            </ns1:pPr>
            <ns1:r>
              <ns1:rPr sz="2325" b="1">
                <ns1:solidFill>
                  <ns1:srgbClr val="101B30"/>
                </ns1:solidFill>
                <ns1:latin typeface="Arial"/>
                <ns1:ea typeface="Arial"/>
                <ns1:cs typeface="Arial"/>
              </ns1:rPr>
              <ns1:t>Keep bank connections live</ns1:t>
            </ns1:r>
          </ns1:p>
          <ns1:p>
            <ns1:pPr>
              <ns1:lnSpc>
                <ns1:spcPct val="106000"/>
              </ns1:lnSpc>
              <ns1:buNone/>
              <ns1:defRPr sz="2325" b="1">
                <ns1:solidFill>
                  <ns1:srgbClr val="101B30"/>
                </ns1:solidFill>
                <ns1:latin typeface="Arial"/>
                <ns1:ea typeface="Arial"/>
                <ns1:cs typeface="Arial"/>
              </ns1:defRPr>
            </ns1:pPr>
            <ns1:r>
              <ns1:rPr sz="2325" b="1">
                <ns1:solidFill>
                  <ns1:srgbClr val="101B30"/>
                </ns1:solidFill>
                <ns1:latin typeface="Arial"/>
                <ns1:ea typeface="Arial"/>
                <ns1:cs typeface="Arial"/>
              </ns1:rPr>
              <ns1:t>during a migration.</ns1:t>
            </ns1:r>
          </ns1:p>
        </ns0:txBody>
      </ns0:sp>
      <ns0:sp>
        <ns0:nvSpPr>
          <ns0:cNvPr id="7" name="">
            <ns1:extLst>
              <ns1:ext uri="{FF2B5EF4-FFF2-40B4-BE49-F238E27FC236}">
                <ns2:creationId id="{6030F832-41C8-4669-94EE-FBEB23668C97}"/>
              </ns1:ext>
            </ns1:extLst>
          </ns0:cNvPr>
          <ns0:cNvSpPr>
            <ns1:spLocks noGrp="1"/>
          </ns0:cNvSpPr>
          <ns0:nvPr/>
        </ns0:nvSpPr>
        <ns0:spPr>
          <ns1:xfrm>
            <ns1:off x="609600" y="4048125"/>
            <ns1:ext cx="4105275" cy="1143000"/>
          </ns1:xfrm>
          <ns1:prstGeom prst="rect">
            <ns1:avLst/>
          </ns1:prstGeom>
          <ns1:noFill/>
          <ns1:ln w="0">
            <ns1:noFill/>
          </ns1:ln>
        </ns0:spPr>
        <ns0:txBody>
          <ns1:bodyPr wrap="square" lIns="0" tIns="0" rIns="0" bIns="0">
            <ns1:noAutofit/>
          </ns1:bodyPr>
          <ns1:lstStyle/>
          <ns1:p>
            <ns1:pPr>
              <ns1:lnSpc>
                <ns1:spcPct val="106000"/>
              </ns1:lnSpc>
              <ns1:buNone/>
              <ns1:defRPr sz="2100" b="0">
                <ns1:solidFill>
                  <ns1:srgbClr val="101B30"/>
                </ns1:solidFill>
                <ns1:latin typeface="Arial"/>
                <ns1:ea typeface="Arial"/>
                <ns1:cs typeface="Arial"/>
              </ns1:defRPr>
            </ns1:pPr>
            <ns1:r>
              <ns1:rPr sz="2100" b="0">
                <ns1:solidFill>
                  <ns1:srgbClr val="101B30"/>
                </ns1:solidFill>
                <ns1:latin typeface="Arial"/>
                <ns1:ea typeface="Arial"/>
                <ns1:cs typeface="Arial"/>
              </ns1:rPr>
              <ns1:t>The investigation also surfaces</ns1:t>
            </ns1:r>
          </ns1:p>
          <ns1:p>
            <ns1:pPr>
              <ns1:lnSpc>
                <ns1:spcPct val="106000"/>
              </ns1:lnSpc>
              <ns1:buNone/>
              <ns1:defRPr sz="2100" b="0">
                <ns1:solidFill>
                  <ns1:srgbClr val="101B30"/>
                </ns1:solidFill>
                <ns1:latin typeface="Arial"/>
                <ns1:ea typeface="Arial"/>
                <ns1:cs typeface="Arial"/>
              </ns1:defRPr>
            </ns1:pPr>
            <ns1:r>
              <ns1:rPr sz="2100" b="0">
                <ns1:solidFill>
                  <ns1:srgbClr val="101B30"/>
                </ns1:solidFill>
                <ns1:latin typeface="Arial"/>
                <ns1:ea typeface="Arial"/>
                <ns1:cs typeface="Arial"/>
              </ns1:rPr>
              <ns1:t>a plan to use transaction data</ns1:t>
            </ns1:r>
          </ns1:p>
          <ns1:p>
            <ns1:pPr>
              <ns1:lnSpc>
                <ns1:spcPct val="106000"/>
              </ns1:lnSpc>
              <ns1:buNone/>
              <ns1:defRPr sz="2100" b="0">
                <ns1:solidFill>
                  <ns1:srgbClr val="101B30"/>
                </ns1:solidFill>
                <ns1:latin typeface="Arial"/>
                <ns1:ea typeface="Arial"/>
                <ns1:cs typeface="Arial"/>
              </ns1:defRPr>
            </ns1:pPr>
            <ns1:r>
              <ns1:rPr sz="2100" b="0">
                <ns1:solidFill>
                  <ns1:srgbClr val="101B30"/>
                </ns1:solidFill>
                <ns1:latin typeface="Arial"/>
                <ns1:ea typeface="Arial"/>
                <ns1:cs typeface="Arial"/>
              </ns1:rPr>
              <ns1:t>for new offers.</ns1:t>
            </ns1:r>
          </ns1:p>
        </ns0:txBody>
      </ns0:sp>
      <ns0:sp>
        <ns0:nvSpPr>
          <ns0:cNvPr id="8" name="">
            <ns1:extLst>
              <ns1:ext uri="{FF2B5EF4-FFF2-40B4-BE49-F238E27FC236}">
                <ns2:creationId id="{7DFF505F-2B25-4F97-AEB9-517D3B906DFD}"/>
              </ns1:ext>
            </ns1:extLst>
          </ns0:cNvPr>
          <ns0:cNvSpPr>
            <ns1:spLocks noGrp="1"/>
          </ns0:cNvSpPr>
          <ns0:nvPr/>
        </ns0:nvSpPr>
        <ns0:spPr>
          <ns1:xfrm>
            <ns1:off x="609600" y="5410200"/>
            <ns1:ext cx="4105275" cy="647700"/>
          </ns1:xfrm>
          <ns1:prstGeom prst="rect">
            <ns1:avLst/>
          </ns1:prstGeom>
          <ns1:noFill/>
          <ns1:ln w="0">
            <ns1:noFill/>
          </ns1:ln>
        </ns0:spPr>
        <ns0:txBody>
          <ns1:bodyPr wrap="square" lIns="0" tIns="0" rIns="0" bIns="0">
            <ns1:noAutofit/>
          </ns1:bodyPr>
          <ns1:lstStyle/>
          <ns1:p>
            <ns1:pPr>
              <ns1:lnSpc>
                <ns1:spcPct val="106000"/>
              </ns1:lnSpc>
              <ns1:buNone/>
              <ns1:defRPr sz="2025" b="1">
                <ns1:solidFill>
                  <ns1:srgbClr val="535CB4"/>
                </ns1:solidFill>
                <ns1:latin typeface="Arial"/>
                <ns1:ea typeface="Arial"/>
                <ns1:cs typeface="Arial"/>
              </ns1:defRPr>
            </ns1:pPr>
            <ns1:r>
              <ns1:rPr sz="2025" b="1">
                <ns1:solidFill>
                  <ns1:srgbClr val="535CB4"/>
                </ns1:solidFill>
                <ns1:latin typeface="Arial"/>
                <ns1:ea typeface="Arial"/>
                <ns1:cs typeface="Arial"/>
              </ns1:rPr>
              <ns1:t>The lawyer can now weigh</ns1:t>
            </ns1:r>
          </ns1:p>
          <ns1:p>
            <ns1:pPr>
              <ns1:lnSpc>
                <ns1:spcPct val="106000"/>
              </ns1:lnSpc>
              <ns1:buNone/>
              <ns1:defRPr sz="2025" b="1">
                <ns1:solidFill>
                  <ns1:srgbClr val="535CB4"/>
                </ns1:solidFill>
                <ns1:latin typeface="Arial"/>
                <ns1:ea typeface="Arial"/>
                <ns1:cs typeface="Arial"/>
              </ns1:defRPr>
            </ns1:pPr>
            <ns1:r>
              <ns1:rPr sz="2025" b="1">
                <ns1:solidFill>
                  <ns1:srgbClr val="535CB4"/>
                </ns1:solidFill>
                <ns1:latin typeface="Arial"/>
                <ns1:ea typeface="Arial"/>
                <ns1:cs typeface="Arial"/>
              </ns1:rPr>
              <ns1:t>the permissions for each use.</ns1:t>
            </ns1:r>
          </ns1:p>
        </ns0:txBody>
      </ns0:sp>
      <ns0:pic>
        <ns0:nvPicPr>
          <ns0:cNvPr id="20" name=""/>
          <ns0:cNvPicPr>
            <ns1:picLocks noChangeAspect="1"/>
          </ns0:cNvPicPr>
          <ns0:nvPr/>
        </ns0:nvPicPr>
        <ns0:blipFill>
          <ns1:blip ns3:embed="Ra02e374fdf404aef"/>
          <ns1:srcRect l="19000" t="16600" r="16000" b="57000"/>
          <ns1:stretch/>
        </ns0:blipFill>
        <ns0:spPr>
          <ns1:xfrm>
            <ns1:off x="5238750" y="2724150"/>
            <ns1:ext cx="6334125" cy="2676525"/>
          </ns1:xfrm>
          <ns1:prstGeom prst="rect">
            <ns1:avLst/>
          </ns1:prstGeom>
        </ns0:spPr>
      </ns0:pic>
      <ns0:sp>
        <ns0:nvSpPr>
          <ns0:cNvPr id="10" name="">
            <ns1:extLst>
              <ns1:ext uri="{FF2B5EF4-FFF2-40B4-BE49-F238E27FC236}">
                <ns2:creationId id="{6FFA705F-0FC7-4F3C-8409-5C12FA2AF8FF}"/>
              </ns1:ext>
            </ns1:extLst>
          </ns0:cNvPr>
          <ns0:cNvSpPr>
            <ns1:spLocks noGrp="1"/>
          </ns0:cNvSpPr>
          <ns0:nvPr/>
        </ns0:nvSpPr>
        <ns0:spPr>
          <ns1:xfrm>
            <ns1:off x="5238750" y="5629275"/>
            <ns1:ext cx="6334125" cy="409575"/>
          </ns1:xfrm>
          <ns1:prstGeom prst="rect">
            <ns1:avLst/>
          </ns1:prstGeom>
          <ns1:noFill/>
          <ns1:ln w="0">
            <ns1:noFill/>
          </ns1:ln>
        </ns0:spPr>
        <ns0:txBody>
          <ns1:bodyPr wrap="square" lIns="0" tIns="0" rIns="0" bIns="0">
            <ns1:noAutofit/>
          </ns1:bodyPr>
          <ns1:lstStyle/>
          <ns1:p>
            <ns1:pPr>
              <ns1:lnSpc>
                <ns1:spcPct val="106000"/>
              </ns1:lnSpc>
              <ns1:buNone/>
              <ns1:defRPr sz="1875" b="0">
                <ns1:solidFill>
                  <ns1:srgbClr val="596173"/>
                </ns1:solidFill>
                <ns1:latin typeface="Arial"/>
                <ns1:ea typeface="Arial"/>
                <ns1:cs typeface="Arial"/>
              </ns1:defRPr>
            </ns1:pPr>
            <ns1:r>
              <ns1:rPr sz="1875" b="0">
                <ns1:solidFill>
                  <ns1:srgbClr val="596173"/>
                </ns1:solidFill>
                <ns1:latin typeface="Arial"/>
                <ns1:ea typeface="Arial"/>
                <ns1:cs typeface="Arial"/>
              </ns1:rPr>
              <ns1:t>The matter brings the open choices into view.</ns1:t>
            </ns1:r>
          </ns1:p>
        </ns0:txBody>
      </ns0:sp>
      <ns0:sp>
        <ns0:nvSpPr>
          <ns0:cNvPr id="11" name="">
            <ns1:extLst>
              <ns1:ext uri="{FF2B5EF4-FFF2-40B4-BE49-F238E27FC236}">
                <ns2:creationId id="{1C838E75-B7E7-4CB1-BD0F-E172D11A8EC9}"/>
              </ns1:ext>
            </ns1:extLst>
          </ns0:cNvPr>
          <ns0:cNvSpPr>
            <ns1:spLocks noGrp="1"/>
          </ns0:cNvSpPr>
          <ns0:nvPr/>
        </ns0:nvSpPr>
        <ns0:spPr>
          <ns1:xfrm>
            <ns1:off x="609600" y="6124575"/>
            <ns1:ext cx="10953750" cy="295275"/>
          </ns1:xfrm>
          <ns1:prstGeom prst="rect">
            <ns1:avLst/>
          </ns1:prstGeom>
          <ns1:noFill/>
          <ns1:ln w="0">
            <ns1:noFill/>
          </ns1:ln>
        </ns0:spPr>
        <ns0:txBody>
          <ns1:bodyPr wrap="square" lIns="0" tIns="0" rIns="0" bIns="0">
            <ns1:noAutofit/>
          </ns1:bodyPr>
          <ns1:lstStyle/>
          <ns1:p>
            <ns1:pPr>
              <ns1:lnSpc>
                <ns1:spcPct val="106000"/>
              </ns1:lnSpc>
              <ns1:buNone/>
              <ns1:defRPr sz="1125" b="0">
                <ns1:solidFill>
                  <ns1:srgbClr val="596173"/>
                </ns1:solidFill>
                <ns1:latin typeface="Arial"/>
                <ns1:ea typeface="Arial"/>
                <ns1:cs typeface="Arial"/>
              </ns1:defRPr>
            </ns1:pPr>
            <ns1:r>
              <ns1:rPr sz="1125" b="0">
                <ns1:solidFill>
                  <ns1:srgbClr val="596173"/>
                </ns1:solidFill>
                <ns1:latin typeface="Arial"/>
                <ns1:ea typeface="Arial"/>
                <ns1:cs typeface="Arial"/>
              </ns1:rPr>
              <ns1:t>Actual prototype capture with fictional seeded content. Illustrates the intended experience, not proven AI discovery.</ns1:t>
            </ns1:r>
          </ns1:p>
        </ns0:txBody>
      </ns0:sp>
    </ns0:spTree>
    <ns0:extLst>
      <ns0:ext uri="{BB962C8B-B14F-4D97-AF65-F5344CB8AC3E}">
        <ns4:creationId val="1231882557"/>
      </ns0:ext>
    </ns0:extLst>
  </ns0:cSld>
</ns0:sld>
</file>

<file path=ppt/slides/slide5.xml><?xml version="1.0" encoding="utf-8"?>
<p:sld xmlns:p="http://schemas.openxmlformats.org/presentationml/2006/main">
  <p:cSld>
    <p:bg>
      <p:bgPr>
        <a:solidFill xmlns:a="http://schemas.openxmlformats.org/drawingml/2006/main">
          <a:srgbClr val="101B3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07826FB-B9E1-4CE3-9116-C962C47ED5A4}"/>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ADA9FF"/>
                </a:solidFill>
                <a:latin typeface="Arial"/>
                <a:ea typeface="Arial"/>
                <a:cs typeface="Arial"/>
              </a:defRPr>
            </a:pPr>
            <a:r>
              <a:rPr sz="1125" b="1">
                <a:solidFill>
                  <a:srgbClr val="ADA9FF"/>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92A370A3-5085-4FCE-8B63-2CE4F3EF4486}"/>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F7F5F0"/>
                </a:solidFill>
                <a:latin typeface="Arial"/>
                <a:ea typeface="Arial"/>
                <a:cs typeface="Arial"/>
              </a:defRPr>
            </a:pPr>
            <a:r>
              <a:rPr sz="3825" b="1">
                <a:solidFill>
                  <a:srgbClr val="F7F5F0"/>
                </a:solidFill>
                <a:latin typeface="Arial"/>
                <a:ea typeface="Arial"/>
                <a:cs typeface="Arial"/>
              </a:rPr>
              <a:t>Built by a GC who has</a:t>
            </a:r>
          </a:p>
          <a:p xmlns:a="http://schemas.openxmlformats.org/drawingml/2006/main">
            <a:pPr>
              <a:lnSpc>
                <a:spcPct val="106000"/>
              </a:lnSpc>
              <a:buNone/>
              <a:defRPr sz="3825" b="1">
                <a:solidFill>
                  <a:srgbClr val="F7F5F0"/>
                </a:solidFill>
                <a:latin typeface="Arial"/>
                <a:ea typeface="Arial"/>
                <a:cs typeface="Arial"/>
              </a:defRPr>
            </a:pPr>
            <a:r>
              <a:rPr sz="3825" b="1">
                <a:solidFill>
                  <a:srgbClr val="F7F5F0"/>
                </a:solidFill>
                <a:latin typeface="Arial"/>
                <a:ea typeface="Arial"/>
                <a:cs typeface="Arial"/>
              </a:rPr>
              <a:t>built legal teams</a:t>
            </a:r>
          </a:p>
        </p:txBody>
      </p:sp>
      <p:sp>
        <p:nvSpPr>
          <p:cNvPr id="3" name="">
            <a:extLst xmlns:a="http://schemas.openxmlformats.org/drawingml/2006/main">
              <a:ext uri="{FF2B5EF4-FFF2-40B4-BE49-F238E27FC236}">
                <a16:creationId xmlns:a16="http://schemas.microsoft.com/office/drawing/2014/main" id="{8AEB412F-4714-41C5-87E8-476E99F44C0C}"/>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D6DAE5"/>
                </a:solidFill>
                <a:latin typeface="Arial"/>
                <a:ea typeface="Arial"/>
                <a:cs typeface="Arial"/>
              </a:defRPr>
            </a:pPr>
            <a:r>
              <a:rPr sz="900" b="1">
                <a:solidFill>
                  <a:srgbClr val="D6DAE5"/>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0667C6E-BF1E-469C-ADB1-BAFA4923ECD8}"/>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D6DAE5"/>
                </a:solidFill>
                <a:latin typeface="Arial"/>
                <a:ea typeface="Arial"/>
                <a:cs typeface="Arial"/>
              </a:defRPr>
            </a:pPr>
            <a:r>
              <a:rPr sz="900" b="0">
                <a:solidFill>
                  <a:srgbClr val="D6DAE5"/>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B07DD7F1-8302-4EAE-8E8C-2A7541E23A14}"/>
              </a:ext>
            </a:extLst>
          </p:cNvPr>
          <p:cNvSpPr>
            <a:spLocks xmlns:a="http://schemas.openxmlformats.org/drawingml/2006/main" noGrp="1"/>
          </p:cNvSpPr>
          <p:nvPr/>
        </p:nvSpPr>
        <p:spPr>
          <a:xfrm xmlns:a="http://schemas.openxmlformats.org/drawingml/2006/main">
            <a:off x="609600" y="2533650"/>
            <a:ext cx="5524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525" b="1">
                <a:solidFill>
                  <a:srgbClr val="F7F5F0"/>
                </a:solidFill>
                <a:latin typeface="Arial"/>
                <a:ea typeface="Arial"/>
                <a:cs typeface="Arial"/>
              </a:defRPr>
            </a:pPr>
            <a:r>
              <a:rPr sz="3525" b="1">
                <a:solidFill>
                  <a:srgbClr val="F7F5F0"/>
                </a:solidFill>
                <a:latin typeface="Arial"/>
                <a:ea typeface="Arial"/>
                <a:cs typeface="Arial"/>
              </a:rPr>
              <a:t>Brian Harris</a:t>
            </a:r>
          </a:p>
        </p:txBody>
      </p:sp>
      <p:sp>
        <p:nvSpPr>
          <p:cNvPr id="6" name="">
            <a:extLst xmlns:a="http://schemas.openxmlformats.org/drawingml/2006/main">
              <a:ext uri="{FF2B5EF4-FFF2-40B4-BE49-F238E27FC236}">
                <a16:creationId xmlns:a16="http://schemas.microsoft.com/office/drawing/2014/main" id="{E0505873-CC67-4FEF-A6ED-535E08AD0B82}"/>
              </a:ext>
            </a:extLst>
          </p:cNvPr>
          <p:cNvSpPr>
            <a:spLocks xmlns:a="http://schemas.openxmlformats.org/drawingml/2006/main" noGrp="1"/>
          </p:cNvSpPr>
          <p:nvPr/>
        </p:nvSpPr>
        <p:spPr>
          <a:xfrm xmlns:a="http://schemas.openxmlformats.org/drawingml/2006/main">
            <a:off x="609600" y="3257550"/>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875" b="0">
                <a:solidFill>
                  <a:srgbClr val="ADA9FF"/>
                </a:solidFill>
                <a:latin typeface="Arial"/>
                <a:ea typeface="Arial"/>
                <a:cs typeface="Arial"/>
              </a:defRPr>
            </a:pPr>
            <a:r>
              <a:rPr sz="1875" b="0">
                <a:solidFill>
                  <a:srgbClr val="ADA9FF"/>
                </a:solidFill>
                <a:latin typeface="Arial"/>
                <a:ea typeface="Arial"/>
                <a:cs typeface="Arial"/>
              </a:rPr>
              <a:t>Sole founder</a:t>
            </a:r>
          </a:p>
        </p:txBody>
      </p:sp>
      <p:sp>
        <p:nvSpPr>
          <p:cNvPr id="7" name="">
            <a:extLst xmlns:a="http://schemas.openxmlformats.org/drawingml/2006/main">
              <a:ext uri="{FF2B5EF4-FFF2-40B4-BE49-F238E27FC236}">
                <a16:creationId xmlns:a16="http://schemas.microsoft.com/office/drawing/2014/main" id="{2AFAA6EA-E94D-4E4F-BCAF-C39C6E542BB4}"/>
              </a:ext>
            </a:extLst>
          </p:cNvPr>
          <p:cNvSpPr>
            <a:spLocks xmlns:a="http://schemas.openxmlformats.org/drawingml/2006/main" noGrp="1"/>
          </p:cNvSpPr>
          <p:nvPr/>
        </p:nvSpPr>
        <p:spPr>
          <a:xfrm xmlns:a="http://schemas.openxmlformats.org/drawingml/2006/main">
            <a:off x="609600" y="4067175"/>
            <a:ext cx="55721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6000" b="1">
                <a:solidFill>
                  <a:srgbClr val="DFC383"/>
                </a:solidFill>
                <a:latin typeface="Arial"/>
                <a:ea typeface="Arial"/>
                <a:cs typeface="Arial"/>
              </a:defRPr>
            </a:pPr>
            <a:r>
              <a:rPr sz="6000" b="1">
                <a:solidFill>
                  <a:srgbClr val="DFC383"/>
                </a:solidFill>
                <a:latin typeface="Arial"/>
                <a:ea typeface="Arial"/>
                <a:cs typeface="Arial"/>
              </a:rPr>
              <a:t>17 years</a:t>
            </a:r>
          </a:p>
        </p:txBody>
      </p:sp>
      <p:sp>
        <p:nvSpPr>
          <p:cNvPr id="8" name="">
            <a:extLst xmlns:a="http://schemas.openxmlformats.org/drawingml/2006/main">
              <a:ext uri="{FF2B5EF4-FFF2-40B4-BE49-F238E27FC236}">
                <a16:creationId xmlns:a16="http://schemas.microsoft.com/office/drawing/2014/main" id="{FF3CCD8B-CB6B-47E3-BC3C-AF2652E94D52}"/>
              </a:ext>
            </a:extLst>
          </p:cNvPr>
          <p:cNvSpPr>
            <a:spLocks xmlns:a="http://schemas.openxmlformats.org/drawingml/2006/main" noGrp="1"/>
          </p:cNvSpPr>
          <p:nvPr/>
        </p:nvSpPr>
        <p:spPr>
          <a:xfrm xmlns:a="http://schemas.openxmlformats.org/drawingml/2006/main">
            <a:off x="609600" y="5200650"/>
            <a:ext cx="54959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025" b="0">
                <a:solidFill>
                  <a:srgbClr val="F7F5F0"/>
                </a:solidFill>
                <a:latin typeface="Arial"/>
                <a:ea typeface="Arial"/>
                <a:cs typeface="Arial"/>
              </a:defRPr>
            </a:pPr>
            <a:r>
              <a:rPr sz="2025" b="0">
                <a:solidFill>
                  <a:srgbClr val="F7F5F0"/>
                </a:solidFill>
                <a:latin typeface="Arial"/>
                <a:ea typeface="Arial"/>
                <a:cs typeface="Arial"/>
              </a:rPr>
              <a:t>practicing law, including general</a:t>
            </a:r>
          </a:p>
          <a:p xmlns:a="http://schemas.openxmlformats.org/drawingml/2006/main">
            <a:pPr>
              <a:lnSpc>
                <a:spcPct val="106000"/>
              </a:lnSpc>
              <a:buNone/>
              <a:defRPr sz="2025" b="0">
                <a:solidFill>
                  <a:srgbClr val="F7F5F0"/>
                </a:solidFill>
                <a:latin typeface="Arial"/>
                <a:ea typeface="Arial"/>
                <a:cs typeface="Arial"/>
              </a:defRPr>
            </a:pPr>
            <a:r>
              <a:rPr sz="2025" b="0">
                <a:solidFill>
                  <a:srgbClr val="F7F5F0"/>
                </a:solidFill>
                <a:latin typeface="Arial"/>
                <a:ea typeface="Arial"/>
                <a:cs typeface="Arial"/>
              </a:rPr>
              <a:t>counsel and product counsel roles</a:t>
            </a:r>
          </a:p>
        </p:txBody>
      </p:sp>
      <p:sp>
        <p:nvSpPr>
          <p:cNvPr id="9" name="">
            <a:extLst xmlns:a="http://schemas.openxmlformats.org/drawingml/2006/main">
              <a:ext uri="{FF2B5EF4-FFF2-40B4-BE49-F238E27FC236}">
                <a16:creationId xmlns:a16="http://schemas.microsoft.com/office/drawing/2014/main" id="{CD076B93-C53E-40BA-9F48-D8AF45E8DE65}"/>
              </a:ext>
            </a:extLst>
          </p:cNvPr>
          <p:cNvSpPr>
            <a:spLocks xmlns:a="http://schemas.openxmlformats.org/drawingml/2006/main" noGrp="1"/>
          </p:cNvSpPr>
          <p:nvPr/>
        </p:nvSpPr>
        <p:spPr>
          <a:xfrm xmlns:a="http://schemas.openxmlformats.org/drawingml/2006/main">
            <a:off x="6858000" y="2495550"/>
            <a:ext cx="472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ADA9FF"/>
                </a:solidFill>
                <a:latin typeface="Arial"/>
                <a:ea typeface="Arial"/>
                <a:cs typeface="Arial"/>
              </a:defRPr>
            </a:pPr>
            <a:r>
              <a:rPr sz="1275" b="1">
                <a:solidFill>
                  <a:srgbClr val="ADA9FF"/>
                </a:solidFill>
                <a:latin typeface="Arial"/>
                <a:ea typeface="Arial"/>
                <a:cs typeface="Arial"/>
              </a:rPr>
              <a:t>SETTLE AND MANIFEST</a:t>
            </a:r>
          </a:p>
        </p:txBody>
      </p:sp>
      <p:sp>
        <p:nvSpPr>
          <p:cNvPr id="10" name="">
            <a:extLst xmlns:a="http://schemas.openxmlformats.org/drawingml/2006/main">
              <a:ext uri="{FF2B5EF4-FFF2-40B4-BE49-F238E27FC236}">
                <a16:creationId xmlns:a16="http://schemas.microsoft.com/office/drawing/2014/main" id="{6E034C36-755A-410D-B1E1-C178C2698126}"/>
              </a:ext>
            </a:extLst>
          </p:cNvPr>
          <p:cNvSpPr>
            <a:spLocks xmlns:a="http://schemas.openxmlformats.org/drawingml/2006/main" noGrp="1"/>
          </p:cNvSpPr>
          <p:nvPr/>
        </p:nvSpPr>
        <p:spPr>
          <a:xfrm xmlns:a="http://schemas.openxmlformats.org/drawingml/2006/main">
            <a:off x="6858000" y="2905125"/>
            <a:ext cx="4724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025" b="0">
                <a:solidFill>
                  <a:srgbClr val="F7F5F0"/>
                </a:solidFill>
                <a:latin typeface="Arial"/>
                <a:ea typeface="Arial"/>
                <a:cs typeface="Arial"/>
              </a:defRPr>
            </a:pPr>
            <a:r>
              <a:rPr sz="2025" b="0">
                <a:solidFill>
                  <a:srgbClr val="F7F5F0"/>
                </a:solidFill>
                <a:latin typeface="Arial"/>
                <a:ea typeface="Arial"/>
                <a:cs typeface="Arial"/>
              </a:rPr>
              <a:t>Built legal and compliance functions</a:t>
            </a:r>
          </a:p>
          <a:p xmlns:a="http://schemas.openxmlformats.org/drawingml/2006/main">
            <a:pPr>
              <a:lnSpc>
                <a:spcPct val="106000"/>
              </a:lnSpc>
              <a:buNone/>
              <a:defRPr sz="2025" b="0">
                <a:solidFill>
                  <a:srgbClr val="F7F5F0"/>
                </a:solidFill>
                <a:latin typeface="Arial"/>
                <a:ea typeface="Arial"/>
                <a:cs typeface="Arial"/>
              </a:defRPr>
            </a:pPr>
            <a:r>
              <a:rPr sz="2025" b="0">
                <a:solidFill>
                  <a:srgbClr val="F7F5F0"/>
                </a:solidFill>
                <a:latin typeface="Arial"/>
                <a:ea typeface="Arial"/>
                <a:cs typeface="Arial"/>
              </a:rPr>
              <a:t>from inception.</a:t>
            </a:r>
          </a:p>
        </p:txBody>
      </p:sp>
      <p:sp>
        <p:nvSpPr>
          <p:cNvPr id="11" name="">
            <a:extLst xmlns:a="http://schemas.openxmlformats.org/drawingml/2006/main">
              <a:ext uri="{FF2B5EF4-FFF2-40B4-BE49-F238E27FC236}">
                <a16:creationId xmlns:a16="http://schemas.microsoft.com/office/drawing/2014/main" id="{F13C16F0-D0A1-4371-9750-E291D2802EA2}"/>
              </a:ext>
            </a:extLst>
          </p:cNvPr>
          <p:cNvSpPr>
            <a:spLocks xmlns:a="http://schemas.openxmlformats.org/drawingml/2006/main" noGrp="1"/>
          </p:cNvSpPr>
          <p:nvPr/>
        </p:nvSpPr>
        <p:spPr>
          <a:xfrm xmlns:a="http://schemas.openxmlformats.org/drawingml/2006/main">
            <a:off x="6858000" y="3914775"/>
            <a:ext cx="472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ADA9FF"/>
                </a:solidFill>
                <a:latin typeface="Arial"/>
                <a:ea typeface="Arial"/>
                <a:cs typeface="Arial"/>
              </a:defRPr>
            </a:pPr>
            <a:r>
              <a:rPr sz="1275" b="1">
                <a:solidFill>
                  <a:srgbClr val="ADA9FF"/>
                </a:solidFill>
                <a:latin typeface="Arial"/>
                <a:ea typeface="Arial"/>
                <a:cs typeface="Arial"/>
              </a:rPr>
              <a:t>AFFIRM AND FACEBOOK PORTAL</a:t>
            </a:r>
          </a:p>
        </p:txBody>
      </p:sp>
      <p:sp>
        <p:nvSpPr>
          <p:cNvPr id="12" name="">
            <a:extLst xmlns:a="http://schemas.openxmlformats.org/drawingml/2006/main">
              <a:ext uri="{FF2B5EF4-FFF2-40B4-BE49-F238E27FC236}">
                <a16:creationId xmlns:a16="http://schemas.microsoft.com/office/drawing/2014/main" id="{BB125BEC-6C81-4DFE-884B-EC17A7A9A366}"/>
              </a:ext>
            </a:extLst>
          </p:cNvPr>
          <p:cNvSpPr>
            <a:spLocks xmlns:a="http://schemas.openxmlformats.org/drawingml/2006/main" noGrp="1"/>
          </p:cNvSpPr>
          <p:nvPr/>
        </p:nvSpPr>
        <p:spPr>
          <a:xfrm xmlns:a="http://schemas.openxmlformats.org/drawingml/2006/main">
            <a:off x="6858000" y="4324350"/>
            <a:ext cx="4724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025" b="0">
                <a:solidFill>
                  <a:srgbClr val="F7F5F0"/>
                </a:solidFill>
                <a:latin typeface="Arial"/>
                <a:ea typeface="Arial"/>
                <a:cs typeface="Arial"/>
              </a:defRPr>
            </a:pPr>
            <a:r>
              <a:rPr sz="2025" b="0">
                <a:solidFill>
                  <a:srgbClr val="F7F5F0"/>
                </a:solidFill>
                <a:latin typeface="Arial"/>
                <a:ea typeface="Arial"/>
                <a:cs typeface="Arial"/>
              </a:rPr>
              <a:t>Advised product teams through</a:t>
            </a:r>
          </a:p>
          <a:p xmlns:a="http://schemas.openxmlformats.org/drawingml/2006/main">
            <a:pPr>
              <a:lnSpc>
                <a:spcPct val="106000"/>
              </a:lnSpc>
              <a:buNone/>
              <a:defRPr sz="2025" b="0">
                <a:solidFill>
                  <a:srgbClr val="F7F5F0"/>
                </a:solidFill>
                <a:latin typeface="Arial"/>
                <a:ea typeface="Arial"/>
                <a:cs typeface="Arial"/>
              </a:defRPr>
            </a:pPr>
            <a:r>
              <a:rPr sz="2025" b="0">
                <a:solidFill>
                  <a:srgbClr val="F7F5F0"/>
                </a:solidFill>
                <a:latin typeface="Arial"/>
                <a:ea typeface="Arial"/>
                <a:cs typeface="Arial"/>
              </a:rPr>
              <a:t>launches and regulatory questions.</a:t>
            </a:r>
          </a:p>
        </p:txBody>
      </p:sp>
      <p:sp>
        <p:nvSpPr>
          <p:cNvPr id="13" name="">
            <a:extLst xmlns:a="http://schemas.openxmlformats.org/drawingml/2006/main">
              <a:ext uri="{FF2B5EF4-FFF2-40B4-BE49-F238E27FC236}">
                <a16:creationId xmlns:a16="http://schemas.microsoft.com/office/drawing/2014/main" id="{E3CE49F2-90F4-49E5-A33B-C1DA2549849F}"/>
              </a:ext>
            </a:extLst>
          </p:cNvPr>
          <p:cNvSpPr>
            <a:spLocks xmlns:a="http://schemas.openxmlformats.org/drawingml/2006/main" noGrp="1"/>
          </p:cNvSpPr>
          <p:nvPr/>
        </p:nvSpPr>
        <p:spPr>
          <a:xfrm xmlns:a="http://schemas.openxmlformats.org/drawingml/2006/main">
            <a:off x="6858000" y="5362575"/>
            <a:ext cx="4724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800" b="0">
                <a:solidFill>
                  <a:srgbClr val="D6DAE5"/>
                </a:solidFill>
                <a:latin typeface="Arial"/>
                <a:ea typeface="Arial"/>
                <a:cs typeface="Arial"/>
              </a:defRPr>
            </a:pPr>
            <a:r>
              <a:rPr sz="1800" b="0">
                <a:solidFill>
                  <a:srgbClr val="D6DAE5"/>
                </a:solidFill>
                <a:latin typeface="Arial"/>
                <a:ea typeface="Arial"/>
                <a:cs typeface="Arial"/>
              </a:rPr>
              <a:t>AI research at Georgia Tech.</a:t>
            </a:r>
          </a:p>
          <a:p xmlns:a="http://schemas.openxmlformats.org/drawingml/2006/main">
            <a:pPr>
              <a:lnSpc>
                <a:spcPct val="106000"/>
              </a:lnSpc>
              <a:buNone/>
              <a:defRPr sz="1800" b="0">
                <a:solidFill>
                  <a:srgbClr val="D6DAE5"/>
                </a:solidFill>
                <a:latin typeface="Arial"/>
                <a:ea typeface="Arial"/>
                <a:cs typeface="Arial"/>
              </a:defRPr>
            </a:pPr>
            <a:r>
              <a:rPr sz="1800" b="0">
                <a:solidFill>
                  <a:srgbClr val="D6DAE5"/>
                </a:solidFill>
                <a:latin typeface="Arial"/>
                <a:ea typeface="Arial"/>
                <a:cs typeface="Arial"/>
              </a:rPr>
              <a:t>M.S. Computer Science. J.D. Northwestern.</a:t>
            </a:r>
          </a:p>
        </p:txBody>
      </p:sp>
    </p:spTree>
    <p:extLst>
      <p:ext uri="{BB962C8B-B14F-4D97-AF65-F5344CB8AC3E}">
        <p14:creationId xmlns:p14="http://schemas.microsoft.com/office/powerpoint/2010/main" val="1351819049"/>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B92D2B7-21C6-4AF7-AF55-57C8E16BF560}"/>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DIFFERENTIATION</a:t>
            </a:r>
          </a:p>
        </p:txBody>
      </p:sp>
      <p:sp>
        <p:nvSpPr>
          <p:cNvPr id="2" name="">
            <a:extLst xmlns:a="http://schemas.openxmlformats.org/drawingml/2006/main">
              <a:ext uri="{FF2B5EF4-FFF2-40B4-BE49-F238E27FC236}">
                <a16:creationId xmlns:a16="http://schemas.microsoft.com/office/drawing/2014/main" id="{7D8B8012-DF3D-425A-9D31-173B91D42B3C}"/>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Built around how a small-team</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lawyer reaches a decision</a:t>
            </a:r>
          </a:p>
        </p:txBody>
      </p:sp>
      <p:sp>
        <p:nvSpPr>
          <p:cNvPr id="3" name="">
            <a:extLst xmlns:a="http://schemas.openxmlformats.org/drawingml/2006/main">
              <a:ext uri="{FF2B5EF4-FFF2-40B4-BE49-F238E27FC236}">
                <a16:creationId xmlns:a16="http://schemas.microsoft.com/office/drawing/2014/main" id="{FE15121D-FF62-428D-B297-868D11AD4BFA}"/>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7B7EB08-E7C0-4620-80FD-1D47E8A2A752}"/>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340FE6A0-86F7-452C-BAC0-F2F3884F6472}"/>
              </a:ext>
            </a:extLst>
          </p:cNvPr>
          <p:cNvSpPr>
            <a:spLocks xmlns:a="http://schemas.openxmlformats.org/drawingml/2006/main" noGrp="1"/>
          </p:cNvSpPr>
          <p:nvPr/>
        </p:nvSpPr>
        <p:spPr>
          <a:xfrm xmlns:a="http://schemas.openxmlformats.org/drawingml/2006/main">
            <a:off x="609600" y="2505075"/>
            <a:ext cx="5114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THE TOOLS ALREADY AVAILABLE</a:t>
            </a:r>
          </a:p>
        </p:txBody>
      </p:sp>
      <p:sp>
        <p:nvSpPr>
          <p:cNvPr id="6" name="">
            <a:extLst xmlns:a="http://schemas.openxmlformats.org/drawingml/2006/main">
              <a:ext uri="{FF2B5EF4-FFF2-40B4-BE49-F238E27FC236}">
                <a16:creationId xmlns:a16="http://schemas.microsoft.com/office/drawing/2014/main" id="{EE670A90-BB73-4E31-8398-3CE2C2FFEDD6}"/>
              </a:ext>
            </a:extLst>
          </p:cNvPr>
          <p:cNvSpPr>
            <a:spLocks xmlns:a="http://schemas.openxmlformats.org/drawingml/2006/main" noGrp="1"/>
          </p:cNvSpPr>
          <p:nvPr/>
        </p:nvSpPr>
        <p:spPr>
          <a:xfrm xmlns:a="http://schemas.openxmlformats.org/drawingml/2006/main">
            <a:off x="609600" y="2924175"/>
            <a:ext cx="5353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00" b="1">
                <a:solidFill>
                  <a:srgbClr val="101B30"/>
                </a:solidFill>
                <a:latin typeface="Arial"/>
                <a:ea typeface="Arial"/>
                <a:cs typeface="Arial"/>
              </a:defRPr>
            </a:pPr>
            <a:r>
              <a:rPr sz="2400" b="1">
                <a:solidFill>
                  <a:srgbClr val="101B30"/>
                </a:solidFill>
                <a:latin typeface="Arial"/>
                <a:ea typeface="Arial"/>
                <a:cs typeface="Arial"/>
              </a:rPr>
              <a:t>Claude and ChatGPT</a:t>
            </a:r>
          </a:p>
        </p:txBody>
      </p:sp>
      <p:sp>
        <p:nvSpPr>
          <p:cNvPr id="7" name="">
            <a:extLst xmlns:a="http://schemas.openxmlformats.org/drawingml/2006/main">
              <a:ext uri="{FF2B5EF4-FFF2-40B4-BE49-F238E27FC236}">
                <a16:creationId xmlns:a16="http://schemas.microsoft.com/office/drawing/2014/main" id="{9261C080-6D7B-4BE4-A492-9B4079C6F39B}"/>
              </a:ext>
            </a:extLst>
          </p:cNvPr>
          <p:cNvSpPr>
            <a:spLocks xmlns:a="http://schemas.openxmlformats.org/drawingml/2006/main" noGrp="1"/>
          </p:cNvSpPr>
          <p:nvPr/>
        </p:nvSpPr>
        <p:spPr>
          <a:xfrm xmlns:a="http://schemas.openxmlformats.org/drawingml/2006/main">
            <a:off x="609600" y="3467100"/>
            <a:ext cx="5143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950" b="0">
                <a:solidFill>
                  <a:srgbClr val="596173"/>
                </a:solidFill>
                <a:latin typeface="Arial"/>
                <a:ea typeface="Arial"/>
                <a:cs typeface="Arial"/>
              </a:defRPr>
            </a:pPr>
            <a:r>
              <a:rPr sz="1950" b="0">
                <a:solidFill>
                  <a:srgbClr val="596173"/>
                </a:solidFill>
                <a:latin typeface="Arial"/>
                <a:ea typeface="Arial"/>
                <a:cs typeface="Arial"/>
              </a:rPr>
              <a:t>Flexible research, drafting and custom workflows.</a:t>
            </a:r>
          </a:p>
        </p:txBody>
      </p:sp>
      <p:sp>
        <p:nvSpPr>
          <p:cNvPr id="8" name="">
            <a:extLst xmlns:a="http://schemas.openxmlformats.org/drawingml/2006/main">
              <a:ext uri="{FF2B5EF4-FFF2-40B4-BE49-F238E27FC236}">
                <a16:creationId xmlns:a16="http://schemas.microsoft.com/office/drawing/2014/main" id="{0F5C6935-2549-4B7D-BD65-01DB8069C174}"/>
              </a:ext>
            </a:extLst>
          </p:cNvPr>
          <p:cNvSpPr>
            <a:spLocks xmlns:a="http://schemas.openxmlformats.org/drawingml/2006/main" noGrp="1"/>
          </p:cNvSpPr>
          <p:nvPr/>
        </p:nvSpPr>
        <p:spPr>
          <a:xfrm xmlns:a="http://schemas.openxmlformats.org/drawingml/2006/main">
            <a:off x="609600" y="4476750"/>
            <a:ext cx="5334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250" b="1">
                <a:solidFill>
                  <a:srgbClr val="101B30"/>
                </a:solidFill>
                <a:latin typeface="Arial"/>
                <a:ea typeface="Arial"/>
                <a:cs typeface="Arial"/>
              </a:defRPr>
            </a:pPr>
            <a:r>
              <a:rPr sz="2250" b="1">
                <a:solidFill>
                  <a:srgbClr val="101B30"/>
                </a:solidFill>
                <a:latin typeface="Arial"/>
                <a:ea typeface="Arial"/>
                <a:cs typeface="Arial"/>
              </a:rPr>
              <a:t>Harvey, Legora, CoCounsel, GC AI</a:t>
            </a:r>
          </a:p>
        </p:txBody>
      </p:sp>
      <p:sp>
        <p:nvSpPr>
          <p:cNvPr id="9" name="">
            <a:extLst xmlns:a="http://schemas.openxmlformats.org/drawingml/2006/main">
              <a:ext uri="{FF2B5EF4-FFF2-40B4-BE49-F238E27FC236}">
                <a16:creationId xmlns:a16="http://schemas.microsoft.com/office/drawing/2014/main" id="{5733F3DC-D9BE-4C34-9964-BE4284356FC6}"/>
              </a:ext>
            </a:extLst>
          </p:cNvPr>
          <p:cNvSpPr>
            <a:spLocks xmlns:a="http://schemas.openxmlformats.org/drawingml/2006/main" noGrp="1"/>
          </p:cNvSpPr>
          <p:nvPr/>
        </p:nvSpPr>
        <p:spPr>
          <a:xfrm xmlns:a="http://schemas.openxmlformats.org/drawingml/2006/main">
            <a:off x="609600" y="5419725"/>
            <a:ext cx="5219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950" b="0">
                <a:solidFill>
                  <a:srgbClr val="596173"/>
                </a:solidFill>
                <a:latin typeface="Arial"/>
                <a:ea typeface="Arial"/>
                <a:cs typeface="Arial"/>
              </a:defRPr>
            </a:pPr>
            <a:r>
              <a:rPr sz="1950" b="0">
                <a:solidFill>
                  <a:srgbClr val="596173"/>
                </a:solidFill>
                <a:latin typeface="Arial"/>
                <a:ea typeface="Arial"/>
                <a:cs typeface="Arial"/>
              </a:rPr>
              <a:t>Legal research, work product and workflow tools.</a:t>
            </a:r>
          </a:p>
        </p:txBody>
      </p:sp>
      <p:sp>
        <p:nvSpPr>
          <p:cNvPr id="10" name="">
            <a:extLst xmlns:a="http://schemas.openxmlformats.org/drawingml/2006/main">
              <a:ext uri="{FF2B5EF4-FFF2-40B4-BE49-F238E27FC236}">
                <a16:creationId xmlns:a16="http://schemas.microsoft.com/office/drawing/2014/main" id="{17157952-E37D-416F-9E3B-50CEB8929698}"/>
              </a:ext>
            </a:extLst>
          </p:cNvPr>
          <p:cNvSpPr>
            <a:spLocks xmlns:a="http://schemas.openxmlformats.org/drawingml/2006/main" noGrp="1"/>
          </p:cNvSpPr>
          <p:nvPr/>
        </p:nvSpPr>
        <p:spPr>
          <a:xfrm xmlns:a="http://schemas.openxmlformats.org/drawingml/2006/main">
            <a:off x="6734175" y="2505075"/>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THEMIS’S PROPOSED ADVANTAGE</a:t>
            </a:r>
          </a:p>
        </p:txBody>
      </p:sp>
      <p:sp>
        <p:nvSpPr>
          <p:cNvPr id="11" name="">
            <a:extLst xmlns:a="http://schemas.openxmlformats.org/drawingml/2006/main">
              <a:ext uri="{FF2B5EF4-FFF2-40B4-BE49-F238E27FC236}">
                <a16:creationId xmlns:a16="http://schemas.microsoft.com/office/drawing/2014/main" id="{15ED483C-69CD-4D12-BDF9-63A7E3A090EB}"/>
              </a:ext>
            </a:extLst>
          </p:cNvPr>
          <p:cNvSpPr>
            <a:spLocks xmlns:a="http://schemas.openxmlformats.org/drawingml/2006/main" noGrp="1"/>
          </p:cNvSpPr>
          <p:nvPr/>
        </p:nvSpPr>
        <p:spPr>
          <a:xfrm xmlns:a="http://schemas.openxmlformats.org/drawingml/2006/main">
            <a:off x="6734175" y="2924175"/>
            <a:ext cx="48387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925" b="1">
                <a:solidFill>
                  <a:srgbClr val="535CB4"/>
                </a:solidFill>
                <a:latin typeface="Arial"/>
                <a:ea typeface="Arial"/>
                <a:cs typeface="Arial"/>
              </a:defRPr>
            </a:pPr>
            <a:r>
              <a:rPr sz="2925" b="1">
                <a:solidFill>
                  <a:srgbClr val="535CB4"/>
                </a:solidFill>
                <a:latin typeface="Arial"/>
                <a:ea typeface="Arial"/>
                <a:cs typeface="Arial"/>
              </a:rPr>
              <a:t>A prepared matter.</a:t>
            </a:r>
          </a:p>
          <a:p xmlns:a="http://schemas.openxmlformats.org/drawingml/2006/main">
            <a:pPr>
              <a:lnSpc>
                <a:spcPct val="106000"/>
              </a:lnSpc>
              <a:buNone/>
              <a:defRPr sz="2925" b="1">
                <a:solidFill>
                  <a:srgbClr val="535CB4"/>
                </a:solidFill>
                <a:latin typeface="Arial"/>
                <a:ea typeface="Arial"/>
                <a:cs typeface="Arial"/>
              </a:defRPr>
            </a:pPr>
            <a:r>
              <a:rPr sz="2925" b="1">
                <a:solidFill>
                  <a:srgbClr val="535CB4"/>
                </a:solidFill>
                <a:latin typeface="Arial"/>
                <a:ea typeface="Arial"/>
                <a:cs typeface="Arial"/>
              </a:rPr>
              <a:t>Visible choices.</a:t>
            </a:r>
          </a:p>
          <a:p xmlns:a="http://schemas.openxmlformats.org/drawingml/2006/main">
            <a:pPr>
              <a:lnSpc>
                <a:spcPct val="106000"/>
              </a:lnSpc>
              <a:buNone/>
              <a:defRPr sz="2925" b="1">
                <a:solidFill>
                  <a:srgbClr val="535CB4"/>
                </a:solidFill>
                <a:latin typeface="Arial"/>
                <a:ea typeface="Arial"/>
                <a:cs typeface="Arial"/>
              </a:defRPr>
            </a:pPr>
            <a:r>
              <a:rPr sz="2925" b="1">
                <a:solidFill>
                  <a:srgbClr val="535CB4"/>
                </a:solidFill>
                <a:latin typeface="Arial"/>
                <a:ea typeface="Arial"/>
                <a:cs typeface="Arial"/>
              </a:rPr>
              <a:t>Less work directing AI.</a:t>
            </a:r>
          </a:p>
        </p:txBody>
      </p:sp>
      <p:sp>
        <p:nvSpPr>
          <p:cNvPr id="12" name="">
            <a:extLst xmlns:a="http://schemas.openxmlformats.org/drawingml/2006/main">
              <a:ext uri="{FF2B5EF4-FFF2-40B4-BE49-F238E27FC236}">
                <a16:creationId xmlns:a16="http://schemas.microsoft.com/office/drawing/2014/main" id="{B43D8748-AF55-4D8F-A93F-8E3C49E83365}"/>
              </a:ext>
            </a:extLst>
          </p:cNvPr>
          <p:cNvSpPr>
            <a:spLocks xmlns:a="http://schemas.openxmlformats.org/drawingml/2006/main" noGrp="1"/>
          </p:cNvSpPr>
          <p:nvPr/>
        </p:nvSpPr>
        <p:spPr>
          <a:xfrm xmlns:a="http://schemas.openxmlformats.org/drawingml/2006/main">
            <a:off x="6734175" y="4914900"/>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Optimize for the lawyer’s readiness</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to advise, measured against the</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tools they already use.</a:t>
            </a:r>
          </a:p>
        </p:txBody>
      </p:sp>
    </p:spTree>
    <p:extLst>
      <p:ext uri="{BB962C8B-B14F-4D97-AF65-F5344CB8AC3E}">
        <p14:creationId xmlns:p14="http://schemas.microsoft.com/office/powerpoint/2010/main" val="297744144"/>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FBE0CEF-CA27-4977-8D60-781A428DB338}"/>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D7A67E1E-C274-43F8-B987-340B92960D49}"/>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Legal teams are choosing</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how AI will fit their work</a:t>
            </a:r>
          </a:p>
        </p:txBody>
      </p:sp>
      <p:sp>
        <p:nvSpPr>
          <p:cNvPr id="3" name="">
            <a:extLst xmlns:a="http://schemas.openxmlformats.org/drawingml/2006/main">
              <a:ext uri="{FF2B5EF4-FFF2-40B4-BE49-F238E27FC236}">
                <a16:creationId xmlns:a16="http://schemas.microsoft.com/office/drawing/2014/main" id="{1785854B-BE32-4758-936C-376A77D695BB}"/>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1C42F851-4B63-44F2-B7B4-39CFC764118C}"/>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56DD8428-AFBA-4A5D-97B0-809CF1CD3750}"/>
              </a:ext>
            </a:extLst>
          </p:cNvPr>
          <p:cNvSpPr>
            <a:spLocks xmlns:a="http://schemas.openxmlformats.org/drawingml/2006/main" noGrp="1"/>
          </p:cNvSpPr>
          <p:nvPr/>
        </p:nvSpPr>
        <p:spPr>
          <a:xfrm xmlns:a="http://schemas.openxmlformats.org/drawingml/2006/main">
            <a:off x="609600" y="2524125"/>
            <a:ext cx="50958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7575" b="1">
                <a:solidFill>
                  <a:srgbClr val="535CB4"/>
                </a:solidFill>
                <a:latin typeface="Arial"/>
                <a:ea typeface="Arial"/>
                <a:cs typeface="Arial"/>
              </a:defRPr>
            </a:pPr>
            <a:r>
              <a:rPr sz="7575" b="1">
                <a:solidFill>
                  <a:srgbClr val="535CB4"/>
                </a:solidFill>
                <a:latin typeface="Arial"/>
                <a:ea typeface="Arial"/>
                <a:cs typeface="Arial"/>
              </a:rPr>
              <a:t>36%</a:t>
            </a:r>
          </a:p>
        </p:txBody>
      </p:sp>
      <p:sp>
        <p:nvSpPr>
          <p:cNvPr id="6" name="">
            <a:extLst xmlns:a="http://schemas.openxmlformats.org/drawingml/2006/main">
              <a:ext uri="{FF2B5EF4-FFF2-40B4-BE49-F238E27FC236}">
                <a16:creationId xmlns:a16="http://schemas.microsoft.com/office/drawing/2014/main" id="{D5B6265E-0794-4904-B1AE-99B4E8DBD91B}"/>
              </a:ext>
            </a:extLst>
          </p:cNvPr>
          <p:cNvSpPr>
            <a:spLocks xmlns:a="http://schemas.openxmlformats.org/drawingml/2006/main" noGrp="1"/>
          </p:cNvSpPr>
          <p:nvPr/>
        </p:nvSpPr>
        <p:spPr>
          <a:xfrm xmlns:a="http://schemas.openxmlformats.org/drawingml/2006/main">
            <a:off x="609600" y="3905250"/>
            <a:ext cx="5191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of surveyed legal departments</a:t>
            </a:r>
          </a:p>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are actively deploying generative AI.</a:t>
            </a:r>
          </a:p>
        </p:txBody>
      </p:sp>
      <p:sp>
        <p:nvSpPr>
          <p:cNvPr id="7" name="">
            <a:extLst xmlns:a="http://schemas.openxmlformats.org/drawingml/2006/main">
              <a:ext uri="{FF2B5EF4-FFF2-40B4-BE49-F238E27FC236}">
                <a16:creationId xmlns:a16="http://schemas.microsoft.com/office/drawing/2014/main" id="{A1DDFD8B-A9ED-4CDE-B50A-E7F3AA4FDC59}"/>
              </a:ext>
            </a:extLst>
          </p:cNvPr>
          <p:cNvSpPr>
            <a:spLocks xmlns:a="http://schemas.openxmlformats.org/drawingml/2006/main" noGrp="1"/>
          </p:cNvSpPr>
          <p:nvPr/>
        </p:nvSpPr>
        <p:spPr>
          <a:xfrm xmlns:a="http://schemas.openxmlformats.org/drawingml/2006/main">
            <a:off x="6810375" y="2524125"/>
            <a:ext cx="4762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7575" b="1">
                <a:solidFill>
                  <a:srgbClr val="535CB4"/>
                </a:solidFill>
                <a:latin typeface="Arial"/>
                <a:ea typeface="Arial"/>
                <a:cs typeface="Arial"/>
              </a:defRPr>
            </a:pPr>
            <a:r>
              <a:rPr sz="7575" b="1">
                <a:solidFill>
                  <a:srgbClr val="535CB4"/>
                </a:solidFill>
                <a:latin typeface="Arial"/>
                <a:ea typeface="Arial"/>
                <a:cs typeface="Arial"/>
              </a:rPr>
              <a:t>63%</a:t>
            </a:r>
          </a:p>
        </p:txBody>
      </p:sp>
      <p:sp>
        <p:nvSpPr>
          <p:cNvPr id="8" name="">
            <a:extLst xmlns:a="http://schemas.openxmlformats.org/drawingml/2006/main">
              <a:ext uri="{FF2B5EF4-FFF2-40B4-BE49-F238E27FC236}">
                <a16:creationId xmlns:a16="http://schemas.microsoft.com/office/drawing/2014/main" id="{CFFF5BD0-D824-48D3-BEAD-25186C706F09}"/>
              </a:ext>
            </a:extLst>
          </p:cNvPr>
          <p:cNvSpPr>
            <a:spLocks xmlns:a="http://schemas.openxmlformats.org/drawingml/2006/main" noGrp="1"/>
          </p:cNvSpPr>
          <p:nvPr/>
        </p:nvSpPr>
        <p:spPr>
          <a:xfrm xmlns:a="http://schemas.openxmlformats.org/drawingml/2006/main">
            <a:off x="6810375" y="3905250"/>
            <a:ext cx="4762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of surveyed chief legal officers</a:t>
            </a:r>
          </a:p>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expect headcount to stay stable.</a:t>
            </a:r>
          </a:p>
        </p:txBody>
      </p:sp>
      <p:sp>
        <p:nvSpPr>
          <p:cNvPr id="9" name="">
            <a:extLst xmlns:a="http://schemas.openxmlformats.org/drawingml/2006/main">
              <a:ext uri="{FF2B5EF4-FFF2-40B4-BE49-F238E27FC236}">
                <a16:creationId xmlns:a16="http://schemas.microsoft.com/office/drawing/2014/main" id="{DDDF98D6-A958-4A10-9550-420D50C9AFA1}"/>
              </a:ext>
            </a:extLst>
          </p:cNvPr>
          <p:cNvSpPr>
            <a:spLocks xmlns:a="http://schemas.openxmlformats.org/drawingml/2006/main" noGrp="1"/>
          </p:cNvSpPr>
          <p:nvPr/>
        </p:nvSpPr>
        <p:spPr>
          <a:xfrm xmlns:a="http://schemas.openxmlformats.org/drawingml/2006/main">
            <a:off x="609600" y="5391150"/>
            <a:ext cx="10887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75" b="1">
                <a:solidFill>
                  <a:srgbClr val="101B30"/>
                </a:solidFill>
                <a:latin typeface="Arial"/>
                <a:ea typeface="Arial"/>
                <a:cs typeface="Arial"/>
              </a:defRPr>
            </a:pPr>
            <a:r>
              <a:rPr sz="2475" b="1">
                <a:solidFill>
                  <a:srgbClr val="101B30"/>
                </a:solidFill>
                <a:latin typeface="Arial"/>
                <a:ea typeface="Arial"/>
                <a:cs typeface="Arial"/>
              </a:rPr>
              <a:t>The opportunity is more capacity from the lawyers already in the room.</a:t>
            </a:r>
          </a:p>
        </p:txBody>
      </p:sp>
      <p:sp>
        <p:nvSpPr>
          <p:cNvPr id="10" name="">
            <a:extLst xmlns:a="http://schemas.openxmlformats.org/drawingml/2006/main">
              <a:ext uri="{FF2B5EF4-FFF2-40B4-BE49-F238E27FC236}">
                <a16:creationId xmlns:a16="http://schemas.microsoft.com/office/drawing/2014/main" id="{61174B20-7EEB-493D-8DF1-282568332ECB}"/>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ACC 2026 Chief Legal Officers Survey. 1,049 participants across 43 countries.</a:t>
            </a:r>
          </a:p>
        </p:txBody>
      </p:sp>
    </p:spTree>
    <p:extLst>
      <p:ext uri="{BB962C8B-B14F-4D97-AF65-F5344CB8AC3E}">
        <p14:creationId xmlns:p14="http://schemas.microsoft.com/office/powerpoint/2010/main" val="2146377596"/>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31C8060-9995-420F-832D-E00D2788691D}"/>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INITIAL CUSTOMER AND DISTRIBUTION</a:t>
            </a:r>
          </a:p>
        </p:txBody>
      </p:sp>
      <p:sp>
        <p:nvSpPr>
          <p:cNvPr id="2" name="">
            <a:extLst xmlns:a="http://schemas.openxmlformats.org/drawingml/2006/main">
              <a:ext uri="{FF2B5EF4-FFF2-40B4-BE49-F238E27FC236}">
                <a16:creationId xmlns:a16="http://schemas.microsoft.com/office/drawing/2014/main" id="{1DC1DFEB-7BB9-4508-94DD-42BF13BD7DCA}"/>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The first legal hire</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is our first buyer</a:t>
            </a:r>
          </a:p>
        </p:txBody>
      </p:sp>
      <p:sp>
        <p:nvSpPr>
          <p:cNvPr id="3" name="">
            <a:extLst xmlns:a="http://schemas.openxmlformats.org/drawingml/2006/main">
              <a:ext uri="{FF2B5EF4-FFF2-40B4-BE49-F238E27FC236}">
                <a16:creationId xmlns:a16="http://schemas.microsoft.com/office/drawing/2014/main" id="{BCAF4898-9A08-4662-90B0-2963114B73D5}"/>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0E2F337-4525-4745-8B59-27B3424BD2DD}"/>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375CA9EE-A449-4E77-8999-B57BF830D293}"/>
              </a:ext>
            </a:extLst>
          </p:cNvPr>
          <p:cNvSpPr>
            <a:spLocks xmlns:a="http://schemas.openxmlformats.org/drawingml/2006/main" noGrp="1"/>
          </p:cNvSpPr>
          <p:nvPr/>
        </p:nvSpPr>
        <p:spPr>
          <a:xfrm xmlns:a="http://schemas.openxmlformats.org/drawingml/2006/main">
            <a:off x="609600" y="2447925"/>
            <a:ext cx="10953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775" b="1">
                <a:solidFill>
                  <a:srgbClr val="101B30"/>
                </a:solidFill>
                <a:latin typeface="Arial"/>
                <a:ea typeface="Arial"/>
                <a:cs typeface="Arial"/>
              </a:defRPr>
            </a:pPr>
            <a:r>
              <a:rPr sz="2775" b="1">
                <a:solidFill>
                  <a:srgbClr val="101B30"/>
                </a:solidFill>
                <a:latin typeface="Arial"/>
                <a:ea typeface="Arial"/>
                <a:cs typeface="Arial"/>
              </a:rPr>
              <a:t>Solo GCs and small product legal teams</a:t>
            </a:r>
          </a:p>
          <a:p xmlns:a="http://schemas.openxmlformats.org/drawingml/2006/main">
            <a:pPr>
              <a:lnSpc>
                <a:spcPct val="106000"/>
              </a:lnSpc>
              <a:buNone/>
              <a:defRPr sz="2775" b="1">
                <a:solidFill>
                  <a:srgbClr val="101B30"/>
                </a:solidFill>
                <a:latin typeface="Arial"/>
                <a:ea typeface="Arial"/>
                <a:cs typeface="Arial"/>
              </a:defRPr>
            </a:pPr>
            <a:r>
              <a:rPr sz="2775" b="1">
                <a:solidFill>
                  <a:srgbClr val="101B30"/>
                </a:solidFill>
                <a:latin typeface="Arial"/>
                <a:ea typeface="Arial"/>
                <a:cs typeface="Arial"/>
              </a:rPr>
              <a:t>at technology and fintech companies.</a:t>
            </a:r>
          </a:p>
        </p:txBody>
      </p:sp>
      <p:sp>
        <p:nvSpPr>
          <p:cNvPr id="6" name="">
            <a:extLst xmlns:a="http://schemas.openxmlformats.org/drawingml/2006/main">
              <a:ext uri="{FF2B5EF4-FFF2-40B4-BE49-F238E27FC236}">
                <a16:creationId xmlns:a16="http://schemas.microsoft.com/office/drawing/2014/main" id="{A2316E39-6467-4492-AB02-ACA6A95DBA2A}"/>
              </a:ext>
            </a:extLst>
          </p:cNvPr>
          <p:cNvSpPr>
            <a:spLocks xmlns:a="http://schemas.openxmlformats.org/drawingml/2006/main" noGrp="1"/>
          </p:cNvSpPr>
          <p:nvPr/>
        </p:nvSpPr>
        <p:spPr>
          <a:xfrm xmlns:a="http://schemas.openxmlformats.org/drawingml/2006/main">
            <a:off x="609600" y="3990975"/>
            <a:ext cx="5400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A CLEAR REASON TO TRY</a:t>
            </a:r>
          </a:p>
        </p:txBody>
      </p:sp>
      <p:sp>
        <p:nvSpPr>
          <p:cNvPr id="7" name="">
            <a:extLst xmlns:a="http://schemas.openxmlformats.org/drawingml/2006/main">
              <a:ext uri="{FF2B5EF4-FFF2-40B4-BE49-F238E27FC236}">
                <a16:creationId xmlns:a16="http://schemas.microsoft.com/office/drawing/2014/main" id="{6FDE1DE4-8978-4A7F-9F70-7432941BE6BA}"/>
              </a:ext>
            </a:extLst>
          </p:cNvPr>
          <p:cNvSpPr>
            <a:spLocks xmlns:a="http://schemas.openxmlformats.org/drawingml/2006/main" noGrp="1"/>
          </p:cNvSpPr>
          <p:nvPr/>
        </p:nvSpPr>
        <p:spPr>
          <a:xfrm xmlns:a="http://schemas.openxmlformats.org/drawingml/2006/main">
            <a:off x="609600" y="4429125"/>
            <a:ext cx="54768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Frequent launches. Limited research support.</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Already using Claude or ChatGPT.</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A live matter that needs deeper exploration.</a:t>
            </a:r>
          </a:p>
        </p:txBody>
      </p:sp>
      <p:sp>
        <p:nvSpPr>
          <p:cNvPr id="8" name="">
            <a:extLst xmlns:a="http://schemas.openxmlformats.org/drawingml/2006/main">
              <a:ext uri="{FF2B5EF4-FFF2-40B4-BE49-F238E27FC236}">
                <a16:creationId xmlns:a16="http://schemas.microsoft.com/office/drawing/2014/main" id="{73CC1DDB-90A3-49AC-AAEB-0B3DC56F967E}"/>
              </a:ext>
            </a:extLst>
          </p:cNvPr>
          <p:cNvSpPr>
            <a:spLocks xmlns:a="http://schemas.openxmlformats.org/drawingml/2006/main" noGrp="1"/>
          </p:cNvSpPr>
          <p:nvPr/>
        </p:nvSpPr>
        <p:spPr>
          <a:xfrm xmlns:a="http://schemas.openxmlformats.org/drawingml/2006/main">
            <a:off x="7000875" y="399097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A DIRECT ROUTE TO ADOPTION</a:t>
            </a:r>
          </a:p>
        </p:txBody>
      </p:sp>
      <p:sp>
        <p:nvSpPr>
          <p:cNvPr id="9" name="">
            <a:extLst xmlns:a="http://schemas.openxmlformats.org/drawingml/2006/main">
              <a:ext uri="{FF2B5EF4-FFF2-40B4-BE49-F238E27FC236}">
                <a16:creationId xmlns:a16="http://schemas.microsoft.com/office/drawing/2014/main" id="{C9ECD842-49C7-4B24-9D6C-EF9E83179777}"/>
              </a:ext>
            </a:extLst>
          </p:cNvPr>
          <p:cNvSpPr>
            <a:spLocks xmlns:a="http://schemas.openxmlformats.org/drawingml/2006/main" noGrp="1"/>
          </p:cNvSpPr>
          <p:nvPr/>
        </p:nvSpPr>
        <p:spPr>
          <a:xfrm xmlns:a="http://schemas.openxmlformats.org/drawingml/2006/main">
            <a:off x="7000875" y="4429125"/>
            <a:ext cx="4572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Brian’s counsel network brings the first pilot.</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Useful work earns the next matter.</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Paid use earns a referral or another seat.</a:t>
            </a:r>
          </a:p>
        </p:txBody>
      </p:sp>
      <p:sp>
        <p:nvSpPr>
          <p:cNvPr id="10" name="">
            <a:extLst xmlns:a="http://schemas.openxmlformats.org/drawingml/2006/main">
              <a:ext uri="{FF2B5EF4-FFF2-40B4-BE49-F238E27FC236}">
                <a16:creationId xmlns:a16="http://schemas.microsoft.com/office/drawing/2014/main" id="{AB1147C2-9954-4ECA-99E0-BC44421BF2A8}"/>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First 90-day targets after pilot access: 20 qualified conversations, 10 pilot lawyers, 5 paying lawyers.</a:t>
            </a:r>
          </a:p>
        </p:txBody>
      </p:sp>
    </p:spTree>
    <p:extLst>
      <p:ext uri="{BB962C8B-B14F-4D97-AF65-F5344CB8AC3E}">
        <p14:creationId xmlns:p14="http://schemas.microsoft.com/office/powerpoint/2010/main" val="2008150066"/>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B004667-C567-4A0B-BD2D-FADAA66B9545}"/>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BUSINESS MODEL</a:t>
            </a:r>
          </a:p>
        </p:txBody>
      </p:sp>
      <p:sp>
        <p:nvSpPr>
          <p:cNvPr id="2" name="">
            <a:extLst xmlns:a="http://schemas.openxmlformats.org/drawingml/2006/main">
              <a:ext uri="{FF2B5EF4-FFF2-40B4-BE49-F238E27FC236}">
                <a16:creationId xmlns:a16="http://schemas.microsoft.com/office/drawing/2014/main" id="{C08452FD-ABD7-48E0-AA4C-65E1E4AA90E8}"/>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A legal companion</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one lawyer can buy</a:t>
            </a:r>
          </a:p>
        </p:txBody>
      </p:sp>
      <p:sp>
        <p:nvSpPr>
          <p:cNvPr id="3" name="">
            <a:extLst xmlns:a="http://schemas.openxmlformats.org/drawingml/2006/main">
              <a:ext uri="{FF2B5EF4-FFF2-40B4-BE49-F238E27FC236}">
                <a16:creationId xmlns:a16="http://schemas.microsoft.com/office/drawing/2014/main" id="{C26D4FC3-7FEC-473D-8880-11060212FE2B}"/>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85A5B97-8E40-4530-94C4-0119B1185549}"/>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C61028B7-1A49-4F8C-ACE3-23C517E84727}"/>
              </a:ext>
            </a:extLst>
          </p:cNvPr>
          <p:cNvSpPr>
            <a:spLocks xmlns:a="http://schemas.openxmlformats.org/drawingml/2006/main" noGrp="1"/>
          </p:cNvSpPr>
          <p:nvPr/>
        </p:nvSpPr>
        <p:spPr>
          <a:xfrm xmlns:a="http://schemas.openxmlformats.org/drawingml/2006/main">
            <a:off x="609600" y="2476500"/>
            <a:ext cx="54387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7650" b="1">
                <a:solidFill>
                  <a:srgbClr val="535CB4"/>
                </a:solidFill>
                <a:latin typeface="Arial"/>
                <a:ea typeface="Arial"/>
                <a:cs typeface="Arial"/>
              </a:defRPr>
            </a:pPr>
            <a:r>
              <a:rPr sz="7650" b="1">
                <a:solidFill>
                  <a:srgbClr val="535CB4"/>
                </a:solidFill>
                <a:latin typeface="Arial"/>
                <a:ea typeface="Arial"/>
                <a:cs typeface="Arial"/>
              </a:rPr>
              <a:t>$400</a:t>
            </a:r>
          </a:p>
        </p:txBody>
      </p:sp>
      <p:sp>
        <p:nvSpPr>
          <p:cNvPr id="6" name="">
            <a:extLst xmlns:a="http://schemas.openxmlformats.org/drawingml/2006/main">
              <a:ext uri="{FF2B5EF4-FFF2-40B4-BE49-F238E27FC236}">
                <a16:creationId xmlns:a16="http://schemas.microsoft.com/office/drawing/2014/main" id="{0712DB1F-826D-4126-B4BA-492F25AA401A}"/>
              </a:ext>
            </a:extLst>
          </p:cNvPr>
          <p:cNvSpPr>
            <a:spLocks xmlns:a="http://schemas.openxmlformats.org/drawingml/2006/main" noGrp="1"/>
          </p:cNvSpPr>
          <p:nvPr/>
        </p:nvSpPr>
        <p:spPr>
          <a:xfrm xmlns:a="http://schemas.openxmlformats.org/drawingml/2006/main">
            <a:off x="609600" y="3857625"/>
            <a:ext cx="528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75" b="1">
                <a:solidFill>
                  <a:srgbClr val="101B30"/>
                </a:solidFill>
                <a:latin typeface="Arial"/>
                <a:ea typeface="Arial"/>
                <a:cs typeface="Arial"/>
              </a:defRPr>
            </a:pPr>
            <a:r>
              <a:rPr sz="2475" b="1">
                <a:solidFill>
                  <a:srgbClr val="101B30"/>
                </a:solidFill>
                <a:latin typeface="Arial"/>
                <a:ea typeface="Arial"/>
                <a:cs typeface="Arial"/>
              </a:rPr>
              <a:t>per lawyer, per month</a:t>
            </a:r>
          </a:p>
        </p:txBody>
      </p:sp>
      <p:sp>
        <p:nvSpPr>
          <p:cNvPr id="7" name="">
            <a:extLst xmlns:a="http://schemas.openxmlformats.org/drawingml/2006/main">
              <a:ext uri="{FF2B5EF4-FFF2-40B4-BE49-F238E27FC236}">
                <a16:creationId xmlns:a16="http://schemas.microsoft.com/office/drawing/2014/main" id="{6622650C-52CD-41CC-9514-C3D2BC4F7AC7}"/>
              </a:ext>
            </a:extLst>
          </p:cNvPr>
          <p:cNvSpPr>
            <a:spLocks xmlns:a="http://schemas.openxmlformats.org/drawingml/2006/main" noGrp="1"/>
          </p:cNvSpPr>
          <p:nvPr/>
        </p:nvSpPr>
        <p:spPr>
          <a:xfrm xmlns:a="http://schemas.openxmlformats.org/drawingml/2006/main">
            <a:off x="609600" y="4572000"/>
            <a:ext cx="54197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Proposed price. Start with one seat.</a:t>
            </a:r>
          </a:p>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Monthly billing. No annual commitment.</a:t>
            </a:r>
          </a:p>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No setup fee.</a:t>
            </a:r>
          </a:p>
        </p:txBody>
      </p:sp>
      <p:sp>
        <p:nvSpPr>
          <p:cNvPr id="8" name="">
            <a:extLst xmlns:a="http://schemas.openxmlformats.org/drawingml/2006/main">
              <a:ext uri="{FF2B5EF4-FFF2-40B4-BE49-F238E27FC236}">
                <a16:creationId xmlns:a16="http://schemas.microsoft.com/office/drawing/2014/main" id="{10078B7B-062B-45D0-B8D0-FB85FE192589}"/>
              </a:ext>
            </a:extLst>
          </p:cNvPr>
          <p:cNvSpPr>
            <a:spLocks xmlns:a="http://schemas.openxmlformats.org/drawingml/2006/main" noGrp="1"/>
          </p:cNvSpPr>
          <p:nvPr/>
        </p:nvSpPr>
        <p:spPr>
          <a:xfrm xmlns:a="http://schemas.openxmlformats.org/drawingml/2006/main">
            <a:off x="6877050" y="25050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A SMALL THRESHOLD FOR USEFUL CAPACITY</a:t>
            </a:r>
          </a:p>
        </p:txBody>
      </p:sp>
      <p:sp>
        <p:nvSpPr>
          <p:cNvPr id="9" name="">
            <a:extLst xmlns:a="http://schemas.openxmlformats.org/drawingml/2006/main">
              <a:ext uri="{FF2B5EF4-FFF2-40B4-BE49-F238E27FC236}">
                <a16:creationId xmlns:a16="http://schemas.microsoft.com/office/drawing/2014/main" id="{C66E08B2-94B5-4C96-8AB6-36F4C599A429}"/>
              </a:ext>
            </a:extLst>
          </p:cNvPr>
          <p:cNvSpPr>
            <a:spLocks xmlns:a="http://schemas.openxmlformats.org/drawingml/2006/main" noGrp="1"/>
          </p:cNvSpPr>
          <p:nvPr/>
        </p:nvSpPr>
        <p:spPr>
          <a:xfrm xmlns:a="http://schemas.openxmlformats.org/drawingml/2006/main">
            <a:off x="6877050" y="2933700"/>
            <a:ext cx="4667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4125" b="1">
                <a:solidFill>
                  <a:srgbClr val="101B30"/>
                </a:solidFill>
                <a:latin typeface="Arial"/>
                <a:ea typeface="Arial"/>
                <a:cs typeface="Arial"/>
              </a:defRPr>
            </a:pPr>
            <a:r>
              <a:rPr sz="4125" b="1">
                <a:solidFill>
                  <a:srgbClr val="101B30"/>
                </a:solidFill>
                <a:latin typeface="Arial"/>
                <a:ea typeface="Arial"/>
                <a:cs typeface="Arial"/>
              </a:rPr>
              <a:t>24 minutes</a:t>
            </a:r>
          </a:p>
          <a:p xmlns:a="http://schemas.openxmlformats.org/drawingml/2006/main">
            <a:pPr>
              <a:lnSpc>
                <a:spcPct val="106000"/>
              </a:lnSpc>
              <a:buNone/>
              <a:defRPr sz="4125" b="1">
                <a:solidFill>
                  <a:srgbClr val="101B30"/>
                </a:solidFill>
                <a:latin typeface="Arial"/>
                <a:ea typeface="Arial"/>
                <a:cs typeface="Arial"/>
              </a:defRPr>
            </a:pPr>
            <a:r>
              <a:rPr sz="4125" b="1">
                <a:solidFill>
                  <a:srgbClr val="101B30"/>
                </a:solidFill>
                <a:latin typeface="Arial"/>
                <a:ea typeface="Arial"/>
                <a:cs typeface="Arial"/>
              </a:rPr>
              <a:t>a week</a:t>
            </a:r>
          </a:p>
        </p:txBody>
      </p:sp>
      <p:sp>
        <p:nvSpPr>
          <p:cNvPr id="10" name="">
            <a:extLst xmlns:a="http://schemas.openxmlformats.org/drawingml/2006/main">
              <a:ext uri="{FF2B5EF4-FFF2-40B4-BE49-F238E27FC236}">
                <a16:creationId xmlns:a16="http://schemas.microsoft.com/office/drawing/2014/main" id="{C8FE67D5-8348-43AF-A557-84AC08A5C011}"/>
              </a:ext>
            </a:extLst>
          </p:cNvPr>
          <p:cNvSpPr>
            <a:spLocks xmlns:a="http://schemas.openxmlformats.org/drawingml/2006/main" noGrp="1"/>
          </p:cNvSpPr>
          <p:nvPr/>
        </p:nvSpPr>
        <p:spPr>
          <a:xfrm xmlns:a="http://schemas.openxmlformats.org/drawingml/2006/main">
            <a:off x="6877050" y="4724400"/>
            <a:ext cx="4667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At an assumed $250 per lawyer hour,</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that time equals the monthly price.</a:t>
            </a:r>
          </a:p>
        </p:txBody>
      </p:sp>
      <p:sp>
        <p:nvSpPr>
          <p:cNvPr id="11" name="">
            <a:extLst xmlns:a="http://schemas.openxmlformats.org/drawingml/2006/main">
              <a:ext uri="{FF2B5EF4-FFF2-40B4-BE49-F238E27FC236}">
                <a16:creationId xmlns:a16="http://schemas.microsoft.com/office/drawing/2014/main" id="{FA0DE732-FCE1-48ED-9D11-3DD1906194D3}"/>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Illustration uses four weeks/month. Capacity is not cash savings. Pricing and an 80% gross margin target need validation.</a:t>
            </a:r>
          </a:p>
        </p:txBody>
      </p:sp>
    </p:spTree>
    <p:extLst>
      <p:ext uri="{BB962C8B-B14F-4D97-AF65-F5344CB8AC3E}">
        <p14:creationId xmlns:p14="http://schemas.microsoft.com/office/powerpoint/2010/main" val="1890718448"/>
      </p:ext>
    </p:extLst>
  </p:cSld>
</p:sld>
</file>

<file path=ppt/slides/slide10.xml><?xml version="1.0" encoding="utf-8"?>
<p:sld xmlns:p="http://schemas.openxmlformats.org/presentationml/2006/main">
  <p:cSld>
    <p:bg>
      <p:bgPr>
        <a:solidFill xmlns:a="http://schemas.openxmlformats.org/drawingml/2006/main">
          <a:srgbClr val="101B3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5E8896-1D91-40A8-A729-3348FAAC0E53}"/>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ADA9FF"/>
                </a:solidFill>
                <a:latin typeface="Arial"/>
                <a:ea typeface="Arial"/>
                <a:cs typeface="Arial"/>
              </a:defRPr>
            </a:pPr>
            <a:r>
              <a:rPr sz="1125" b="1">
                <a:solidFill>
                  <a:srgbClr val="ADA9FF"/>
                </a:solidFill>
                <a:latin typeface="Arial"/>
                <a:ea typeface="Arial"/>
                <a:cs typeface="Arial"/>
              </a:rPr>
              <a:t>SIZE OF THE PRIZE</a:t>
            </a:r>
          </a:p>
        </p:txBody>
      </p:sp>
      <p:sp>
        <p:nvSpPr>
          <p:cNvPr id="2" name="">
            <a:extLst xmlns:a="http://schemas.openxmlformats.org/drawingml/2006/main">
              <a:ext uri="{FF2B5EF4-FFF2-40B4-BE49-F238E27FC236}">
                <a16:creationId xmlns:a16="http://schemas.microsoft.com/office/drawing/2014/main" id="{D27C7B4F-0FF9-49EE-9D0D-8EAC7C01CA24}"/>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675" b="1">
                <a:solidFill>
                  <a:srgbClr val="F7F5F0"/>
                </a:solidFill>
                <a:latin typeface="Arial"/>
                <a:ea typeface="Arial"/>
                <a:cs typeface="Arial"/>
              </a:defRPr>
            </a:pPr>
            <a:r>
              <a:rPr sz="3675" b="1">
                <a:solidFill>
                  <a:srgbClr val="F7F5F0"/>
                </a:solidFill>
                <a:latin typeface="Arial"/>
                <a:ea typeface="Arial"/>
                <a:cs typeface="Arial"/>
              </a:rPr>
              <a:t>A $696M annual U.S.</a:t>
            </a:r>
          </a:p>
          <a:p xmlns:a="http://schemas.openxmlformats.org/drawingml/2006/main">
            <a:pPr>
              <a:lnSpc>
                <a:spcPct val="106000"/>
              </a:lnSpc>
              <a:buNone/>
              <a:defRPr sz="3675" b="1">
                <a:solidFill>
                  <a:srgbClr val="F7F5F0"/>
                </a:solidFill>
                <a:latin typeface="Arial"/>
                <a:ea typeface="Arial"/>
                <a:cs typeface="Arial"/>
              </a:defRPr>
            </a:pPr>
            <a:r>
              <a:rPr sz="3675" b="1">
                <a:solidFill>
                  <a:srgbClr val="F7F5F0"/>
                </a:solidFill>
                <a:latin typeface="Arial"/>
                <a:ea typeface="Arial"/>
                <a:cs typeface="Arial"/>
              </a:rPr>
              <a:t>in-house subscription opportunity</a:t>
            </a:r>
          </a:p>
        </p:txBody>
      </p:sp>
      <p:sp>
        <p:nvSpPr>
          <p:cNvPr id="3" name="">
            <a:extLst xmlns:a="http://schemas.openxmlformats.org/drawingml/2006/main">
              <a:ext uri="{FF2B5EF4-FFF2-40B4-BE49-F238E27FC236}">
                <a16:creationId xmlns:a16="http://schemas.microsoft.com/office/drawing/2014/main" id="{DC2F1733-6A9D-4B6E-AD3B-3C0AAD609492}"/>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D6DAE5"/>
                </a:solidFill>
                <a:latin typeface="Arial"/>
                <a:ea typeface="Arial"/>
                <a:cs typeface="Arial"/>
              </a:defRPr>
            </a:pPr>
            <a:r>
              <a:rPr sz="900" b="1">
                <a:solidFill>
                  <a:srgbClr val="D6DAE5"/>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0288B80-2C82-4F75-8406-C17C0230584C}"/>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D6DAE5"/>
                </a:solidFill>
                <a:latin typeface="Arial"/>
                <a:ea typeface="Arial"/>
                <a:cs typeface="Arial"/>
              </a:defRPr>
            </a:pPr>
            <a:r>
              <a:rPr sz="900" b="0">
                <a:solidFill>
                  <a:srgbClr val="D6DAE5"/>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B039EB4F-8CE5-43E0-861D-BF98DD5DF3DD}"/>
              </a:ext>
            </a:extLst>
          </p:cNvPr>
          <p:cNvSpPr>
            <a:spLocks xmlns:a="http://schemas.openxmlformats.org/drawingml/2006/main" noGrp="1"/>
          </p:cNvSpPr>
          <p:nvPr/>
        </p:nvSpPr>
        <p:spPr>
          <a:xfrm xmlns:a="http://schemas.openxmlformats.org/drawingml/2006/main">
            <a:off x="609600" y="2619375"/>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6525" b="1">
                <a:solidFill>
                  <a:srgbClr val="F7F5F0"/>
                </a:solidFill>
                <a:latin typeface="Arial"/>
                <a:ea typeface="Arial"/>
                <a:cs typeface="Arial"/>
              </a:defRPr>
            </a:pPr>
            <a:r>
              <a:rPr sz="6525" b="1">
                <a:solidFill>
                  <a:srgbClr val="F7F5F0"/>
                </a:solidFill>
                <a:latin typeface="Arial"/>
                <a:ea typeface="Arial"/>
                <a:cs typeface="Arial"/>
              </a:rPr>
              <a:t>145,000</a:t>
            </a:r>
          </a:p>
        </p:txBody>
      </p:sp>
      <p:sp>
        <p:nvSpPr>
          <p:cNvPr id="6" name="">
            <a:extLst xmlns:a="http://schemas.openxmlformats.org/drawingml/2006/main">
              <a:ext uri="{FF2B5EF4-FFF2-40B4-BE49-F238E27FC236}">
                <a16:creationId xmlns:a16="http://schemas.microsoft.com/office/drawing/2014/main" id="{CAFB9C0D-4E27-4ECD-9B29-B29807384311}"/>
              </a:ext>
            </a:extLst>
          </p:cNvPr>
          <p:cNvSpPr>
            <a:spLocks xmlns:a="http://schemas.openxmlformats.org/drawingml/2006/main" noGrp="1"/>
          </p:cNvSpPr>
          <p:nvPr/>
        </p:nvSpPr>
        <p:spPr>
          <a:xfrm xmlns:a="http://schemas.openxmlformats.org/drawingml/2006/main">
            <a:off x="609600" y="4038600"/>
            <a:ext cx="53911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75" b="0">
                <a:solidFill>
                  <a:srgbClr val="D6DAE5"/>
                </a:solidFill>
                <a:latin typeface="Arial"/>
                <a:ea typeface="Arial"/>
                <a:cs typeface="Arial"/>
              </a:defRPr>
            </a:pPr>
            <a:r>
              <a:rPr sz="2175" b="0">
                <a:solidFill>
                  <a:srgbClr val="D6DAE5"/>
                </a:solidFill>
                <a:latin typeface="Arial"/>
                <a:ea typeface="Arial"/>
                <a:cs typeface="Arial"/>
              </a:rPr>
              <a:t>estimated U.S. in-house lawyers</a:t>
            </a:r>
          </a:p>
        </p:txBody>
      </p:sp>
      <p:sp>
        <p:nvSpPr>
          <p:cNvPr id="7" name="">
            <a:extLst xmlns:a="http://schemas.openxmlformats.org/drawingml/2006/main">
              <a:ext uri="{FF2B5EF4-FFF2-40B4-BE49-F238E27FC236}">
                <a16:creationId xmlns:a16="http://schemas.microsoft.com/office/drawing/2014/main" id="{6545EFCF-807F-4B76-BEFF-D828704F8BAF}"/>
              </a:ext>
            </a:extLst>
          </p:cNvPr>
          <p:cNvSpPr>
            <a:spLocks xmlns:a="http://schemas.openxmlformats.org/drawingml/2006/main" noGrp="1"/>
          </p:cNvSpPr>
          <p:nvPr/>
        </p:nvSpPr>
        <p:spPr>
          <a:xfrm xmlns:a="http://schemas.openxmlformats.org/drawingml/2006/main">
            <a:off x="7019925" y="2619375"/>
            <a:ext cx="45434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6525" b="1">
                <a:solidFill>
                  <a:srgbClr val="DFC383"/>
                </a:solidFill>
                <a:latin typeface="Arial"/>
                <a:ea typeface="Arial"/>
                <a:cs typeface="Arial"/>
              </a:defRPr>
            </a:pPr>
            <a:r>
              <a:rPr sz="6525" b="1">
                <a:solidFill>
                  <a:srgbClr val="DFC383"/>
                </a:solidFill>
                <a:latin typeface="Arial"/>
                <a:ea typeface="Arial"/>
                <a:cs typeface="Arial"/>
              </a:rPr>
              <a:t>$4,800</a:t>
            </a:r>
          </a:p>
        </p:txBody>
      </p:sp>
      <p:sp>
        <p:nvSpPr>
          <p:cNvPr id="8" name="">
            <a:extLst xmlns:a="http://schemas.openxmlformats.org/drawingml/2006/main">
              <a:ext uri="{FF2B5EF4-FFF2-40B4-BE49-F238E27FC236}">
                <a16:creationId xmlns:a16="http://schemas.microsoft.com/office/drawing/2014/main" id="{C3BB768A-5596-4537-B40D-D59EC1C8088C}"/>
              </a:ext>
            </a:extLst>
          </p:cNvPr>
          <p:cNvSpPr>
            <a:spLocks xmlns:a="http://schemas.openxmlformats.org/drawingml/2006/main" noGrp="1"/>
          </p:cNvSpPr>
          <p:nvPr/>
        </p:nvSpPr>
        <p:spPr>
          <a:xfrm xmlns:a="http://schemas.openxmlformats.org/drawingml/2006/main">
            <a:off x="7019925" y="4038600"/>
            <a:ext cx="45434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D6DAE5"/>
                </a:solidFill>
                <a:latin typeface="Arial"/>
                <a:ea typeface="Arial"/>
                <a:cs typeface="Arial"/>
              </a:defRPr>
            </a:pPr>
            <a:r>
              <a:rPr sz="2100" b="0">
                <a:solidFill>
                  <a:srgbClr val="D6DAE5"/>
                </a:solidFill>
                <a:latin typeface="Arial"/>
                <a:ea typeface="Arial"/>
                <a:cs typeface="Arial"/>
              </a:rPr>
              <a:t>annual revenue per lawyer</a:t>
            </a:r>
          </a:p>
          <a:p xmlns:a="http://schemas.openxmlformats.org/drawingml/2006/main">
            <a:pPr>
              <a:lnSpc>
                <a:spcPct val="106000"/>
              </a:lnSpc>
              <a:buNone/>
              <a:defRPr sz="2100" b="0">
                <a:solidFill>
                  <a:srgbClr val="D6DAE5"/>
                </a:solidFill>
                <a:latin typeface="Arial"/>
                <a:ea typeface="Arial"/>
                <a:cs typeface="Arial"/>
              </a:defRPr>
            </a:pPr>
            <a:r>
              <a:rPr sz="2100" b="0">
                <a:solidFill>
                  <a:srgbClr val="D6DAE5"/>
                </a:solidFill>
                <a:latin typeface="Arial"/>
                <a:ea typeface="Arial"/>
                <a:cs typeface="Arial"/>
              </a:rPr>
              <a:t>at the proposed monthly price</a:t>
            </a:r>
          </a:p>
        </p:txBody>
      </p:sp>
      <p:sp>
        <p:nvSpPr>
          <p:cNvPr id="9" name="">
            <a:extLst xmlns:a="http://schemas.openxmlformats.org/drawingml/2006/main">
              <a:ext uri="{FF2B5EF4-FFF2-40B4-BE49-F238E27FC236}">
                <a16:creationId xmlns:a16="http://schemas.microsoft.com/office/drawing/2014/main" id="{2AB0A2F2-BB6C-447D-B20C-DBC713CB1A13}"/>
              </a:ext>
            </a:extLst>
          </p:cNvPr>
          <p:cNvSpPr>
            <a:spLocks xmlns:a="http://schemas.openxmlformats.org/drawingml/2006/main" noGrp="1"/>
          </p:cNvSpPr>
          <p:nvPr/>
        </p:nvSpPr>
        <p:spPr>
          <a:xfrm xmlns:a="http://schemas.openxmlformats.org/drawingml/2006/main">
            <a:off x="609600" y="5353050"/>
            <a:ext cx="109251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75" b="1">
                <a:solidFill>
                  <a:srgbClr val="F7F5F0"/>
                </a:solidFill>
                <a:latin typeface="Arial"/>
                <a:ea typeface="Arial"/>
                <a:cs typeface="Arial"/>
              </a:defRPr>
            </a:pPr>
            <a:r>
              <a:rPr sz="2475" b="1">
                <a:solidFill>
                  <a:srgbClr val="F7F5F0"/>
                </a:solidFill>
                <a:latin typeface="Arial"/>
                <a:ea typeface="Arial"/>
                <a:cs typeface="Arial"/>
              </a:rPr>
              <a:t>21,000 paying lawyers would generate about $100M a year.</a:t>
            </a:r>
          </a:p>
        </p:txBody>
      </p:sp>
      <p:sp>
        <p:nvSpPr>
          <p:cNvPr id="10" name="">
            <a:extLst xmlns:a="http://schemas.openxmlformats.org/drawingml/2006/main">
              <a:ext uri="{FF2B5EF4-FFF2-40B4-BE49-F238E27FC236}">
                <a16:creationId xmlns:a16="http://schemas.microsoft.com/office/drawing/2014/main" id="{FDB47AC0-855A-4A4B-8FE4-803A7177C781}"/>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D6DAE5"/>
                </a:solidFill>
                <a:latin typeface="Arial"/>
                <a:ea typeface="Arial"/>
                <a:cs typeface="Arial"/>
              </a:defRPr>
            </a:pPr>
            <a:r>
              <a:rPr sz="1125" b="0">
                <a:solidFill>
                  <a:srgbClr val="D6DAE5"/>
                </a:solidFill>
                <a:latin typeface="Arial"/>
                <a:ea typeface="Arial"/>
                <a:cs typeface="Arial"/>
              </a:rPr>
              <a:t>Full-market model, not a forecast. 21,000 seats is about 14.5% of the U.S. estimate. The starting segment is smaller.</a:t>
            </a:r>
          </a:p>
        </p:txBody>
      </p:sp>
    </p:spTree>
    <p:extLst>
      <p:ext uri="{BB962C8B-B14F-4D97-AF65-F5344CB8AC3E}">
        <p14:creationId xmlns:p14="http://schemas.microsoft.com/office/powerpoint/2010/main" val="220635668"/>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AD5D126-87B6-4017-83B4-4E13B17C408A}"/>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EVIDENCE AND NEXT MILESTONE</a:t>
            </a:r>
          </a:p>
        </p:txBody>
      </p:sp>
      <p:sp>
        <p:nvSpPr>
          <p:cNvPr id="2" name="">
            <a:extLst xmlns:a="http://schemas.openxmlformats.org/drawingml/2006/main">
              <a:ext uri="{FF2B5EF4-FFF2-40B4-BE49-F238E27FC236}">
                <a16:creationId xmlns:a16="http://schemas.microsoft.com/office/drawing/2014/main" id="{D24FF777-C2A2-4970-B201-82545B684233}"/>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The prototype is built.</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Repeat paid use is the next proof</a:t>
            </a:r>
          </a:p>
        </p:txBody>
      </p:sp>
      <p:sp>
        <p:nvSpPr>
          <p:cNvPr id="3" name="">
            <a:extLst xmlns:a="http://schemas.openxmlformats.org/drawingml/2006/main">
              <a:ext uri="{FF2B5EF4-FFF2-40B4-BE49-F238E27FC236}">
                <a16:creationId xmlns:a16="http://schemas.microsoft.com/office/drawing/2014/main" id="{9854A611-CC52-48E7-B6CB-3D7EA6B42D53}"/>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D3C7BE3-0170-4E1F-B59E-47AEC5B9675D}"/>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25558F4B-9517-4BC7-BA6C-E7904685D21A}"/>
              </a:ext>
            </a:extLst>
          </p:cNvPr>
          <p:cNvSpPr>
            <a:spLocks xmlns:a="http://schemas.openxmlformats.org/drawingml/2006/main" noGrp="1"/>
          </p:cNvSpPr>
          <p:nvPr/>
        </p:nvSpPr>
        <p:spPr>
          <a:xfrm xmlns:a="http://schemas.openxmlformats.org/drawingml/2006/main">
            <a:off x="609600" y="2571750"/>
            <a:ext cx="544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TODAY</a:t>
            </a:r>
          </a:p>
        </p:txBody>
      </p:sp>
      <p:sp>
        <p:nvSpPr>
          <p:cNvPr id="6" name="">
            <a:extLst xmlns:a="http://schemas.openxmlformats.org/drawingml/2006/main">
              <a:ext uri="{FF2B5EF4-FFF2-40B4-BE49-F238E27FC236}">
                <a16:creationId xmlns:a16="http://schemas.microsoft.com/office/drawing/2014/main" id="{FDA01D61-A177-40C0-BCC2-AF4200919B11}"/>
              </a:ext>
            </a:extLst>
          </p:cNvPr>
          <p:cNvSpPr>
            <a:spLocks xmlns:a="http://schemas.openxmlformats.org/drawingml/2006/main" noGrp="1"/>
          </p:cNvSpPr>
          <p:nvPr/>
        </p:nvSpPr>
        <p:spPr>
          <a:xfrm xmlns:a="http://schemas.openxmlformats.org/drawingml/2006/main">
            <a:off x="609600" y="3009900"/>
            <a:ext cx="542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75" b="1">
                <a:solidFill>
                  <a:srgbClr val="101B30"/>
                </a:solidFill>
                <a:latin typeface="Arial"/>
                <a:ea typeface="Arial"/>
                <a:cs typeface="Arial"/>
              </a:defRPr>
            </a:pPr>
            <a:r>
              <a:rPr sz="2475" b="1">
                <a:solidFill>
                  <a:srgbClr val="101B30"/>
                </a:solidFill>
                <a:latin typeface="Arial"/>
                <a:ea typeface="Arial"/>
                <a:cs typeface="Arial"/>
              </a:rPr>
              <a:t>Working local prototype</a:t>
            </a:r>
          </a:p>
        </p:txBody>
      </p:sp>
      <p:sp>
        <p:nvSpPr>
          <p:cNvPr id="7" name="">
            <a:extLst xmlns:a="http://schemas.openxmlformats.org/drawingml/2006/main">
              <a:ext uri="{FF2B5EF4-FFF2-40B4-BE49-F238E27FC236}">
                <a16:creationId xmlns:a16="http://schemas.microsoft.com/office/drawing/2014/main" id="{7ED98425-124B-410E-B091-228DB60B4543}"/>
              </a:ext>
            </a:extLst>
          </p:cNvPr>
          <p:cNvSpPr>
            <a:spLocks xmlns:a="http://schemas.openxmlformats.org/drawingml/2006/main" noGrp="1"/>
          </p:cNvSpPr>
          <p:nvPr/>
        </p:nvSpPr>
        <p:spPr>
          <a:xfrm xmlns:a="http://schemas.openxmlformats.org/drawingml/2006/main">
            <a:off x="609600" y="3714750"/>
            <a:ext cx="54387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Matters, research and editable work product.</a:t>
            </a:r>
          </a:p>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Four exploratory counsel interviews.</a:t>
            </a:r>
          </a:p>
        </p:txBody>
      </p:sp>
      <p:sp>
        <p:nvSpPr>
          <p:cNvPr id="8" name="">
            <a:extLst xmlns:a="http://schemas.openxmlformats.org/drawingml/2006/main">
              <a:ext uri="{FF2B5EF4-FFF2-40B4-BE49-F238E27FC236}">
                <a16:creationId xmlns:a16="http://schemas.microsoft.com/office/drawing/2014/main" id="{ED8C0DE8-D75B-4B6D-AD8C-946DB487C3DB}"/>
              </a:ext>
            </a:extLst>
          </p:cNvPr>
          <p:cNvSpPr>
            <a:spLocks xmlns:a="http://schemas.openxmlformats.org/drawingml/2006/main" noGrp="1"/>
          </p:cNvSpPr>
          <p:nvPr/>
        </p:nvSpPr>
        <p:spPr>
          <a:xfrm xmlns:a="http://schemas.openxmlformats.org/drawingml/2006/main">
            <a:off x="609600" y="5295900"/>
            <a:ext cx="5391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875" b="0">
                <a:solidFill>
                  <a:srgbClr val="596173"/>
                </a:solidFill>
                <a:latin typeface="Arial"/>
                <a:ea typeface="Arial"/>
                <a:cs typeface="Arial"/>
              </a:defRPr>
            </a:pPr>
            <a:r>
              <a:rPr sz="1875" b="0">
                <a:solidFill>
                  <a:srgbClr val="596173"/>
                </a:solidFill>
                <a:latin typeface="Arial"/>
                <a:ea typeface="Arial"/>
                <a:cs typeface="Arial"/>
              </a:rPr>
              <a:t>No paid traction demonstrated.</a:t>
            </a:r>
          </a:p>
        </p:txBody>
      </p:sp>
      <p:sp>
        <p:nvSpPr>
          <p:cNvPr id="9" name="">
            <a:extLst xmlns:a="http://schemas.openxmlformats.org/drawingml/2006/main">
              <a:ext uri="{FF2B5EF4-FFF2-40B4-BE49-F238E27FC236}">
                <a16:creationId xmlns:a16="http://schemas.microsoft.com/office/drawing/2014/main" id="{C277AAC4-06F2-4F12-917E-E112D80B43BA}"/>
              </a:ext>
            </a:extLst>
          </p:cNvPr>
          <p:cNvSpPr>
            <a:spLocks xmlns:a="http://schemas.openxmlformats.org/drawingml/2006/main" noGrp="1"/>
          </p:cNvSpPr>
          <p:nvPr/>
        </p:nvSpPr>
        <p:spPr>
          <a:xfrm xmlns:a="http://schemas.openxmlformats.org/drawingml/2006/main">
            <a:off x="6848475" y="2571750"/>
            <a:ext cx="471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PROPOSED 18-MONTH TARGETS</a:t>
            </a:r>
          </a:p>
        </p:txBody>
      </p:sp>
      <p:sp>
        <p:nvSpPr>
          <p:cNvPr id="10" name="">
            <a:extLst xmlns:a="http://schemas.openxmlformats.org/drawingml/2006/main">
              <a:ext uri="{FF2B5EF4-FFF2-40B4-BE49-F238E27FC236}">
                <a16:creationId xmlns:a16="http://schemas.microsoft.com/office/drawing/2014/main" id="{BE0B89E0-3DEC-4EDC-8085-D42D728BE9B4}"/>
              </a:ext>
            </a:extLst>
          </p:cNvPr>
          <p:cNvSpPr>
            <a:spLocks xmlns:a="http://schemas.openxmlformats.org/drawingml/2006/main" noGrp="1"/>
          </p:cNvSpPr>
          <p:nvPr/>
        </p:nvSpPr>
        <p:spPr>
          <a:xfrm xmlns:a="http://schemas.openxmlformats.org/drawingml/2006/main">
            <a:off x="6848475" y="3009900"/>
            <a:ext cx="4714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00" b="1">
                <a:solidFill>
                  <a:srgbClr val="535CB4"/>
                </a:solidFill>
                <a:latin typeface="Arial"/>
                <a:ea typeface="Arial"/>
                <a:cs typeface="Arial"/>
              </a:defRPr>
            </a:pPr>
            <a:r>
              <a:rPr sz="2400" b="1">
                <a:solidFill>
                  <a:srgbClr val="535CB4"/>
                </a:solidFill>
                <a:latin typeface="Arial"/>
                <a:ea typeface="Arial"/>
                <a:cs typeface="Arial"/>
              </a:rPr>
              <a:t>50 paying lawyers</a:t>
            </a:r>
          </a:p>
          <a:p xmlns:a="http://schemas.openxmlformats.org/drawingml/2006/main">
            <a:pPr>
              <a:lnSpc>
                <a:spcPct val="106000"/>
              </a:lnSpc>
              <a:buNone/>
              <a:defRPr sz="2400" b="1">
                <a:solidFill>
                  <a:srgbClr val="535CB4"/>
                </a:solidFill>
                <a:latin typeface="Arial"/>
                <a:ea typeface="Arial"/>
                <a:cs typeface="Arial"/>
              </a:defRPr>
            </a:pPr>
            <a:r>
              <a:rPr sz="2400" b="1">
                <a:solidFill>
                  <a:srgbClr val="535CB4"/>
                </a:solidFill>
                <a:latin typeface="Arial"/>
                <a:ea typeface="Arial"/>
                <a:cs typeface="Arial"/>
              </a:rPr>
              <a:t>$240,000 annual recurring revenue</a:t>
            </a:r>
          </a:p>
        </p:txBody>
      </p:sp>
      <p:sp>
        <p:nvSpPr>
          <p:cNvPr id="11" name="">
            <a:extLst xmlns:a="http://schemas.openxmlformats.org/drawingml/2006/main">
              <a:ext uri="{FF2B5EF4-FFF2-40B4-BE49-F238E27FC236}">
                <a16:creationId xmlns:a16="http://schemas.microsoft.com/office/drawing/2014/main" id="{E4BD0286-B374-4C3F-ADA7-0B52857F77D8}"/>
              </a:ext>
            </a:extLst>
          </p:cNvPr>
          <p:cNvSpPr>
            <a:spLocks xmlns:a="http://schemas.openxmlformats.org/drawingml/2006/main" noGrp="1"/>
          </p:cNvSpPr>
          <p:nvPr/>
        </p:nvSpPr>
        <p:spPr>
          <a:xfrm xmlns:a="http://schemas.openxmlformats.org/drawingml/2006/main">
            <a:off x="6848475" y="4410075"/>
            <a:ext cx="471487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60% return with a second matter.</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25% less total preparation effort.</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A clear basis for the lawyer’s advice.</a:t>
            </a:r>
          </a:p>
        </p:txBody>
      </p:sp>
      <p:sp>
        <p:nvSpPr>
          <p:cNvPr id="12" name="">
            <a:extLst xmlns:a="http://schemas.openxmlformats.org/drawingml/2006/main">
              <a:ext uri="{FF2B5EF4-FFF2-40B4-BE49-F238E27FC236}">
                <a16:creationId xmlns:a16="http://schemas.microsoft.com/office/drawing/2014/main" id="{3FD86783-2639-4011-B6ED-9EA8C03B0E38}"/>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Targets, not results. Compare total effort and useful issues surfaced against the lawyer’s configured usual tools.</a:t>
            </a:r>
          </a:p>
        </p:txBody>
      </p:sp>
    </p:spTree>
    <p:extLst>
      <p:ext uri="{BB962C8B-B14F-4D97-AF65-F5344CB8AC3E}">
        <p14:creationId xmlns:p14="http://schemas.microsoft.com/office/powerpoint/2010/main" val="979569551"/>
      </p:ext>
    </p:extLst>
  </p:cSld>
</p:sld>
</file>

<file path=ppt/slides/slide12.xml><?xml version="1.0" encoding="utf-8"?>
<p:sld xmlns:p="http://schemas.openxmlformats.org/presentationml/2006/main">
  <p:cSld>
    <p:bg>
      <p:bgPr>
        <a:solidFill xmlns:a="http://schemas.openxmlformats.org/drawingml/2006/main">
          <a:srgbClr val="101B3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FD951AE-107E-4DFA-A03E-DFA687169019}"/>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ADA9FF"/>
                </a:solidFill>
                <a:latin typeface="Arial"/>
                <a:ea typeface="Arial"/>
                <a:cs typeface="Arial"/>
              </a:defRPr>
            </a:pPr>
            <a:r>
              <a:rPr sz="1125" b="1">
                <a:solidFill>
                  <a:srgbClr val="ADA9FF"/>
                </a:solidFill>
                <a:latin typeface="Arial"/>
                <a:ea typeface="Arial"/>
                <a:cs typeface="Arial"/>
              </a:rPr>
              <a:t>INVESTMENT PROPOSAL</a:t>
            </a:r>
          </a:p>
        </p:txBody>
      </p:sp>
      <p:sp>
        <p:nvSpPr>
          <p:cNvPr id="2" name="">
            <a:extLst xmlns:a="http://schemas.openxmlformats.org/drawingml/2006/main">
              <a:ext uri="{FF2B5EF4-FFF2-40B4-BE49-F238E27FC236}">
                <a16:creationId xmlns:a16="http://schemas.microsoft.com/office/drawing/2014/main" id="{B5EC82D4-CB53-46BF-8A8C-3D00B1DB7129}"/>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F7F5F0"/>
                </a:solidFill>
                <a:latin typeface="Arial"/>
                <a:ea typeface="Arial"/>
                <a:cs typeface="Arial"/>
              </a:defRPr>
            </a:pPr>
            <a:r>
              <a:rPr sz="3825" b="1">
                <a:solidFill>
                  <a:srgbClr val="F7F5F0"/>
                </a:solidFill>
                <a:latin typeface="Arial"/>
                <a:ea typeface="Arial"/>
                <a:cs typeface="Arial"/>
              </a:rPr>
              <a:t>Put a capable companion</a:t>
            </a:r>
          </a:p>
          <a:p xmlns:a="http://schemas.openxmlformats.org/drawingml/2006/main">
            <a:pPr>
              <a:lnSpc>
                <a:spcPct val="106000"/>
              </a:lnSpc>
              <a:buNone/>
              <a:defRPr sz="3825" b="1">
                <a:solidFill>
                  <a:srgbClr val="F7F5F0"/>
                </a:solidFill>
                <a:latin typeface="Arial"/>
                <a:ea typeface="Arial"/>
                <a:cs typeface="Arial"/>
              </a:defRPr>
            </a:pPr>
            <a:r>
              <a:rPr sz="3825" b="1">
                <a:solidFill>
                  <a:srgbClr val="F7F5F0"/>
                </a:solidFill>
                <a:latin typeface="Arial"/>
                <a:ea typeface="Arial"/>
                <a:cs typeface="Arial"/>
              </a:rPr>
              <a:t>beside the in-house lawyer</a:t>
            </a:r>
          </a:p>
        </p:txBody>
      </p:sp>
      <p:sp>
        <p:nvSpPr>
          <p:cNvPr id="3" name="">
            <a:extLst xmlns:a="http://schemas.openxmlformats.org/drawingml/2006/main">
              <a:ext uri="{FF2B5EF4-FFF2-40B4-BE49-F238E27FC236}">
                <a16:creationId xmlns:a16="http://schemas.microsoft.com/office/drawing/2014/main" id="{F5C730C3-5042-45A7-81BA-A2EFBA5CFA84}"/>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D6DAE5"/>
                </a:solidFill>
                <a:latin typeface="Arial"/>
                <a:ea typeface="Arial"/>
                <a:cs typeface="Arial"/>
              </a:defRPr>
            </a:pPr>
            <a:r>
              <a:rPr sz="900" b="1">
                <a:solidFill>
                  <a:srgbClr val="D6DAE5"/>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74C33DB-8164-48A4-86D7-A2E921A50CEB}"/>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D6DAE5"/>
                </a:solidFill>
                <a:latin typeface="Arial"/>
                <a:ea typeface="Arial"/>
                <a:cs typeface="Arial"/>
              </a:defRPr>
            </a:pPr>
            <a:r>
              <a:rPr sz="900" b="0">
                <a:solidFill>
                  <a:srgbClr val="D6DAE5"/>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40D33C67-BF6F-41C9-89CC-A84ABD404022}"/>
              </a:ext>
            </a:extLst>
          </p:cNvPr>
          <p:cNvSpPr>
            <a:spLocks xmlns:a="http://schemas.openxmlformats.org/drawingml/2006/main" noGrp="1"/>
          </p:cNvSpPr>
          <p:nvPr/>
        </p:nvSpPr>
        <p:spPr>
          <a:xfrm xmlns:a="http://schemas.openxmlformats.org/drawingml/2006/main">
            <a:off x="609600" y="2495550"/>
            <a:ext cx="52768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7500" b="1">
                <a:solidFill>
                  <a:srgbClr val="DFC383"/>
                </a:solidFill>
                <a:latin typeface="Arial"/>
                <a:ea typeface="Arial"/>
                <a:cs typeface="Arial"/>
              </a:defRPr>
            </a:pPr>
            <a:r>
              <a:rPr sz="7500" b="1">
                <a:solidFill>
                  <a:srgbClr val="DFC383"/>
                </a:solidFill>
                <a:latin typeface="Arial"/>
                <a:ea typeface="Arial"/>
                <a:cs typeface="Arial"/>
              </a:rPr>
              <a:t>$1.5M</a:t>
            </a:r>
          </a:p>
        </p:txBody>
      </p:sp>
      <p:sp>
        <p:nvSpPr>
          <p:cNvPr id="6" name="">
            <a:extLst xmlns:a="http://schemas.openxmlformats.org/drawingml/2006/main">
              <a:ext uri="{FF2B5EF4-FFF2-40B4-BE49-F238E27FC236}">
                <a16:creationId xmlns:a16="http://schemas.microsoft.com/office/drawing/2014/main" id="{23B7C5E2-052D-46D0-A746-75B4FB7D8944}"/>
              </a:ext>
            </a:extLst>
          </p:cNvPr>
          <p:cNvSpPr>
            <a:spLocks xmlns:a="http://schemas.openxmlformats.org/drawingml/2006/main" noGrp="1"/>
          </p:cNvSpPr>
          <p:nvPr/>
        </p:nvSpPr>
        <p:spPr>
          <a:xfrm xmlns:a="http://schemas.openxmlformats.org/drawingml/2006/main">
            <a:off x="609600" y="3914775"/>
            <a:ext cx="53244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325" b="0">
                <a:solidFill>
                  <a:srgbClr val="F7F5F0"/>
                </a:solidFill>
                <a:latin typeface="Arial"/>
                <a:ea typeface="Arial"/>
                <a:cs typeface="Arial"/>
              </a:defRPr>
            </a:pPr>
            <a:r>
              <a:rPr sz="2325" b="0">
                <a:solidFill>
                  <a:srgbClr val="F7F5F0"/>
                </a:solidFill>
                <a:latin typeface="Arial"/>
                <a:ea typeface="Arial"/>
                <a:cs typeface="Arial"/>
              </a:rPr>
              <a:t>Proposed pre-seed raise</a:t>
            </a:r>
          </a:p>
          <a:p xmlns:a="http://schemas.openxmlformats.org/drawingml/2006/main">
            <a:pPr>
              <a:lnSpc>
                <a:spcPct val="106000"/>
              </a:lnSpc>
              <a:buNone/>
              <a:defRPr sz="2325" b="0">
                <a:solidFill>
                  <a:srgbClr val="F7F5F0"/>
                </a:solidFill>
                <a:latin typeface="Arial"/>
                <a:ea typeface="Arial"/>
                <a:cs typeface="Arial"/>
              </a:defRPr>
            </a:pPr>
            <a:r>
              <a:rPr sz="2325" b="0">
                <a:solidFill>
                  <a:srgbClr val="F7F5F0"/>
                </a:solidFill>
                <a:latin typeface="Arial"/>
                <a:ea typeface="Arial"/>
                <a:cs typeface="Arial"/>
              </a:rPr>
              <a:t>18 months of focused execution</a:t>
            </a:r>
          </a:p>
        </p:txBody>
      </p:sp>
      <p:sp>
        <p:nvSpPr>
          <p:cNvPr id="7" name="">
            <a:extLst xmlns:a="http://schemas.openxmlformats.org/drawingml/2006/main">
              <a:ext uri="{FF2B5EF4-FFF2-40B4-BE49-F238E27FC236}">
                <a16:creationId xmlns:a16="http://schemas.microsoft.com/office/drawing/2014/main" id="{97B75619-F167-464B-A7D8-FA73B4919C4C}"/>
              </a:ext>
            </a:extLst>
          </p:cNvPr>
          <p:cNvSpPr>
            <a:spLocks xmlns:a="http://schemas.openxmlformats.org/drawingml/2006/main" noGrp="1"/>
          </p:cNvSpPr>
          <p:nvPr/>
        </p:nvSpPr>
        <p:spPr>
          <a:xfrm xmlns:a="http://schemas.openxmlformats.org/drawingml/2006/main">
            <a:off x="7029450" y="2524125"/>
            <a:ext cx="452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ADA9FF"/>
                </a:solidFill>
                <a:latin typeface="Arial"/>
                <a:ea typeface="Arial"/>
                <a:cs typeface="Arial"/>
              </a:defRPr>
            </a:pPr>
            <a:r>
              <a:rPr sz="1275" b="1">
                <a:solidFill>
                  <a:srgbClr val="ADA9FF"/>
                </a:solidFill>
                <a:latin typeface="Arial"/>
                <a:ea typeface="Arial"/>
                <a:cs typeface="Arial"/>
              </a:rPr>
              <a:t>WHAT THE CAPITAL ENABLES</a:t>
            </a:r>
          </a:p>
        </p:txBody>
      </p:sp>
      <p:sp>
        <p:nvSpPr>
          <p:cNvPr id="8" name="">
            <a:extLst xmlns:a="http://schemas.openxmlformats.org/drawingml/2006/main">
              <a:ext uri="{FF2B5EF4-FFF2-40B4-BE49-F238E27FC236}">
                <a16:creationId xmlns:a16="http://schemas.microsoft.com/office/drawing/2014/main" id="{08C9F22E-182C-4A19-BAE3-A47762671C01}"/>
              </a:ext>
            </a:extLst>
          </p:cNvPr>
          <p:cNvSpPr>
            <a:spLocks xmlns:a="http://schemas.openxmlformats.org/drawingml/2006/main" noGrp="1"/>
          </p:cNvSpPr>
          <p:nvPr/>
        </p:nvSpPr>
        <p:spPr>
          <a:xfrm xmlns:a="http://schemas.openxmlformats.org/drawingml/2006/main">
            <a:off x="7029450" y="2952750"/>
            <a:ext cx="452437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75" b="0">
                <a:solidFill>
                  <a:srgbClr val="F7F5F0"/>
                </a:solidFill>
                <a:latin typeface="Arial"/>
                <a:ea typeface="Arial"/>
                <a:cs typeface="Arial"/>
              </a:defRPr>
            </a:pPr>
            <a:r>
              <a:rPr sz="2175" b="0">
                <a:solidFill>
                  <a:srgbClr val="F7F5F0"/>
                </a:solidFill>
                <a:latin typeface="Arial"/>
                <a:ea typeface="Arial"/>
                <a:cs typeface="Arial"/>
              </a:rPr>
              <a:t>A founding technical team.</a:t>
            </a:r>
          </a:p>
          <a:p xmlns:a="http://schemas.openxmlformats.org/drawingml/2006/main">
            <a:pPr>
              <a:lnSpc>
                <a:spcPct val="106000"/>
              </a:lnSpc>
              <a:buNone/>
              <a:defRPr sz="2175" b="0">
                <a:solidFill>
                  <a:srgbClr val="F7F5F0"/>
                </a:solidFill>
                <a:latin typeface="Arial"/>
                <a:ea typeface="Arial"/>
                <a:cs typeface="Arial"/>
              </a:defRPr>
            </a:pPr>
            <a:r>
              <a:rPr sz="2175" b="0">
                <a:solidFill>
                  <a:srgbClr val="F7F5F0"/>
                </a:solidFill>
                <a:latin typeface="Arial"/>
                <a:ea typeface="Arial"/>
                <a:cs typeface="Arial"/>
              </a:rPr>
              <a:t>Live use with working lawyers.</a:t>
            </a:r>
          </a:p>
          <a:p xmlns:a="http://schemas.openxmlformats.org/drawingml/2006/main">
            <a:pPr>
              <a:lnSpc>
                <a:spcPct val="106000"/>
              </a:lnSpc>
              <a:buNone/>
              <a:defRPr sz="2175" b="0">
                <a:solidFill>
                  <a:srgbClr val="F7F5F0"/>
                </a:solidFill>
                <a:latin typeface="Arial"/>
                <a:ea typeface="Arial"/>
                <a:cs typeface="Arial"/>
              </a:defRPr>
            </a:pPr>
            <a:r>
              <a:rPr sz="2175" b="0">
                <a:solidFill>
                  <a:srgbClr val="F7F5F0"/>
                </a:solidFill>
                <a:latin typeface="Arial"/>
                <a:ea typeface="Arial"/>
                <a:cs typeface="Arial"/>
              </a:rPr>
              <a:t>Evidence that lawyers return and pay.</a:t>
            </a:r>
          </a:p>
        </p:txBody>
      </p:sp>
      <p:sp>
        <p:nvSpPr>
          <p:cNvPr id="9" name="">
            <a:extLst xmlns:a="http://schemas.openxmlformats.org/drawingml/2006/main">
              <a:ext uri="{FF2B5EF4-FFF2-40B4-BE49-F238E27FC236}">
                <a16:creationId xmlns:a16="http://schemas.microsoft.com/office/drawing/2014/main" id="{01C23940-275A-4DF5-81D7-5A6ADA0DF385}"/>
              </a:ext>
            </a:extLst>
          </p:cNvPr>
          <p:cNvSpPr>
            <a:spLocks xmlns:a="http://schemas.openxmlformats.org/drawingml/2006/main" noGrp="1"/>
          </p:cNvSpPr>
          <p:nvPr/>
        </p:nvSpPr>
        <p:spPr>
          <a:xfrm xmlns:a="http://schemas.openxmlformats.org/drawingml/2006/main">
            <a:off x="609600" y="52578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550" b="1">
                <a:solidFill>
                  <a:srgbClr val="F7F5F0"/>
                </a:solidFill>
                <a:latin typeface="Arial"/>
                <a:ea typeface="Arial"/>
                <a:cs typeface="Arial"/>
              </a:defRPr>
            </a:pPr>
            <a:r>
              <a:rPr sz="2550" b="1">
                <a:solidFill>
                  <a:srgbClr val="F7F5F0"/>
                </a:solidFill>
                <a:latin typeface="Arial"/>
                <a:ea typeface="Arial"/>
                <a:cs typeface="Arial"/>
              </a:rPr>
              <a:t>Themis equips lawyers to advise with confidence—and gives them more time to be present in the room, shaping business decisions.</a:t>
            </a:r>
          </a:p>
        </p:txBody>
      </p:sp>
    </p:spTree>
    <p:extLst>
      <p:ext uri="{BB962C8B-B14F-4D97-AF65-F5344CB8AC3E}">
        <p14:creationId xmlns:p14="http://schemas.microsoft.com/office/powerpoint/2010/main" val="482138199"/>
      </p:ext>
    </p:extLst>
  </p:cSld>
</p:sld>
</file>

<file path=ppt/slides/slide1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1F4831-9BBA-462D-BA0B-812B6E43C097}"/>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APPENDIX / COMPETITIVE DETAIL</a:t>
            </a:r>
          </a:p>
        </p:txBody>
      </p:sp>
      <p:sp>
        <p:nvSpPr>
          <p:cNvPr id="2" name="">
            <a:extLst xmlns:a="http://schemas.openxmlformats.org/drawingml/2006/main">
              <a:ext uri="{FF2B5EF4-FFF2-40B4-BE49-F238E27FC236}">
                <a16:creationId xmlns:a16="http://schemas.microsoft.com/office/drawing/2014/main" id="{273D82C6-2A25-432B-AA5D-4ABC7E6D04EA}"/>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375" b="1">
                <a:solidFill>
                  <a:srgbClr val="101B30"/>
                </a:solidFill>
                <a:latin typeface="Arial"/>
                <a:ea typeface="Arial"/>
                <a:cs typeface="Arial"/>
              </a:defRPr>
            </a:pPr>
            <a:r>
              <a:rPr sz="3375" b="1">
                <a:solidFill>
                  <a:srgbClr val="101B30"/>
                </a:solidFill>
                <a:latin typeface="Arial"/>
                <a:ea typeface="Arial"/>
                <a:cs typeface="Arial"/>
              </a:rPr>
              <a:t>The alternatives already do useful legal work</a:t>
            </a:r>
          </a:p>
        </p:txBody>
      </p:sp>
      <p:sp>
        <p:nvSpPr>
          <p:cNvPr id="3" name="">
            <a:extLst xmlns:a="http://schemas.openxmlformats.org/drawingml/2006/main">
              <a:ext uri="{FF2B5EF4-FFF2-40B4-BE49-F238E27FC236}">
                <a16:creationId xmlns:a16="http://schemas.microsoft.com/office/drawing/2014/main" id="{2011B25E-B065-4460-A671-8C1C65F632C6}"/>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4143CCF-FE75-4FFD-A853-A555849D2190}"/>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13</a:t>
            </a:r>
          </a:p>
        </p:txBody>
      </p:sp>
      <p:graphicFrame>
        <p:nvGraphicFramePr>
          <p:cNvPr id="11" name=""/>
          <p:cNvGraphicFramePr/>
          <p:nvPr/>
        </p:nvGraphicFramePr>
        <p:xfrm>
          <a:off xmlns:a="http://schemas.openxmlformats.org/drawingml/2006/main" x="609600" y="2409825"/>
          <a:ext xmlns:a="http://schemas.openxmlformats.org/drawingml/2006/main" cx="10972800" cy="3381375"/>
        </p:xfrm>
        <a:graphic xmlns:a="http://schemas.openxmlformats.org/drawingml/2006/main">
          <a:graphicData uri="http://schemas.openxmlformats.org/drawingml/2006/table">
            <a:tbl>
              <a:tblPr/>
              <a:tblGrid>
                <a:gridCol w="2390775"/>
                <a:gridCol w="4295775"/>
                <a:gridCol w="4286250"/>
              </a:tblGrid>
              <a:tr h="438150">
                <a:tc>
                  <a:txBody>
                    <a:bodyPr/>
                    <a:lstStyle/>
                    <a:p>
                      <a:r>
                        <a:rPr sz="1725" b="1">
                          <a:solidFill>
                            <a:srgbClr val="F7F5F0"/>
                          </a:solidFill>
                          <a:latin typeface="Arial"/>
                          <a:ea typeface="Arial"/>
                          <a:cs typeface="Arial"/>
                        </a:rPr>
                        <a:t>Alternative</a:t>
                      </a:r>
                    </a:p>
                  </a:txBody>
                  <a:tcPr marL="91440" marR="91440" marT="45720" marB="45720">
                    <a:solidFill>
                      <a:srgbClr val="101B30"/>
                    </a:solidFill>
                  </a:tcPr>
                </a:tc>
                <a:tc>
                  <a:txBody>
                    <a:bodyPr/>
                    <a:lstStyle/>
                    <a:p>
                      <a:r>
                        <a:rPr sz="1725" b="1">
                          <a:solidFill>
                            <a:srgbClr val="F7F5F0"/>
                          </a:solidFill>
                          <a:latin typeface="Arial"/>
                          <a:ea typeface="Arial"/>
                          <a:cs typeface="Arial"/>
                        </a:rPr>
                        <a:t>Current strengths</a:t>
                      </a:r>
                    </a:p>
                  </a:txBody>
                  <a:tcPr marL="91440" marR="91440" marT="45720" marB="45720">
                    <a:solidFill>
                      <a:srgbClr val="101B30"/>
                    </a:solidFill>
                  </a:tcPr>
                </a:tc>
                <a:tc>
                  <a:txBody>
                    <a:bodyPr/>
                    <a:lstStyle/>
                    <a:p>
                      <a:r>
                        <a:rPr sz="1725" b="1">
                          <a:solidFill>
                            <a:srgbClr val="F7F5F0"/>
                          </a:solidFill>
                          <a:latin typeface="Arial"/>
                          <a:ea typeface="Arial"/>
                          <a:cs typeface="Arial"/>
                        </a:rPr>
                        <a:t>Themis must earn the switch</a:t>
                      </a:r>
                    </a:p>
                  </a:txBody>
                  <a:tcPr marL="91440" marR="91440" marT="45720" marB="45720">
                    <a:solidFill>
                      <a:srgbClr val="101B30"/>
                    </a:solidFill>
                  </a:tcPr>
                </a:tc>
              </a:tr>
              <a:tr h="981075">
                <a:tc>
                  <a:txBody>
                    <a:bodyPr/>
                    <a:lstStyle/>
                    <a:p>
                      <a:r>
                        <a:rPr sz="1725" b="0">
                          <a:solidFill>
                            <a:srgbClr val="101B30"/>
                          </a:solidFill>
                          <a:latin typeface="Arial"/>
                          <a:ea typeface="Arial"/>
                          <a:cs typeface="Arial"/>
                        </a:rPr>
                        <a:t>Claude / ChatGPT</a:t>
                      </a:r>
                    </a:p>
                  </a:txBody>
                  <a:tcPr marL="91440" marR="91440" marT="45720" marB="45720">
                    <a:solidFill>
                      <a:srgbClr val="F7F5F0"/>
                    </a:solidFill>
                  </a:tcPr>
                </a:tc>
                <a:tc>
                  <a:txBody>
                    <a:bodyPr/>
                    <a:lstStyle/>
                    <a:p>
                      <a:r>
                        <a:rPr sz="1725" b="0">
                          <a:solidFill>
                            <a:srgbClr val="101B30"/>
                          </a:solidFill>
                          <a:latin typeface="Arial"/>
                          <a:ea typeface="Arial"/>
                          <a:cs typeface="Arial"/>
                        </a:rPr>
                        <a:t>Research, drafting, custom instructions</a:t>
                      </a:r>
                    </a:p>
                    <a:p>
                      <a:r>
                        <a:rPr sz="1725" b="0">
                          <a:solidFill>
                            <a:srgbClr val="101B30"/>
                          </a:solidFill>
                          <a:latin typeface="Arial"/>
                          <a:ea typeface="Arial"/>
                          <a:cs typeface="Arial"/>
                        </a:rPr>
                        <a:t>and workflows. Claude has a legal plugin.</a:t>
                      </a:r>
                    </a:p>
                  </a:txBody>
                  <a:tcPr marL="91440" marR="91440" marT="45720" marB="45720">
                    <a:solidFill>
                      <a:srgbClr val="F7F5F0"/>
                    </a:solidFill>
                  </a:tcPr>
                </a:tc>
                <a:tc>
                  <a:txBody>
                    <a:bodyPr/>
                    <a:lstStyle/>
                    <a:p>
                      <a:r>
                        <a:rPr sz="1725" b="0">
                          <a:solidFill>
                            <a:srgbClr val="101B30"/>
                          </a:solidFill>
                          <a:latin typeface="Arial"/>
                          <a:ea typeface="Arial"/>
                          <a:cs typeface="Arial"/>
                        </a:rPr>
                        <a:t>Less effort directing the matter</a:t>
                      </a:r>
                    </a:p>
                    <a:p>
                      <a:r>
                        <a:rPr sz="1725" b="0">
                          <a:solidFill>
                            <a:srgbClr val="101B30"/>
                          </a:solidFill>
                          <a:latin typeface="Arial"/>
                          <a:ea typeface="Arial"/>
                          <a:cs typeface="Arial"/>
                        </a:rPr>
                        <a:t>with useful questions surfaced.</a:t>
                      </a:r>
                    </a:p>
                  </a:txBody>
                  <a:tcPr marL="91440" marR="91440" marT="45720" marB="45720">
                    <a:solidFill>
                      <a:srgbClr val="F7F5F0"/>
                    </a:solidFill>
                  </a:tcPr>
                </a:tc>
              </a:tr>
              <a:tr h="981075">
                <a:tc>
                  <a:txBody>
                    <a:bodyPr/>
                    <a:lstStyle/>
                    <a:p>
                      <a:r>
                        <a:rPr sz="1725" b="0">
                          <a:solidFill>
                            <a:srgbClr val="101B30"/>
                          </a:solidFill>
                          <a:latin typeface="Arial"/>
                          <a:ea typeface="Arial"/>
                          <a:cs typeface="Arial"/>
                        </a:rPr>
                        <a:t>Harvey / Legora</a:t>
                      </a:r>
                    </a:p>
                  </a:txBody>
                  <a:tcPr marL="91440" marR="91440" marT="45720" marB="45720">
                    <a:solidFill>
                      <a:srgbClr val="F7F5F0"/>
                    </a:solidFill>
                  </a:tcPr>
                </a:tc>
                <a:tc>
                  <a:txBody>
                    <a:bodyPr/>
                    <a:lstStyle/>
                    <a:p>
                      <a:r>
                        <a:rPr sz="1725" b="0">
                          <a:solidFill>
                            <a:srgbClr val="101B30"/>
                          </a:solidFill>
                          <a:latin typeface="Arial"/>
                          <a:ea typeface="Arial"/>
                          <a:cs typeface="Arial"/>
                        </a:rPr>
                        <a:t>Legal agents, research, document review</a:t>
                      </a:r>
                    </a:p>
                    <a:p>
                      <a:r>
                        <a:rPr sz="1725" b="0">
                          <a:solidFill>
                            <a:srgbClr val="101B30"/>
                          </a:solidFill>
                          <a:latin typeface="Arial"/>
                          <a:ea typeface="Arial"/>
                          <a:cs typeface="Arial"/>
                        </a:rPr>
                        <a:t>and work adapted to customer methods.</a:t>
                      </a:r>
                    </a:p>
                  </a:txBody>
                  <a:tcPr marL="91440" marR="91440" marT="45720" marB="45720">
                    <a:solidFill>
                      <a:srgbClr val="F7F5F0"/>
                    </a:solidFill>
                  </a:tcPr>
                </a:tc>
                <a:tc>
                  <a:txBody>
                    <a:bodyPr/>
                    <a:lstStyle/>
                    <a:p>
                      <a:r>
                        <a:rPr sz="1725" b="0">
                          <a:solidFill>
                            <a:srgbClr val="101B30"/>
                          </a:solidFill>
                          <a:latin typeface="Arial"/>
                          <a:ea typeface="Arial"/>
                          <a:cs typeface="Arial"/>
                        </a:rPr>
                        <a:t>A compelling daily experience</a:t>
                      </a:r>
                    </a:p>
                    <a:p>
                      <a:r>
                        <a:rPr sz="1725" b="0">
                          <a:solidFill>
                            <a:srgbClr val="101B30"/>
                          </a:solidFill>
                          <a:latin typeface="Arial"/>
                          <a:ea typeface="Arial"/>
                          <a:cs typeface="Arial"/>
                        </a:rPr>
                        <a:t>for small in-house teams.</a:t>
                      </a:r>
                    </a:p>
                  </a:txBody>
                  <a:tcPr marL="91440" marR="91440" marT="45720" marB="45720">
                    <a:solidFill>
                      <a:srgbClr val="F7F5F0"/>
                    </a:solidFill>
                  </a:tcPr>
                </a:tc>
              </a:tr>
              <a:tr h="981075">
                <a:tc>
                  <a:txBody>
                    <a:bodyPr/>
                    <a:lstStyle/>
                    <a:p>
                      <a:r>
                        <a:rPr sz="1725" b="0">
                          <a:solidFill>
                            <a:srgbClr val="101B30"/>
                          </a:solidFill>
                          <a:latin typeface="Arial"/>
                          <a:ea typeface="Arial"/>
                          <a:cs typeface="Arial"/>
                        </a:rPr>
                        <a:t>CoCounsel / GC AI</a:t>
                      </a:r>
                    </a:p>
                  </a:txBody>
                  <a:tcPr marL="91440" marR="91440" marT="45720" marB="45720">
                    <a:solidFill>
                      <a:srgbClr val="F7F5F0"/>
                    </a:solidFill>
                  </a:tcPr>
                </a:tc>
                <a:tc>
                  <a:txBody>
                    <a:bodyPr/>
                    <a:lstStyle/>
                    <a:p>
                      <a:r>
                        <a:rPr sz="1725" b="0">
                          <a:solidFill>
                            <a:srgbClr val="101B30"/>
                          </a:solidFill>
                          <a:latin typeface="Arial"/>
                          <a:ea typeface="Arial"/>
                          <a:cs typeface="Arial"/>
                        </a:rPr>
                        <a:t>Legal work product and research.</a:t>
                      </a:r>
                    </a:p>
                    <a:p>
                      <a:r>
                        <a:rPr sz="1725" b="0">
                          <a:solidFill>
                            <a:srgbClr val="101B30"/>
                          </a:solidFill>
                          <a:latin typeface="Arial"/>
                          <a:ea typeface="Arial"/>
                          <a:cs typeface="Arial"/>
                        </a:rPr>
                        <a:t>GC AI directly serves in-house counsel.</a:t>
                      </a:r>
                    </a:p>
                  </a:txBody>
                  <a:tcPr marL="91440" marR="91440" marT="45720" marB="45720">
                    <a:solidFill>
                      <a:srgbClr val="F7F5F0"/>
                    </a:solidFill>
                  </a:tcPr>
                </a:tc>
                <a:tc>
                  <a:txBody>
                    <a:bodyPr/>
                    <a:lstStyle/>
                    <a:p>
                      <a:r>
                        <a:rPr sz="1725" b="0">
                          <a:solidFill>
                            <a:srgbClr val="101B30"/>
                          </a:solidFill>
                          <a:latin typeface="Arial"/>
                          <a:ea typeface="Arial"/>
                          <a:cs typeface="Arial"/>
                        </a:rPr>
                        <a:t>Better preparation for advice</a:t>
                      </a:r>
                    </a:p>
                    <a:p>
                      <a:r>
                        <a:rPr sz="1725" b="0">
                          <a:solidFill>
                            <a:srgbClr val="101B30"/>
                          </a:solidFill>
                          <a:latin typeface="Arial"/>
                          <a:ea typeface="Arial"/>
                          <a:cs typeface="Arial"/>
                        </a:rPr>
                        <a:t>on the buyer’s actual matters.</a:t>
                      </a:r>
                    </a:p>
                  </a:txBody>
                  <a:tcPr marL="91440" marR="91440" marT="45720" marB="45720">
                    <a:solidFill>
                      <a:srgbClr val="F7F5F0"/>
                    </a:solidFill>
                  </a:tcPr>
                </a:tc>
              </a:tr>
            </a:tbl>
          </a:graphicData>
        </a:graphic>
      </p:graphicFrame>
      <p:sp>
        <p:nvSpPr>
          <p:cNvPr id="6" name="">
            <a:extLst xmlns:a="http://schemas.openxmlformats.org/drawingml/2006/main">
              <a:ext uri="{FF2B5EF4-FFF2-40B4-BE49-F238E27FC236}">
                <a16:creationId xmlns:a16="http://schemas.microsoft.com/office/drawing/2014/main" id="{F4F76281-3CFD-4AD3-8798-1D6D35D79B88}"/>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Positioning comparison, not a controlled benchmark. Feature overlap is substantial.</a:t>
            </a:r>
          </a:p>
        </p:txBody>
      </p:sp>
    </p:spTree>
    <p:extLst>
      <p:ext uri="{BB962C8B-B14F-4D97-AF65-F5344CB8AC3E}">
        <p14:creationId xmlns:p14="http://schemas.microsoft.com/office/powerpoint/2010/main" val="2996301"/>
      </p:ext>
    </p:extLst>
  </p:cSld>
</p:sld>
</file>

<file path=ppt/slides/slide1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FF93DA-DD08-45C9-BED1-9E87DC19C6B6}"/>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APPENDIX / MARKET AND PRICING</a:t>
            </a:r>
          </a:p>
        </p:txBody>
      </p:sp>
      <p:sp>
        <p:nvSpPr>
          <p:cNvPr id="2" name="">
            <a:extLst xmlns:a="http://schemas.openxmlformats.org/drawingml/2006/main">
              <a:ext uri="{FF2B5EF4-FFF2-40B4-BE49-F238E27FC236}">
                <a16:creationId xmlns:a16="http://schemas.microsoft.com/office/drawing/2014/main" id="{175ACABD-54C3-49A9-BE72-AFA2DF9E8EE3}"/>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525" b="1">
                <a:solidFill>
                  <a:srgbClr val="101B30"/>
                </a:solidFill>
                <a:latin typeface="Arial"/>
                <a:ea typeface="Arial"/>
                <a:cs typeface="Arial"/>
              </a:defRPr>
            </a:pPr>
            <a:r>
              <a:rPr sz="3525" b="1">
                <a:solidFill>
                  <a:srgbClr val="101B30"/>
                </a:solidFill>
                <a:latin typeface="Arial"/>
                <a:ea typeface="Arial"/>
                <a:cs typeface="Arial"/>
              </a:rPr>
              <a:t>A seat model with a low entry commitment</a:t>
            </a:r>
          </a:p>
        </p:txBody>
      </p:sp>
      <p:sp>
        <p:nvSpPr>
          <p:cNvPr id="3" name="">
            <a:extLst xmlns:a="http://schemas.openxmlformats.org/drawingml/2006/main">
              <a:ext uri="{FF2B5EF4-FFF2-40B4-BE49-F238E27FC236}">
                <a16:creationId xmlns:a16="http://schemas.microsoft.com/office/drawing/2014/main" id="{68BDB2BC-90BD-4D11-8709-77EAF1979BBD}"/>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C324987-E59E-4241-A721-3DD4AE0D5BA8}"/>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14</a:t>
            </a:r>
          </a:p>
        </p:txBody>
      </p:sp>
      <p:graphicFrame>
        <p:nvGraphicFramePr>
          <p:cNvPr id="12" name=""/>
          <p:cNvGraphicFramePr/>
          <p:nvPr/>
        </p:nvGraphicFramePr>
        <p:xfrm>
          <a:off xmlns:a="http://schemas.openxmlformats.org/drawingml/2006/main" x="609600" y="2333625"/>
          <a:ext xmlns:a="http://schemas.openxmlformats.org/drawingml/2006/main" cx="10972800" cy="2990850"/>
        </p:xfrm>
        <a:graphic xmlns:a="http://schemas.openxmlformats.org/drawingml/2006/main">
          <a:graphicData uri="http://schemas.openxmlformats.org/drawingml/2006/table">
            <a:tbl>
              <a:tblPr/>
              <a:tblGrid>
                <a:gridCol w="3905250"/>
                <a:gridCol w="4591050"/>
                <a:gridCol w="2476500"/>
              </a:tblGrid>
              <a:tr h="438150">
                <a:tc>
                  <a:txBody>
                    <a:bodyPr/>
                    <a:lstStyle/>
                    <a:p>
                      <a:r>
                        <a:rPr sz="1725" b="1">
                          <a:solidFill>
                            <a:srgbClr val="F7F5F0"/>
                          </a:solidFill>
                          <a:latin typeface="Arial"/>
                          <a:ea typeface="Arial"/>
                          <a:cs typeface="Arial"/>
                        </a:rPr>
                        <a:t>Scope or benchmark</a:t>
                      </a:r>
                    </a:p>
                  </a:txBody>
                  <a:tcPr marL="91440" marR="91440" marT="45720" marB="45720">
                    <a:solidFill>
                      <a:srgbClr val="101B30"/>
                    </a:solidFill>
                  </a:tcPr>
                </a:tc>
                <a:tc>
                  <a:txBody>
                    <a:bodyPr/>
                    <a:lstStyle/>
                    <a:p>
                      <a:r>
                        <a:rPr sz="1725" b="1">
                          <a:solidFill>
                            <a:srgbClr val="F7F5F0"/>
                          </a:solidFill>
                          <a:latin typeface="Arial"/>
                          <a:ea typeface="Arial"/>
                          <a:cs typeface="Arial"/>
                        </a:rPr>
                        <a:t>Basis</a:t>
                      </a:r>
                    </a:p>
                  </a:txBody>
                  <a:tcPr marL="91440" marR="91440" marT="45720" marB="45720">
                    <a:solidFill>
                      <a:srgbClr val="101B30"/>
                    </a:solidFill>
                  </a:tcPr>
                </a:tc>
                <a:tc>
                  <a:txBody>
                    <a:bodyPr/>
                    <a:lstStyle/>
                    <a:p>
                      <a:r>
                        <a:rPr sz="1725" b="1">
                          <a:solidFill>
                            <a:srgbClr val="F7F5F0"/>
                          </a:solidFill>
                          <a:latin typeface="Arial"/>
                          <a:ea typeface="Arial"/>
                          <a:cs typeface="Arial"/>
                        </a:rPr>
                        <a:t>Annual amount</a:t>
                      </a:r>
                    </a:p>
                  </a:txBody>
                  <a:tcPr marL="91440" marR="91440" marT="45720" marB="45720">
                    <a:solidFill>
                      <a:srgbClr val="101B30"/>
                    </a:solidFill>
                  </a:tcPr>
                </a:tc>
              </a:tr>
              <a:tr h="600075">
                <a:tc>
                  <a:txBody>
                    <a:bodyPr/>
                    <a:lstStyle/>
                    <a:p>
                      <a:r>
                        <a:rPr sz="1725" b="0">
                          <a:solidFill>
                            <a:srgbClr val="101B30"/>
                          </a:solidFill>
                          <a:latin typeface="Arial"/>
                          <a:ea typeface="Arial"/>
                          <a:cs typeface="Arial"/>
                        </a:rPr>
                        <a:t>Full U.S. in-house model</a:t>
                      </a:r>
                    </a:p>
                  </a:txBody>
                  <a:tcPr marL="91440" marR="91440" marT="45720" marB="45720">
                    <a:solidFill>
                      <a:srgbClr val="F7F5F0"/>
                    </a:solidFill>
                  </a:tcPr>
                </a:tc>
                <a:tc>
                  <a:txBody>
                    <a:bodyPr/>
                    <a:lstStyle/>
                    <a:p>
                      <a:r>
                        <a:rPr sz="1725" b="0">
                          <a:solidFill>
                            <a:srgbClr val="101B30"/>
                          </a:solidFill>
                          <a:latin typeface="Arial"/>
                          <a:ea typeface="Arial"/>
                          <a:cs typeface="Arial"/>
                        </a:rPr>
                        <a:t>145,000 seats × $4,800</a:t>
                      </a:r>
                    </a:p>
                  </a:txBody>
                  <a:tcPr marL="91440" marR="91440" marT="45720" marB="45720">
                    <a:solidFill>
                      <a:srgbClr val="F7F5F0"/>
                    </a:solidFill>
                  </a:tcPr>
                </a:tc>
                <a:tc>
                  <a:txBody>
                    <a:bodyPr/>
                    <a:lstStyle/>
                    <a:p>
                      <a:r>
                        <a:rPr sz="1725" b="0">
                          <a:solidFill>
                            <a:srgbClr val="101B30"/>
                          </a:solidFill>
                          <a:latin typeface="Arial"/>
                          <a:ea typeface="Arial"/>
                          <a:cs typeface="Arial"/>
                        </a:rPr>
                        <a:t>$696M</a:t>
                      </a:r>
                    </a:p>
                  </a:txBody>
                  <a:tcPr marL="91440" marR="91440" marT="45720" marB="45720">
                    <a:solidFill>
                      <a:srgbClr val="F7F5F0"/>
                    </a:solidFill>
                  </a:tcPr>
                </a:tc>
              </a:tr>
              <a:tr h="600075">
                <a:tc>
                  <a:txBody>
                    <a:bodyPr/>
                    <a:lstStyle/>
                    <a:p>
                      <a:r>
                        <a:rPr sz="1725" b="0">
                          <a:solidFill>
                            <a:srgbClr val="101B30"/>
                          </a:solidFill>
                          <a:latin typeface="Arial"/>
                          <a:ea typeface="Arial"/>
                          <a:cs typeface="Arial"/>
                        </a:rPr>
                        <a:t>Scale illustration</a:t>
                      </a:r>
                    </a:p>
                  </a:txBody>
                  <a:tcPr marL="91440" marR="91440" marT="45720" marB="45720">
                    <a:solidFill>
                      <a:srgbClr val="F7F5F0"/>
                    </a:solidFill>
                  </a:tcPr>
                </a:tc>
                <a:tc>
                  <a:txBody>
                    <a:bodyPr/>
                    <a:lstStyle/>
                    <a:p>
                      <a:r>
                        <a:rPr sz="1725" b="0">
                          <a:solidFill>
                            <a:srgbClr val="101B30"/>
                          </a:solidFill>
                          <a:latin typeface="Arial"/>
                          <a:ea typeface="Arial"/>
                          <a:cs typeface="Arial"/>
                        </a:rPr>
                        <a:t>21,000 seats × $4,800</a:t>
                      </a:r>
                    </a:p>
                  </a:txBody>
                  <a:tcPr marL="91440" marR="91440" marT="45720" marB="45720">
                    <a:solidFill>
                      <a:srgbClr val="F7F5F0"/>
                    </a:solidFill>
                  </a:tcPr>
                </a:tc>
                <a:tc>
                  <a:txBody>
                    <a:bodyPr/>
                    <a:lstStyle/>
                    <a:p>
                      <a:r>
                        <a:rPr sz="1725" b="0">
                          <a:solidFill>
                            <a:srgbClr val="101B30"/>
                          </a:solidFill>
                          <a:latin typeface="Arial"/>
                          <a:ea typeface="Arial"/>
                          <a:cs typeface="Arial"/>
                        </a:rPr>
                        <a:t>$100.8M</a:t>
                      </a:r>
                    </a:p>
                  </a:txBody>
                  <a:tcPr marL="91440" marR="91440" marT="45720" marB="45720">
                    <a:solidFill>
                      <a:srgbClr val="F7F5F0"/>
                    </a:solidFill>
                  </a:tcPr>
                </a:tc>
              </a:tr>
              <a:tr h="600075">
                <a:tc>
                  <a:txBody>
                    <a:bodyPr/>
                    <a:lstStyle/>
                    <a:p>
                      <a:r>
                        <a:rPr sz="1725" b="0">
                          <a:solidFill>
                            <a:srgbClr val="101B30"/>
                          </a:solidFill>
                          <a:latin typeface="Arial"/>
                          <a:ea typeface="Arial"/>
                          <a:cs typeface="Arial"/>
                        </a:rPr>
                        <a:t>One Themis seat, proposed</a:t>
                      </a:r>
                    </a:p>
                  </a:txBody>
                  <a:tcPr marL="91440" marR="91440" marT="45720" marB="45720">
                    <a:solidFill>
                      <a:srgbClr val="F7F5F0"/>
                    </a:solidFill>
                  </a:tcPr>
                </a:tc>
                <a:tc>
                  <a:txBody>
                    <a:bodyPr/>
                    <a:lstStyle/>
                    <a:p>
                      <a:r>
                        <a:rPr sz="1725" b="0">
                          <a:solidFill>
                            <a:srgbClr val="101B30"/>
                          </a:solidFill>
                          <a:latin typeface="Arial"/>
                          <a:ea typeface="Arial"/>
                          <a:cs typeface="Arial"/>
                        </a:rPr>
                        <a:t>12 monthly payments of $400</a:t>
                      </a:r>
                    </a:p>
                  </a:txBody>
                  <a:tcPr marL="91440" marR="91440" marT="45720" marB="45720">
                    <a:solidFill>
                      <a:srgbClr val="F7F5F0"/>
                    </a:solidFill>
                  </a:tcPr>
                </a:tc>
                <a:tc>
                  <a:txBody>
                    <a:bodyPr/>
                    <a:lstStyle/>
                    <a:p>
                      <a:r>
                        <a:rPr sz="1725" b="0">
                          <a:solidFill>
                            <a:srgbClr val="101B30"/>
                          </a:solidFill>
                          <a:latin typeface="Arial"/>
                          <a:ea typeface="Arial"/>
                          <a:cs typeface="Arial"/>
                        </a:rPr>
                        <a:t>$4,800</a:t>
                      </a:r>
                    </a:p>
                  </a:txBody>
                  <a:tcPr marL="91440" marR="91440" marT="45720" marB="45720">
                    <a:solidFill>
                      <a:srgbClr val="F7F5F0"/>
                    </a:solidFill>
                  </a:tcPr>
                </a:tc>
              </a:tr>
              <a:tr h="752475">
                <a:tc>
                  <a:txBody>
                    <a:bodyPr/>
                    <a:lstStyle/>
                    <a:p>
                      <a:r>
                        <a:rPr sz="1725" b="0">
                          <a:solidFill>
                            <a:srgbClr val="101B30"/>
                          </a:solidFill>
                          <a:latin typeface="Arial"/>
                          <a:ea typeface="Arial"/>
                          <a:cs typeface="Arial"/>
                        </a:rPr>
                        <a:t>Harvey buyer-reported quote</a:t>
                      </a:r>
                    </a:p>
                  </a:txBody>
                  <a:tcPr marL="91440" marR="91440" marT="45720" marB="45720">
                    <a:solidFill>
                      <a:srgbClr val="F7F5F0"/>
                    </a:solidFill>
                  </a:tcPr>
                </a:tc>
                <a:tc>
                  <a:txBody>
                    <a:bodyPr/>
                    <a:lstStyle/>
                    <a:p>
                      <a:r>
                        <a:rPr sz="1725" b="0">
                          <a:solidFill>
                            <a:srgbClr val="101B30"/>
                          </a:solidFill>
                          <a:latin typeface="Arial"/>
                          <a:ea typeface="Arial"/>
                          <a:cs typeface="Arial"/>
                        </a:rPr>
                        <a:t>5 seats × $425 × 12-month term</a:t>
                      </a:r>
                    </a:p>
                  </a:txBody>
                  <a:tcPr marL="91440" marR="91440" marT="45720" marB="45720">
                    <a:solidFill>
                      <a:srgbClr val="F7F5F0"/>
                    </a:solidFill>
                  </a:tcPr>
                </a:tc>
                <a:tc>
                  <a:txBody>
                    <a:bodyPr/>
                    <a:lstStyle/>
                    <a:p>
                      <a:r>
                        <a:rPr sz="1725" b="0">
                          <a:solidFill>
                            <a:srgbClr val="101B30"/>
                          </a:solidFill>
                          <a:latin typeface="Arial"/>
                          <a:ea typeface="Arial"/>
                          <a:cs typeface="Arial"/>
                        </a:rPr>
                        <a:t>$25,500</a:t>
                      </a:r>
                    </a:p>
                  </a:txBody>
                  <a:tcPr marL="91440" marR="91440" marT="45720" marB="45720">
                    <a:solidFill>
                      <a:srgbClr val="F7F5F0"/>
                    </a:solidFill>
                  </a:tcPr>
                </a:tc>
              </a:tr>
            </a:tbl>
          </a:graphicData>
        </a:graphic>
      </p:graphicFrame>
      <p:sp>
        <p:nvSpPr>
          <p:cNvPr id="6" name="">
            <a:extLst xmlns:a="http://schemas.openxmlformats.org/drawingml/2006/main">
              <a:ext uri="{FF2B5EF4-FFF2-40B4-BE49-F238E27FC236}">
                <a16:creationId xmlns:a16="http://schemas.microsoft.com/office/drawing/2014/main" id="{BDE227EF-D997-4042-88FE-D7BEFCAE231B}"/>
              </a:ext>
            </a:extLst>
          </p:cNvPr>
          <p:cNvSpPr>
            <a:spLocks xmlns:a="http://schemas.openxmlformats.org/drawingml/2006/main" noGrp="1"/>
          </p:cNvSpPr>
          <p:nvPr/>
        </p:nvSpPr>
        <p:spPr>
          <a:xfrm xmlns:a="http://schemas.openxmlformats.org/drawingml/2006/main">
            <a:off x="609600" y="55816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875" b="1">
                <a:solidFill>
                  <a:srgbClr val="535CB4"/>
                </a:solidFill>
                <a:latin typeface="Arial"/>
                <a:ea typeface="Arial"/>
                <a:cs typeface="Arial"/>
              </a:defRPr>
            </a:pPr>
            <a:r>
              <a:rPr sz="1875" b="1">
                <a:solidFill>
                  <a:srgbClr val="535CB4"/>
                </a:solidFill>
                <a:latin typeface="Arial"/>
                <a:ea typeface="Arial"/>
                <a:cs typeface="Arial"/>
              </a:rPr>
              <a:t>Small tech and fintech teams first. Broader in-house use follows demonstrated value.</a:t>
            </a:r>
          </a:p>
        </p:txBody>
      </p:sp>
      <p:sp>
        <p:nvSpPr>
          <p:cNvPr id="7" name="">
            <a:extLst xmlns:a="http://schemas.openxmlformats.org/drawingml/2006/main">
              <a:ext uri="{FF2B5EF4-FFF2-40B4-BE49-F238E27FC236}">
                <a16:creationId xmlns:a16="http://schemas.microsoft.com/office/drawing/2014/main" id="{C8094506-9A6B-4FBD-B0C4-543BD9581AFE}"/>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ACC population estimate. Themis pricing is proposed. Harvey is one anonymous quote, not a standard rate or verified payment.</a:t>
            </a:r>
          </a:p>
        </p:txBody>
      </p:sp>
    </p:spTree>
    <p:extLst>
      <p:ext uri="{BB962C8B-B14F-4D97-AF65-F5344CB8AC3E}">
        <p14:creationId xmlns:p14="http://schemas.microsoft.com/office/powerpoint/2010/main" val="717635436"/>
      </p:ext>
    </p:extLst>
  </p:cSld>
</p:sld>
</file>

<file path=ppt/slides/slide1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C0B68E-D16C-4463-B3D4-491A6DF6C9FA}"/>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APPENDIX / USE OF FUNDS</a:t>
            </a:r>
          </a:p>
        </p:txBody>
      </p:sp>
      <p:sp>
        <p:nvSpPr>
          <p:cNvPr id="2" name="">
            <a:extLst xmlns:a="http://schemas.openxmlformats.org/drawingml/2006/main">
              <a:ext uri="{FF2B5EF4-FFF2-40B4-BE49-F238E27FC236}">
                <a16:creationId xmlns:a16="http://schemas.microsoft.com/office/drawing/2014/main" id="{3EB2B826-4F4A-412F-A0A3-6C73CBED6DFB}"/>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An 18-month plan to establish paid use</a:t>
            </a:r>
          </a:p>
        </p:txBody>
      </p:sp>
      <p:sp>
        <p:nvSpPr>
          <p:cNvPr id="3" name="">
            <a:extLst xmlns:a="http://schemas.openxmlformats.org/drawingml/2006/main">
              <a:ext uri="{FF2B5EF4-FFF2-40B4-BE49-F238E27FC236}">
                <a16:creationId xmlns:a16="http://schemas.microsoft.com/office/drawing/2014/main" id="{299BB75C-34A9-4E5A-AD38-DCD7EFFA9EB5}"/>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BA333937-60B5-4275-AC7A-4FCED9ABD403}"/>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15</a:t>
            </a:r>
          </a:p>
        </p:txBody>
      </p:sp>
      <p:graphicFrame>
        <p:nvGraphicFramePr>
          <p:cNvPr id="13" name=""/>
          <p:cNvGraphicFramePr/>
          <p:nvPr/>
        </p:nvGraphicFramePr>
        <p:xfrm>
          <a:off xmlns:a="http://schemas.openxmlformats.org/drawingml/2006/main" x="609600" y="2381250"/>
          <a:ext xmlns:a="http://schemas.openxmlformats.org/drawingml/2006/main" cx="7134225" cy="3181350"/>
        </p:xfrm>
        <a:graphic xmlns:a="http://schemas.openxmlformats.org/drawingml/2006/main">
          <a:graphicData uri="http://schemas.openxmlformats.org/drawingml/2006/table">
            <a:tbl>
              <a:tblPr/>
              <a:tblGrid>
                <a:gridCol w="5067300"/>
                <a:gridCol w="2066925"/>
              </a:tblGrid>
              <a:tr h="438150">
                <a:tc>
                  <a:txBody>
                    <a:bodyPr/>
                    <a:lstStyle/>
                    <a:p>
                      <a:r>
                        <a:rPr sz="1650" b="1">
                          <a:solidFill>
                            <a:srgbClr val="F7F5F0"/>
                          </a:solidFill>
                          <a:latin typeface="Arial"/>
                          <a:ea typeface="Arial"/>
                          <a:cs typeface="Arial"/>
                        </a:rPr>
                        <a:t>Use of funds</a:t>
                      </a:r>
                    </a:p>
                  </a:txBody>
                  <a:tcPr marL="91440" marR="91440" marT="45720" marB="45720">
                    <a:solidFill>
                      <a:srgbClr val="101B30"/>
                    </a:solidFill>
                  </a:tcPr>
                </a:tc>
                <a:tc>
                  <a:txBody>
                    <a:bodyPr/>
                    <a:lstStyle/>
                    <a:p>
                      <a:r>
                        <a:rPr sz="1650" b="1">
                          <a:solidFill>
                            <a:srgbClr val="F7F5F0"/>
                          </a:solidFill>
                          <a:latin typeface="Arial"/>
                          <a:ea typeface="Arial"/>
                          <a:cs typeface="Arial"/>
                        </a:rPr>
                        <a:t>Proposed budget</a:t>
                      </a:r>
                    </a:p>
                  </a:txBody>
                  <a:tcPr marL="91440" marR="91440" marT="45720" marB="45720">
                    <a:solidFill>
                      <a:srgbClr val="101B30"/>
                    </a:solidFill>
                  </a:tcPr>
                </a:tc>
              </a:tr>
              <a:tr h="457200">
                <a:tc>
                  <a:txBody>
                    <a:bodyPr/>
                    <a:lstStyle/>
                    <a:p>
                      <a:r>
                        <a:rPr sz="1650" b="0">
                          <a:solidFill>
                            <a:srgbClr val="101B30"/>
                          </a:solidFill>
                          <a:latin typeface="Arial"/>
                          <a:ea typeface="Arial"/>
                          <a:cs typeface="Arial"/>
                        </a:rPr>
                        <a:t>Founder and technical delivery</a:t>
                      </a:r>
                    </a:p>
                  </a:txBody>
                  <a:tcPr marL="91440" marR="91440" marT="45720" marB="45720">
                    <a:solidFill>
                      <a:srgbClr val="F7F5F0"/>
                    </a:solidFill>
                  </a:tcPr>
                </a:tc>
                <a:tc>
                  <a:txBody>
                    <a:bodyPr/>
                    <a:lstStyle/>
                    <a:p>
                      <a:r>
                        <a:rPr sz="1650" b="0">
                          <a:solidFill>
                            <a:srgbClr val="101B30"/>
                          </a:solidFill>
                          <a:latin typeface="Arial"/>
                          <a:ea typeface="Arial"/>
                          <a:cs typeface="Arial"/>
                        </a:rPr>
                        <a:t>$900,000</a:t>
                      </a:r>
                    </a:p>
                  </a:txBody>
                  <a:tcPr marL="91440" marR="91440" marT="45720" marB="45720">
                    <a:solidFill>
                      <a:srgbClr val="F7F5F0"/>
                    </a:solidFill>
                  </a:tcPr>
                </a:tc>
              </a:tr>
              <a:tr h="457200">
                <a:tc>
                  <a:txBody>
                    <a:bodyPr/>
                    <a:lstStyle/>
                    <a:p>
                      <a:r>
                        <a:rPr sz="1650" b="0">
                          <a:solidFill>
                            <a:srgbClr val="101B30"/>
                          </a:solidFill>
                          <a:latin typeface="Arial"/>
                          <a:ea typeface="Arial"/>
                          <a:cs typeface="Arial"/>
                        </a:rPr>
                        <a:t>Customer development</a:t>
                      </a:r>
                    </a:p>
                  </a:txBody>
                  <a:tcPr marL="91440" marR="91440" marT="45720" marB="45720">
                    <a:solidFill>
                      <a:srgbClr val="F7F5F0"/>
                    </a:solidFill>
                  </a:tcPr>
                </a:tc>
                <a:tc>
                  <a:txBody>
                    <a:bodyPr/>
                    <a:lstStyle/>
                    <a:p>
                      <a:r>
                        <a:rPr sz="1650" b="0">
                          <a:solidFill>
                            <a:srgbClr val="101B30"/>
                          </a:solidFill>
                          <a:latin typeface="Arial"/>
                          <a:ea typeface="Arial"/>
                          <a:cs typeface="Arial"/>
                        </a:rPr>
                        <a:t>$180,000</a:t>
                      </a:r>
                    </a:p>
                  </a:txBody>
                  <a:tcPr marL="91440" marR="91440" marT="45720" marB="45720">
                    <a:solidFill>
                      <a:srgbClr val="F7F5F0"/>
                    </a:solidFill>
                  </a:tcPr>
                </a:tc>
              </a:tr>
              <a:tr h="457200">
                <a:tc>
                  <a:txBody>
                    <a:bodyPr/>
                    <a:lstStyle/>
                    <a:p>
                      <a:r>
                        <a:rPr sz="1650" b="0">
                          <a:solidFill>
                            <a:srgbClr val="101B30"/>
                          </a:solidFill>
                          <a:latin typeface="Arial"/>
                          <a:ea typeface="Arial"/>
                          <a:cs typeface="Arial"/>
                        </a:rPr>
                        <a:t>Models, research and infrastructure</a:t>
                      </a:r>
                    </a:p>
                  </a:txBody>
                  <a:tcPr marL="91440" marR="91440" marT="45720" marB="45720">
                    <a:solidFill>
                      <a:srgbClr val="F7F5F0"/>
                    </a:solidFill>
                  </a:tcPr>
                </a:tc>
                <a:tc>
                  <a:txBody>
                    <a:bodyPr/>
                    <a:lstStyle/>
                    <a:p>
                      <a:r>
                        <a:rPr sz="1650" b="0">
                          <a:solidFill>
                            <a:srgbClr val="101B30"/>
                          </a:solidFill>
                          <a:latin typeface="Arial"/>
                          <a:ea typeface="Arial"/>
                          <a:cs typeface="Arial"/>
                        </a:rPr>
                        <a:t>$150,000</a:t>
                      </a:r>
                    </a:p>
                  </a:txBody>
                  <a:tcPr marL="91440" marR="91440" marT="45720" marB="45720">
                    <a:solidFill>
                      <a:srgbClr val="F7F5F0"/>
                    </a:solidFill>
                  </a:tcPr>
                </a:tc>
              </a:tr>
              <a:tr h="457200">
                <a:tc>
                  <a:txBody>
                    <a:bodyPr/>
                    <a:lstStyle/>
                    <a:p>
                      <a:r>
                        <a:rPr sz="1650" b="0">
                          <a:solidFill>
                            <a:srgbClr val="101B30"/>
                          </a:solidFill>
                          <a:latin typeface="Arial"/>
                          <a:ea typeface="Arial"/>
                          <a:cs typeface="Arial"/>
                        </a:rPr>
                        <a:t>Secure pilot delivery and operations</a:t>
                      </a:r>
                    </a:p>
                  </a:txBody>
                  <a:tcPr marL="91440" marR="91440" marT="45720" marB="45720">
                    <a:solidFill>
                      <a:srgbClr val="F7F5F0"/>
                    </a:solidFill>
                  </a:tcPr>
                </a:tc>
                <a:tc>
                  <a:txBody>
                    <a:bodyPr/>
                    <a:lstStyle/>
                    <a:p>
                      <a:r>
                        <a:rPr sz="1650" b="0">
                          <a:solidFill>
                            <a:srgbClr val="101B30"/>
                          </a:solidFill>
                          <a:latin typeface="Arial"/>
                          <a:ea typeface="Arial"/>
                          <a:cs typeface="Arial"/>
                        </a:rPr>
                        <a:t>$120,000</a:t>
                      </a:r>
                    </a:p>
                  </a:txBody>
                  <a:tcPr marL="91440" marR="91440" marT="45720" marB="45720">
                    <a:solidFill>
                      <a:srgbClr val="F7F5F0"/>
                    </a:solidFill>
                  </a:tcPr>
                </a:tc>
              </a:tr>
              <a:tr h="457200">
                <a:tc>
                  <a:txBody>
                    <a:bodyPr/>
                    <a:lstStyle/>
                    <a:p>
                      <a:r>
                        <a:rPr sz="1650" b="0">
                          <a:solidFill>
                            <a:srgbClr val="101B30"/>
                          </a:solidFill>
                          <a:latin typeface="Arial"/>
                          <a:ea typeface="Arial"/>
                          <a:cs typeface="Arial"/>
                        </a:rPr>
                        <a:t>Contingency</a:t>
                      </a:r>
                    </a:p>
                  </a:txBody>
                  <a:tcPr marL="91440" marR="91440" marT="45720" marB="45720">
                    <a:solidFill>
                      <a:srgbClr val="F7F5F0"/>
                    </a:solidFill>
                  </a:tcPr>
                </a:tc>
                <a:tc>
                  <a:txBody>
                    <a:bodyPr/>
                    <a:lstStyle/>
                    <a:p>
                      <a:r>
                        <a:rPr sz="1650" b="0">
                          <a:solidFill>
                            <a:srgbClr val="101B30"/>
                          </a:solidFill>
                          <a:latin typeface="Arial"/>
                          <a:ea typeface="Arial"/>
                          <a:cs typeface="Arial"/>
                        </a:rPr>
                        <a:t>$150,000</a:t>
                      </a:r>
                    </a:p>
                  </a:txBody>
                  <a:tcPr marL="91440" marR="91440" marT="45720" marB="45720">
                    <a:solidFill>
                      <a:srgbClr val="F7F5F0"/>
                    </a:solidFill>
                  </a:tcPr>
                </a:tc>
              </a:tr>
              <a:tr h="457200">
                <a:tc>
                  <a:txBody>
                    <a:bodyPr/>
                    <a:lstStyle/>
                    <a:p>
                      <a:r>
                        <a:rPr sz="1650" b="0">
                          <a:solidFill>
                            <a:srgbClr val="101B30"/>
                          </a:solidFill>
                          <a:latin typeface="Arial"/>
                          <a:ea typeface="Arial"/>
                          <a:cs typeface="Arial"/>
                        </a:rPr>
                        <a:t>Total</a:t>
                      </a:r>
                    </a:p>
                  </a:txBody>
                  <a:tcPr marL="91440" marR="91440" marT="45720" marB="45720">
                    <a:solidFill>
                      <a:srgbClr val="F7F5F0"/>
                    </a:solidFill>
                  </a:tcPr>
                </a:tc>
                <a:tc>
                  <a:txBody>
                    <a:bodyPr/>
                    <a:lstStyle/>
                    <a:p>
                      <a:r>
                        <a:rPr sz="1650" b="0">
                          <a:solidFill>
                            <a:srgbClr val="101B30"/>
                          </a:solidFill>
                          <a:latin typeface="Arial"/>
                          <a:ea typeface="Arial"/>
                          <a:cs typeface="Arial"/>
                        </a:rPr>
                        <a:t>$1,500,000</a:t>
                      </a:r>
                    </a:p>
                  </a:txBody>
                  <a:tcPr marL="91440" marR="91440" marT="45720" marB="45720">
                    <a:solidFill>
                      <a:srgbClr val="F7F5F0"/>
                    </a:solidFill>
                  </a:tcPr>
                </a:tc>
              </a:tr>
            </a:tbl>
          </a:graphicData>
        </a:graphic>
      </p:graphicFrame>
      <p:sp>
        <p:nvSpPr>
          <p:cNvPr id="6" name="">
            <a:extLst xmlns:a="http://schemas.openxmlformats.org/drawingml/2006/main">
              <a:ext uri="{FF2B5EF4-FFF2-40B4-BE49-F238E27FC236}">
                <a16:creationId xmlns:a16="http://schemas.microsoft.com/office/drawing/2014/main" id="{3CC9D070-4D8A-461C-96DC-90860ECA2D51}"/>
              </a:ext>
            </a:extLst>
          </p:cNvPr>
          <p:cNvSpPr>
            <a:spLocks xmlns:a="http://schemas.openxmlformats.org/drawingml/2006/main" noGrp="1"/>
          </p:cNvSpPr>
          <p:nvPr/>
        </p:nvSpPr>
        <p:spPr>
          <a:xfrm xmlns:a="http://schemas.openxmlformats.org/drawingml/2006/main">
            <a:off x="8315325" y="242887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THE FUNDING TEST</a:t>
            </a:r>
          </a:p>
        </p:txBody>
      </p:sp>
      <p:sp>
        <p:nvSpPr>
          <p:cNvPr id="7" name="">
            <a:extLst xmlns:a="http://schemas.openxmlformats.org/drawingml/2006/main">
              <a:ext uri="{FF2B5EF4-FFF2-40B4-BE49-F238E27FC236}">
                <a16:creationId xmlns:a16="http://schemas.microsoft.com/office/drawing/2014/main" id="{877FF7B6-EC52-49C2-BDFB-2DF731523B1D}"/>
              </a:ext>
            </a:extLst>
          </p:cNvPr>
          <p:cNvSpPr>
            <a:spLocks xmlns:a="http://schemas.openxmlformats.org/drawingml/2006/main" noGrp="1"/>
          </p:cNvSpPr>
          <p:nvPr/>
        </p:nvSpPr>
        <p:spPr>
          <a:xfrm xmlns:a="http://schemas.openxmlformats.org/drawingml/2006/main">
            <a:off x="8315325" y="2876550"/>
            <a:ext cx="32385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Lawyers use it on live matters.</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They return and pay.</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Preparation effort falls.</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Delivery costs support the price.</a:t>
            </a:r>
          </a:p>
        </p:txBody>
      </p:sp>
      <p:sp>
        <p:nvSpPr>
          <p:cNvPr id="8" name="">
            <a:extLst xmlns:a="http://schemas.openxmlformats.org/drawingml/2006/main">
              <a:ext uri="{FF2B5EF4-FFF2-40B4-BE49-F238E27FC236}">
                <a16:creationId xmlns:a16="http://schemas.microsoft.com/office/drawing/2014/main" id="{FABFF414-3827-4DD0-80EF-F53C3D80F8F3}"/>
              </a:ext>
            </a:extLst>
          </p:cNvPr>
          <p:cNvSpPr>
            <a:spLocks xmlns:a="http://schemas.openxmlformats.org/drawingml/2006/main" noGrp="1"/>
          </p:cNvSpPr>
          <p:nvPr/>
        </p:nvSpPr>
        <p:spPr>
          <a:xfrm xmlns:a="http://schemas.openxmlformats.org/drawingml/2006/main">
            <a:off x="8315325" y="5514975"/>
            <a:ext cx="323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725" b="0">
                <a:solidFill>
                  <a:srgbClr val="596173"/>
                </a:solidFill>
                <a:latin typeface="Arial"/>
                <a:ea typeface="Arial"/>
                <a:cs typeface="Arial"/>
              </a:defRPr>
            </a:pPr>
            <a:r>
              <a:rPr sz="1725" b="0">
                <a:solidFill>
                  <a:srgbClr val="596173"/>
                </a:solidFill>
                <a:latin typeface="Arial"/>
                <a:ea typeface="Arial"/>
                <a:cs typeface="Arial"/>
              </a:rPr>
              <a:t>Hiring sequence and</a:t>
            </a:r>
          </a:p>
          <a:p xmlns:a="http://schemas.openxmlformats.org/drawingml/2006/main">
            <a:pPr>
              <a:lnSpc>
                <a:spcPct val="106000"/>
              </a:lnSpc>
              <a:buNone/>
              <a:defRPr sz="1725" b="0">
                <a:solidFill>
                  <a:srgbClr val="596173"/>
                </a:solidFill>
                <a:latin typeface="Arial"/>
                <a:ea typeface="Arial"/>
                <a:cs typeface="Arial"/>
              </a:defRPr>
            </a:pPr>
            <a:r>
              <a:rPr sz="1725" b="0">
                <a:solidFill>
                  <a:srgbClr val="596173"/>
                </a:solidFill>
                <a:latin typeface="Arial"/>
                <a:ea typeface="Arial"/>
                <a:cs typeface="Arial"/>
              </a:rPr>
              <a:t>financing terms remain open.</a:t>
            </a:r>
          </a:p>
        </p:txBody>
      </p:sp>
    </p:spTree>
    <p:extLst>
      <p:ext uri="{BB962C8B-B14F-4D97-AF65-F5344CB8AC3E}">
        <p14:creationId xmlns:p14="http://schemas.microsoft.com/office/powerpoint/2010/main" val="1426009083"/>
      </p:ext>
    </p:extLst>
  </p:cSld>
</p:sld>
</file>

<file path=ppt/slides/slide1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e8f17193d5c4dc2"/>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12368386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2026-09-05T04:28:30.7790000Z</dcterms:created>
  <dcterms:modified xsi:type="dcterms:W3CDTF">2026-09-05T04:28:30.7790000Z</dcterms:modified>
</coreProperties>
</file>