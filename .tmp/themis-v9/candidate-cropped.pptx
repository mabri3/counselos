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7a2f2d5645f48cd" /><Relationship Type="http://schemas.openxmlformats.org/officeDocument/2006/relationships/extended-properties" Target="/docProps/app.xml" Id="Rd42a639e7afe4250" /><Relationship Type="http://schemas.openxmlformats.org/officeDocument/2006/relationships/officeDocument" Target="/ppt/presentation.xml" Id="R18662c64c8f045c6" /></Relationships>
</file>

<file path=ppt/presentation.xml><?xml version="1.0" encoding="utf-8"?>
<p:presentation xmlns:p="http://schemas.openxmlformats.org/presentationml/2006/main">
  <p:sldMasterIdLst>
    <p:sldMasterId xmlns:r="http://schemas.openxmlformats.org/officeDocument/2006/relationships" id="2147483648" r:id="R379f99cc28474b2e"/>
  </p:sldMasterIdLst>
  <p:notesMasterIdLst>
    <p:notesMasterId xmlns:r="http://schemas.openxmlformats.org/officeDocument/2006/relationships" r:id="R4af8d843cd2646bd"/>
  </p:notesMasterIdLst>
  <p:sldIdLst>
    <p:sldId xmlns:r="http://schemas.openxmlformats.org/officeDocument/2006/relationships" id="256" r:id="R016ea5b9146c41c5"/>
    <p:sldId xmlns:r="http://schemas.openxmlformats.org/officeDocument/2006/relationships" id="257" r:id="R3158167b43374507"/>
    <p:sldId xmlns:r="http://schemas.openxmlformats.org/officeDocument/2006/relationships" id="258" r:id="R2849a0fc2c234a7d"/>
    <p:sldId xmlns:r="http://schemas.openxmlformats.org/officeDocument/2006/relationships" id="259" r:id="R4ec981d6259f4339"/>
    <p:sldId xmlns:r="http://schemas.openxmlformats.org/officeDocument/2006/relationships" id="260" r:id="Rea6b780097284772"/>
    <p:sldId xmlns:r="http://schemas.openxmlformats.org/officeDocument/2006/relationships" id="261" r:id="Raaf08c2ca19d49f6"/>
    <p:sldId xmlns:r="http://schemas.openxmlformats.org/officeDocument/2006/relationships" id="262" r:id="Reb72249ac8ce4dca"/>
    <p:sldId xmlns:r="http://schemas.openxmlformats.org/officeDocument/2006/relationships" id="263" r:id="R827ea98f8ac84989"/>
    <p:sldId xmlns:r="http://schemas.openxmlformats.org/officeDocument/2006/relationships" id="264" r:id="Re08912bd674f49f2"/>
    <p:sldId xmlns:r="http://schemas.openxmlformats.org/officeDocument/2006/relationships" id="265" r:id="R3a34292535a2479a"/>
    <p:sldId xmlns:r="http://schemas.openxmlformats.org/officeDocument/2006/relationships" id="266" r:id="R4177b7e743f042ab"/>
    <p:sldId xmlns:r="http://schemas.openxmlformats.org/officeDocument/2006/relationships" id="267" r:id="R3e39472f221b4759"/>
    <p:sldId xmlns:r="http://schemas.openxmlformats.org/officeDocument/2006/relationships" id="268" r:id="R847c6dd0f5bc4232"/>
    <p:sldId xmlns:r="http://schemas.openxmlformats.org/officeDocument/2006/relationships" id="269" r:id="Rec2dd94e95cd4b1c"/>
    <p:sldId xmlns:r="http://schemas.openxmlformats.org/officeDocument/2006/relationships" id="270" r:id="R7800e16664534f49"/>
    <p:sldId xmlns:r="http://schemas.openxmlformats.org/officeDocument/2006/relationships" id="271" r:id="R6dad61ba19de47ea"/>
    <p:sldId xmlns:r="http://schemas.openxmlformats.org/officeDocument/2006/relationships" id="272" r:id="R074d8cdf3ef64eb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9c0fcca40424bd6" /><Relationship Type="http://schemas.openxmlformats.org/officeDocument/2006/relationships/slideMaster" Target="/ppt/slideMasters/slideMaster1.xml" Id="R379f99cc28474b2e" /><Relationship Type="http://schemas.openxmlformats.org/officeDocument/2006/relationships/notesMaster" Target="/ppt/notesMasters/notesMaster1.xml" Id="R4af8d843cd2646bd" /><Relationship Type="http://schemas.openxmlformats.org/officeDocument/2006/relationships/presProps" Target="/ppt/presProps.xml" Id="Rfc6aede2b8e84bfb" /><Relationship Type="http://schemas.openxmlformats.org/officeDocument/2006/relationships/tableStyles" Target="/ppt/tableStyles.xml" Id="R178f8807fb77454c" /><Relationship Type="http://schemas.openxmlformats.org/officeDocument/2006/relationships/slide" Target="/ppt/slides/slide1.xml" Id="R016ea5b9146c41c5" /><Relationship Type="http://schemas.openxmlformats.org/officeDocument/2006/relationships/slide" Target="/ppt/slides/slide2.xml" Id="R3158167b43374507" /><Relationship Type="http://schemas.openxmlformats.org/officeDocument/2006/relationships/slide" Target="/ppt/slides/slide3.xml" Id="R2849a0fc2c234a7d" /><Relationship Type="http://schemas.openxmlformats.org/officeDocument/2006/relationships/slide" Target="/ppt/slides/slide4.xml" Id="R4ec981d6259f4339" /><Relationship Type="http://schemas.openxmlformats.org/officeDocument/2006/relationships/slide" Target="/ppt/slides/slide5.xml" Id="Rea6b780097284772" /><Relationship Type="http://schemas.openxmlformats.org/officeDocument/2006/relationships/slide" Target="/ppt/slides/slide6.xml" Id="Raaf08c2ca19d49f6" /><Relationship Type="http://schemas.openxmlformats.org/officeDocument/2006/relationships/slide" Target="/ppt/slides/slide7.xml" Id="Reb72249ac8ce4dca" /><Relationship Type="http://schemas.openxmlformats.org/officeDocument/2006/relationships/slide" Target="/ppt/slides/slide8.xml" Id="R827ea98f8ac84989" /><Relationship Type="http://schemas.openxmlformats.org/officeDocument/2006/relationships/slide" Target="/ppt/slides/slide9.xml" Id="Re08912bd674f49f2" /><Relationship Type="http://schemas.openxmlformats.org/officeDocument/2006/relationships/slide" Target="/ppt/slides/slide10.xml" Id="R3a34292535a2479a" /><Relationship Type="http://schemas.openxmlformats.org/officeDocument/2006/relationships/slide" Target="/ppt/slides/slide11.xml" Id="R4177b7e743f042ab" /><Relationship Type="http://schemas.openxmlformats.org/officeDocument/2006/relationships/slide" Target="/ppt/slides/slide12.xml" Id="R3e39472f221b4759" /><Relationship Type="http://schemas.openxmlformats.org/officeDocument/2006/relationships/slide" Target="/ppt/slides/slide13.xml" Id="R847c6dd0f5bc4232" /><Relationship Type="http://schemas.openxmlformats.org/officeDocument/2006/relationships/slide" Target="/ppt/slides/slide14.xml" Id="Rec2dd94e95cd4b1c" /><Relationship Type="http://schemas.openxmlformats.org/officeDocument/2006/relationships/slide" Target="/ppt/slides/slide15.xml" Id="R7800e16664534f49" /><Relationship Type="http://schemas.openxmlformats.org/officeDocument/2006/relationships/slide" Target="/ppt/slides/slide16.xml" Id="R6dad61ba19de47ea" /><Relationship Type="http://schemas.openxmlformats.org/officeDocument/2006/relationships/slide" Target="/ppt/slides/slide17.xml" Id="R074d8cdf3ef64eb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487d987811c4c7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25a659aa9764fc2" /><Relationship Type="http://schemas.openxmlformats.org/officeDocument/2006/relationships/notesMaster" Target="/ppt/notesMasters/notesMaster1.xml" Id="Ra689467bb1be4340" /></Relationships>
</file>

<file path=ppt/notesSlides/_rels/notesSlide2.xml.rels>&#65279;<?xml version="1.0" encoding="utf-8"?><Relationships xmlns="http://schemas.openxmlformats.org/package/2006/relationships"><Relationship Type="http://schemas.openxmlformats.org/officeDocument/2006/relationships/slide" Target="/ppt/slides/slide2.xml" Id="Rec7689a32dee43e2" /><Relationship Type="http://schemas.openxmlformats.org/officeDocument/2006/relationships/notesMaster" Target="/ppt/notesMasters/notesMaster1.xml" Id="R88f49a27881a4728" /></Relationships>
</file>

<file path=ppt/notesSlides/_rels/notesSlide3.xml.rels>&#65279;<?xml version="1.0" encoding="utf-8"?><Relationships xmlns="http://schemas.openxmlformats.org/package/2006/relationships"><Relationship Type="http://schemas.openxmlformats.org/officeDocument/2006/relationships/slide" Target="/ppt/slides/slide3.xml" Id="Rc630523200d14d60" /><Relationship Type="http://schemas.openxmlformats.org/officeDocument/2006/relationships/notesMaster" Target="/ppt/notesMasters/notesMaster1.xml" Id="R69104e9ea769483f" /></Relationships>
</file>

<file path=ppt/notesSlides/_rels/notesSlide4.xml.rels>&#65279;<?xml version="1.0" encoding="utf-8"?><Relationships xmlns="http://schemas.openxmlformats.org/package/2006/relationships"><Relationship Type="http://schemas.openxmlformats.org/officeDocument/2006/relationships/slide" Target="/ppt/slides/slide4.xml" Id="R96cc3ecd1eb540c4" /><Relationship Type="http://schemas.openxmlformats.org/officeDocument/2006/relationships/notesMaster" Target="/ppt/notesMasters/notesMaster1.xml" Id="Rae60485386774fc4" /></Relationships>
</file>

<file path=ppt/notesSlides/_rels/notesSlide5.xml.rels>&#65279;<?xml version="1.0" encoding="utf-8"?><Relationships xmlns="http://schemas.openxmlformats.org/package/2006/relationships"><Relationship Type="http://schemas.openxmlformats.org/officeDocument/2006/relationships/slide" Target="/ppt/slides/slide5.xml" Id="R07d5180b9057440f" /><Relationship Type="http://schemas.openxmlformats.org/officeDocument/2006/relationships/notesMaster" Target="/ppt/notesMasters/notesMaster1.xml" Id="Raf0618cfcf54428a" /></Relationships>
</file>

<file path=ppt/notesSlides/_rels/notesSlide6.xml.rels>&#65279;<?xml version="1.0" encoding="utf-8"?><Relationships xmlns="http://schemas.openxmlformats.org/package/2006/relationships"><Relationship Type="http://schemas.openxmlformats.org/officeDocument/2006/relationships/slide" Target="/ppt/slides/slide6.xml" Id="R238d23d62c6a4594" /><Relationship Type="http://schemas.openxmlformats.org/officeDocument/2006/relationships/notesMaster" Target="/ppt/notesMasters/notesMaster1.xml" Id="Rf1d924c118fb4812" /></Relationships>
</file>

<file path=ppt/notesSlides/_rels/notesSlide7.xml.rels>&#65279;<?xml version="1.0" encoding="utf-8"?><Relationships xmlns="http://schemas.openxmlformats.org/package/2006/relationships"><Relationship Type="http://schemas.openxmlformats.org/officeDocument/2006/relationships/slide" Target="/ppt/slides/slide7.xml" Id="R7cd14f75ce2c4a1d" /><Relationship Type="http://schemas.openxmlformats.org/officeDocument/2006/relationships/notesMaster" Target="/ppt/notesMasters/notesMaster1.xml" Id="R0d03c938be4644ee" /></Relationships>
</file>

<file path=ppt/notesSlides/_rels/notesSlide8.xml.rels>&#65279;<?xml version="1.0" encoding="utf-8"?><Relationships xmlns="http://schemas.openxmlformats.org/package/2006/relationships"><Relationship Type="http://schemas.openxmlformats.org/officeDocument/2006/relationships/slide" Target="/ppt/slides/slide8.xml" Id="Rdb7ce9caed954d85" /><Relationship Type="http://schemas.openxmlformats.org/officeDocument/2006/relationships/notesMaster" Target="/ppt/notesMasters/notesMaster1.xml" Id="R8d25abe9615e45df" /></Relationships>
</file>

<file path=ppt/notesSlides/_rels/notesSlide9.xml.rels>&#65279;<?xml version="1.0" encoding="utf-8"?><Relationships xmlns="http://schemas.openxmlformats.org/package/2006/relationships"><Relationship Type="http://schemas.openxmlformats.org/officeDocument/2006/relationships/slide" Target="/ppt/slides/slide9.xml" Id="R4839b68b0fa24e10" /><Relationship Type="http://schemas.openxmlformats.org/officeDocument/2006/relationships/notesMaster" Target="/ppt/notesMasters/notesMaster1.xml" Id="R3929b36b612a45b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c3b3d2b39464aae" /><Relationship Type="http://schemas.openxmlformats.org/officeDocument/2006/relationships/notesMaster" Target="/ppt/notesMasters/notesMaster1.xml" Id="R5f0ec4ad2f954eb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00b8ce94b4340a7" /><Relationship Type="http://schemas.openxmlformats.org/officeDocument/2006/relationships/notesMaster" Target="/ppt/notesMasters/notesMaster1.xml" Id="Raa54964b0f6b447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3a9d31b09b54e6a" /><Relationship Type="http://schemas.openxmlformats.org/officeDocument/2006/relationships/notesMaster" Target="/ppt/notesMasters/notesMaster1.xml" Id="Ra40ba730e8b1453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838774620364113" /><Relationship Type="http://schemas.openxmlformats.org/officeDocument/2006/relationships/notesMaster" Target="/ppt/notesMasters/notesMaster1.xml" Id="Re21ae52d95bd4c0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088f02c588a43a3" /><Relationship Type="http://schemas.openxmlformats.org/officeDocument/2006/relationships/notesMaster" Target="/ppt/notesMasters/notesMaster1.xml" Id="R24f8458670734d9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2108a09002f4356" /><Relationship Type="http://schemas.openxmlformats.org/officeDocument/2006/relationships/notesMaster" Target="/ppt/notesMasters/notesMaster1.xml" Id="Re10abc63ed8c41e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8a7af1656da4734" /><Relationship Type="http://schemas.openxmlformats.org/officeDocument/2006/relationships/notesMaster" Target="/ppt/notesMasters/notesMaster1.xml" Id="R00004281a6614c5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eeaae3d36bc4cd0" /><Relationship Type="http://schemas.openxmlformats.org/officeDocument/2006/relationships/notesMaster" Target="/ppt/notesMasters/notesMaster1.xml" Id="Rb508db34b69d4c3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Themis’s intended customer outcome, not a measured performance claim. Positioning follows the founder-approved promise: Themis equips lawyers to advise with confidence—and gives them more time to be present in the room, shaping business decisions. Associate describes the intended working relationship, not a human employee. Artwork retained from v7.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Illustrative launch request, not a customer quotation. Founder thesis supported directionally by brand_pitch.md and four exploratory counsel interviews in output/research/raw/interviews/in-house-counsel/. Interviews describe unfamiliar legal questions, incomplete intake, verification effort and the importance of business context. They do not establish prevalence or customer traction. The pain is reaching grounded readiness to advise under time pressure, not research being inherently valueless.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Sources: brand_pitch.md, docs/PRD.md, vault/00_System/user.md and the founder’s current direction. A strong associate adapts to the partner’s style, rather than requiring the partner to learn a new method. Themis aims to provide that system and useful investigative initiative. Existing preferences and workflows do not prove effortless adaptation or autonomous issue discovery. Confidence should follow understanding and useful materials, not reassurance or apparent model certainty.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Sources: vault/03_Matters/relay-open-banking/recommendations.md and drafts/decision-note.md. The opening request is invented explanatory copy. Seeded demo facts separate existing account services from proposed marketing/lending uses, and identify a choice between all-user reauthorization within 90 days and the next bank-required event. Neither path is a verified legal conclusion here. This demonstrates the intended experience of exposing a material adjacent issue and supporting the lawyer’s decision. It does not demonstrate that the running product discovered it autonomously.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Actual source screenshot: output/deck/screenshots/matter-relay.png, used in v7/v8. Draft decision note: vault/03_Matters/relay-open-banking/drafts/decision-note.md, separate from the screenshot. The screenshot shows matter organization and the open decision question. Seeded content and the draft support the intended work-product structure, not measured autonomous research performance. Product aims to give the lawyer inspectable materials and understanding to stand behind the advice. Useful recommendations remain distinct from explicitly recorded lawyer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Current official sources checked September 4–5, 2026: https://claude.com/blog/deploying-claude-across-the-legal-industry ; https://claude.com/plugins/legal ; https://claude.com/blog/research ; https://help.openai.com/en/articles/10169521-projects-in-chatgpt ; https://help.openai.com/en/articles/10500283-deep-research . Claude already supports legal customization, research and matter-level work. Both can explore alternatives and ask questions. Themis’s claim is a proposed advantage in default workflow and total directing effort, not exclusive capabilities, proven superiority, or freedom from model errors. Competitor usage in interviews/corpus is qualitative evidence, not market share. Compare against reasonably configured tools including Claude legal plugins.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Verified source, accessed September 4–5, 2026: https://www.acc.com/sites/default/files/2026-01/2026-ACC-Chief-Legal-Officers-Survey-Key-Findings.pdf Key findings p. 2, section 05. Survey scope: 1,049 participants, 20 industries, 43 countries. These statistics are not small-team-only estimates and do not establish Themis demand. The commercial opening is our strategic inference: legal departments are actively choosing how to deploy AI while focusing on the work of existing lawyers.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Sources: four exploratory in-house counsel interviews, brand_pitch.md, and output/research/themis-counselos-legal-ai-competitive-strategy.docx. Segment and triggers are proposed commercial choices. Interviews include different views and successful existing-tool use; they are not four customers or four pilot commitments. First access must fit the participant’s data requirements. Team sharing is a future product expansion.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Proposed Themis price: $500/seat/month, $6,000/seat/year at 12 months; no annual discount assumed. Current public reference: https://gc.ai/pricing lists an individual plan at $500/month; this is a competitor offer, not proof of willingness to pay Themis. Value illustration: 1 net hour/week × 4 weeks/month × $250/hour = $1,000/month of capacity. The $250/hour is a modeling assumption, not a measured salary or billable rate. Recovery of time does not automatically reduce payroll or outside-counsel spend. Initial offer should set clear included usage once observed delivery cost is known.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Verified population source: https://www.acc.com/sites/default/files/resources/upload/US-In-house-Counsel-Population-Statistics.pdf (ACC, 2025), pp. 1–2: roughly 145,000 U.S. in-house counsel in 2024, estimated from BLS employment data by subtracting law-firm and government lawyers. This includes more than Themis’s initial segment. Model: 145,000 × $6,000 = $870,000,000 annual revenue potential at full penetration and unchanged per-seat pricing. Proposed serviceable segment sensitivity: 10–20% × 145,000 = 14,500–29,000 seats; × $6,000 = $87–174 million. The 10–20% is an explicit unverified planning assumption, not ACC data. These values are neither bookings nor revenue forecasts. No law-firm or international market is added.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Proposed founder-led acquisition plan, grounded in the four existing exploratory interview files and Brian’s reported general-counsel/product-counsel experience. No referrals, partnerships, pipeline, sales commitments or conversion rates are claimed. Target 20 qualified buyer conversations, 10 pilot users, 5 paying users in first 90 days after pilot access is ready. Later channels to test: counsel communities and referrals from fractional general counsel, with no implied association endorsement. Expansion through another lawyer depends on shared-work capability, which is not currently shipped.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Founder facts carried from source deck v7 and brand_pitch.md; v7 notes cite Brian’s supplied January 2026 resume. Seventeen years is founder-reported (the older resume says 15+). First-person headline is proposed founder copy based on brand_pitch.md’s interview-derived motivation and the founder’s current request for more passion, not a verbatim quotation. AI/natural-language research is historical. No current employer or employer endorsement is implied.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Pilot plan: compare matched tasks with configured Claude (including legal tools) and ChatGPT. Capture total lawyer time including setup, prompting, checking, corrections and drafting. Record relevant issues surfaced without lawyer prompting. Pair self-reported readiness to advise with the lawyer’s explanation of the recommendation, support and material alternatives; confidence alone is insufficient. Proposed effort target: median 25% reduction. Repeat-use denominator: activated pilot lawyers completing their first matter; 60% start a second distinct matter within 30 days. Commercial model: 25 teams × 2 seats × $500/month × 12 = $300,000 annual recurring revenue run rate. Not recognized cumulative revenue. Shared work needs development. Retention thesis: repeated useful support earns a habitual role in the lawyer’s work. It is not yet a proven moat.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Founder-approved closing line retained exactly. Product outcomes are the intended promise, not proven results. Proposed raise and 18-month plan, carried from v8 at the founder’s request for commercial proposals. Budget: $900k founder and technical delivery; $180k customer development; $150k models/research/infrastructure; $120k secure pilot delivery and operations; $150k contingency. Total $1.5m. Founding technical leader remains open. Financing instrument and final staffing remain open. Commercial milestones are targets.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Partnership table retained from v7 with the accepted headline and all five rows. Capacity and quality are product requirements, not measured guarantees. Memory is supporting capability, not the lead commercial thesis.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Original supplied brand-principles slide retained unchanged from v7 slide 14. Source artwork is raster; its text is intentionally retained as supplied. Principles are product requirements rather than guarantees.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Budget arithmetic: 900,000+180,000+150,000+120,000+150,000=1,500,000. 18-month average including contingency = 83,333.33/month. Founder and technical delivery includes compensation, taxes/benefits and contractor capacity; final staffing/location assumptions remain open. Price economics should be tested on observed model, research, infrastructure and support costs before offering unrestricted usage. All commercial numbers in this deck are proposed unless expressly sourced. Sources are in relevant slide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306ae8b1c8e4ec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f664c73aaeb4f2e" /><Relationship Type="http://schemas.openxmlformats.org/officeDocument/2006/relationships/slideLayout" Target="/ppt/slideLayouts/slideLayout1.xml" Id="R5e0f929fabbc4c8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e0f929fabbc4c8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a035ebe5c7142f8" /><Relationship Type="http://schemas.openxmlformats.org/officeDocument/2006/relationships/image" Target="/ppt/media/image.png" Id="R962dff85300b4e53" /><Relationship Type="http://schemas.openxmlformats.org/officeDocument/2006/relationships/notesSlide" Target="/ppt/notesSlides/notesSlide1.xml" Id="R4b3bb35c041b40c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75a6fbc3b2d4446" /><Relationship Type="http://schemas.openxmlformats.org/officeDocument/2006/relationships/notesSlide" Target="/ppt/notesSlides/notesSlide2.xml" Id="Rb1acc387595e40c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c4251e63fd74b9a" /><Relationship Type="http://schemas.openxmlformats.org/officeDocument/2006/relationships/notesSlide" Target="/ppt/notesSlides/notesSlide3.xml" Id="Recbcd752fee6491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e778bb4be4e45e2" /><Relationship Type="http://schemas.openxmlformats.org/officeDocument/2006/relationships/notesSlide" Target="/ppt/notesSlides/notesSlide4.xml" Id="R1f5765d5748e4af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f6a0e306ae041e3" /><Relationship Type="http://schemas.openxmlformats.org/officeDocument/2006/relationships/image" Target="/ppt/media/image2.png" Id="Rcd0f23b822aa408f" /><Relationship Type="http://schemas.openxmlformats.org/officeDocument/2006/relationships/notesSlide" Target="/ppt/notesSlides/notesSlide5.xml" Id="Rd193ac8eb72a46c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d16e702758e4f0c" /><Relationship Type="http://schemas.openxmlformats.org/officeDocument/2006/relationships/notesSlide" Target="/ppt/notesSlides/notesSlide6.xml" Id="Rfccb5248242f47a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d8d615b48f94737" /><Relationship Type="http://schemas.openxmlformats.org/officeDocument/2006/relationships/notesSlide" Target="/ppt/notesSlides/notesSlide7.xml" Id="R5ce97fb91254406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3c43b333dba466d" /><Relationship Type="http://schemas.openxmlformats.org/officeDocument/2006/relationships/notesSlide" Target="/ppt/notesSlides/notesSlide8.xml" Id="R27821ef6411141d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4d9af504fc847ae" /><Relationship Type="http://schemas.openxmlformats.org/officeDocument/2006/relationships/notesSlide" Target="/ppt/notesSlides/notesSlide9.xml" Id="Raf51accd5d08436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f1729cdaf754629" /><Relationship Type="http://schemas.openxmlformats.org/officeDocument/2006/relationships/notesSlide" Target="/ppt/notesSlides/notesSlide10.xml" Id="R08b77499ca10462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74ad07f496a42d9" /><Relationship Type="http://schemas.openxmlformats.org/officeDocument/2006/relationships/notesSlide" Target="/ppt/notesSlides/notesSlide11.xml" Id="R2b795090b2b6488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b1d955e09574c46" /><Relationship Type="http://schemas.openxmlformats.org/officeDocument/2006/relationships/notesSlide" Target="/ppt/notesSlides/notesSlide12.xml" Id="R7db0f9870c23430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8ef1ccfc8464354" /><Relationship Type="http://schemas.openxmlformats.org/officeDocument/2006/relationships/notesSlide" Target="/ppt/notesSlides/notesSlide13.xml" Id="Rbe1d3d3681e24e8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49644dd0cd54f68" /><Relationship Type="http://schemas.openxmlformats.org/officeDocument/2006/relationships/notesSlide" Target="/ppt/notesSlides/notesSlide14.xml" Id="Rf20a9c8d55a1406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d120d49acd54179" /><Relationship Type="http://schemas.openxmlformats.org/officeDocument/2006/relationships/notesSlide" Target="/ppt/notesSlides/notesSlide15.xml" Id="R682dda45fbcc43d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09f2374b25c4253" /><Relationship Type="http://schemas.openxmlformats.org/officeDocument/2006/relationships/image" Target="/ppt/media/image3.png" Id="Racfbfef2af4e4739" /><Relationship Type="http://schemas.openxmlformats.org/officeDocument/2006/relationships/notesSlide" Target="/ppt/notesSlides/notesSlide16.xml" Id="R9a1bb4d371194ea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195e5fb014b4c25" /><Relationship Type="http://schemas.openxmlformats.org/officeDocument/2006/relationships/notesSlide" Target="/ppt/notesSlides/notesSlide17.xml" Id="R458917a31baa4bf7" /></Relationships>
</file>

<file path=ppt/slides/slide1.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962dff85300b4e53"/>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C952127-2362-47A4-8B09-BD300CC37B31}"/>
              </a:ext>
            </a:extLst>
          </p:cNvPr>
          <p:cNvSpPr>
            <a:spLocks xmlns:a="http://schemas.openxmlformats.org/drawingml/2006/main" noGrp="1"/>
          </p:cNvSpPr>
          <p:nvPr/>
        </p:nvSpPr>
        <p:spPr>
          <a:xfrm xmlns:a="http://schemas.openxmlformats.org/drawingml/2006/main">
            <a:off x="0" y="0"/>
            <a:ext cx="6905625" cy="6858000"/>
          </a:xfrm>
          <a:prstGeom xmlns:a="http://schemas.openxmlformats.org/drawingml/2006/main" prst="rect">
            <a:avLst/>
          </a:prstGeom>
          <a:solidFill xmlns:a="http://schemas.openxmlformats.org/drawingml/2006/main">
            <a:srgbClr val="17243E"/>
          </a:solidFill>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F050A25A-2138-434D-86A6-9B65BC454B9F}"/>
              </a:ext>
            </a:extLst>
          </p:cNvPr>
          <p:cNvSpPr>
            <a:spLocks xmlns:a="http://schemas.openxmlformats.org/drawingml/2006/main" noGrp="1"/>
          </p:cNvSpPr>
          <p:nvPr/>
        </p:nvSpPr>
        <p:spPr>
          <a:xfrm xmlns:a="http://schemas.openxmlformats.org/drawingml/2006/main">
            <a:off x="609600" y="495300"/>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00" b="1">
                <a:solidFill>
                  <a:srgbClr val="FAF8F2"/>
                </a:solidFill>
                <a:latin typeface="Arial"/>
                <a:ea typeface="Arial"/>
                <a:cs typeface="Arial"/>
              </a:defRPr>
            </a:pPr>
            <a:r>
              <a:rPr sz="2400" b="1">
                <a:solidFill>
                  <a:srgbClr val="FAF8F2"/>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06FB5972-54BD-421A-9C4B-D149FAC7C9F9}"/>
              </a:ext>
            </a:extLst>
          </p:cNvPr>
          <p:cNvSpPr>
            <a:spLocks xmlns:a="http://schemas.openxmlformats.org/drawingml/2006/main" noGrp="1"/>
          </p:cNvSpPr>
          <p:nvPr/>
        </p:nvSpPr>
        <p:spPr>
          <a:xfrm xmlns:a="http://schemas.openxmlformats.org/drawingml/2006/main">
            <a:off x="609600" y="1933575"/>
            <a:ext cx="6191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4275" b="1">
                <a:solidFill>
                  <a:srgbClr val="FAF8F2"/>
                </a:solidFill>
                <a:latin typeface="Georgia"/>
                <a:ea typeface="Georgia"/>
                <a:cs typeface="Georgia"/>
              </a:defRPr>
            </a:pPr>
            <a:r>
              <a:rPr sz="4275" b="1">
                <a:solidFill>
                  <a:srgbClr val="FAF8F2"/>
                </a:solidFill>
                <a:latin typeface="Georgia"/>
                <a:ea typeface="Georgia"/>
                <a:cs typeface="Georgia"/>
              </a:rPr>
              <a:t>Equipped to advise</a:t>
            </a:r>
          </a:p>
          <a:p xmlns:a="http://schemas.openxmlformats.org/drawingml/2006/main">
            <a:pPr>
              <a:lnSpc>
                <a:spcPct val="108000"/>
              </a:lnSpc>
              <a:buNone/>
              <a:defRPr sz="4275" b="1">
                <a:solidFill>
                  <a:srgbClr val="FAF8F2"/>
                </a:solidFill>
                <a:latin typeface="Georgia"/>
                <a:ea typeface="Georgia"/>
                <a:cs typeface="Georgia"/>
              </a:defRPr>
            </a:pPr>
            <a:r>
              <a:rPr sz="4275" b="1">
                <a:solidFill>
                  <a:srgbClr val="FAF8F2"/>
                </a:solidFill>
                <a:latin typeface="Georgia"/>
                <a:ea typeface="Georgia"/>
                <a:cs typeface="Georgia"/>
              </a:rPr>
              <a:t>with confidence</a:t>
            </a:r>
          </a:p>
        </p:txBody>
      </p:sp>
      <p:sp>
        <p:nvSpPr>
          <p:cNvPr id="5" name="">
            <a:extLst xmlns:a="http://schemas.openxmlformats.org/drawingml/2006/main">
              <a:ext uri="{FF2B5EF4-FFF2-40B4-BE49-F238E27FC236}">
                <a16:creationId xmlns:a16="http://schemas.microsoft.com/office/drawing/2014/main" id="{EB773F0C-57A4-4098-9525-5DAB908BFF26}"/>
              </a:ext>
            </a:extLst>
          </p:cNvPr>
          <p:cNvSpPr>
            <a:spLocks xmlns:a="http://schemas.openxmlformats.org/drawingml/2006/main" noGrp="1"/>
          </p:cNvSpPr>
          <p:nvPr/>
        </p:nvSpPr>
        <p:spPr>
          <a:xfrm xmlns:a="http://schemas.openxmlformats.org/drawingml/2006/main">
            <a:off x="638175" y="4191000"/>
            <a:ext cx="5953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75" b="0">
                <a:solidFill>
                  <a:srgbClr val="FAF8F2"/>
                </a:solidFill>
                <a:latin typeface="Arial"/>
                <a:ea typeface="Arial"/>
                <a:cs typeface="Arial"/>
              </a:defRPr>
            </a:pPr>
            <a:r>
              <a:rPr sz="2475" b="0">
                <a:solidFill>
                  <a:srgbClr val="FAF8F2"/>
                </a:solidFill>
                <a:latin typeface="Arial"/>
                <a:ea typeface="Arial"/>
                <a:cs typeface="Arial"/>
              </a:rPr>
              <a:t>A capable AI associate</a:t>
            </a:r>
          </a:p>
          <a:p xmlns:a="http://schemas.openxmlformats.org/drawingml/2006/main">
            <a:pPr>
              <a:lnSpc>
                <a:spcPct val="108000"/>
              </a:lnSpc>
              <a:buNone/>
              <a:defRPr sz="2475" b="0">
                <a:solidFill>
                  <a:srgbClr val="FAF8F2"/>
                </a:solidFill>
                <a:latin typeface="Arial"/>
                <a:ea typeface="Arial"/>
                <a:cs typeface="Arial"/>
              </a:defRPr>
            </a:pPr>
            <a:r>
              <a:rPr sz="2475" b="0">
                <a:solidFill>
                  <a:srgbClr val="FAF8F2"/>
                </a:solidFill>
                <a:latin typeface="Arial"/>
                <a:ea typeface="Arial"/>
                <a:cs typeface="Arial"/>
              </a:rPr>
              <a:t>built around the lawyer.</a:t>
            </a:r>
          </a:p>
        </p:txBody>
      </p:sp>
      <p:sp>
        <p:nvSpPr>
          <p:cNvPr id="6" name="">
            <a:extLst xmlns:a="http://schemas.openxmlformats.org/drawingml/2006/main">
              <a:ext uri="{FF2B5EF4-FFF2-40B4-BE49-F238E27FC236}">
                <a16:creationId xmlns:a16="http://schemas.microsoft.com/office/drawing/2014/main" id="{5CF1B393-4AD1-42B1-900F-89A792B242F9}"/>
              </a:ext>
            </a:extLst>
          </p:cNvPr>
          <p:cNvSpPr>
            <a:spLocks xmlns:a="http://schemas.openxmlformats.org/drawingml/2006/main" noGrp="1"/>
          </p:cNvSpPr>
          <p:nvPr/>
        </p:nvSpPr>
        <p:spPr>
          <a:xfrm xmlns:a="http://schemas.openxmlformats.org/drawingml/2006/main">
            <a:off x="638175" y="5476875"/>
            <a:ext cx="6000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D8B66A"/>
                </a:solidFill>
                <a:latin typeface="Arial"/>
                <a:ea typeface="Arial"/>
                <a:cs typeface="Arial"/>
              </a:defRPr>
            </a:pPr>
            <a:r>
              <a:rPr sz="2025" b="0">
                <a:solidFill>
                  <a:srgbClr val="D8B66A"/>
                </a:solidFill>
                <a:latin typeface="Arial"/>
                <a:ea typeface="Arial"/>
                <a:cs typeface="Arial"/>
              </a:rPr>
              <a:t>More time in the room,</a:t>
            </a:r>
          </a:p>
          <a:p xmlns:a="http://schemas.openxmlformats.org/drawingml/2006/main">
            <a:pPr>
              <a:lnSpc>
                <a:spcPct val="108000"/>
              </a:lnSpc>
              <a:buNone/>
              <a:defRPr sz="2025" b="0">
                <a:solidFill>
                  <a:srgbClr val="D8B66A"/>
                </a:solidFill>
                <a:latin typeface="Arial"/>
                <a:ea typeface="Arial"/>
                <a:cs typeface="Arial"/>
              </a:defRPr>
            </a:pPr>
            <a:r>
              <a:rPr sz="2025" b="0">
                <a:solidFill>
                  <a:srgbClr val="D8B66A"/>
                </a:solidFill>
                <a:latin typeface="Arial"/>
                <a:ea typeface="Arial"/>
                <a:cs typeface="Arial"/>
              </a:rPr>
              <a:t>shaping business decisions.</a:t>
            </a:r>
          </a:p>
        </p:txBody>
      </p:sp>
      <p:sp>
        <p:nvSpPr>
          <p:cNvPr id="7" name="">
            <a:extLst xmlns:a="http://schemas.openxmlformats.org/drawingml/2006/main">
              <a:ext uri="{FF2B5EF4-FFF2-40B4-BE49-F238E27FC236}">
                <a16:creationId xmlns:a16="http://schemas.microsoft.com/office/drawing/2014/main" id="{358B290B-7680-4ABE-9DCB-0FC621D47631}"/>
              </a:ext>
            </a:extLst>
          </p:cNvPr>
          <p:cNvSpPr>
            <a:spLocks xmlns:a="http://schemas.openxmlformats.org/drawingml/2006/main" noGrp="1"/>
          </p:cNvSpPr>
          <p:nvPr/>
        </p:nvSpPr>
        <p:spPr>
          <a:xfrm xmlns:a="http://schemas.openxmlformats.org/drawingml/2006/main">
            <a:off x="638175" y="6410325"/>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0">
                <a:solidFill>
                  <a:srgbClr val="DCE1EA"/>
                </a:solidFill>
                <a:latin typeface="Arial"/>
                <a:ea typeface="Arial"/>
                <a:cs typeface="Arial"/>
              </a:defRPr>
            </a:pPr>
            <a:r>
              <a:rPr sz="1275" b="0">
                <a:solidFill>
                  <a:srgbClr val="DCE1EA"/>
                </a:solidFill>
                <a:latin typeface="Arial"/>
                <a:ea typeface="Arial"/>
                <a:cs typeface="Arial"/>
              </a:rPr>
              <a:t>Brian Harris, Founder   /   September 2026</a:t>
            </a:r>
          </a:p>
        </p:txBody>
      </p:sp>
    </p:spTree>
    <p:extLst>
      <p:ext uri="{BB962C8B-B14F-4D97-AF65-F5344CB8AC3E}">
        <p14:creationId xmlns:p14="http://schemas.microsoft.com/office/powerpoint/2010/main" val="444416939"/>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B942EA9-415A-42C0-BB0C-F391C3BEE46E}"/>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THE LAWYER’S PROBLEM</a:t>
            </a:r>
          </a:p>
        </p:txBody>
      </p:sp>
      <p:sp>
        <p:nvSpPr>
          <p:cNvPr id="2" name="">
            <a:extLst xmlns:a="http://schemas.openxmlformats.org/drawingml/2006/main">
              <a:ext uri="{FF2B5EF4-FFF2-40B4-BE49-F238E27FC236}">
                <a16:creationId xmlns:a16="http://schemas.microsoft.com/office/drawing/2014/main" id="{75A76CB6-4E4A-4923-AADD-4CE8EB3723E8}"/>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The business asks, “Can we ship Friday?”</a:t>
            </a:r>
          </a:p>
        </p:txBody>
      </p:sp>
      <p:sp>
        <p:nvSpPr>
          <p:cNvPr id="3" name="">
            <a:extLst xmlns:a="http://schemas.openxmlformats.org/drawingml/2006/main">
              <a:ext uri="{FF2B5EF4-FFF2-40B4-BE49-F238E27FC236}">
                <a16:creationId xmlns:a16="http://schemas.microsoft.com/office/drawing/2014/main" id="{DC845BE0-EBBC-4083-B389-8A9811D48A55}"/>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8539DE8A-36E0-48CE-A222-1C6DA517CDC7}"/>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5404BFCD-DFBD-4E57-BDA0-10ADB87D040E}"/>
              </a:ext>
            </a:extLst>
          </p:cNvPr>
          <p:cNvSpPr>
            <a:spLocks xmlns:a="http://schemas.openxmlformats.org/drawingml/2006/main" noGrp="1"/>
          </p:cNvSpPr>
          <p:nvPr/>
        </p:nvSpPr>
        <p:spPr>
          <a:xfrm xmlns:a="http://schemas.openxmlformats.org/drawingml/2006/main">
            <a:off x="609600" y="2276475"/>
            <a:ext cx="10429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225" b="1">
                <a:solidFill>
                  <a:srgbClr val="17243E"/>
                </a:solidFill>
                <a:latin typeface="Georgia"/>
                <a:ea typeface="Georgia"/>
                <a:cs typeface="Georgia"/>
              </a:defRPr>
            </a:pPr>
            <a:r>
              <a:rPr sz="3225" b="1">
                <a:solidFill>
                  <a:srgbClr val="17243E"/>
                </a:solidFill>
                <a:latin typeface="Georgia"/>
                <a:ea typeface="Georgia"/>
                <a:cs typeface="Georgia"/>
              </a:rPr>
              <a:t>The lawyer needs to know</a:t>
            </a:r>
          </a:p>
          <a:p xmlns:a="http://schemas.openxmlformats.org/drawingml/2006/main">
            <a:pPr>
              <a:lnSpc>
                <a:spcPct val="108000"/>
              </a:lnSpc>
              <a:buNone/>
              <a:defRPr sz="3225" b="1">
                <a:solidFill>
                  <a:srgbClr val="17243E"/>
                </a:solidFill>
                <a:latin typeface="Georgia"/>
                <a:ea typeface="Georgia"/>
                <a:cs typeface="Georgia"/>
              </a:defRPr>
            </a:pPr>
            <a:r>
              <a:rPr sz="3225" b="1">
                <a:solidFill>
                  <a:srgbClr val="17243E"/>
                </a:solidFill>
                <a:latin typeface="Georgia"/>
                <a:ea typeface="Georgia"/>
                <a:cs typeface="Georgia"/>
              </a:rPr>
              <a:t>what could change the answer.</a:t>
            </a:r>
          </a:p>
        </p:txBody>
      </p:sp>
      <p:sp>
        <p:nvSpPr>
          <p:cNvPr id="6" name="">
            <a:extLst xmlns:a="http://schemas.openxmlformats.org/drawingml/2006/main">
              <a:ext uri="{FF2B5EF4-FFF2-40B4-BE49-F238E27FC236}">
                <a16:creationId xmlns:a16="http://schemas.microsoft.com/office/drawing/2014/main" id="{FDCF548A-160A-4FC1-AFF8-C3DF6B2D66C0}"/>
              </a:ext>
            </a:extLst>
          </p:cNvPr>
          <p:cNvSpPr>
            <a:spLocks xmlns:a="http://schemas.openxmlformats.org/drawingml/2006/main" noGrp="1"/>
          </p:cNvSpPr>
          <p:nvPr/>
        </p:nvSpPr>
        <p:spPr>
          <a:xfrm xmlns:a="http://schemas.openxmlformats.org/drawingml/2006/main">
            <a:off x="609600" y="3800475"/>
            <a:ext cx="552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BEFORE GIVING THE ADVICE</a:t>
            </a:r>
          </a:p>
        </p:txBody>
      </p:sp>
      <p:sp>
        <p:nvSpPr>
          <p:cNvPr id="7" name="">
            <a:extLst xmlns:a="http://schemas.openxmlformats.org/drawingml/2006/main">
              <a:ext uri="{FF2B5EF4-FFF2-40B4-BE49-F238E27FC236}">
                <a16:creationId xmlns:a16="http://schemas.microsoft.com/office/drawing/2014/main" id="{9A4E06B4-0D3E-43AA-A820-C559C3D9567C}"/>
              </a:ext>
            </a:extLst>
          </p:cNvPr>
          <p:cNvSpPr>
            <a:spLocks xmlns:a="http://schemas.openxmlformats.org/drawingml/2006/main" noGrp="1"/>
          </p:cNvSpPr>
          <p:nvPr/>
        </p:nvSpPr>
        <p:spPr>
          <a:xfrm xmlns:a="http://schemas.openxmlformats.org/drawingml/2006/main">
            <a:off x="609600" y="4229100"/>
            <a:ext cx="60674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75" b="0">
                <a:solidFill>
                  <a:srgbClr val="17243E"/>
                </a:solidFill>
                <a:latin typeface="Arial"/>
                <a:ea typeface="Arial"/>
                <a:cs typeface="Arial"/>
              </a:defRPr>
            </a:pPr>
            <a:r>
              <a:rPr sz="2175" b="0">
                <a:solidFill>
                  <a:srgbClr val="17243E"/>
                </a:solidFill>
                <a:latin typeface="Arial"/>
                <a:ea typeface="Arial"/>
                <a:cs typeface="Arial"/>
              </a:rPr>
              <a:t>Which facts matter? What have we missed?</a:t>
            </a:r>
          </a:p>
          <a:p xmlns:a="http://schemas.openxmlformats.org/drawingml/2006/main">
            <a:pPr>
              <a:lnSpc>
                <a:spcPct val="108000"/>
              </a:lnSpc>
              <a:buNone/>
              <a:defRPr sz="2175" b="0">
                <a:solidFill>
                  <a:srgbClr val="17243E"/>
                </a:solidFill>
                <a:latin typeface="Arial"/>
                <a:ea typeface="Arial"/>
                <a:cs typeface="Arial"/>
              </a:defRPr>
            </a:pPr>
            <a:r>
              <a:rPr sz="2175" b="0">
                <a:solidFill>
                  <a:srgbClr val="17243E"/>
                </a:solidFill>
                <a:latin typeface="Arial"/>
                <a:ea typeface="Arial"/>
                <a:cs typeface="Arial"/>
              </a:rPr>
              <a:t>What are the options and their tradeoffs?</a:t>
            </a:r>
          </a:p>
        </p:txBody>
      </p:sp>
      <p:sp>
        <p:nvSpPr>
          <p:cNvPr id="8" name="">
            <a:extLst xmlns:a="http://schemas.openxmlformats.org/drawingml/2006/main">
              <a:ext uri="{FF2B5EF4-FFF2-40B4-BE49-F238E27FC236}">
                <a16:creationId xmlns:a16="http://schemas.microsoft.com/office/drawing/2014/main" id="{1C67A361-19AC-414F-902A-EA3162979CCD}"/>
              </a:ext>
            </a:extLst>
          </p:cNvPr>
          <p:cNvSpPr>
            <a:spLocks xmlns:a="http://schemas.openxmlformats.org/drawingml/2006/main" noGrp="1"/>
          </p:cNvSpPr>
          <p:nvPr/>
        </p:nvSpPr>
        <p:spPr>
          <a:xfrm xmlns:a="http://schemas.openxmlformats.org/drawingml/2006/main">
            <a:off x="7429500" y="3800475"/>
            <a:ext cx="409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OFTEN WITHOUT AN ASSOCIATE</a:t>
            </a:r>
          </a:p>
        </p:txBody>
      </p:sp>
      <p:sp>
        <p:nvSpPr>
          <p:cNvPr id="9" name="">
            <a:extLst xmlns:a="http://schemas.openxmlformats.org/drawingml/2006/main">
              <a:ext uri="{FF2B5EF4-FFF2-40B4-BE49-F238E27FC236}">
                <a16:creationId xmlns:a16="http://schemas.microsoft.com/office/drawing/2014/main" id="{82CF3F02-9B19-46DD-9765-1CA983B92806}"/>
              </a:ext>
            </a:extLst>
          </p:cNvPr>
          <p:cNvSpPr>
            <a:spLocks xmlns:a="http://schemas.openxmlformats.org/drawingml/2006/main" noGrp="1"/>
          </p:cNvSpPr>
          <p:nvPr/>
        </p:nvSpPr>
        <p:spPr>
          <a:xfrm xmlns:a="http://schemas.openxmlformats.org/drawingml/2006/main">
            <a:off x="7429500" y="4229100"/>
            <a:ext cx="4114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596273"/>
                </a:solidFill>
                <a:latin typeface="Arial"/>
                <a:ea typeface="Arial"/>
                <a:cs typeface="Arial"/>
              </a:defRPr>
            </a:pPr>
            <a:r>
              <a:rPr sz="2100" b="0">
                <a:solidFill>
                  <a:srgbClr val="596273"/>
                </a:solidFill>
                <a:latin typeface="Arial"/>
                <a:ea typeface="Arial"/>
                <a:cs typeface="Arial"/>
              </a:rPr>
              <a:t>The same lawyer must investigate</a:t>
            </a:r>
          </a:p>
          <a:p xmlns:a="http://schemas.openxmlformats.org/drawingml/2006/main">
            <a:pPr>
              <a:lnSpc>
                <a:spcPct val="108000"/>
              </a:lnSpc>
              <a:buNone/>
              <a:defRPr sz="2100" b="0">
                <a:solidFill>
                  <a:srgbClr val="596273"/>
                </a:solidFill>
                <a:latin typeface="Arial"/>
                <a:ea typeface="Arial"/>
                <a:cs typeface="Arial"/>
              </a:defRPr>
            </a:pPr>
            <a:r>
              <a:rPr sz="2100" b="0">
                <a:solidFill>
                  <a:srgbClr val="596273"/>
                </a:solidFill>
                <a:latin typeface="Arial"/>
                <a:ea typeface="Arial"/>
                <a:cs typeface="Arial"/>
              </a:rPr>
              <a:t>the issue and help the business</a:t>
            </a:r>
          </a:p>
          <a:p xmlns:a="http://schemas.openxmlformats.org/drawingml/2006/main">
            <a:pPr>
              <a:lnSpc>
                <a:spcPct val="108000"/>
              </a:lnSpc>
              <a:buNone/>
              <a:defRPr sz="2100" b="0">
                <a:solidFill>
                  <a:srgbClr val="596273"/>
                </a:solidFill>
                <a:latin typeface="Arial"/>
                <a:ea typeface="Arial"/>
                <a:cs typeface="Arial"/>
              </a:defRPr>
            </a:pPr>
            <a:r>
              <a:rPr sz="2100" b="0">
                <a:solidFill>
                  <a:srgbClr val="596273"/>
                </a:solidFill>
                <a:latin typeface="Arial"/>
                <a:ea typeface="Arial"/>
                <a:cs typeface="Arial"/>
              </a:rPr>
              <a:t>decide what to do.</a:t>
            </a:r>
          </a:p>
        </p:txBody>
      </p:sp>
      <p:sp>
        <p:nvSpPr>
          <p:cNvPr id="10" name="">
            <a:extLst xmlns:a="http://schemas.openxmlformats.org/drawingml/2006/main">
              <a:ext uri="{FF2B5EF4-FFF2-40B4-BE49-F238E27FC236}">
                <a16:creationId xmlns:a16="http://schemas.microsoft.com/office/drawing/2014/main" id="{21D04122-76ED-492D-9363-88CFC52F1943}"/>
              </a:ext>
            </a:extLst>
          </p:cNvPr>
          <p:cNvSpPr>
            <a:spLocks xmlns:a="http://schemas.openxmlformats.org/drawingml/2006/main" noGrp="1"/>
          </p:cNvSpPr>
          <p:nvPr/>
        </p:nvSpPr>
        <p:spPr>
          <a:xfrm xmlns:a="http://schemas.openxmlformats.org/drawingml/2006/main">
            <a:off x="609600" y="5591175"/>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75" b="1">
                <a:solidFill>
                  <a:srgbClr val="4169A4"/>
                </a:solidFill>
                <a:latin typeface="Georgia"/>
                <a:ea typeface="Georgia"/>
                <a:cs typeface="Georgia"/>
              </a:defRPr>
            </a:pPr>
            <a:r>
              <a:rPr sz="2175" b="1">
                <a:solidFill>
                  <a:srgbClr val="4169A4"/>
                </a:solidFill>
                <a:latin typeface="Georgia"/>
                <a:ea typeface="Georgia"/>
                <a:cs typeface="Georgia"/>
              </a:rPr>
              <a:t>The business needs their judgment while the decision is still taking shape.</a:t>
            </a:r>
          </a:p>
        </p:txBody>
      </p:sp>
    </p:spTree>
    <p:extLst>
      <p:ext uri="{BB962C8B-B14F-4D97-AF65-F5344CB8AC3E}">
        <p14:creationId xmlns:p14="http://schemas.microsoft.com/office/powerpoint/2010/main" val="1142422749"/>
      </p:ext>
    </p:extLst>
  </p:cSld>
</p:sld>
</file>

<file path=ppt/slides/slide3.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95A2C7D-1977-4846-A279-F1327736DD75}"/>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D8B66A"/>
                </a:solidFill>
                <a:latin typeface="Arial"/>
                <a:ea typeface="Arial"/>
                <a:cs typeface="Arial"/>
              </a:defRPr>
            </a:pPr>
            <a:r>
              <a:rPr sz="1125" b="1">
                <a:solidFill>
                  <a:srgbClr val="D8B66A"/>
                </a:solidFill>
                <a:latin typeface="Arial"/>
                <a:ea typeface="Arial"/>
                <a:cs typeface="Arial"/>
              </a:rPr>
              <a:t>THEMIS</a:t>
            </a:r>
          </a:p>
        </p:txBody>
      </p:sp>
      <p:sp>
        <p:nvSpPr>
          <p:cNvPr id="2" name="">
            <a:extLst xmlns:a="http://schemas.openxmlformats.org/drawingml/2006/main">
              <a:ext uri="{FF2B5EF4-FFF2-40B4-BE49-F238E27FC236}">
                <a16:creationId xmlns:a16="http://schemas.microsoft.com/office/drawing/2014/main" id="{1D230B24-1F59-4437-B1E1-12AFDE2A071F}"/>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FAF8F2"/>
                </a:solidFill>
                <a:latin typeface="Georgia"/>
                <a:ea typeface="Georgia"/>
                <a:cs typeface="Georgia"/>
              </a:defRPr>
            </a:pPr>
            <a:r>
              <a:rPr sz="3600" b="1">
                <a:solidFill>
                  <a:srgbClr val="FAF8F2"/>
                </a:solidFill>
                <a:latin typeface="Georgia"/>
                <a:ea typeface="Georgia"/>
                <a:cs typeface="Georgia"/>
              </a:rPr>
              <a:t>A capable associate, built around the lawyer</a:t>
            </a:r>
          </a:p>
        </p:txBody>
      </p:sp>
      <p:sp>
        <p:nvSpPr>
          <p:cNvPr id="3" name="">
            <a:extLst xmlns:a="http://schemas.openxmlformats.org/drawingml/2006/main">
              <a:ext uri="{FF2B5EF4-FFF2-40B4-BE49-F238E27FC236}">
                <a16:creationId xmlns:a16="http://schemas.microsoft.com/office/drawing/2014/main" id="{EF9A9257-B122-40F7-8820-534DB8C808FD}"/>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DCE1EA"/>
                </a:solidFill>
                <a:latin typeface="Arial"/>
                <a:ea typeface="Arial"/>
                <a:cs typeface="Arial"/>
              </a:defRPr>
            </a:pPr>
            <a:r>
              <a:rPr sz="900" b="1">
                <a:solidFill>
                  <a:srgbClr val="DCE1EA"/>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E3A6AE0E-17FF-43D5-BC6E-5686FCF42E7A}"/>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DCE1EA"/>
                </a:solidFill>
                <a:latin typeface="Arial"/>
                <a:ea typeface="Arial"/>
                <a:cs typeface="Arial"/>
              </a:defRPr>
            </a:pPr>
            <a:r>
              <a:rPr sz="900" b="0">
                <a:solidFill>
                  <a:srgbClr val="DCE1EA"/>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22003469-43C5-4751-97EE-18B879395692}"/>
              </a:ext>
            </a:extLst>
          </p:cNvPr>
          <p:cNvSpPr>
            <a:spLocks xmlns:a="http://schemas.openxmlformats.org/drawingml/2006/main" noGrp="1"/>
          </p:cNvSpPr>
          <p:nvPr/>
        </p:nvSpPr>
        <p:spPr>
          <a:xfrm xmlns:a="http://schemas.openxmlformats.org/drawingml/2006/main">
            <a:off x="609600" y="2228850"/>
            <a:ext cx="10763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625" b="0">
                <a:solidFill>
                  <a:srgbClr val="FAF8F2"/>
                </a:solidFill>
                <a:latin typeface="Georgia"/>
                <a:ea typeface="Georgia"/>
                <a:cs typeface="Georgia"/>
              </a:defRPr>
            </a:pPr>
            <a:r>
              <a:rPr sz="2625" b="0">
                <a:solidFill>
                  <a:srgbClr val="FAF8F2"/>
                </a:solidFill>
                <a:latin typeface="Georgia"/>
                <a:ea typeface="Georgia"/>
                <a:cs typeface="Georgia"/>
              </a:rPr>
              <a:t>Lawyers should not need to build an AI system</a:t>
            </a:r>
          </a:p>
          <a:p xmlns:a="http://schemas.openxmlformats.org/drawingml/2006/main">
            <a:pPr>
              <a:lnSpc>
                <a:spcPct val="108000"/>
              </a:lnSpc>
              <a:buNone/>
              <a:defRPr sz="2625" b="0">
                <a:solidFill>
                  <a:srgbClr val="FAF8F2"/>
                </a:solidFill>
                <a:latin typeface="Georgia"/>
                <a:ea typeface="Georgia"/>
                <a:cs typeface="Georgia"/>
              </a:defRPr>
            </a:pPr>
            <a:r>
              <a:rPr sz="2625" b="0">
                <a:solidFill>
                  <a:srgbClr val="FAF8F2"/>
                </a:solidFill>
                <a:latin typeface="Georgia"/>
                <a:ea typeface="Georgia"/>
                <a:cs typeface="Georgia"/>
              </a:rPr>
              <a:t>to get a capable working partner.</a:t>
            </a:r>
          </a:p>
        </p:txBody>
      </p:sp>
      <p:sp>
        <p:nvSpPr>
          <p:cNvPr id="6" name="">
            <a:extLst xmlns:a="http://schemas.openxmlformats.org/drawingml/2006/main">
              <a:ext uri="{FF2B5EF4-FFF2-40B4-BE49-F238E27FC236}">
                <a16:creationId xmlns:a16="http://schemas.microsoft.com/office/drawing/2014/main" id="{5AC0092C-EC89-4EBF-89B2-87F17322C8E2}"/>
              </a:ext>
            </a:extLst>
          </p:cNvPr>
          <p:cNvSpPr>
            <a:spLocks xmlns:a="http://schemas.openxmlformats.org/drawingml/2006/main" noGrp="1"/>
          </p:cNvSpPr>
          <p:nvPr/>
        </p:nvSpPr>
        <p:spPr>
          <a:xfrm xmlns:a="http://schemas.openxmlformats.org/drawingml/2006/main">
            <a:off x="609600" y="371475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D8B66A"/>
                </a:solidFill>
                <a:latin typeface="Arial"/>
                <a:ea typeface="Arial"/>
                <a:cs typeface="Arial"/>
              </a:defRPr>
            </a:pPr>
            <a:r>
              <a:rPr sz="1275" b="1">
                <a:solidFill>
                  <a:srgbClr val="D8B66A"/>
                </a:solidFill>
                <a:latin typeface="Arial"/>
                <a:ea typeface="Arial"/>
                <a:cs typeface="Arial"/>
              </a:rPr>
              <a:t>THEMIS CARRIES THE PREPARATION</a:t>
            </a:r>
          </a:p>
        </p:txBody>
      </p:sp>
      <p:sp>
        <p:nvSpPr>
          <p:cNvPr id="7" name="">
            <a:extLst xmlns:a="http://schemas.openxmlformats.org/drawingml/2006/main">
              <a:ext uri="{FF2B5EF4-FFF2-40B4-BE49-F238E27FC236}">
                <a16:creationId xmlns:a16="http://schemas.microsoft.com/office/drawing/2014/main" id="{39192C66-BA4E-4913-9964-B98E1B048833}"/>
              </a:ext>
            </a:extLst>
          </p:cNvPr>
          <p:cNvSpPr>
            <a:spLocks xmlns:a="http://schemas.openxmlformats.org/drawingml/2006/main" noGrp="1"/>
          </p:cNvSpPr>
          <p:nvPr/>
        </p:nvSpPr>
        <p:spPr>
          <a:xfrm xmlns:a="http://schemas.openxmlformats.org/drawingml/2006/main">
            <a:off x="609600" y="4171950"/>
            <a:ext cx="54864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Investigates the matter and brings back</a:t>
            </a:r>
          </a:p>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useful analysis in the lawyer’s working style.</a:t>
            </a:r>
          </a:p>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Surfaces questions worth exploring next.</a:t>
            </a:r>
          </a:p>
        </p:txBody>
      </p:sp>
      <p:sp>
        <p:nvSpPr>
          <p:cNvPr id="8" name="">
            <a:extLst xmlns:a="http://schemas.openxmlformats.org/drawingml/2006/main">
              <a:ext uri="{FF2B5EF4-FFF2-40B4-BE49-F238E27FC236}">
                <a16:creationId xmlns:a16="http://schemas.microsoft.com/office/drawing/2014/main" id="{320EEC35-79F5-491A-A6CE-399FE7A80CBA}"/>
              </a:ext>
            </a:extLst>
          </p:cNvPr>
          <p:cNvSpPr>
            <a:spLocks xmlns:a="http://schemas.openxmlformats.org/drawingml/2006/main" noGrp="1"/>
          </p:cNvSpPr>
          <p:nvPr/>
        </p:nvSpPr>
        <p:spPr>
          <a:xfrm xmlns:a="http://schemas.openxmlformats.org/drawingml/2006/main">
            <a:off x="6953250" y="37147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D8B66A"/>
                </a:solidFill>
                <a:latin typeface="Arial"/>
                <a:ea typeface="Arial"/>
                <a:cs typeface="Arial"/>
              </a:defRPr>
            </a:pPr>
            <a:r>
              <a:rPr sz="1275" b="1">
                <a:solidFill>
                  <a:srgbClr val="D8B66A"/>
                </a:solidFill>
                <a:latin typeface="Arial"/>
                <a:ea typeface="Arial"/>
                <a:cs typeface="Arial"/>
              </a:rPr>
              <a:t>THE LAWYER WORKS THROUGH THE CHOICE</a:t>
            </a:r>
          </a:p>
        </p:txBody>
      </p:sp>
      <p:sp>
        <p:nvSpPr>
          <p:cNvPr id="9" name="">
            <a:extLst xmlns:a="http://schemas.openxmlformats.org/drawingml/2006/main">
              <a:ext uri="{FF2B5EF4-FFF2-40B4-BE49-F238E27FC236}">
                <a16:creationId xmlns:a16="http://schemas.microsoft.com/office/drawing/2014/main" id="{B5CFFCAE-0906-476D-9820-5BF9BD052614}"/>
              </a:ext>
            </a:extLst>
          </p:cNvPr>
          <p:cNvSpPr>
            <a:spLocks xmlns:a="http://schemas.openxmlformats.org/drawingml/2006/main" noGrp="1"/>
          </p:cNvSpPr>
          <p:nvPr/>
        </p:nvSpPr>
        <p:spPr>
          <a:xfrm xmlns:a="http://schemas.openxmlformats.org/drawingml/2006/main">
            <a:off x="6953250" y="4171950"/>
            <a:ext cx="46101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Examines the options with Themis.</a:t>
            </a:r>
          </a:p>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Sees what could change the advice.</a:t>
            </a:r>
          </a:p>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Decides what to recommend and why.</a:t>
            </a:r>
          </a:p>
        </p:txBody>
      </p:sp>
      <p:sp>
        <p:nvSpPr>
          <p:cNvPr id="10" name="">
            <a:extLst xmlns:a="http://schemas.openxmlformats.org/drawingml/2006/main">
              <a:ext uri="{FF2B5EF4-FFF2-40B4-BE49-F238E27FC236}">
                <a16:creationId xmlns:a16="http://schemas.microsoft.com/office/drawing/2014/main" id="{D9B33186-19A3-4855-A199-DC920145A188}"/>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DCE1EA"/>
                </a:solidFill>
                <a:latin typeface="Arial"/>
                <a:ea typeface="Arial"/>
                <a:cs typeface="Arial"/>
              </a:defRPr>
            </a:pPr>
            <a:r>
              <a:rPr sz="1125" b="0">
                <a:solidFill>
                  <a:srgbClr val="DCE1EA"/>
                </a:solidFill>
                <a:latin typeface="Arial"/>
                <a:ea typeface="Arial"/>
                <a:cs typeface="Arial"/>
              </a:rPr>
              <a:t>Product thesis. The prototype supports matters, editable instructions and work product. Pilot outcomes remain to be proved.</a:t>
            </a:r>
          </a:p>
        </p:txBody>
      </p:sp>
    </p:spTree>
    <p:extLst>
      <p:ext uri="{BB962C8B-B14F-4D97-AF65-F5344CB8AC3E}">
        <p14:creationId xmlns:p14="http://schemas.microsoft.com/office/powerpoint/2010/main" val="778243807"/>
      </p:ext>
    </p:extLst>
  </p:cSld>
</p:sld>
</file>

<file path=ppt/slides/slide4.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7FFB1A7-54F8-47C9-9514-17CCE9B7BB49}"/>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AN EXAMPLE MATTER</a:t>
            </a:r>
          </a:p>
        </p:txBody>
      </p:sp>
      <p:sp>
        <p:nvSpPr>
          <p:cNvPr id="2" name="">
            <a:extLst xmlns:a="http://schemas.openxmlformats.org/drawingml/2006/main">
              <a:ext uri="{FF2B5EF4-FFF2-40B4-BE49-F238E27FC236}">
                <a16:creationId xmlns:a16="http://schemas.microsoft.com/office/drawing/2014/main" id="{ED6FDAF4-5FC6-44F4-9744-F92D3BAE7370}"/>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A migration question hides a second decision</a:t>
            </a:r>
          </a:p>
        </p:txBody>
      </p:sp>
      <p:sp>
        <p:nvSpPr>
          <p:cNvPr id="3" name="">
            <a:extLst xmlns:a="http://schemas.openxmlformats.org/drawingml/2006/main">
              <a:ext uri="{FF2B5EF4-FFF2-40B4-BE49-F238E27FC236}">
                <a16:creationId xmlns:a16="http://schemas.microsoft.com/office/drawing/2014/main" id="{8378DB32-EABD-47C8-8FC1-91E69903C1F5}"/>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8DD5C742-48A5-4259-90EC-BECF21671284}"/>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8AE05646-A0A5-431F-B3E4-166600A3394E}"/>
              </a:ext>
            </a:extLst>
          </p:cNvPr>
          <p:cNvSpPr>
            <a:spLocks xmlns:a="http://schemas.openxmlformats.org/drawingml/2006/main" noGrp="1"/>
          </p:cNvSpPr>
          <p:nvPr/>
        </p:nvSpPr>
        <p:spPr>
          <a:xfrm xmlns:a="http://schemas.openxmlformats.org/drawingml/2006/main">
            <a:off x="609600" y="22669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THE BUSINESS REQUEST</a:t>
            </a:r>
          </a:p>
        </p:txBody>
      </p:sp>
      <p:sp>
        <p:nvSpPr>
          <p:cNvPr id="6" name="">
            <a:extLst xmlns:a="http://schemas.openxmlformats.org/drawingml/2006/main">
              <a:ext uri="{FF2B5EF4-FFF2-40B4-BE49-F238E27FC236}">
                <a16:creationId xmlns:a16="http://schemas.microsoft.com/office/drawing/2014/main" id="{80669834-9607-4D00-B259-4DEE074399C1}"/>
              </a:ext>
            </a:extLst>
          </p:cNvPr>
          <p:cNvSpPr>
            <a:spLocks xmlns:a="http://schemas.openxmlformats.org/drawingml/2006/main" noGrp="1"/>
          </p:cNvSpPr>
          <p:nvPr/>
        </p:nvSpPr>
        <p:spPr>
          <a:xfrm xmlns:a="http://schemas.openxmlformats.org/drawingml/2006/main">
            <a:off x="609600" y="2686050"/>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75" b="1">
                <a:solidFill>
                  <a:srgbClr val="17243E"/>
                </a:solidFill>
                <a:latin typeface="Georgia"/>
                <a:ea typeface="Georgia"/>
                <a:cs typeface="Georgia"/>
              </a:defRPr>
            </a:pPr>
            <a:r>
              <a:rPr sz="2475" b="1">
                <a:solidFill>
                  <a:srgbClr val="17243E"/>
                </a:solidFill>
                <a:latin typeface="Georgia"/>
                <a:ea typeface="Georgia"/>
                <a:cs typeface="Georgia"/>
              </a:rPr>
              <a:t>“Can we keep bank connections live during the migration?”</a:t>
            </a:r>
          </a:p>
        </p:txBody>
      </p:sp>
      <p:sp>
        <p:nvSpPr>
          <p:cNvPr id="7" name="">
            <a:extLst xmlns:a="http://schemas.openxmlformats.org/drawingml/2006/main">
              <a:ext uri="{FF2B5EF4-FFF2-40B4-BE49-F238E27FC236}">
                <a16:creationId xmlns:a16="http://schemas.microsoft.com/office/drawing/2014/main" id="{2787A1F0-38E6-4E64-A454-FA71B391FDBA}"/>
              </a:ext>
            </a:extLst>
          </p:cNvPr>
          <p:cNvSpPr>
            <a:spLocks xmlns:a="http://schemas.openxmlformats.org/drawingml/2006/main" noGrp="1"/>
          </p:cNvSpPr>
          <p:nvPr/>
        </p:nvSpPr>
        <p:spPr>
          <a:xfrm xmlns:a="http://schemas.openxmlformats.org/drawingml/2006/main">
            <a:off x="609600" y="3743325"/>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WHAT THE INVESTIGATION SURFACES</a:t>
            </a:r>
          </a:p>
        </p:txBody>
      </p:sp>
      <p:sp>
        <p:nvSpPr>
          <p:cNvPr id="8" name="">
            <a:extLst xmlns:a="http://schemas.openxmlformats.org/drawingml/2006/main">
              <a:ext uri="{FF2B5EF4-FFF2-40B4-BE49-F238E27FC236}">
                <a16:creationId xmlns:a16="http://schemas.microsoft.com/office/drawing/2014/main" id="{8EDAE8E2-4DC9-49DC-899C-58A3E130BE55}"/>
              </a:ext>
            </a:extLst>
          </p:cNvPr>
          <p:cNvSpPr>
            <a:spLocks xmlns:a="http://schemas.openxmlformats.org/drawingml/2006/main" noGrp="1"/>
          </p:cNvSpPr>
          <p:nvPr/>
        </p:nvSpPr>
        <p:spPr>
          <a:xfrm xmlns:a="http://schemas.openxmlformats.org/drawingml/2006/main">
            <a:off x="609600" y="4143375"/>
            <a:ext cx="6096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Growth also wants transaction data for new offers.</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The existing consent does not clearly cover that use.</a:t>
            </a:r>
          </a:p>
        </p:txBody>
      </p:sp>
      <p:sp>
        <p:nvSpPr>
          <p:cNvPr id="9" name="">
            <a:extLst xmlns:a="http://schemas.openxmlformats.org/drawingml/2006/main">
              <a:ext uri="{FF2B5EF4-FFF2-40B4-BE49-F238E27FC236}">
                <a16:creationId xmlns:a16="http://schemas.microsoft.com/office/drawing/2014/main" id="{4FD9DC00-4498-44F8-A352-2C70B42323C8}"/>
              </a:ext>
            </a:extLst>
          </p:cNvPr>
          <p:cNvSpPr>
            <a:spLocks xmlns:a="http://schemas.openxmlformats.org/drawingml/2006/main" noGrp="1"/>
          </p:cNvSpPr>
          <p:nvPr/>
        </p:nvSpPr>
        <p:spPr>
          <a:xfrm xmlns:a="http://schemas.openxmlformats.org/drawingml/2006/main">
            <a:off x="7410450" y="3743325"/>
            <a:ext cx="413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WHAT THE LAWYER CAN NOW WEIGH</a:t>
            </a:r>
          </a:p>
        </p:txBody>
      </p:sp>
      <p:sp>
        <p:nvSpPr>
          <p:cNvPr id="10" name="">
            <a:extLst xmlns:a="http://schemas.openxmlformats.org/drawingml/2006/main">
              <a:ext uri="{FF2B5EF4-FFF2-40B4-BE49-F238E27FC236}">
                <a16:creationId xmlns:a16="http://schemas.microsoft.com/office/drawing/2014/main" id="{48C198EB-7ACF-4303-9811-8C4523436084}"/>
              </a:ext>
            </a:extLst>
          </p:cNvPr>
          <p:cNvSpPr>
            <a:spLocks xmlns:a="http://schemas.openxmlformats.org/drawingml/2006/main" noGrp="1"/>
          </p:cNvSpPr>
          <p:nvPr/>
        </p:nvSpPr>
        <p:spPr>
          <a:xfrm xmlns:a="http://schemas.openxmlformats.org/drawingml/2006/main">
            <a:off x="7410450" y="4143375"/>
            <a:ext cx="4095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Separate consent for new uses.</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Then choose when customers</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must authorize the migration.</a:t>
            </a:r>
          </a:p>
        </p:txBody>
      </p:sp>
      <p:sp>
        <p:nvSpPr>
          <p:cNvPr id="11" name="">
            <a:extLst xmlns:a="http://schemas.openxmlformats.org/drawingml/2006/main">
              <a:ext uri="{FF2B5EF4-FFF2-40B4-BE49-F238E27FC236}">
                <a16:creationId xmlns:a16="http://schemas.microsoft.com/office/drawing/2014/main" id="{41981170-F581-4FF8-A0BE-83854D061974}"/>
              </a:ext>
            </a:extLst>
          </p:cNvPr>
          <p:cNvSpPr>
            <a:spLocks xmlns:a="http://schemas.openxmlformats.org/drawingml/2006/main" noGrp="1"/>
          </p:cNvSpPr>
          <p:nvPr/>
        </p:nvSpPr>
        <p:spPr>
          <a:xfrm xmlns:a="http://schemas.openxmlformats.org/drawingml/2006/main">
            <a:off x="609600" y="5657850"/>
            <a:ext cx="108394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250" b="1">
                <a:solidFill>
                  <a:srgbClr val="4169A4"/>
                </a:solidFill>
                <a:latin typeface="Georgia"/>
                <a:ea typeface="Georgia"/>
                <a:cs typeface="Georgia"/>
              </a:defRPr>
            </a:pPr>
            <a:r>
              <a:rPr sz="2250" b="1">
                <a:solidFill>
                  <a:srgbClr val="4169A4"/>
                </a:solidFill>
                <a:latin typeface="Georgia"/>
                <a:ea typeface="Georgia"/>
                <a:cs typeface="Georgia"/>
              </a:rPr>
              <a:t>The lawyer sees a choice the original question did not expose.</a:t>
            </a:r>
          </a:p>
        </p:txBody>
      </p:sp>
      <p:sp>
        <p:nvSpPr>
          <p:cNvPr id="12" name="">
            <a:extLst xmlns:a="http://schemas.openxmlformats.org/drawingml/2006/main">
              <a:ext uri="{FF2B5EF4-FFF2-40B4-BE49-F238E27FC236}">
                <a16:creationId xmlns:a16="http://schemas.microsoft.com/office/drawing/2014/main" id="{A18979E2-317A-44F8-B2C8-066606F3008D}"/>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Illustrative walkthrough based on fictional Relay demo data. Not a recorded AI exchange or verified legal advice.</a:t>
            </a:r>
          </a:p>
        </p:txBody>
      </p:sp>
    </p:spTree>
    <p:extLst>
      <p:ext uri="{BB962C8B-B14F-4D97-AF65-F5344CB8AC3E}">
        <p14:creationId xmlns:p14="http://schemas.microsoft.com/office/powerpoint/2010/main" val="1062540457"/>
      </p:ext>
    </p:extLst>
  </p:cSld>
</p:sld>
</file>

<file path=ppt/slides/slide5.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AF8F2"/>
        </ns1:solidFill>
      </ns0:bgPr>
    </ns0:bg>
    <ns0:spTree>
      <ns0:nvGrpSpPr>
        <ns0:cNvPr id="1" name=""/>
        <ns0:cNvGrpSpPr/>
        <ns0:nvPr/>
      </ns0:nvGrpSpPr>
      <ns0:grpSpPr>
        <ns1:xfrm/>
      </ns0:grpSpPr>
      <ns0:sp>
        <ns0:nvSpPr>
          <ns0:cNvPr id="10" name="">
            <ns1:extLst>
              <ns1:ext uri="{FF2B5EF4-FFF2-40B4-BE49-F238E27FC236}">
                <ns2:creationId id="{9B57FF5B-8252-47E8-BC9F-B0352E0B911D}"/>
              </ns1:ext>
            </ns1:extLst>
          </ns0:cNvPr>
          <ns0:cNvSpPr>
            <ns1:spLocks noGrp="1"/>
          </ns0:cNvSpPr>
          <ns0:nvPr/>
        </ns0:nvSpPr>
        <ns0:spPr>
          <ns1:xfrm>
            <ns1:off x="609600" y="371475"/>
            <ns1:ext cx="10477500" cy="238125"/>
          </ns1:xfrm>
          <ns1:prstGeom prst="rect">
            <ns1:avLst/>
          </ns1:prstGeom>
          <ns1:noFill/>
          <ns1:ln w="0">
            <ns1:noFill/>
          </ns1:ln>
        </ns0:spPr>
        <ns0:txBody>
          <ns1:bodyPr wrap="square" lIns="0" tIns="0" rIns="0" bIns="0">
            <ns1:noAutofit/>
          </ns1:bodyPr>
          <ns1:lstStyle/>
          <ns1:p>
            <ns1:pPr>
              <ns1:lnSpc>
                <ns1:spcPct val="108000"/>
              </ns1:lnSpc>
              <ns1:buNone/>
              <ns1:defRPr sz="1125" b="1">
                <ns1:solidFill>
                  <ns1:srgbClr val="4169A4"/>
                </ns1:solidFill>
                <ns1:latin typeface="Arial"/>
                <ns1:ea typeface="Arial"/>
                <ns1:cs typeface="Arial"/>
              </ns1:defRPr>
            </ns1:pPr>
            <ns1:r>
              <ns1:rPr sz="1125" b="1">
                <ns1:solidFill>
                  <ns1:srgbClr val="4169A4"/>
                </ns1:solidFill>
                <ns1:latin typeface="Arial"/>
                <ns1:ea typeface="Arial"/>
                <ns1:cs typeface="Arial"/>
              </ns1:rPr>
              <ns1:t>WORKING PROTOTYPE</ns1:t>
            </ns1:r>
          </ns1:p>
        </ns0:txBody>
      </ns0:sp>
      <ns0:sp>
        <ns0:nvSpPr>
          <ns0:cNvPr id="2" name="">
            <ns1:extLst>
              <ns1:ext uri="{FF2B5EF4-FFF2-40B4-BE49-F238E27FC236}">
                <ns2:creationId id="{6897B2C7-F35F-48F6-BFE4-88F063FDA431}"/>
              </ns1:ext>
            </ns1:extLst>
          </ns0:cNvPr>
          <ns0:cNvSpPr>
            <ns1:spLocks noGrp="1"/>
          </ns0:cNvSpPr>
          <ns0:nvPr/>
        </ns0:nvSpPr>
        <ns0:spPr>
          <ns1:xfrm>
            <ns1:off x="609600" y="866775"/>
            <ns1:ext cx="10906125" cy="1257300"/>
          </ns1:xfrm>
          <ns1:prstGeom prst="rect">
            <ns1:avLst/>
          </ns1:prstGeom>
          <ns1:noFill/>
          <ns1:ln w="0">
            <ns1:noFill/>
          </ns1:ln>
        </ns0:spPr>
        <ns0:txBody>
          <ns1:bodyPr wrap="square" lIns="0" tIns="0" rIns="0" bIns="0">
            <ns1:noAutofit/>
          </ns1:bodyPr>
          <ns1:lstStyle/>
          <ns1:p>
            <ns1:pPr>
              <ns1:lnSpc>
                <ns1:spcPct val="108000"/>
              </ns1:lnSpc>
              <ns1:buNone/>
              <ns1:defRPr sz="3600" b="1">
                <ns1:solidFill>
                  <ns1:srgbClr val="17243E"/>
                </ns1:solidFill>
                <ns1:latin typeface="Georgia"/>
                <ns1:ea typeface="Georgia"/>
                <ns1:cs typeface="Georgia"/>
              </ns1:defRPr>
            </ns1:pPr>
            <ns1:r>
              <ns1:rPr sz="3600" b="1">
                <ns1:solidFill>
                  <ns1:srgbClr val="17243E"/>
                </ns1:solidFill>
                <ns1:latin typeface="Georgia"/>
                <ns1:ea typeface="Georgia"/>
                <ns1:cs typeface="Georgia"/>
              </ns1:rPr>
              <ns1:t>The lawyer has a basis for the advice</ns1:t>
            </ns1:r>
          </ns1:p>
        </ns0:txBody>
      </ns0:sp>
      <ns0:sp>
        <ns0:nvSpPr>
          <ns0:cNvPr id="3" name="">
            <ns1:extLst>
              <ns1:ext uri="{FF2B5EF4-FFF2-40B4-BE49-F238E27FC236}">
                <ns2:creationId id="{FA74E8B3-8B8C-4975-B5B1-120919DE6CCE}"/>
              </ns1:ext>
            </ns1:extLst>
          </ns0:cNvPr>
          <ns0:cNvSpPr>
            <ns1:spLocks noGrp="1"/>
          </ns0:cNvSpPr>
          <ns0:nvPr/>
        </ns0:nvSpPr>
        <ns0:spPr>
          <ns1:xfrm>
            <ns1:off x="609600" y="6486525"/>
            <ns1:ext cx="1428750" cy="190500"/>
          </ns1:xfrm>
          <ns1:prstGeom prst="rect">
            <ns1:avLst/>
          </ns1:prstGeom>
          <ns1:noFill/>
          <ns1:ln w="0">
            <ns1:noFill/>
          </ns1:ln>
        </ns0:spPr>
        <ns0:txBody>
          <ns1:bodyPr wrap="square" lIns="0" tIns="0" rIns="0" bIns="0">
            <ns1:noAutofit/>
          </ns1:bodyPr>
          <ns1:lstStyle/>
          <ns1:p>
            <ns1:pPr>
              <ns1:lnSpc>
                <ns1:spcPct val="108000"/>
              </ns1:lnSpc>
              <ns1:buNone/>
              <ns1:defRPr sz="900" b="1">
                <ns1:solidFill>
                  <ns1:srgbClr val="596273"/>
                </ns1:solidFill>
                <ns1:latin typeface="Arial"/>
                <ns1:ea typeface="Arial"/>
                <ns1:cs typeface="Arial"/>
              </ns1:defRPr>
            </ns1:pPr>
            <ns1:r>
              <ns1:rPr sz="900" b="1">
                <ns1:solidFill>
                  <ns1:srgbClr val="596273"/>
                </ns1:solidFill>
                <ns1:latin typeface="Arial"/>
                <ns1:ea typeface="Arial"/>
                <ns1:cs typeface="Arial"/>
              </ns1:rPr>
              <ns1:t>THEMIS</ns1:t>
            </ns1:r>
          </ns1:p>
        </ns0:txBody>
      </ns0:sp>
      <ns0:sp>
        <ns0:nvSpPr>
          <ns0:cNvPr id="4" name="">
            <ns1:extLst>
              <ns1:ext uri="{FF2B5EF4-FFF2-40B4-BE49-F238E27FC236}">
                <ns2:creationId id="{536C7CBA-90CC-488E-BE19-F2F3F77D83BD}"/>
              </ns1:ext>
            </ns1:extLst>
          </ns0:cNvPr>
          <ns0:cNvSpPr>
            <ns1:spLocks noGrp="1"/>
          </ns0:cNvSpPr>
          <ns0:nvPr/>
        </ns0:nvSpPr>
        <ns0:spPr>
          <ns1:xfrm>
            <ns1:off x="11239500" y="6486525"/>
            <ns1:ext cx="381000" cy="190500"/>
          </ns1:xfrm>
          <ns1:prstGeom prst="rect">
            <ns1:avLst/>
          </ns1:prstGeom>
          <ns1:noFill/>
          <ns1:ln w="0">
            <ns1:noFill/>
          </ns1:ln>
        </ns0:spPr>
        <ns0:txBody>
          <ns1:bodyPr wrap="square" lIns="0" tIns="0" rIns="0" bIns="0">
            <ns1:noAutofit/>
          </ns1:bodyPr>
          <ns1:lstStyle/>
          <ns1:p>
            <ns1:pPr>
              <ns1:lnSpc>
                <ns1:spcPct val="108000"/>
              </ns1:lnSpc>
              <ns1:buNone/>
              <ns1:defRPr sz="900" b="0">
                <ns1:solidFill>
                  <ns1:srgbClr val="596273"/>
                </ns1:solidFill>
                <ns1:latin typeface="Arial"/>
                <ns1:ea typeface="Arial"/>
                <ns1:cs typeface="Arial"/>
              </ns1:defRPr>
            </ns1:pPr>
            <ns1:r>
              <ns1:rPr sz="900" b="0">
                <ns1:solidFill>
                  <ns1:srgbClr val="596273"/>
                </ns1:solidFill>
                <ns1:latin typeface="Arial"/>
                <ns1:ea typeface="Arial"/>
                <ns1:cs typeface="Arial"/>
              </ns1:rPr>
              <ns1:t>05</ns1:t>
            </ns1:r>
          </ns1:p>
        </ns0:txBody>
      </ns0:sp>
      <ns0:pic>
        <ns0:nvPicPr>
          <ns0:cNvPr id="14" name=""/>
          <ns0:cNvPicPr>
            <ns1:picLocks noChangeAspect="1"/>
          </ns0:cNvPicPr>
          <ns0:nvPr/>
        </ns0:nvPicPr>
        <ns0:blipFill>
          <ns1:blip ns3:embed="Rcd0f23b822aa408f"/>
          <ns1:srcRect l="19000" t="16600" r="16000" b="57000"/>
          <ns1:stretch/>
        </ns0:blipFill>
        <ns0:spPr>
          <ns1:xfrm>
            <ns1:off x="609600" y="2428875"/>
            <ns1:ext cx="8210550" cy="3476625"/>
          </ns1:xfrm>
          <ns1:prstGeom prst="rect">
            <ns1:avLst/>
          </ns1:prstGeom>
        </ns0:spPr>
      </ns0:pic>
      <ns0:sp>
        <ns0:nvSpPr>
          <ns0:cNvPr id="6" name="">
            <ns1:extLst>
              <ns1:ext uri="{FF2B5EF4-FFF2-40B4-BE49-F238E27FC236}">
                <ns2:creationId id="{888BABD1-CBB8-4B53-9282-A8D12728CB72}"/>
              </ns1:ext>
            </ns1:extLst>
          </ns0:cNvPr>
          <ns0:cNvSpPr>
            <ns1:spLocks noGrp="1"/>
          </ns0:cNvSpPr>
          <ns0:nvPr/>
        </ns0:nvSpPr>
        <ns0:spPr>
          <ns1:xfrm>
            <ns1:off x="9182100" y="2457450"/>
            <ns1:ext cx="2333625" cy="285750"/>
          </ns1:xfrm>
          <ns1:prstGeom prst="rect">
            <ns1:avLst/>
          </ns1:prstGeom>
          <ns1:noFill/>
          <ns1:ln w="0">
            <ns1:noFill/>
          </ns1:ln>
        </ns0:spPr>
        <ns0:txBody>
          <ns1:bodyPr wrap="square" lIns="0" tIns="0" rIns="0" bIns="0">
            <ns1:noAutofit/>
          </ns1:bodyPr>
          <ns1:lstStyle/>
          <ns1:p>
            <ns1:pPr>
              <ns1:lnSpc>
                <ns1:spcPct val="108000"/>
              </ns1:lnSpc>
              <ns1:buNone/>
              <ns1:defRPr sz="1275" b="1">
                <ns1:solidFill>
                  <ns1:srgbClr val="4169A4"/>
                </ns1:solidFill>
                <ns1:latin typeface="Arial"/>
                <ns1:ea typeface="Arial"/>
                <ns1:cs typeface="Arial"/>
              </ns1:defRPr>
            </ns1:pPr>
            <ns1:r>
              <ns1:rPr sz="1275" b="1">
                <ns1:solidFill>
                  <ns1:srgbClr val="4169A4"/>
                </ns1:solidFill>
                <ns1:latin typeface="Arial"/>
                <ns1:ea typeface="Arial"/>
                <ns1:cs typeface="Arial"/>
              </ns1:rPr>
              <ns1:t>RELAY DEMO</ns1:t>
            </ns1:r>
          </ns1:p>
        </ns0:txBody>
      </ns0:sp>
      <ns0:sp>
        <ns0:nvSpPr>
          <ns0:cNvPr id="7" name="">
            <ns1:extLst>
              <ns1:ext uri="{FF2B5EF4-FFF2-40B4-BE49-F238E27FC236}">
                <ns2:creationId id="{54F54CE4-3896-47D5-B0FF-225FFDA75120}"/>
              </ns1:ext>
            </ns1:extLst>
          </ns0:cNvPr>
          <ns0:cNvSpPr>
            <ns1:spLocks noGrp="1"/>
          </ns0:cNvSpPr>
          <ns0:nvPr/>
        </ns0:nvSpPr>
        <ns0:spPr>
          <ns1:xfrm>
            <ns1:off x="9182100" y="2924175"/>
            <ns1:ext cx="2362200" cy="1123950"/>
          </ns1:xfrm>
          <ns1:prstGeom prst="rect">
            <ns1:avLst/>
          </ns1:prstGeom>
          <ns1:noFill/>
          <ns1:ln w="0">
            <ns1:noFill/>
          </ns1:ln>
        </ns0:spPr>
        <ns0:txBody>
          <ns1:bodyPr wrap="square" lIns="0" tIns="0" rIns="0" bIns="0">
            <ns1:noAutofit/>
          </ns1:bodyPr>
          <ns1:lstStyle/>
          <ns1:p>
            <ns1:pPr>
              <ns1:lnSpc>
                <ns1:spcPct val="108000"/>
              </ns1:lnSpc>
              <ns1:buNone/>
              <ns1:defRPr sz="1875" b="0">
                <ns1:solidFill>
                  <ns1:srgbClr val="17243E"/>
                </ns1:solidFill>
                <ns1:latin typeface="Arial"/>
                <ns1:ea typeface="Arial"/>
                <ns1:cs typeface="Arial"/>
              </ns1:defRPr>
            </ns1:pPr>
            <ns1:r>
              <ns1:rPr sz="1875" b="0">
                <ns1:solidFill>
                  <ns1:srgbClr val="17243E"/>
                </ns1:solidFill>
                <ns1:latin typeface="Arial"/>
                <ns1:ea typeface="Arial"/>
                <ns1:cs typeface="Arial"/>
              </ns1:rPr>
              <ns1:t>A draft note sets out</ns1:t>
            </ns1:r>
          </ns1:p>
          <ns1:p>
            <ns1:pPr>
              <ns1:lnSpc>
                <ns1:spcPct val="108000"/>
              </ns1:lnSpc>
              <ns1:buNone/>
              <ns1:defRPr sz="1875" b="0">
                <ns1:solidFill>
                  <ns1:srgbClr val="17243E"/>
                </ns1:solidFill>
                <ns1:latin typeface="Arial"/>
                <ns1:ea typeface="Arial"/>
                <ns1:cs typeface="Arial"/>
              </ns1:defRPr>
            </ns1:pPr>
            <ns1:r>
              <ns1:rPr sz="1875" b="0">
                <ns1:solidFill>
                  <ns1:srgbClr val="17243E"/>
                </ns1:solidFill>
                <ns1:latin typeface="Arial"/>
                <ns1:ea typeface="Arial"/>
                <ns1:cs typeface="Arial"/>
              </ns1:rPr>
              <ns1:t>a proposed path</ns1:t>
            </ns1:r>
          </ns1:p>
          <ns1:p>
            <ns1:pPr>
              <ns1:lnSpc>
                <ns1:spcPct val="108000"/>
              </ns1:lnSpc>
              <ns1:buNone/>
              <ns1:defRPr sz="1875" b="0">
                <ns1:solidFill>
                  <ns1:srgbClr val="17243E"/>
                </ns1:solidFill>
                <ns1:latin typeface="Arial"/>
                <ns1:ea typeface="Arial"/>
                <ns1:cs typeface="Arial"/>
              </ns1:defRPr>
            </ns1:pPr>
            <ns1:r>
              <ns1:rPr sz="1875" b="0">
                <ns1:solidFill>
                  <ns1:srgbClr val="17243E"/>
                </ns1:solidFill>
                <ns1:latin typeface="Arial"/>
                <ns1:ea typeface="Arial"/>
                <ns1:cs typeface="Arial"/>
              </ns1:rPr>
              <ns1:t>and its conditions.</ns1:t>
            </ns1:r>
          </ns1:p>
        </ns0:txBody>
      </ns0:sp>
      <ns0:sp>
        <ns0:nvSpPr>
          <ns0:cNvPr id="8" name="">
            <ns1:extLst>
              <ns1:ext uri="{FF2B5EF4-FFF2-40B4-BE49-F238E27FC236}">
                <ns2:creationId id="{830F241D-101A-409A-B95D-57CE78AFDCF5}"/>
              </ns1:ext>
            </ns1:extLst>
          </ns0:cNvPr>
          <ns0:cNvSpPr>
            <ns1:spLocks noGrp="1"/>
          </ns0:cNvSpPr>
          <ns0:nvPr/>
        </ns0:nvSpPr>
        <ns0:spPr>
          <ns1:xfrm>
            <ns1:off x="9182100" y="4591050"/>
            <ns1:ext cx="2362200" cy="1228725"/>
          </ns1:xfrm>
          <ns1:prstGeom prst="rect">
            <ns1:avLst/>
          </ns1:prstGeom>
          <ns1:noFill/>
          <ns1:ln w="0">
            <ns1:noFill/>
          </ns1:ln>
        </ns0:spPr>
        <ns0:txBody>
          <ns1:bodyPr wrap="square" lIns="0" tIns="0" rIns="0" bIns="0">
            <ns1:noAutofit/>
          </ns1:bodyPr>
          <ns1:lstStyle/>
          <ns1:p>
            <ns1:pPr>
              <ns1:lnSpc>
                <ns1:spcPct val="108000"/>
              </ns1:lnSpc>
              <ns1:buNone/>
              <ns1:defRPr sz="1875" b="1">
                <ns1:solidFill>
                  <ns1:srgbClr val="4169A4"/>
                </ns1:solidFill>
                <ns1:latin typeface="Georgia"/>
                <ns1:ea typeface="Georgia"/>
                <ns1:cs typeface="Georgia"/>
              </ns1:defRPr>
            </ns1:pPr>
            <ns1:r>
              <ns1:rPr sz="1875" b="1">
                <ns1:solidFill>
                  <ns1:srgbClr val="4169A4"/>
                </ns1:solidFill>
                <ns1:latin typeface="Georgia"/>
                <ns1:ea typeface="Georgia"/>
                <ns1:cs typeface="Georgia"/>
              </ns1:rPr>
              <ns1:t>The lawyer can</ns1:t>
            </ns1:r>
          </ns1:p>
          <ns1:p>
            <ns1:pPr>
              <ns1:lnSpc>
                <ns1:spcPct val="108000"/>
              </ns1:lnSpc>
              <ns1:buNone/>
              <ns1:defRPr sz="1875" b="1">
                <ns1:solidFill>
                  <ns1:srgbClr val="4169A4"/>
                </ns1:solidFill>
                <ns1:latin typeface="Georgia"/>
                <ns1:ea typeface="Georgia"/>
                <ns1:cs typeface="Georgia"/>
              </ns1:defRPr>
            </ns1:pPr>
            <ns1:r>
              <ns1:rPr sz="1875" b="1">
                <ns1:solidFill>
                  <ns1:srgbClr val="4169A4"/>
                </ns1:solidFill>
                <ns1:latin typeface="Georgia"/>
                <ns1:ea typeface="Georgia"/>
                <ns1:cs typeface="Georgia"/>
              </ns1:rPr>
              <ns1:t>weigh the path</ns1:t>
            </ns1:r>
          </ns1:p>
          <ns1:p>
            <ns1:pPr>
              <ns1:lnSpc>
                <ns1:spcPct val="108000"/>
              </ns1:lnSpc>
              <ns1:buNone/>
              <ns1:defRPr sz="1875" b="1">
                <ns1:solidFill>
                  <ns1:srgbClr val="4169A4"/>
                </ns1:solidFill>
                <ns1:latin typeface="Georgia"/>
                <ns1:ea typeface="Georgia"/>
                <ns1:cs typeface="Georgia"/>
              </ns1:defRPr>
            </ns1:pPr>
            <ns1:r>
              <ns1:rPr sz="1875" b="1">
                <ns1:solidFill>
                  <ns1:srgbClr val="4169A4"/>
                </ns1:solidFill>
                <ns1:latin typeface="Georgia"/>
                <ns1:ea typeface="Georgia"/>
                <ns1:cs typeface="Georgia"/>
              </ns1:rPr>
              <ns1:t>before advising.</ns1:t>
            </ns1:r>
          </ns1:p>
        </ns0:txBody>
      </ns0:sp>
      <ns0:sp>
        <ns0:nvSpPr>
          <ns0:cNvPr id="9" name="">
            <ns1:extLst>
              <ns1:ext uri="{FF2B5EF4-FFF2-40B4-BE49-F238E27FC236}">
                <ns2:creationId id="{B0B4529D-AA35-4734-AACF-D4FD47F7DEAC}"/>
              </ns1:ext>
            </ns1:extLst>
          </ns0:cNvPr>
          <ns0:cNvSpPr>
            <ns1:spLocks noGrp="1"/>
          </ns0:cNvSpPr>
          <ns0:nvPr/>
        </ns0:nvSpPr>
        <ns0:spPr>
          <ns1:xfrm>
            <ns1:off x="609600" y="6124575"/>
            <ns1:ext cx="10858500" cy="285750"/>
          </ns1:xfrm>
          <ns1:prstGeom prst="rect">
            <ns1:avLst/>
          </ns1:prstGeom>
          <ns1:noFill/>
          <ns1:ln w="0">
            <ns1:noFill/>
          </ns1:ln>
        </ns0:spPr>
        <ns0:txBody>
          <ns1:bodyPr wrap="square" lIns="0" tIns="0" rIns="0" bIns="0">
            <ns1:noAutofit/>
          </ns1:bodyPr>
          <ns1:lstStyle/>
          <ns1:p>
            <ns1:pPr>
              <ns1:lnSpc>
                <ns1:spcPct val="108000"/>
              </ns1:lnSpc>
              <ns1:buNone/>
              <ns1:defRPr sz="1125" b="0">
                <ns1:solidFill>
                  <ns1:srgbClr val="596273"/>
                </ns1:solidFill>
                <ns1:latin typeface="Arial"/>
                <ns1:ea typeface="Arial"/>
                <ns1:cs typeface="Arial"/>
              </ns1:defRPr>
            </ns1:pPr>
            <ns1:r>
              <ns1:rPr sz="1125" b="0">
                <ns1:solidFill>
                  <ns1:srgbClr val="596273"/>
                </ns1:solidFill>
                <ns1:latin typeface="Arial"/>
                <ns1:ea typeface="Arial"/>
                <ns1:cs typeface="Arial"/>
              </ns1:rPr>
              <ns1:t>Actual prototype capture. Fictional seeded demo content, including the separate draft decision note.</ns1:t>
            </ns1:r>
          </ns1:p>
        </ns0:txBody>
      </ns0:sp>
    </ns0:spTree>
    <ns0:extLst>
      <ns0:ext uri="{BB962C8B-B14F-4D97-AF65-F5344CB8AC3E}">
        <ns4:creationId val="1868516091"/>
      </ns0:ext>
    </ns0:extLst>
  </ns0:cSld>
</ns0:sld>
</file>

<file path=ppt/slides/slide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9F831C5-916D-4A82-8282-C36C8FA69258}"/>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CLAUDE AND CHATGPT</a:t>
            </a:r>
          </a:p>
        </p:txBody>
      </p:sp>
      <p:sp>
        <p:nvSpPr>
          <p:cNvPr id="2" name="">
            <a:extLst xmlns:a="http://schemas.openxmlformats.org/drawingml/2006/main">
              <a:ext uri="{FF2B5EF4-FFF2-40B4-BE49-F238E27FC236}">
                <a16:creationId xmlns:a16="http://schemas.microsoft.com/office/drawing/2014/main" id="{6E2A9EFC-FF51-4446-B32F-0DFED315592D}"/>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The next advantage is who does the directing</a:t>
            </a:r>
          </a:p>
        </p:txBody>
      </p:sp>
      <p:sp>
        <p:nvSpPr>
          <p:cNvPr id="3" name="">
            <a:extLst xmlns:a="http://schemas.openxmlformats.org/drawingml/2006/main">
              <a:ext uri="{FF2B5EF4-FFF2-40B4-BE49-F238E27FC236}">
                <a16:creationId xmlns:a16="http://schemas.microsoft.com/office/drawing/2014/main" id="{79921B60-68DD-4757-9FD2-1C5619F99073}"/>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3CAE2F06-6E30-48FF-82DA-8EC3B0671B7F}"/>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78BB1A51-B039-4110-A64F-DD99A6BEB589}"/>
              </a:ext>
            </a:extLst>
          </p:cNvPr>
          <p:cNvSpPr>
            <a:spLocks xmlns:a="http://schemas.openxmlformats.org/drawingml/2006/main" noGrp="1"/>
          </p:cNvSpPr>
          <p:nvPr/>
        </p:nvSpPr>
        <p:spPr>
          <a:xfrm xmlns:a="http://schemas.openxmlformats.org/drawingml/2006/main">
            <a:off x="609600" y="2419350"/>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POWERFUL TOOLS ALREADY EXIST</a:t>
            </a:r>
          </a:p>
        </p:txBody>
      </p:sp>
      <p:sp>
        <p:nvSpPr>
          <p:cNvPr id="6" name="">
            <a:extLst xmlns:a="http://schemas.openxmlformats.org/drawingml/2006/main">
              <a:ext uri="{FF2B5EF4-FFF2-40B4-BE49-F238E27FC236}">
                <a16:creationId xmlns:a16="http://schemas.microsoft.com/office/drawing/2014/main" id="{210AA7B3-444B-48B0-AB20-3D39B41BCADA}"/>
              </a:ext>
            </a:extLst>
          </p:cNvPr>
          <p:cNvSpPr>
            <a:spLocks xmlns:a="http://schemas.openxmlformats.org/drawingml/2006/main" noGrp="1"/>
          </p:cNvSpPr>
          <p:nvPr/>
        </p:nvSpPr>
        <p:spPr>
          <a:xfrm xmlns:a="http://schemas.openxmlformats.org/drawingml/2006/main">
            <a:off x="609600" y="283845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700" b="1">
                <a:solidFill>
                  <a:srgbClr val="17243E"/>
                </a:solidFill>
                <a:latin typeface="Georgia"/>
                <a:ea typeface="Georgia"/>
                <a:cs typeface="Georgia"/>
              </a:defRPr>
            </a:pPr>
            <a:r>
              <a:rPr sz="2700" b="1">
                <a:solidFill>
                  <a:srgbClr val="17243E"/>
                </a:solidFill>
                <a:latin typeface="Georgia"/>
                <a:ea typeface="Georgia"/>
                <a:cs typeface="Georgia"/>
              </a:rPr>
              <a:t>Claude</a:t>
            </a:r>
          </a:p>
        </p:txBody>
      </p:sp>
      <p:sp>
        <p:nvSpPr>
          <p:cNvPr id="7" name="">
            <a:extLst xmlns:a="http://schemas.openxmlformats.org/drawingml/2006/main">
              <a:ext uri="{FF2B5EF4-FFF2-40B4-BE49-F238E27FC236}">
                <a16:creationId xmlns:a16="http://schemas.microsoft.com/office/drawing/2014/main" id="{C5D76BCD-0758-48F6-B2F3-075900D50913}"/>
              </a:ext>
            </a:extLst>
          </p:cNvPr>
          <p:cNvSpPr>
            <a:spLocks xmlns:a="http://schemas.openxmlformats.org/drawingml/2006/main" noGrp="1"/>
          </p:cNvSpPr>
          <p:nvPr/>
        </p:nvSpPr>
        <p:spPr>
          <a:xfrm xmlns:a="http://schemas.openxmlformats.org/drawingml/2006/main">
            <a:off x="609600" y="3400425"/>
            <a:ext cx="50387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Research, legal plugins and work across files.</a:t>
            </a:r>
          </a:p>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Settings adapt it to a team’s methods.</a:t>
            </a:r>
          </a:p>
        </p:txBody>
      </p:sp>
      <p:sp>
        <p:nvSpPr>
          <p:cNvPr id="8" name="">
            <a:extLst xmlns:a="http://schemas.openxmlformats.org/drawingml/2006/main">
              <a:ext uri="{FF2B5EF4-FFF2-40B4-BE49-F238E27FC236}">
                <a16:creationId xmlns:a16="http://schemas.microsoft.com/office/drawing/2014/main" id="{34B167A2-8A88-408E-A28B-075C8D60F742}"/>
              </a:ext>
            </a:extLst>
          </p:cNvPr>
          <p:cNvSpPr>
            <a:spLocks xmlns:a="http://schemas.openxmlformats.org/drawingml/2006/main" noGrp="1"/>
          </p:cNvSpPr>
          <p:nvPr/>
        </p:nvSpPr>
        <p:spPr>
          <a:xfrm xmlns:a="http://schemas.openxmlformats.org/drawingml/2006/main">
            <a:off x="609600" y="4543425"/>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700" b="1">
                <a:solidFill>
                  <a:srgbClr val="17243E"/>
                </a:solidFill>
                <a:latin typeface="Georgia"/>
                <a:ea typeface="Georgia"/>
                <a:cs typeface="Georgia"/>
              </a:defRPr>
            </a:pPr>
            <a:r>
              <a:rPr sz="2700" b="1">
                <a:solidFill>
                  <a:srgbClr val="17243E"/>
                </a:solidFill>
                <a:latin typeface="Georgia"/>
                <a:ea typeface="Georgia"/>
                <a:cs typeface="Georgia"/>
              </a:rPr>
              <a:t>ChatGPT</a:t>
            </a:r>
          </a:p>
        </p:txBody>
      </p:sp>
      <p:sp>
        <p:nvSpPr>
          <p:cNvPr id="9" name="">
            <a:extLst xmlns:a="http://schemas.openxmlformats.org/drawingml/2006/main">
              <a:ext uri="{FF2B5EF4-FFF2-40B4-BE49-F238E27FC236}">
                <a16:creationId xmlns:a16="http://schemas.microsoft.com/office/drawing/2014/main" id="{22ECC3F4-75A3-4832-9CB1-6F6F46EBE21C}"/>
              </a:ext>
            </a:extLst>
          </p:cNvPr>
          <p:cNvSpPr>
            <a:spLocks xmlns:a="http://schemas.openxmlformats.org/drawingml/2006/main" noGrp="1"/>
          </p:cNvSpPr>
          <p:nvPr/>
        </p:nvSpPr>
        <p:spPr>
          <a:xfrm xmlns:a="http://schemas.openxmlformats.org/drawingml/2006/main">
            <a:off x="609600" y="5105400"/>
            <a:ext cx="50387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Projects, custom instructions and research</a:t>
            </a:r>
          </a:p>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support ongoing work.</a:t>
            </a:r>
          </a:p>
        </p:txBody>
      </p:sp>
      <p:sp>
        <p:nvSpPr>
          <p:cNvPr id="10" name="">
            <a:extLst xmlns:a="http://schemas.openxmlformats.org/drawingml/2006/main">
              <a:ext uri="{FF2B5EF4-FFF2-40B4-BE49-F238E27FC236}">
                <a16:creationId xmlns:a16="http://schemas.microsoft.com/office/drawing/2014/main" id="{E488CE75-D642-4099-9229-BFCA48B584A0}"/>
              </a:ext>
            </a:extLst>
          </p:cNvPr>
          <p:cNvSpPr>
            <a:spLocks xmlns:a="http://schemas.openxmlformats.org/drawingml/2006/main" noGrp="1"/>
          </p:cNvSpPr>
          <p:nvPr/>
        </p:nvSpPr>
        <p:spPr>
          <a:xfrm xmlns:a="http://schemas.openxmlformats.org/drawingml/2006/main">
            <a:off x="6743700" y="2419350"/>
            <a:ext cx="480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THEMIS’S PROPOSED ADVANTAGE</a:t>
            </a:r>
          </a:p>
        </p:txBody>
      </p:sp>
      <p:sp>
        <p:nvSpPr>
          <p:cNvPr id="11" name="">
            <a:extLst xmlns:a="http://schemas.openxmlformats.org/drawingml/2006/main">
              <a:ext uri="{FF2B5EF4-FFF2-40B4-BE49-F238E27FC236}">
                <a16:creationId xmlns:a16="http://schemas.microsoft.com/office/drawing/2014/main" id="{DC8C133F-E533-4FCE-BE6C-9C048E91F9B8}"/>
              </a:ext>
            </a:extLst>
          </p:cNvPr>
          <p:cNvSpPr>
            <a:spLocks xmlns:a="http://schemas.openxmlformats.org/drawingml/2006/main" noGrp="1"/>
          </p:cNvSpPr>
          <p:nvPr/>
        </p:nvSpPr>
        <p:spPr>
          <a:xfrm xmlns:a="http://schemas.openxmlformats.org/drawingml/2006/main">
            <a:off x="6743700" y="2867025"/>
            <a:ext cx="48006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625" b="1">
                <a:solidFill>
                  <a:srgbClr val="4169A4"/>
                </a:solidFill>
                <a:latin typeface="Georgia"/>
                <a:ea typeface="Georgia"/>
                <a:cs typeface="Georgia"/>
              </a:defRPr>
            </a:pPr>
            <a:r>
              <a:rPr sz="2625" b="1">
                <a:solidFill>
                  <a:srgbClr val="4169A4"/>
                </a:solidFill>
                <a:latin typeface="Georgia"/>
                <a:ea typeface="Georgia"/>
                <a:cs typeface="Georgia"/>
              </a:rPr>
              <a:t>Less work directing the investigation</a:t>
            </a:r>
          </a:p>
        </p:txBody>
      </p:sp>
      <p:sp>
        <p:nvSpPr>
          <p:cNvPr id="12" name="">
            <a:extLst xmlns:a="http://schemas.openxmlformats.org/drawingml/2006/main">
              <a:ext uri="{FF2B5EF4-FFF2-40B4-BE49-F238E27FC236}">
                <a16:creationId xmlns:a16="http://schemas.microsoft.com/office/drawing/2014/main" id="{9D46FB4A-AAFD-40C9-AAD5-B53B19D77B6D}"/>
              </a:ext>
            </a:extLst>
          </p:cNvPr>
          <p:cNvSpPr>
            <a:spLocks xmlns:a="http://schemas.openxmlformats.org/drawingml/2006/main" noGrp="1"/>
          </p:cNvSpPr>
          <p:nvPr/>
        </p:nvSpPr>
        <p:spPr>
          <a:xfrm xmlns:a="http://schemas.openxmlformats.org/drawingml/2006/main">
            <a:off x="6743700" y="4105275"/>
            <a:ext cx="4810125"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A system that starts with the matter,</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surfaces what could change the advice,</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and prepares work in the lawyer’s style.</a:t>
            </a:r>
          </a:p>
          <a:p xmlns:a="http://schemas.openxmlformats.org/drawingml/2006/main">
            <a:r>
              <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The lawyer can spend more attention</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on the choice itself.</a:t>
            </a:r>
          </a:p>
        </p:txBody>
      </p:sp>
      <p:sp>
        <p:nvSpPr>
          <p:cNvPr id="13" name="">
            <a:extLst xmlns:a="http://schemas.openxmlformats.org/drawingml/2006/main">
              <a:ext uri="{FF2B5EF4-FFF2-40B4-BE49-F238E27FC236}">
                <a16:creationId xmlns:a16="http://schemas.microsoft.com/office/drawing/2014/main" id="{DBEE9A35-3875-4CFC-B827-5AE4C60CF69F}"/>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Pilot test: useful issues discovered and advice prepared with less lawyer steering than configured Claude or ChatGPT.</a:t>
            </a:r>
          </a:p>
        </p:txBody>
      </p:sp>
    </p:spTree>
    <p:extLst>
      <p:ext uri="{BB962C8B-B14F-4D97-AF65-F5344CB8AC3E}">
        <p14:creationId xmlns:p14="http://schemas.microsoft.com/office/powerpoint/2010/main" val="375457420"/>
      </p:ext>
    </p:extLst>
  </p:cSld>
</p:sld>
</file>

<file path=ppt/slides/slide7.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CCBA55D-5F0B-4893-B5D7-B70C3A87181B}"/>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WHY NOW</a:t>
            </a:r>
          </a:p>
        </p:txBody>
      </p:sp>
      <p:sp>
        <p:nvSpPr>
          <p:cNvPr id="2" name="">
            <a:extLst xmlns:a="http://schemas.openxmlformats.org/drawingml/2006/main">
              <a:ext uri="{FF2B5EF4-FFF2-40B4-BE49-F238E27FC236}">
                <a16:creationId xmlns:a16="http://schemas.microsoft.com/office/drawing/2014/main" id="{5A9988F9-BC7D-41F6-AE78-741CA70AFAD7}"/>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Legal teams are forming their AI habits</a:t>
            </a:r>
          </a:p>
        </p:txBody>
      </p:sp>
      <p:sp>
        <p:nvSpPr>
          <p:cNvPr id="3" name="">
            <a:extLst xmlns:a="http://schemas.openxmlformats.org/drawingml/2006/main">
              <a:ext uri="{FF2B5EF4-FFF2-40B4-BE49-F238E27FC236}">
                <a16:creationId xmlns:a16="http://schemas.microsoft.com/office/drawing/2014/main" id="{FFC0F5DE-65D9-424F-821C-560D47D45958}"/>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0820F8B2-C01D-40D1-B3A6-F1A3648900EE}"/>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5F801DD6-38E5-4DDC-A3D7-29E8C670ED85}"/>
              </a:ext>
            </a:extLst>
          </p:cNvPr>
          <p:cNvSpPr>
            <a:spLocks xmlns:a="http://schemas.openxmlformats.org/drawingml/2006/main" noGrp="1"/>
          </p:cNvSpPr>
          <p:nvPr/>
        </p:nvSpPr>
        <p:spPr>
          <a:xfrm xmlns:a="http://schemas.openxmlformats.org/drawingml/2006/main">
            <a:off x="609600" y="2409825"/>
            <a:ext cx="4953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7425" b="1">
                <a:solidFill>
                  <a:srgbClr val="4169A4"/>
                </a:solidFill>
                <a:latin typeface="Georgia"/>
                <a:ea typeface="Georgia"/>
                <a:cs typeface="Georgia"/>
              </a:defRPr>
            </a:pPr>
            <a:r>
              <a:rPr sz="7425" b="1">
                <a:solidFill>
                  <a:srgbClr val="4169A4"/>
                </a:solidFill>
                <a:latin typeface="Georgia"/>
                <a:ea typeface="Georgia"/>
                <a:cs typeface="Georgia"/>
              </a:rPr>
              <a:t>36%</a:t>
            </a:r>
          </a:p>
        </p:txBody>
      </p:sp>
      <p:sp>
        <p:nvSpPr>
          <p:cNvPr id="6" name="">
            <a:extLst xmlns:a="http://schemas.openxmlformats.org/drawingml/2006/main">
              <a:ext uri="{FF2B5EF4-FFF2-40B4-BE49-F238E27FC236}">
                <a16:creationId xmlns:a16="http://schemas.microsoft.com/office/drawing/2014/main" id="{BDD25BC4-51BA-401C-BB83-A6AA2A6784D1}"/>
              </a:ext>
            </a:extLst>
          </p:cNvPr>
          <p:cNvSpPr>
            <a:spLocks xmlns:a="http://schemas.openxmlformats.org/drawingml/2006/main" noGrp="1"/>
          </p:cNvSpPr>
          <p:nvPr/>
        </p:nvSpPr>
        <p:spPr>
          <a:xfrm xmlns:a="http://schemas.openxmlformats.org/drawingml/2006/main">
            <a:off x="609600" y="3714750"/>
            <a:ext cx="4857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of surveyed legal departments</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are actively deploying generative AI.</a:t>
            </a:r>
          </a:p>
        </p:txBody>
      </p:sp>
      <p:sp>
        <p:nvSpPr>
          <p:cNvPr id="7" name="">
            <a:extLst xmlns:a="http://schemas.openxmlformats.org/drawingml/2006/main">
              <a:ext uri="{FF2B5EF4-FFF2-40B4-BE49-F238E27FC236}">
                <a16:creationId xmlns:a16="http://schemas.microsoft.com/office/drawing/2014/main" id="{C1C9B5EF-EA98-4016-8E9E-0BD4B3DAFB2A}"/>
              </a:ext>
            </a:extLst>
          </p:cNvPr>
          <p:cNvSpPr>
            <a:spLocks xmlns:a="http://schemas.openxmlformats.org/drawingml/2006/main" noGrp="1"/>
          </p:cNvSpPr>
          <p:nvPr/>
        </p:nvSpPr>
        <p:spPr>
          <a:xfrm xmlns:a="http://schemas.openxmlformats.org/drawingml/2006/main">
            <a:off x="6791325" y="24098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7425" b="1">
                <a:solidFill>
                  <a:srgbClr val="4169A4"/>
                </a:solidFill>
                <a:latin typeface="Georgia"/>
                <a:ea typeface="Georgia"/>
                <a:cs typeface="Georgia"/>
              </a:defRPr>
            </a:pPr>
            <a:r>
              <a:rPr sz="7425" b="1">
                <a:solidFill>
                  <a:srgbClr val="4169A4"/>
                </a:solidFill>
                <a:latin typeface="Georgia"/>
                <a:ea typeface="Georgia"/>
                <a:cs typeface="Georgia"/>
              </a:rPr>
              <a:t>63%</a:t>
            </a:r>
          </a:p>
        </p:txBody>
      </p:sp>
      <p:sp>
        <p:nvSpPr>
          <p:cNvPr id="8" name="">
            <a:extLst xmlns:a="http://schemas.openxmlformats.org/drawingml/2006/main">
              <a:ext uri="{FF2B5EF4-FFF2-40B4-BE49-F238E27FC236}">
                <a16:creationId xmlns:a16="http://schemas.microsoft.com/office/drawing/2014/main" id="{0C679ADA-1B0C-42BF-9336-36F56BAFF873}"/>
              </a:ext>
            </a:extLst>
          </p:cNvPr>
          <p:cNvSpPr>
            <a:spLocks xmlns:a="http://schemas.openxmlformats.org/drawingml/2006/main" noGrp="1"/>
          </p:cNvSpPr>
          <p:nvPr/>
        </p:nvSpPr>
        <p:spPr>
          <a:xfrm xmlns:a="http://schemas.openxmlformats.org/drawingml/2006/main">
            <a:off x="6791325" y="3714750"/>
            <a:ext cx="47148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of surveyed chief legal officers</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expect headcount to stay stable.</a:t>
            </a:r>
          </a:p>
        </p:txBody>
      </p:sp>
      <p:sp>
        <p:nvSpPr>
          <p:cNvPr id="9" name="">
            <a:extLst xmlns:a="http://schemas.openxmlformats.org/drawingml/2006/main">
              <a:ext uri="{FF2B5EF4-FFF2-40B4-BE49-F238E27FC236}">
                <a16:creationId xmlns:a16="http://schemas.microsoft.com/office/drawing/2014/main" id="{593E1A9C-425B-4372-B48A-5B8E9910C50F}"/>
              </a:ext>
            </a:extLst>
          </p:cNvPr>
          <p:cNvSpPr>
            <a:spLocks xmlns:a="http://schemas.openxmlformats.org/drawingml/2006/main" noGrp="1"/>
          </p:cNvSpPr>
          <p:nvPr/>
        </p:nvSpPr>
        <p:spPr>
          <a:xfrm xmlns:a="http://schemas.openxmlformats.org/drawingml/2006/main">
            <a:off x="609600" y="5248275"/>
            <a:ext cx="10763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00" b="1">
                <a:solidFill>
                  <a:srgbClr val="17243E"/>
                </a:solidFill>
                <a:latin typeface="Georgia"/>
                <a:ea typeface="Georgia"/>
                <a:cs typeface="Georgia"/>
              </a:defRPr>
            </a:pPr>
            <a:r>
              <a:rPr sz="2400" b="1">
                <a:solidFill>
                  <a:srgbClr val="17243E"/>
                </a:solidFill>
                <a:latin typeface="Georgia"/>
                <a:ea typeface="Georgia"/>
                <a:cs typeface="Georgia"/>
              </a:rPr>
              <a:t>Our opening: become the associate small legal teams turn to as they work through decisions.</a:t>
            </a:r>
          </a:p>
        </p:txBody>
      </p:sp>
      <p:sp>
        <p:nvSpPr>
          <p:cNvPr id="10" name="">
            <a:extLst xmlns:a="http://schemas.openxmlformats.org/drawingml/2006/main">
              <a:ext uri="{FF2B5EF4-FFF2-40B4-BE49-F238E27FC236}">
                <a16:creationId xmlns:a16="http://schemas.microsoft.com/office/drawing/2014/main" id="{FF0E5115-3A8D-4DDD-BB3B-0C6AD4B0DCBB}"/>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ACC 2026 Chief Legal Officers Survey. 1,049 participants across 43 countries.</a:t>
            </a:r>
          </a:p>
        </p:txBody>
      </p:sp>
    </p:spTree>
    <p:extLst>
      <p:ext uri="{BB962C8B-B14F-4D97-AF65-F5344CB8AC3E}">
        <p14:creationId xmlns:p14="http://schemas.microsoft.com/office/powerpoint/2010/main" val="1129775732"/>
      </p:ext>
    </p:extLst>
  </p:cSld>
</p:sld>
</file>

<file path=ppt/slides/slide8.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B8EAA0B-A23E-4ED2-B79C-ACDA5378FE68}"/>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FIRST CUSTOMER</a:t>
            </a:r>
          </a:p>
        </p:txBody>
      </p:sp>
      <p:sp>
        <p:nvSpPr>
          <p:cNvPr id="2" name="">
            <a:extLst xmlns:a="http://schemas.openxmlformats.org/drawingml/2006/main">
              <a:ext uri="{FF2B5EF4-FFF2-40B4-BE49-F238E27FC236}">
                <a16:creationId xmlns:a16="http://schemas.microsoft.com/office/drawing/2014/main" id="{45547ED4-902E-492A-BFBF-DBE9032ECEE1}"/>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One lawyer. A company’s worth of questions</a:t>
            </a:r>
          </a:p>
        </p:txBody>
      </p:sp>
      <p:sp>
        <p:nvSpPr>
          <p:cNvPr id="3" name="">
            <a:extLst xmlns:a="http://schemas.openxmlformats.org/drawingml/2006/main">
              <a:ext uri="{FF2B5EF4-FFF2-40B4-BE49-F238E27FC236}">
                <a16:creationId xmlns:a16="http://schemas.microsoft.com/office/drawing/2014/main" id="{5D24A343-AEB7-4FCD-AA4D-1C56CC40103F}"/>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1A6C1B78-BDBE-4F02-9720-1800650E8456}"/>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5962E6EA-F78C-4D9D-B7C7-093805A62407}"/>
              </a:ext>
            </a:extLst>
          </p:cNvPr>
          <p:cNvSpPr>
            <a:spLocks xmlns:a="http://schemas.openxmlformats.org/drawingml/2006/main" noGrp="1"/>
          </p:cNvSpPr>
          <p:nvPr/>
        </p:nvSpPr>
        <p:spPr>
          <a:xfrm xmlns:a="http://schemas.openxmlformats.org/drawingml/2006/main">
            <a:off x="609600" y="24669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INITIAL BUYER</a:t>
            </a:r>
          </a:p>
        </p:txBody>
      </p:sp>
      <p:sp>
        <p:nvSpPr>
          <p:cNvPr id="6" name="">
            <a:extLst xmlns:a="http://schemas.openxmlformats.org/drawingml/2006/main">
              <a:ext uri="{FF2B5EF4-FFF2-40B4-BE49-F238E27FC236}">
                <a16:creationId xmlns:a16="http://schemas.microsoft.com/office/drawing/2014/main" id="{109B899C-8242-4747-A23C-701843B00925}"/>
              </a:ext>
            </a:extLst>
          </p:cNvPr>
          <p:cNvSpPr>
            <a:spLocks xmlns:a="http://schemas.openxmlformats.org/drawingml/2006/main" noGrp="1"/>
          </p:cNvSpPr>
          <p:nvPr/>
        </p:nvSpPr>
        <p:spPr>
          <a:xfrm xmlns:a="http://schemas.openxmlformats.org/drawingml/2006/main">
            <a:off x="609600" y="2914650"/>
            <a:ext cx="5524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000" b="1">
                <a:solidFill>
                  <a:srgbClr val="17243E"/>
                </a:solidFill>
                <a:latin typeface="Georgia"/>
                <a:ea typeface="Georgia"/>
                <a:cs typeface="Georgia"/>
              </a:defRPr>
            </a:pPr>
            <a:r>
              <a:rPr sz="3000" b="1">
                <a:solidFill>
                  <a:srgbClr val="17243E"/>
                </a:solidFill>
                <a:latin typeface="Georgia"/>
                <a:ea typeface="Georgia"/>
                <a:cs typeface="Georgia"/>
              </a:rPr>
              <a:t>Solo general counsel</a:t>
            </a:r>
          </a:p>
          <a:p xmlns:a="http://schemas.openxmlformats.org/drawingml/2006/main">
            <a:pPr>
              <a:lnSpc>
                <a:spcPct val="108000"/>
              </a:lnSpc>
              <a:buNone/>
              <a:defRPr sz="3000" b="1">
                <a:solidFill>
                  <a:srgbClr val="17243E"/>
                </a:solidFill>
                <a:latin typeface="Georgia"/>
                <a:ea typeface="Georgia"/>
                <a:cs typeface="Georgia"/>
              </a:defRPr>
            </a:pPr>
            <a:r>
              <a:rPr sz="3000" b="1">
                <a:solidFill>
                  <a:srgbClr val="17243E"/>
                </a:solidFill>
                <a:latin typeface="Georgia"/>
                <a:ea typeface="Georgia"/>
                <a:cs typeface="Georgia"/>
              </a:rPr>
              <a:t>or a small legal team</a:t>
            </a:r>
          </a:p>
        </p:txBody>
      </p:sp>
      <p:sp>
        <p:nvSpPr>
          <p:cNvPr id="7" name="">
            <a:extLst xmlns:a="http://schemas.openxmlformats.org/drawingml/2006/main">
              <a:ext uri="{FF2B5EF4-FFF2-40B4-BE49-F238E27FC236}">
                <a16:creationId xmlns:a16="http://schemas.microsoft.com/office/drawing/2014/main" id="{0823B907-31FA-46C9-B32A-876A72281ED5}"/>
              </a:ext>
            </a:extLst>
          </p:cNvPr>
          <p:cNvSpPr>
            <a:spLocks xmlns:a="http://schemas.openxmlformats.org/drawingml/2006/main" noGrp="1"/>
          </p:cNvSpPr>
          <p:nvPr/>
        </p:nvSpPr>
        <p:spPr>
          <a:xfrm xmlns:a="http://schemas.openxmlformats.org/drawingml/2006/main">
            <a:off x="609600" y="4276725"/>
            <a:ext cx="5524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596273"/>
                </a:solidFill>
                <a:latin typeface="Arial"/>
                <a:ea typeface="Arial"/>
                <a:cs typeface="Arial"/>
              </a:defRPr>
            </a:pPr>
            <a:r>
              <a:rPr sz="2025" b="0">
                <a:solidFill>
                  <a:srgbClr val="596273"/>
                </a:solidFill>
                <a:latin typeface="Arial"/>
                <a:ea typeface="Arial"/>
                <a:cs typeface="Arial"/>
              </a:rPr>
              <a:t>Start with product and regulatory questions</a:t>
            </a:r>
          </a:p>
          <a:p xmlns:a="http://schemas.openxmlformats.org/drawingml/2006/main">
            <a:pPr>
              <a:lnSpc>
                <a:spcPct val="108000"/>
              </a:lnSpc>
              <a:buNone/>
              <a:defRPr sz="2025" b="0">
                <a:solidFill>
                  <a:srgbClr val="596273"/>
                </a:solidFill>
                <a:latin typeface="Arial"/>
                <a:ea typeface="Arial"/>
                <a:cs typeface="Arial"/>
              </a:defRPr>
            </a:pPr>
            <a:r>
              <a:rPr sz="2025" b="0">
                <a:solidFill>
                  <a:srgbClr val="596273"/>
                </a:solidFill>
                <a:latin typeface="Arial"/>
                <a:ea typeface="Arial"/>
                <a:cs typeface="Arial"/>
              </a:rPr>
              <a:t>at technology and fintech companies.</a:t>
            </a:r>
          </a:p>
        </p:txBody>
      </p:sp>
      <p:sp>
        <p:nvSpPr>
          <p:cNvPr id="8" name="">
            <a:extLst xmlns:a="http://schemas.openxmlformats.org/drawingml/2006/main">
              <a:ext uri="{FF2B5EF4-FFF2-40B4-BE49-F238E27FC236}">
                <a16:creationId xmlns:a16="http://schemas.microsoft.com/office/drawing/2014/main" id="{531FCAAD-874C-4142-AD92-3635B8AF3768}"/>
              </a:ext>
            </a:extLst>
          </p:cNvPr>
          <p:cNvSpPr>
            <a:spLocks xmlns:a="http://schemas.openxmlformats.org/drawingml/2006/main" noGrp="1"/>
          </p:cNvSpPr>
          <p:nvPr/>
        </p:nvSpPr>
        <p:spPr>
          <a:xfrm xmlns:a="http://schemas.openxmlformats.org/drawingml/2006/main">
            <a:off x="7229475" y="2466975"/>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THE BUYING MOMENT</a:t>
            </a:r>
          </a:p>
        </p:txBody>
      </p:sp>
      <p:sp>
        <p:nvSpPr>
          <p:cNvPr id="9" name="">
            <a:extLst xmlns:a="http://schemas.openxmlformats.org/drawingml/2006/main">
              <a:ext uri="{FF2B5EF4-FFF2-40B4-BE49-F238E27FC236}">
                <a16:creationId xmlns:a16="http://schemas.microsoft.com/office/drawing/2014/main" id="{2979ECD7-7191-4B17-BC58-A2168A0FF2C8}"/>
              </a:ext>
            </a:extLst>
          </p:cNvPr>
          <p:cNvSpPr>
            <a:spLocks xmlns:a="http://schemas.openxmlformats.org/drawingml/2006/main" noGrp="1"/>
          </p:cNvSpPr>
          <p:nvPr/>
        </p:nvSpPr>
        <p:spPr>
          <a:xfrm xmlns:a="http://schemas.openxmlformats.org/drawingml/2006/main">
            <a:off x="7229475" y="2933700"/>
            <a:ext cx="42862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An unfamiliar issue before a launch.</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AI tools, but little associate support.</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A decision that cannot wait.</a:t>
            </a:r>
          </a:p>
        </p:txBody>
      </p:sp>
      <p:sp>
        <p:nvSpPr>
          <p:cNvPr id="10" name="">
            <a:extLst xmlns:a="http://schemas.openxmlformats.org/drawingml/2006/main">
              <a:ext uri="{FF2B5EF4-FFF2-40B4-BE49-F238E27FC236}">
                <a16:creationId xmlns:a16="http://schemas.microsoft.com/office/drawing/2014/main" id="{8701ACD8-4003-4ECA-AC51-CFAA51D6CB5F}"/>
              </a:ext>
            </a:extLst>
          </p:cNvPr>
          <p:cNvSpPr>
            <a:spLocks xmlns:a="http://schemas.openxmlformats.org/drawingml/2006/main" noGrp="1"/>
          </p:cNvSpPr>
          <p:nvPr/>
        </p:nvSpPr>
        <p:spPr>
          <a:xfrm xmlns:a="http://schemas.openxmlformats.org/drawingml/2006/main">
            <a:off x="7229475" y="5000625"/>
            <a:ext cx="428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4169A4"/>
                </a:solidFill>
                <a:latin typeface="Georgia"/>
                <a:ea typeface="Georgia"/>
                <a:cs typeface="Georgia"/>
              </a:defRPr>
            </a:pPr>
            <a:r>
              <a:rPr sz="2325" b="1">
                <a:solidFill>
                  <a:srgbClr val="4169A4"/>
                </a:solidFill>
                <a:latin typeface="Georgia"/>
                <a:ea typeface="Georgia"/>
                <a:cs typeface="Georgia"/>
              </a:rPr>
              <a:t>One lawyer can test Themis</a:t>
            </a:r>
          </a:p>
          <a:p xmlns:a="http://schemas.openxmlformats.org/drawingml/2006/main">
            <a:pPr>
              <a:lnSpc>
                <a:spcPct val="108000"/>
              </a:lnSpc>
              <a:buNone/>
              <a:defRPr sz="2325" b="1">
                <a:solidFill>
                  <a:srgbClr val="4169A4"/>
                </a:solidFill>
                <a:latin typeface="Georgia"/>
                <a:ea typeface="Georgia"/>
                <a:cs typeface="Georgia"/>
              </a:defRPr>
            </a:pPr>
            <a:r>
              <a:rPr sz="2325" b="1">
                <a:solidFill>
                  <a:srgbClr val="4169A4"/>
                </a:solidFill>
                <a:latin typeface="Georgia"/>
                <a:ea typeface="Georgia"/>
                <a:cs typeface="Georgia"/>
              </a:rPr>
              <a:t>on one live matter.</a:t>
            </a:r>
          </a:p>
        </p:txBody>
      </p:sp>
      <p:sp>
        <p:nvSpPr>
          <p:cNvPr id="11" name="">
            <a:extLst xmlns:a="http://schemas.openxmlformats.org/drawingml/2006/main">
              <a:ext uri="{FF2B5EF4-FFF2-40B4-BE49-F238E27FC236}">
                <a16:creationId xmlns:a16="http://schemas.microsoft.com/office/drawing/2014/main" id="{D5EDC8EB-B906-4396-97E2-29FBD8CAE900}"/>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Four exploratory counsel interviews inform this focus. They are research, not customers or pilot commitments.</a:t>
            </a:r>
          </a:p>
        </p:txBody>
      </p:sp>
    </p:spTree>
    <p:extLst>
      <p:ext uri="{BB962C8B-B14F-4D97-AF65-F5344CB8AC3E}">
        <p14:creationId xmlns:p14="http://schemas.microsoft.com/office/powerpoint/2010/main" val="506007702"/>
      </p:ext>
    </p:extLst>
  </p:cSld>
</p:sld>
</file>

<file path=ppt/slides/slide9.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1634701-AB13-48CC-87BB-21A53CB792F9}"/>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BUSINESS MODEL</a:t>
            </a:r>
          </a:p>
        </p:txBody>
      </p:sp>
      <p:sp>
        <p:nvSpPr>
          <p:cNvPr id="2" name="">
            <a:extLst xmlns:a="http://schemas.openxmlformats.org/drawingml/2006/main">
              <a:ext uri="{FF2B5EF4-FFF2-40B4-BE49-F238E27FC236}">
                <a16:creationId xmlns:a16="http://schemas.microsoft.com/office/drawing/2014/main" id="{0818C4A1-4DC4-43FB-BA32-28DD66FD0A62}"/>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A subscription for associate support</a:t>
            </a:r>
          </a:p>
        </p:txBody>
      </p:sp>
      <p:sp>
        <p:nvSpPr>
          <p:cNvPr id="3" name="">
            <a:extLst xmlns:a="http://schemas.openxmlformats.org/drawingml/2006/main">
              <a:ext uri="{FF2B5EF4-FFF2-40B4-BE49-F238E27FC236}">
                <a16:creationId xmlns:a16="http://schemas.microsoft.com/office/drawing/2014/main" id="{00D2DA49-009D-4F33-85C7-D3C977357360}"/>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F332B7D2-868C-41E8-B798-BD93D2F7B6D1}"/>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C6A120FC-8657-456F-828F-83F920845F25}"/>
              </a:ext>
            </a:extLst>
          </p:cNvPr>
          <p:cNvSpPr>
            <a:spLocks xmlns:a="http://schemas.openxmlformats.org/drawingml/2006/main" noGrp="1"/>
          </p:cNvSpPr>
          <p:nvPr/>
        </p:nvSpPr>
        <p:spPr>
          <a:xfrm xmlns:a="http://schemas.openxmlformats.org/drawingml/2006/main">
            <a:off x="609600" y="2476500"/>
            <a:ext cx="51435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7200" b="1">
                <a:solidFill>
                  <a:srgbClr val="4169A4"/>
                </a:solidFill>
                <a:latin typeface="Georgia"/>
                <a:ea typeface="Georgia"/>
                <a:cs typeface="Georgia"/>
              </a:defRPr>
            </a:pPr>
            <a:r>
              <a:rPr sz="7200" b="1">
                <a:solidFill>
                  <a:srgbClr val="4169A4"/>
                </a:solidFill>
                <a:latin typeface="Georgia"/>
                <a:ea typeface="Georgia"/>
                <a:cs typeface="Georgia"/>
              </a:rPr>
              <a:t>$500</a:t>
            </a:r>
          </a:p>
        </p:txBody>
      </p:sp>
      <p:sp>
        <p:nvSpPr>
          <p:cNvPr id="6" name="">
            <a:extLst xmlns:a="http://schemas.openxmlformats.org/drawingml/2006/main">
              <a:ext uri="{FF2B5EF4-FFF2-40B4-BE49-F238E27FC236}">
                <a16:creationId xmlns:a16="http://schemas.microsoft.com/office/drawing/2014/main" id="{B0409596-B03D-4BA5-9821-A4B8D7EABE82}"/>
              </a:ext>
            </a:extLst>
          </p:cNvPr>
          <p:cNvSpPr>
            <a:spLocks xmlns:a="http://schemas.openxmlformats.org/drawingml/2006/main" noGrp="1"/>
          </p:cNvSpPr>
          <p:nvPr/>
        </p:nvSpPr>
        <p:spPr>
          <a:xfrm xmlns:a="http://schemas.openxmlformats.org/drawingml/2006/main">
            <a:off x="609600" y="3781425"/>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0">
                <a:solidFill>
                  <a:srgbClr val="17243E"/>
                </a:solidFill>
                <a:latin typeface="Arial"/>
                <a:ea typeface="Arial"/>
                <a:cs typeface="Arial"/>
              </a:defRPr>
            </a:pPr>
            <a:r>
              <a:rPr sz="2325" b="0">
                <a:solidFill>
                  <a:srgbClr val="17243E"/>
                </a:solidFill>
                <a:latin typeface="Arial"/>
                <a:ea typeface="Arial"/>
                <a:cs typeface="Arial"/>
              </a:rPr>
              <a:t>per lawyer, per month</a:t>
            </a:r>
          </a:p>
        </p:txBody>
      </p:sp>
      <p:sp>
        <p:nvSpPr>
          <p:cNvPr id="7" name="">
            <a:extLst xmlns:a="http://schemas.openxmlformats.org/drawingml/2006/main">
              <a:ext uri="{FF2B5EF4-FFF2-40B4-BE49-F238E27FC236}">
                <a16:creationId xmlns:a16="http://schemas.microsoft.com/office/drawing/2014/main" id="{47418FF8-89E2-4418-97A2-7DA386FEDCB5}"/>
              </a:ext>
            </a:extLst>
          </p:cNvPr>
          <p:cNvSpPr>
            <a:spLocks xmlns:a="http://schemas.openxmlformats.org/drawingml/2006/main" noGrp="1"/>
          </p:cNvSpPr>
          <p:nvPr/>
        </p:nvSpPr>
        <p:spPr>
          <a:xfrm xmlns:a="http://schemas.openxmlformats.org/drawingml/2006/main">
            <a:off x="609600" y="4438650"/>
            <a:ext cx="5334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Proposed starting price</a:t>
            </a:r>
          </a:p>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One lawyer. One real matter to start.</a:t>
            </a:r>
          </a:p>
        </p:txBody>
      </p:sp>
      <p:sp>
        <p:nvSpPr>
          <p:cNvPr id="8" name="">
            <a:extLst xmlns:a="http://schemas.openxmlformats.org/drawingml/2006/main">
              <a:ext uri="{FF2B5EF4-FFF2-40B4-BE49-F238E27FC236}">
                <a16:creationId xmlns:a16="http://schemas.microsoft.com/office/drawing/2014/main" id="{8F385E6C-F076-46D4-A61A-0EFF91ACE8EC}"/>
              </a:ext>
            </a:extLst>
          </p:cNvPr>
          <p:cNvSpPr>
            <a:spLocks xmlns:a="http://schemas.openxmlformats.org/drawingml/2006/main" noGrp="1"/>
          </p:cNvSpPr>
          <p:nvPr/>
        </p:nvSpPr>
        <p:spPr>
          <a:xfrm xmlns:a="http://schemas.openxmlformats.org/drawingml/2006/main">
            <a:off x="6819900" y="2466975"/>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VALUE TEST</a:t>
            </a:r>
          </a:p>
        </p:txBody>
      </p:sp>
      <p:sp>
        <p:nvSpPr>
          <p:cNvPr id="9" name="">
            <a:extLst xmlns:a="http://schemas.openxmlformats.org/drawingml/2006/main">
              <a:ext uri="{FF2B5EF4-FFF2-40B4-BE49-F238E27FC236}">
                <a16:creationId xmlns:a16="http://schemas.microsoft.com/office/drawing/2014/main" id="{3B20B74A-C1AC-456B-A0D2-F4A5637F6CE8}"/>
              </a:ext>
            </a:extLst>
          </p:cNvPr>
          <p:cNvSpPr>
            <a:spLocks xmlns:a="http://schemas.openxmlformats.org/drawingml/2006/main" noGrp="1"/>
          </p:cNvSpPr>
          <p:nvPr/>
        </p:nvSpPr>
        <p:spPr>
          <a:xfrm xmlns:a="http://schemas.openxmlformats.org/drawingml/2006/main">
            <a:off x="6819900" y="2905125"/>
            <a:ext cx="46577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000" b="1">
                <a:solidFill>
                  <a:srgbClr val="17243E"/>
                </a:solidFill>
                <a:latin typeface="Georgia"/>
                <a:ea typeface="Georgia"/>
                <a:cs typeface="Georgia"/>
              </a:defRPr>
            </a:pPr>
            <a:r>
              <a:rPr sz="3000" b="1">
                <a:solidFill>
                  <a:srgbClr val="17243E"/>
                </a:solidFill>
                <a:latin typeface="Georgia"/>
                <a:ea typeface="Georgia"/>
                <a:cs typeface="Georgia"/>
              </a:rPr>
              <a:t>One hour a week</a:t>
            </a:r>
          </a:p>
        </p:txBody>
      </p:sp>
      <p:sp>
        <p:nvSpPr>
          <p:cNvPr id="10" name="">
            <a:extLst xmlns:a="http://schemas.openxmlformats.org/drawingml/2006/main">
              <a:ext uri="{FF2B5EF4-FFF2-40B4-BE49-F238E27FC236}">
                <a16:creationId xmlns:a16="http://schemas.microsoft.com/office/drawing/2014/main" id="{994E5BA4-B0B3-47B2-930A-988D003A8941}"/>
              </a:ext>
            </a:extLst>
          </p:cNvPr>
          <p:cNvSpPr>
            <a:spLocks xmlns:a="http://schemas.openxmlformats.org/drawingml/2006/main" noGrp="1"/>
          </p:cNvSpPr>
          <p:nvPr/>
        </p:nvSpPr>
        <p:spPr>
          <a:xfrm xmlns:a="http://schemas.openxmlformats.org/drawingml/2006/main">
            <a:off x="6819900" y="3743325"/>
            <a:ext cx="46672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At an assumed $250 per lawyer hour,</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that is about $1,000 of monthly</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capacity for a $500 subscription.</a:t>
            </a:r>
          </a:p>
        </p:txBody>
      </p:sp>
      <p:sp>
        <p:nvSpPr>
          <p:cNvPr id="11" name="">
            <a:extLst xmlns:a="http://schemas.openxmlformats.org/drawingml/2006/main">
              <a:ext uri="{FF2B5EF4-FFF2-40B4-BE49-F238E27FC236}">
                <a16:creationId xmlns:a16="http://schemas.microsoft.com/office/drawing/2014/main" id="{21779C5E-41AA-414F-9991-62CF9C1CBB6D}"/>
              </a:ext>
            </a:extLst>
          </p:cNvPr>
          <p:cNvSpPr>
            <a:spLocks xmlns:a="http://schemas.openxmlformats.org/drawingml/2006/main" noGrp="1"/>
          </p:cNvSpPr>
          <p:nvPr/>
        </p:nvSpPr>
        <p:spPr>
          <a:xfrm xmlns:a="http://schemas.openxmlformats.org/drawingml/2006/main">
            <a:off x="6819900" y="5286375"/>
            <a:ext cx="4667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1">
                <a:solidFill>
                  <a:srgbClr val="4169A4"/>
                </a:solidFill>
                <a:latin typeface="Georgia"/>
                <a:ea typeface="Georgia"/>
                <a:cs typeface="Georgia"/>
              </a:defRPr>
            </a:pPr>
            <a:r>
              <a:rPr sz="2025" b="1">
                <a:solidFill>
                  <a:srgbClr val="4169A4"/>
                </a:solidFill>
                <a:latin typeface="Georgia"/>
                <a:ea typeface="Georgia"/>
                <a:cs typeface="Georgia"/>
              </a:rPr>
              <a:t>Test readiness to advise</a:t>
            </a:r>
          </a:p>
          <a:p xmlns:a="http://schemas.openxmlformats.org/drawingml/2006/main">
            <a:pPr>
              <a:lnSpc>
                <a:spcPct val="108000"/>
              </a:lnSpc>
              <a:buNone/>
              <a:defRPr sz="2025" b="1">
                <a:solidFill>
                  <a:srgbClr val="4169A4"/>
                </a:solidFill>
                <a:latin typeface="Georgia"/>
                <a:ea typeface="Georgia"/>
                <a:cs typeface="Georgia"/>
              </a:defRPr>
            </a:pPr>
            <a:r>
              <a:rPr sz="2025" b="1">
                <a:solidFill>
                  <a:srgbClr val="4169A4"/>
                </a:solidFill>
                <a:latin typeface="Georgia"/>
                <a:ea typeface="Georgia"/>
                <a:cs typeface="Georgia"/>
              </a:rPr>
              <a:t>and net time saved.</a:t>
            </a:r>
          </a:p>
        </p:txBody>
      </p:sp>
      <p:sp>
        <p:nvSpPr>
          <p:cNvPr id="12" name="">
            <a:extLst xmlns:a="http://schemas.openxmlformats.org/drawingml/2006/main">
              <a:ext uri="{FF2B5EF4-FFF2-40B4-BE49-F238E27FC236}">
                <a16:creationId xmlns:a16="http://schemas.microsoft.com/office/drawing/2014/main" id="{00FE3BE9-922D-41DE-BAA8-B44DE0096824}"/>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Illustrative economics: 4 weeks/month. Capacity value is not cash savings. Price and benefit are unvalidated.</a:t>
            </a:r>
          </a:p>
        </p:txBody>
      </p:sp>
    </p:spTree>
    <p:extLst>
      <p:ext uri="{BB962C8B-B14F-4D97-AF65-F5344CB8AC3E}">
        <p14:creationId xmlns:p14="http://schemas.microsoft.com/office/powerpoint/2010/main" val="200836268"/>
      </p:ext>
    </p:extLst>
  </p:cSld>
</p:sld>
</file>

<file path=ppt/slides/slide10.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1C800B1-792F-44B1-82D2-BBF376AAF5E0}"/>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MARKET POTENTIAL</a:t>
            </a:r>
          </a:p>
        </p:txBody>
      </p:sp>
      <p:sp>
        <p:nvSpPr>
          <p:cNvPr id="2" name="">
            <a:extLst xmlns:a="http://schemas.openxmlformats.org/drawingml/2006/main">
              <a:ext uri="{FF2B5EF4-FFF2-40B4-BE49-F238E27FC236}">
                <a16:creationId xmlns:a16="http://schemas.microsoft.com/office/drawing/2014/main" id="{193BC9DB-13AC-4149-AA9A-18A68134DF68}"/>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U.S. in-house counsel offers room to grow</a:t>
            </a:r>
          </a:p>
        </p:txBody>
      </p:sp>
      <p:sp>
        <p:nvSpPr>
          <p:cNvPr id="3" name="">
            <a:extLst xmlns:a="http://schemas.openxmlformats.org/drawingml/2006/main">
              <a:ext uri="{FF2B5EF4-FFF2-40B4-BE49-F238E27FC236}">
                <a16:creationId xmlns:a16="http://schemas.microsoft.com/office/drawing/2014/main" id="{1381A22F-6C25-4ADF-A5A0-D25F1B5F2837}"/>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B56B6B4C-C6CD-49FF-BCC1-60181F3D395B}"/>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5E337B86-F64C-4803-B59C-736280EDD4D6}"/>
              </a:ext>
            </a:extLst>
          </p:cNvPr>
          <p:cNvSpPr>
            <a:spLocks xmlns:a="http://schemas.openxmlformats.org/drawingml/2006/main" noGrp="1"/>
          </p:cNvSpPr>
          <p:nvPr/>
        </p:nvSpPr>
        <p:spPr>
          <a:xfrm xmlns:a="http://schemas.openxmlformats.org/drawingml/2006/main">
            <a:off x="609600" y="2428875"/>
            <a:ext cx="4953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6600" b="1">
                <a:solidFill>
                  <a:srgbClr val="17243E"/>
                </a:solidFill>
                <a:latin typeface="Georgia"/>
                <a:ea typeface="Georgia"/>
                <a:cs typeface="Georgia"/>
              </a:defRPr>
            </a:pPr>
            <a:r>
              <a:rPr sz="6600" b="1">
                <a:solidFill>
                  <a:srgbClr val="17243E"/>
                </a:solidFill>
                <a:latin typeface="Georgia"/>
                <a:ea typeface="Georgia"/>
                <a:cs typeface="Georgia"/>
              </a:rPr>
              <a:t>145,000</a:t>
            </a:r>
          </a:p>
        </p:txBody>
      </p:sp>
      <p:sp>
        <p:nvSpPr>
          <p:cNvPr id="6" name="">
            <a:extLst xmlns:a="http://schemas.openxmlformats.org/drawingml/2006/main">
              <a:ext uri="{FF2B5EF4-FFF2-40B4-BE49-F238E27FC236}">
                <a16:creationId xmlns:a16="http://schemas.microsoft.com/office/drawing/2014/main" id="{E8A73861-B495-4A3A-A455-2CAFC37247AB}"/>
              </a:ext>
            </a:extLst>
          </p:cNvPr>
          <p:cNvSpPr>
            <a:spLocks xmlns:a="http://schemas.openxmlformats.org/drawingml/2006/main" noGrp="1"/>
          </p:cNvSpPr>
          <p:nvPr/>
        </p:nvSpPr>
        <p:spPr>
          <a:xfrm xmlns:a="http://schemas.openxmlformats.org/drawingml/2006/main">
            <a:off x="609600" y="3676650"/>
            <a:ext cx="5048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estimated U.S. in-house lawyers</a:t>
            </a:r>
          </a:p>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ACC analysis of 2024 employment data</a:t>
            </a:r>
          </a:p>
        </p:txBody>
      </p:sp>
      <p:sp>
        <p:nvSpPr>
          <p:cNvPr id="7" name="">
            <a:extLst xmlns:a="http://schemas.openxmlformats.org/drawingml/2006/main">
              <a:ext uri="{FF2B5EF4-FFF2-40B4-BE49-F238E27FC236}">
                <a16:creationId xmlns:a16="http://schemas.microsoft.com/office/drawing/2014/main" id="{186E7776-241B-421D-978B-0EA082CB6B03}"/>
              </a:ext>
            </a:extLst>
          </p:cNvPr>
          <p:cNvSpPr>
            <a:spLocks xmlns:a="http://schemas.openxmlformats.org/drawingml/2006/main" noGrp="1"/>
          </p:cNvSpPr>
          <p:nvPr/>
        </p:nvSpPr>
        <p:spPr>
          <a:xfrm xmlns:a="http://schemas.openxmlformats.org/drawingml/2006/main">
            <a:off x="6762750" y="23907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MODELED U.S. POTENTIAL</a:t>
            </a:r>
          </a:p>
        </p:txBody>
      </p:sp>
      <p:sp>
        <p:nvSpPr>
          <p:cNvPr id="8" name="">
            <a:extLst xmlns:a="http://schemas.openxmlformats.org/drawingml/2006/main">
              <a:ext uri="{FF2B5EF4-FFF2-40B4-BE49-F238E27FC236}">
                <a16:creationId xmlns:a16="http://schemas.microsoft.com/office/drawing/2014/main" id="{E85F5992-3A04-4E03-8D0A-E5B7987D34D8}"/>
              </a:ext>
            </a:extLst>
          </p:cNvPr>
          <p:cNvSpPr>
            <a:spLocks xmlns:a="http://schemas.openxmlformats.org/drawingml/2006/main" noGrp="1"/>
          </p:cNvSpPr>
          <p:nvPr/>
        </p:nvSpPr>
        <p:spPr>
          <a:xfrm xmlns:a="http://schemas.openxmlformats.org/drawingml/2006/main">
            <a:off x="6762750" y="2876550"/>
            <a:ext cx="47625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6375" b="1">
                <a:solidFill>
                  <a:srgbClr val="4169A4"/>
                </a:solidFill>
                <a:latin typeface="Georgia"/>
                <a:ea typeface="Georgia"/>
                <a:cs typeface="Georgia"/>
              </a:defRPr>
            </a:pPr>
            <a:r>
              <a:rPr sz="6375" b="1">
                <a:solidFill>
                  <a:srgbClr val="4169A4"/>
                </a:solidFill>
                <a:latin typeface="Georgia"/>
                <a:ea typeface="Georgia"/>
                <a:cs typeface="Georgia"/>
              </a:rPr>
              <a:t>$870M</a:t>
            </a:r>
          </a:p>
        </p:txBody>
      </p:sp>
      <p:sp>
        <p:nvSpPr>
          <p:cNvPr id="9" name="">
            <a:extLst xmlns:a="http://schemas.openxmlformats.org/drawingml/2006/main">
              <a:ext uri="{FF2B5EF4-FFF2-40B4-BE49-F238E27FC236}">
                <a16:creationId xmlns:a16="http://schemas.microsoft.com/office/drawing/2014/main" id="{9664168E-122D-43A2-A664-5AE033F82B78}"/>
              </a:ext>
            </a:extLst>
          </p:cNvPr>
          <p:cNvSpPr>
            <a:spLocks xmlns:a="http://schemas.openxmlformats.org/drawingml/2006/main" noGrp="1"/>
          </p:cNvSpPr>
          <p:nvPr/>
        </p:nvSpPr>
        <p:spPr>
          <a:xfrm xmlns:a="http://schemas.openxmlformats.org/drawingml/2006/main">
            <a:off x="6762750" y="406717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75" b="0">
                <a:solidFill>
                  <a:srgbClr val="17243E"/>
                </a:solidFill>
                <a:latin typeface="Arial"/>
                <a:ea typeface="Arial"/>
                <a:cs typeface="Arial"/>
              </a:defRPr>
            </a:pPr>
            <a:r>
              <a:rPr sz="1875" b="0">
                <a:solidFill>
                  <a:srgbClr val="17243E"/>
                </a:solidFill>
                <a:latin typeface="Arial"/>
                <a:ea typeface="Arial"/>
                <a:cs typeface="Arial"/>
              </a:rPr>
              <a:t>145,000 lawyers × $6,000 per year</a:t>
            </a:r>
          </a:p>
        </p:txBody>
      </p:sp>
      <p:sp>
        <p:nvSpPr>
          <p:cNvPr id="10" name="">
            <a:extLst xmlns:a="http://schemas.openxmlformats.org/drawingml/2006/main">
              <a:ext uri="{FF2B5EF4-FFF2-40B4-BE49-F238E27FC236}">
                <a16:creationId xmlns:a16="http://schemas.microsoft.com/office/drawing/2014/main" id="{CA5448EA-377D-4EE8-AF51-30EEA99FDFA1}"/>
              </a:ext>
            </a:extLst>
          </p:cNvPr>
          <p:cNvSpPr>
            <a:spLocks xmlns:a="http://schemas.openxmlformats.org/drawingml/2006/main" noGrp="1"/>
          </p:cNvSpPr>
          <p:nvPr/>
        </p:nvSpPr>
        <p:spPr>
          <a:xfrm xmlns:a="http://schemas.openxmlformats.org/drawingml/2006/main">
            <a:off x="609600" y="5076825"/>
            <a:ext cx="10953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00" b="1">
                <a:solidFill>
                  <a:srgbClr val="17243E"/>
                </a:solidFill>
                <a:latin typeface="Georgia"/>
                <a:ea typeface="Georgia"/>
                <a:cs typeface="Georgia"/>
              </a:defRPr>
            </a:pPr>
            <a:r>
              <a:rPr sz="2400" b="1">
                <a:solidFill>
                  <a:srgbClr val="17243E"/>
                </a:solidFill>
                <a:latin typeface="Georgia"/>
                <a:ea typeface="Georgia"/>
                <a:cs typeface="Georgia"/>
              </a:rPr>
              <a:t>Initial segment scenario: 10–20% of those lawyers</a:t>
            </a:r>
          </a:p>
          <a:p xmlns:a="http://schemas.openxmlformats.org/drawingml/2006/main">
            <a:pPr>
              <a:lnSpc>
                <a:spcPct val="108000"/>
              </a:lnSpc>
              <a:buNone/>
              <a:defRPr sz="2400" b="1">
                <a:solidFill>
                  <a:srgbClr val="17243E"/>
                </a:solidFill>
                <a:latin typeface="Georgia"/>
                <a:ea typeface="Georgia"/>
                <a:cs typeface="Georgia"/>
              </a:defRPr>
            </a:pPr>
            <a:r>
              <a:rPr sz="2400" b="1">
                <a:solidFill>
                  <a:srgbClr val="17243E"/>
                </a:solidFill>
                <a:latin typeface="Georgia"/>
                <a:ea typeface="Georgia"/>
                <a:cs typeface="Georgia"/>
              </a:rPr>
              <a:t>14,500–29,000 seats, or $87M–$174M annually</a:t>
            </a:r>
          </a:p>
        </p:txBody>
      </p:sp>
      <p:sp>
        <p:nvSpPr>
          <p:cNvPr id="11" name="">
            <a:extLst xmlns:a="http://schemas.openxmlformats.org/drawingml/2006/main">
              <a:ext uri="{FF2B5EF4-FFF2-40B4-BE49-F238E27FC236}">
                <a16:creationId xmlns:a16="http://schemas.microsoft.com/office/drawing/2014/main" id="{45A05860-2CA0-48C7-8769-405731AA0368}"/>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Scenario, not a market forecast. Assumes full adoption at proposed pricing; initial-segment share is unverified.</a:t>
            </a:r>
          </a:p>
        </p:txBody>
      </p:sp>
    </p:spTree>
    <p:extLst>
      <p:ext uri="{BB962C8B-B14F-4D97-AF65-F5344CB8AC3E}">
        <p14:creationId xmlns:p14="http://schemas.microsoft.com/office/powerpoint/2010/main" val="512646166"/>
      </p:ext>
    </p:extLst>
  </p:cSld>
</p:sld>
</file>

<file path=ppt/slides/slide11.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A02C4A4-B389-4E52-BA4A-2FD08C7D337C}"/>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GO TO MARKET</a:t>
            </a:r>
          </a:p>
        </p:txBody>
      </p:sp>
      <p:sp>
        <p:nvSpPr>
          <p:cNvPr id="2" name="">
            <a:extLst xmlns:a="http://schemas.openxmlformats.org/drawingml/2006/main">
              <a:ext uri="{FF2B5EF4-FFF2-40B4-BE49-F238E27FC236}">
                <a16:creationId xmlns:a16="http://schemas.microsoft.com/office/drawing/2014/main" id="{CDE13653-C25F-4754-A9C0-6A187D5488A2}"/>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The first sale starts with a real matter</a:t>
            </a:r>
          </a:p>
        </p:txBody>
      </p:sp>
      <p:sp>
        <p:nvSpPr>
          <p:cNvPr id="3" name="">
            <a:extLst xmlns:a="http://schemas.openxmlformats.org/drawingml/2006/main">
              <a:ext uri="{FF2B5EF4-FFF2-40B4-BE49-F238E27FC236}">
                <a16:creationId xmlns:a16="http://schemas.microsoft.com/office/drawing/2014/main" id="{B02A300D-4AA3-4478-A7A9-B5A46D2CD561}"/>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5000DD5D-6EA1-4BC4-AB6B-161A2F2BE3BD}"/>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7E2A76FC-F0DD-49A4-9959-44F34D2AC039}"/>
              </a:ext>
            </a:extLst>
          </p:cNvPr>
          <p:cNvSpPr>
            <a:spLocks xmlns:a="http://schemas.openxmlformats.org/drawingml/2006/main" noGrp="1"/>
          </p:cNvSpPr>
          <p:nvPr/>
        </p:nvSpPr>
        <p:spPr>
          <a:xfrm xmlns:a="http://schemas.openxmlformats.org/drawingml/2006/main">
            <a:off x="609600" y="2333625"/>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925" b="1">
                <a:solidFill>
                  <a:srgbClr val="4169A4"/>
                </a:solidFill>
                <a:latin typeface="Georgia"/>
                <a:ea typeface="Georgia"/>
                <a:cs typeface="Georgia"/>
              </a:defRPr>
            </a:pPr>
            <a:r>
              <a:rPr sz="2925" b="1">
                <a:solidFill>
                  <a:srgbClr val="4169A4"/>
                </a:solidFill>
                <a:latin typeface="Georgia"/>
                <a:ea typeface="Georgia"/>
                <a:cs typeface="Georgia"/>
              </a:rPr>
              <a:t>01</a:t>
            </a:r>
          </a:p>
        </p:txBody>
      </p:sp>
      <p:sp>
        <p:nvSpPr>
          <p:cNvPr id="6" name="">
            <a:extLst xmlns:a="http://schemas.openxmlformats.org/drawingml/2006/main">
              <a:ext uri="{FF2B5EF4-FFF2-40B4-BE49-F238E27FC236}">
                <a16:creationId xmlns:a16="http://schemas.microsoft.com/office/drawing/2014/main" id="{33816052-6C1C-4A91-B4A5-162EBAEB5A05}"/>
              </a:ext>
            </a:extLst>
          </p:cNvPr>
          <p:cNvSpPr>
            <a:spLocks xmlns:a="http://schemas.openxmlformats.org/drawingml/2006/main" noGrp="1"/>
          </p:cNvSpPr>
          <p:nvPr/>
        </p:nvSpPr>
        <p:spPr>
          <a:xfrm xmlns:a="http://schemas.openxmlformats.org/drawingml/2006/main">
            <a:off x="1600200" y="2333625"/>
            <a:ext cx="9763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17243E"/>
                </a:solidFill>
                <a:latin typeface="Georgia"/>
                <a:ea typeface="Georgia"/>
                <a:cs typeface="Georgia"/>
              </a:defRPr>
            </a:pPr>
            <a:r>
              <a:rPr sz="2325" b="1">
                <a:solidFill>
                  <a:srgbClr val="17243E"/>
                </a:solidFill>
                <a:latin typeface="Georgia"/>
                <a:ea typeface="Georgia"/>
                <a:cs typeface="Georgia"/>
              </a:rPr>
              <a:t>Recruit through Brian’s network</a:t>
            </a:r>
          </a:p>
        </p:txBody>
      </p:sp>
      <p:sp>
        <p:nvSpPr>
          <p:cNvPr id="7" name="">
            <a:extLst xmlns:a="http://schemas.openxmlformats.org/drawingml/2006/main">
              <a:ext uri="{FF2B5EF4-FFF2-40B4-BE49-F238E27FC236}">
                <a16:creationId xmlns:a16="http://schemas.microsoft.com/office/drawing/2014/main" id="{22ED218C-9C13-407A-B23C-09E003E06C33}"/>
              </a:ext>
            </a:extLst>
          </p:cNvPr>
          <p:cNvSpPr>
            <a:spLocks xmlns:a="http://schemas.openxmlformats.org/drawingml/2006/main" noGrp="1"/>
          </p:cNvSpPr>
          <p:nvPr/>
        </p:nvSpPr>
        <p:spPr>
          <a:xfrm xmlns:a="http://schemas.openxmlformats.org/drawingml/2006/main">
            <a:off x="1600200" y="2828925"/>
            <a:ext cx="97631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75" b="0">
                <a:solidFill>
                  <a:srgbClr val="596273"/>
                </a:solidFill>
                <a:latin typeface="Arial"/>
                <a:ea typeface="Arial"/>
                <a:cs typeface="Arial"/>
              </a:defRPr>
            </a:pPr>
            <a:r>
              <a:rPr sz="1875" b="0">
                <a:solidFill>
                  <a:srgbClr val="596273"/>
                </a:solidFill>
                <a:latin typeface="Arial"/>
                <a:ea typeface="Arial"/>
                <a:cs typeface="Arial"/>
              </a:rPr>
              <a:t>Target solo general counsel and product lawyers. Ask for one active matter.</a:t>
            </a:r>
          </a:p>
        </p:txBody>
      </p:sp>
      <p:sp>
        <p:nvSpPr>
          <p:cNvPr id="8" name="">
            <a:extLst xmlns:a="http://schemas.openxmlformats.org/drawingml/2006/main">
              <a:ext uri="{FF2B5EF4-FFF2-40B4-BE49-F238E27FC236}">
                <a16:creationId xmlns:a16="http://schemas.microsoft.com/office/drawing/2014/main" id="{E9744A6F-C6D7-4843-BB86-2E0431558B35}"/>
              </a:ext>
            </a:extLst>
          </p:cNvPr>
          <p:cNvSpPr>
            <a:spLocks xmlns:a="http://schemas.openxmlformats.org/drawingml/2006/main" noGrp="1"/>
          </p:cNvSpPr>
          <p:nvPr/>
        </p:nvSpPr>
        <p:spPr>
          <a:xfrm xmlns:a="http://schemas.openxmlformats.org/drawingml/2006/main">
            <a:off x="609600" y="3524250"/>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925" b="1">
                <a:solidFill>
                  <a:srgbClr val="4169A4"/>
                </a:solidFill>
                <a:latin typeface="Georgia"/>
                <a:ea typeface="Georgia"/>
                <a:cs typeface="Georgia"/>
              </a:defRPr>
            </a:pPr>
            <a:r>
              <a:rPr sz="2925" b="1">
                <a:solidFill>
                  <a:srgbClr val="4169A4"/>
                </a:solidFill>
                <a:latin typeface="Georgia"/>
                <a:ea typeface="Georgia"/>
                <a:cs typeface="Georgia"/>
              </a:rPr>
              <a:t>02</a:t>
            </a:r>
          </a:p>
        </p:txBody>
      </p:sp>
      <p:sp>
        <p:nvSpPr>
          <p:cNvPr id="9" name="">
            <a:extLst xmlns:a="http://schemas.openxmlformats.org/drawingml/2006/main">
              <a:ext uri="{FF2B5EF4-FFF2-40B4-BE49-F238E27FC236}">
                <a16:creationId xmlns:a16="http://schemas.microsoft.com/office/drawing/2014/main" id="{379FA201-3412-47BD-9BDC-D5F24156A01F}"/>
              </a:ext>
            </a:extLst>
          </p:cNvPr>
          <p:cNvSpPr>
            <a:spLocks xmlns:a="http://schemas.openxmlformats.org/drawingml/2006/main" noGrp="1"/>
          </p:cNvSpPr>
          <p:nvPr/>
        </p:nvSpPr>
        <p:spPr>
          <a:xfrm xmlns:a="http://schemas.openxmlformats.org/drawingml/2006/main">
            <a:off x="1600200" y="3524250"/>
            <a:ext cx="9763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17243E"/>
                </a:solidFill>
                <a:latin typeface="Georgia"/>
                <a:ea typeface="Georgia"/>
                <a:cs typeface="Georgia"/>
              </a:defRPr>
            </a:pPr>
            <a:r>
              <a:rPr sz="2325" b="1">
                <a:solidFill>
                  <a:srgbClr val="17243E"/>
                </a:solidFill>
                <a:latin typeface="Georgia"/>
                <a:ea typeface="Georgia"/>
                <a:cs typeface="Georgia"/>
              </a:rPr>
              <a:t>Run a short, supported pilot</a:t>
            </a:r>
          </a:p>
        </p:txBody>
      </p:sp>
      <p:sp>
        <p:nvSpPr>
          <p:cNvPr id="10" name="">
            <a:extLst xmlns:a="http://schemas.openxmlformats.org/drawingml/2006/main">
              <a:ext uri="{FF2B5EF4-FFF2-40B4-BE49-F238E27FC236}">
                <a16:creationId xmlns:a16="http://schemas.microsoft.com/office/drawing/2014/main" id="{8F728F9D-DB34-40E9-816E-CF68CDCB5A6F}"/>
              </a:ext>
            </a:extLst>
          </p:cNvPr>
          <p:cNvSpPr>
            <a:spLocks xmlns:a="http://schemas.openxmlformats.org/drawingml/2006/main" noGrp="1"/>
          </p:cNvSpPr>
          <p:nvPr/>
        </p:nvSpPr>
        <p:spPr>
          <a:xfrm xmlns:a="http://schemas.openxmlformats.org/drawingml/2006/main">
            <a:off x="1600200" y="4019550"/>
            <a:ext cx="97631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75" b="0">
                <a:solidFill>
                  <a:srgbClr val="596273"/>
                </a:solidFill>
                <a:latin typeface="Arial"/>
                <a:ea typeface="Arial"/>
                <a:cs typeface="Arial"/>
              </a:defRPr>
            </a:pPr>
            <a:r>
              <a:rPr sz="1875" b="0">
                <a:solidFill>
                  <a:srgbClr val="596273"/>
                </a:solidFill>
                <a:latin typeface="Arial"/>
                <a:ea typeface="Arial"/>
                <a:cs typeface="Arial"/>
              </a:rPr>
              <a:t>Compare readiness to advise and total effort with configured Claude or ChatGPT.</a:t>
            </a:r>
          </a:p>
        </p:txBody>
      </p:sp>
      <p:sp>
        <p:nvSpPr>
          <p:cNvPr id="11" name="">
            <a:extLst xmlns:a="http://schemas.openxmlformats.org/drawingml/2006/main">
              <a:ext uri="{FF2B5EF4-FFF2-40B4-BE49-F238E27FC236}">
                <a16:creationId xmlns:a16="http://schemas.microsoft.com/office/drawing/2014/main" id="{1F0AB6FF-E3CF-4519-BE4D-2180C66F98A9}"/>
              </a:ext>
            </a:extLst>
          </p:cNvPr>
          <p:cNvSpPr>
            <a:spLocks xmlns:a="http://schemas.openxmlformats.org/drawingml/2006/main" noGrp="1"/>
          </p:cNvSpPr>
          <p:nvPr/>
        </p:nvSpPr>
        <p:spPr>
          <a:xfrm xmlns:a="http://schemas.openxmlformats.org/drawingml/2006/main">
            <a:off x="609600" y="4714875"/>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925" b="1">
                <a:solidFill>
                  <a:srgbClr val="4169A4"/>
                </a:solidFill>
                <a:latin typeface="Georgia"/>
                <a:ea typeface="Georgia"/>
                <a:cs typeface="Georgia"/>
              </a:defRPr>
            </a:pPr>
            <a:r>
              <a:rPr sz="2925" b="1">
                <a:solidFill>
                  <a:srgbClr val="4169A4"/>
                </a:solidFill>
                <a:latin typeface="Georgia"/>
                <a:ea typeface="Georgia"/>
                <a:cs typeface="Georgia"/>
              </a:rPr>
              <a:t>03</a:t>
            </a:r>
          </a:p>
        </p:txBody>
      </p:sp>
      <p:sp>
        <p:nvSpPr>
          <p:cNvPr id="12" name="">
            <a:extLst xmlns:a="http://schemas.openxmlformats.org/drawingml/2006/main">
              <a:ext uri="{FF2B5EF4-FFF2-40B4-BE49-F238E27FC236}">
                <a16:creationId xmlns:a16="http://schemas.microsoft.com/office/drawing/2014/main" id="{23799DBE-E531-4108-A7C5-A74CF1AF4E81}"/>
              </a:ext>
            </a:extLst>
          </p:cNvPr>
          <p:cNvSpPr>
            <a:spLocks xmlns:a="http://schemas.openxmlformats.org/drawingml/2006/main" noGrp="1"/>
          </p:cNvSpPr>
          <p:nvPr/>
        </p:nvSpPr>
        <p:spPr>
          <a:xfrm xmlns:a="http://schemas.openxmlformats.org/drawingml/2006/main">
            <a:off x="1600200" y="4714875"/>
            <a:ext cx="9763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17243E"/>
                </a:solidFill>
                <a:latin typeface="Georgia"/>
                <a:ea typeface="Georgia"/>
                <a:cs typeface="Georgia"/>
              </a:defRPr>
            </a:pPr>
            <a:r>
              <a:rPr sz="2325" b="1">
                <a:solidFill>
                  <a:srgbClr val="17243E"/>
                </a:solidFill>
                <a:latin typeface="Georgia"/>
                <a:ea typeface="Georgia"/>
                <a:cs typeface="Georgia"/>
              </a:rPr>
              <a:t>Convert, then expand</a:t>
            </a:r>
          </a:p>
        </p:txBody>
      </p:sp>
      <p:sp>
        <p:nvSpPr>
          <p:cNvPr id="13" name="">
            <a:extLst xmlns:a="http://schemas.openxmlformats.org/drawingml/2006/main">
              <a:ext uri="{FF2B5EF4-FFF2-40B4-BE49-F238E27FC236}">
                <a16:creationId xmlns:a16="http://schemas.microsoft.com/office/drawing/2014/main" id="{4980309B-402B-4CA3-AF0F-94B5DDB71445}"/>
              </a:ext>
            </a:extLst>
          </p:cNvPr>
          <p:cNvSpPr>
            <a:spLocks xmlns:a="http://schemas.openxmlformats.org/drawingml/2006/main" noGrp="1"/>
          </p:cNvSpPr>
          <p:nvPr/>
        </p:nvSpPr>
        <p:spPr>
          <a:xfrm xmlns:a="http://schemas.openxmlformats.org/drawingml/2006/main">
            <a:off x="1600200" y="5210175"/>
            <a:ext cx="97631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75" b="0">
                <a:solidFill>
                  <a:srgbClr val="596273"/>
                </a:solidFill>
                <a:latin typeface="Arial"/>
                <a:ea typeface="Arial"/>
                <a:cs typeface="Arial"/>
              </a:defRPr>
            </a:pPr>
            <a:r>
              <a:rPr sz="1875" b="0">
                <a:solidFill>
                  <a:srgbClr val="596273"/>
                </a:solidFill>
                <a:latin typeface="Arial"/>
                <a:ea typeface="Arial"/>
                <a:cs typeface="Arial"/>
              </a:rPr>
              <a:t>Charge for continued use. Seek referrals and a second paid seat after repeat value.</a:t>
            </a:r>
          </a:p>
        </p:txBody>
      </p:sp>
      <p:sp>
        <p:nvSpPr>
          <p:cNvPr id="14" name="">
            <a:extLst xmlns:a="http://schemas.openxmlformats.org/drawingml/2006/main">
              <a:ext uri="{FF2B5EF4-FFF2-40B4-BE49-F238E27FC236}">
                <a16:creationId xmlns:a16="http://schemas.microsoft.com/office/drawing/2014/main" id="{939D20F3-9640-408E-B2DE-34F49926E28F}"/>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First 90-day targets: 20 qualified conversations, 10 pilot lawyers, 5 paying lawyers. Proposed targets, not pipeline.</a:t>
            </a:r>
          </a:p>
        </p:txBody>
      </p:sp>
    </p:spTree>
    <p:extLst>
      <p:ext uri="{BB962C8B-B14F-4D97-AF65-F5344CB8AC3E}">
        <p14:creationId xmlns:p14="http://schemas.microsoft.com/office/powerpoint/2010/main" val="550052459"/>
      </p:ext>
    </p:extLst>
  </p:cSld>
</p:sld>
</file>

<file path=ppt/slides/slide12.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992E8A3-4AB5-4EB5-8900-75FB1AC90286}"/>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D8B66A"/>
                </a:solidFill>
                <a:latin typeface="Arial"/>
                <a:ea typeface="Arial"/>
                <a:cs typeface="Arial"/>
              </a:defRPr>
            </a:pPr>
            <a:r>
              <a:rPr sz="1125" b="1">
                <a:solidFill>
                  <a:srgbClr val="D8B66A"/>
                </a:solidFill>
                <a:latin typeface="Arial"/>
                <a:ea typeface="Arial"/>
                <a:cs typeface="Arial"/>
              </a:rPr>
              <a:t>FOUNDER</a:t>
            </a:r>
          </a:p>
        </p:txBody>
      </p:sp>
      <p:sp>
        <p:nvSpPr>
          <p:cNvPr id="2" name="">
            <a:extLst xmlns:a="http://schemas.openxmlformats.org/drawingml/2006/main">
              <a:ext uri="{FF2B5EF4-FFF2-40B4-BE49-F238E27FC236}">
                <a16:creationId xmlns:a16="http://schemas.microsoft.com/office/drawing/2014/main" id="{5612E66F-2141-4DD3-A424-7878747E9F13}"/>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FAF8F2"/>
                </a:solidFill>
                <a:latin typeface="Georgia"/>
                <a:ea typeface="Georgia"/>
                <a:cs typeface="Georgia"/>
              </a:defRPr>
            </a:pPr>
            <a:r>
              <a:rPr sz="3600" b="1">
                <a:solidFill>
                  <a:srgbClr val="FAF8F2"/>
                </a:solidFill>
                <a:latin typeface="Georgia"/>
                <a:ea typeface="Georgia"/>
                <a:cs typeface="Georgia"/>
              </a:rPr>
              <a:t>I know what it takes to be ready to advise</a:t>
            </a:r>
          </a:p>
        </p:txBody>
      </p:sp>
      <p:sp>
        <p:nvSpPr>
          <p:cNvPr id="3" name="">
            <a:extLst xmlns:a="http://schemas.openxmlformats.org/drawingml/2006/main">
              <a:ext uri="{FF2B5EF4-FFF2-40B4-BE49-F238E27FC236}">
                <a16:creationId xmlns:a16="http://schemas.microsoft.com/office/drawing/2014/main" id="{AD0A1229-0B44-4747-B4C1-F1D68636EEAB}"/>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DCE1EA"/>
                </a:solidFill>
                <a:latin typeface="Arial"/>
                <a:ea typeface="Arial"/>
                <a:cs typeface="Arial"/>
              </a:defRPr>
            </a:pPr>
            <a:r>
              <a:rPr sz="900" b="1">
                <a:solidFill>
                  <a:srgbClr val="DCE1EA"/>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57AF586E-2F0E-4B97-8D17-E6C3F7820B95}"/>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DCE1EA"/>
                </a:solidFill>
                <a:latin typeface="Arial"/>
                <a:ea typeface="Arial"/>
                <a:cs typeface="Arial"/>
              </a:defRPr>
            </a:pPr>
            <a:r>
              <a:rPr sz="900" b="0">
                <a:solidFill>
                  <a:srgbClr val="DCE1EA"/>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381EC7CC-F8ED-43D7-BBAD-46A8BA7D6038}"/>
              </a:ext>
            </a:extLst>
          </p:cNvPr>
          <p:cNvSpPr>
            <a:spLocks xmlns:a="http://schemas.openxmlformats.org/drawingml/2006/main" noGrp="1"/>
          </p:cNvSpPr>
          <p:nvPr/>
        </p:nvSpPr>
        <p:spPr>
          <a:xfrm xmlns:a="http://schemas.openxmlformats.org/drawingml/2006/main">
            <a:off x="609600" y="2409825"/>
            <a:ext cx="809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75" b="1">
                <a:solidFill>
                  <a:srgbClr val="FAF8F2"/>
                </a:solidFill>
                <a:latin typeface="Georgia"/>
                <a:ea typeface="Georgia"/>
                <a:cs typeface="Georgia"/>
              </a:defRPr>
            </a:pPr>
            <a:r>
              <a:rPr sz="3675" b="1">
                <a:solidFill>
                  <a:srgbClr val="FAF8F2"/>
                </a:solidFill>
                <a:latin typeface="Georgia"/>
                <a:ea typeface="Georgia"/>
                <a:cs typeface="Georgia"/>
              </a:rPr>
              <a:t>Brian Harris</a:t>
            </a:r>
          </a:p>
        </p:txBody>
      </p:sp>
      <p:sp>
        <p:nvSpPr>
          <p:cNvPr id="6" name="">
            <a:extLst xmlns:a="http://schemas.openxmlformats.org/drawingml/2006/main">
              <a:ext uri="{FF2B5EF4-FFF2-40B4-BE49-F238E27FC236}">
                <a16:creationId xmlns:a16="http://schemas.microsoft.com/office/drawing/2014/main" id="{4531AD06-C8CC-4EE8-9723-5C99CD1DFF0C}"/>
              </a:ext>
            </a:extLst>
          </p:cNvPr>
          <p:cNvSpPr>
            <a:spLocks xmlns:a="http://schemas.openxmlformats.org/drawingml/2006/main" noGrp="1"/>
          </p:cNvSpPr>
          <p:nvPr/>
        </p:nvSpPr>
        <p:spPr>
          <a:xfrm xmlns:a="http://schemas.openxmlformats.org/drawingml/2006/main">
            <a:off x="609600" y="3152775"/>
            <a:ext cx="666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00" b="0">
                <a:solidFill>
                  <a:srgbClr val="D8B66A"/>
                </a:solidFill>
                <a:latin typeface="Arial"/>
                <a:ea typeface="Arial"/>
                <a:cs typeface="Arial"/>
              </a:defRPr>
            </a:pPr>
            <a:r>
              <a:rPr sz="1800" b="0">
                <a:solidFill>
                  <a:srgbClr val="D8B66A"/>
                </a:solidFill>
                <a:latin typeface="Arial"/>
                <a:ea typeface="Arial"/>
                <a:cs typeface="Arial"/>
              </a:rPr>
              <a:t>Sole founder</a:t>
            </a:r>
          </a:p>
        </p:txBody>
      </p:sp>
      <p:sp>
        <p:nvSpPr>
          <p:cNvPr id="7" name="">
            <a:extLst xmlns:a="http://schemas.openxmlformats.org/drawingml/2006/main">
              <a:ext uri="{FF2B5EF4-FFF2-40B4-BE49-F238E27FC236}">
                <a16:creationId xmlns:a16="http://schemas.microsoft.com/office/drawing/2014/main" id="{0F382463-1333-48F4-ADD9-D0FCC655E3AF}"/>
              </a:ext>
            </a:extLst>
          </p:cNvPr>
          <p:cNvSpPr>
            <a:spLocks xmlns:a="http://schemas.openxmlformats.org/drawingml/2006/main" noGrp="1"/>
          </p:cNvSpPr>
          <p:nvPr/>
        </p:nvSpPr>
        <p:spPr>
          <a:xfrm xmlns:a="http://schemas.openxmlformats.org/drawingml/2006/main">
            <a:off x="609600" y="4086225"/>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D8B66A"/>
                </a:solidFill>
                <a:latin typeface="Arial"/>
                <a:ea typeface="Arial"/>
                <a:cs typeface="Arial"/>
              </a:defRPr>
            </a:pPr>
            <a:r>
              <a:rPr sz="1275" b="1">
                <a:solidFill>
                  <a:srgbClr val="D8B66A"/>
                </a:solidFill>
                <a:latin typeface="Arial"/>
                <a:ea typeface="Arial"/>
                <a:cs typeface="Arial"/>
              </a:rPr>
              <a:t>LIVED THE WORK</a:t>
            </a:r>
          </a:p>
        </p:txBody>
      </p:sp>
      <p:sp>
        <p:nvSpPr>
          <p:cNvPr id="8" name="">
            <a:extLst xmlns:a="http://schemas.openxmlformats.org/drawingml/2006/main">
              <a:ext uri="{FF2B5EF4-FFF2-40B4-BE49-F238E27FC236}">
                <a16:creationId xmlns:a16="http://schemas.microsoft.com/office/drawing/2014/main" id="{3BC2DF8A-23F1-49C7-B08C-13B45DDB413E}"/>
              </a:ext>
            </a:extLst>
          </p:cNvPr>
          <p:cNvSpPr>
            <a:spLocks xmlns:a="http://schemas.openxmlformats.org/drawingml/2006/main" noGrp="1"/>
          </p:cNvSpPr>
          <p:nvPr/>
        </p:nvSpPr>
        <p:spPr>
          <a:xfrm xmlns:a="http://schemas.openxmlformats.org/drawingml/2006/main">
            <a:off x="609600" y="4552950"/>
            <a:ext cx="5286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FAF8F2"/>
                </a:solidFill>
                <a:latin typeface="Arial"/>
                <a:ea typeface="Arial"/>
                <a:cs typeface="Arial"/>
              </a:defRPr>
            </a:pPr>
            <a:r>
              <a:rPr sz="2025" b="0">
                <a:solidFill>
                  <a:srgbClr val="FAF8F2"/>
                </a:solidFill>
                <a:latin typeface="Arial"/>
                <a:ea typeface="Arial"/>
                <a:cs typeface="Arial"/>
              </a:rPr>
              <a:t>17 years as a lawyer</a:t>
            </a:r>
          </a:p>
          <a:p xmlns:a="http://schemas.openxmlformats.org/drawingml/2006/main">
            <a:pPr>
              <a:lnSpc>
                <a:spcPct val="108000"/>
              </a:lnSpc>
              <a:buNone/>
              <a:defRPr sz="2025" b="0">
                <a:solidFill>
                  <a:srgbClr val="FAF8F2"/>
                </a:solidFill>
                <a:latin typeface="Arial"/>
                <a:ea typeface="Arial"/>
                <a:cs typeface="Arial"/>
              </a:defRPr>
            </a:pPr>
            <a:r>
              <a:rPr sz="2025" b="0">
                <a:solidFill>
                  <a:srgbClr val="FAF8F2"/>
                </a:solidFill>
                <a:latin typeface="Arial"/>
                <a:ea typeface="Arial"/>
                <a:cs typeface="Arial"/>
              </a:rPr>
              <a:t>General counsel and product counsel</a:t>
            </a:r>
          </a:p>
          <a:p xmlns:a="http://schemas.openxmlformats.org/drawingml/2006/main">
            <a:pPr>
              <a:lnSpc>
                <a:spcPct val="108000"/>
              </a:lnSpc>
              <a:buNone/>
              <a:defRPr sz="2025" b="0">
                <a:solidFill>
                  <a:srgbClr val="FAF8F2"/>
                </a:solidFill>
                <a:latin typeface="Arial"/>
                <a:ea typeface="Arial"/>
                <a:cs typeface="Arial"/>
              </a:defRPr>
            </a:pPr>
            <a:r>
              <a:rPr sz="2025" b="0">
                <a:solidFill>
                  <a:srgbClr val="FAF8F2"/>
                </a:solidFill>
                <a:latin typeface="Arial"/>
                <a:ea typeface="Arial"/>
                <a:cs typeface="Arial"/>
              </a:rPr>
              <a:t>Built legal functions and led teams</a:t>
            </a:r>
          </a:p>
        </p:txBody>
      </p:sp>
      <p:sp>
        <p:nvSpPr>
          <p:cNvPr id="9" name="">
            <a:extLst xmlns:a="http://schemas.openxmlformats.org/drawingml/2006/main">
              <a:ext uri="{FF2B5EF4-FFF2-40B4-BE49-F238E27FC236}">
                <a16:creationId xmlns:a16="http://schemas.microsoft.com/office/drawing/2014/main" id="{4B3F98A1-F66E-4D93-92C7-DB32548EA54C}"/>
              </a:ext>
            </a:extLst>
          </p:cNvPr>
          <p:cNvSpPr>
            <a:spLocks xmlns:a="http://schemas.openxmlformats.org/drawingml/2006/main" noGrp="1"/>
          </p:cNvSpPr>
          <p:nvPr/>
        </p:nvSpPr>
        <p:spPr>
          <a:xfrm xmlns:a="http://schemas.openxmlformats.org/drawingml/2006/main">
            <a:off x="6934200" y="4086225"/>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D8B66A"/>
                </a:solidFill>
                <a:latin typeface="Arial"/>
                <a:ea typeface="Arial"/>
                <a:cs typeface="Arial"/>
              </a:defRPr>
            </a:pPr>
            <a:r>
              <a:rPr sz="1275" b="1">
                <a:solidFill>
                  <a:srgbClr val="D8B66A"/>
                </a:solidFill>
                <a:latin typeface="Arial"/>
                <a:ea typeface="Arial"/>
                <a:cs typeface="Arial"/>
              </a:rPr>
              <a:t>BUILT THE PROTOTYPE</a:t>
            </a:r>
          </a:p>
        </p:txBody>
      </p:sp>
      <p:sp>
        <p:nvSpPr>
          <p:cNvPr id="10" name="">
            <a:extLst xmlns:a="http://schemas.openxmlformats.org/drawingml/2006/main">
              <a:ext uri="{FF2B5EF4-FFF2-40B4-BE49-F238E27FC236}">
                <a16:creationId xmlns:a16="http://schemas.microsoft.com/office/drawing/2014/main" id="{8A6BBF2D-12C8-4C5F-B2E7-749A4F626D0F}"/>
              </a:ext>
            </a:extLst>
          </p:cNvPr>
          <p:cNvSpPr>
            <a:spLocks xmlns:a="http://schemas.openxmlformats.org/drawingml/2006/main" noGrp="1"/>
          </p:cNvSpPr>
          <p:nvPr/>
        </p:nvSpPr>
        <p:spPr>
          <a:xfrm xmlns:a="http://schemas.openxmlformats.org/drawingml/2006/main">
            <a:off x="6934200" y="4552950"/>
            <a:ext cx="46101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950" b="0">
                <a:solidFill>
                  <a:srgbClr val="DCE1EA"/>
                </a:solidFill>
                <a:latin typeface="Arial"/>
                <a:ea typeface="Arial"/>
                <a:cs typeface="Arial"/>
              </a:defRPr>
            </a:pPr>
            <a:r>
              <a:rPr sz="1950" b="0">
                <a:solidFill>
                  <a:srgbClr val="DCE1EA"/>
                </a:solidFill>
                <a:latin typeface="Arial"/>
                <a:ea typeface="Arial"/>
                <a:cs typeface="Arial"/>
              </a:rPr>
              <a:t>Earlier AI research at Georgia Tech</a:t>
            </a:r>
          </a:p>
          <a:p xmlns:a="http://schemas.openxmlformats.org/drawingml/2006/main">
            <a:pPr>
              <a:lnSpc>
                <a:spcPct val="108000"/>
              </a:lnSpc>
              <a:buNone/>
              <a:defRPr sz="1950" b="0">
                <a:solidFill>
                  <a:srgbClr val="DCE1EA"/>
                </a:solidFill>
                <a:latin typeface="Arial"/>
                <a:ea typeface="Arial"/>
                <a:cs typeface="Arial"/>
              </a:defRPr>
            </a:pPr>
            <a:r>
              <a:rPr sz="1950" b="0">
                <a:solidFill>
                  <a:srgbClr val="DCE1EA"/>
                </a:solidFill>
                <a:latin typeface="Arial"/>
                <a:ea typeface="Arial"/>
                <a:cs typeface="Arial"/>
              </a:rPr>
              <a:t>M.S. in Computer Science, Georgia Tech</a:t>
            </a:r>
          </a:p>
          <a:p xmlns:a="http://schemas.openxmlformats.org/drawingml/2006/main">
            <a:pPr>
              <a:lnSpc>
                <a:spcPct val="108000"/>
              </a:lnSpc>
              <a:buNone/>
              <a:defRPr sz="1950" b="0">
                <a:solidFill>
                  <a:srgbClr val="DCE1EA"/>
                </a:solidFill>
                <a:latin typeface="Arial"/>
                <a:ea typeface="Arial"/>
                <a:cs typeface="Arial"/>
              </a:defRPr>
            </a:pPr>
            <a:r>
              <a:rPr sz="1950" b="0">
                <a:solidFill>
                  <a:srgbClr val="DCE1EA"/>
                </a:solidFill>
                <a:latin typeface="Arial"/>
                <a:ea typeface="Arial"/>
                <a:cs typeface="Arial"/>
              </a:rPr>
              <a:t>J.D., Northwestern</a:t>
            </a:r>
          </a:p>
        </p:txBody>
      </p:sp>
    </p:spTree>
    <p:extLst>
      <p:ext uri="{BB962C8B-B14F-4D97-AF65-F5344CB8AC3E}">
        <p14:creationId xmlns:p14="http://schemas.microsoft.com/office/powerpoint/2010/main" val="777789983"/>
      </p:ext>
    </p:extLst>
  </p:cSld>
</p:sld>
</file>

<file path=ppt/slides/slide13.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68FE447-C416-4C57-8D2D-247B36AA0BDD}"/>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WHAT THE NEXT 18 MONTHS MUST PROVE</a:t>
            </a:r>
          </a:p>
        </p:txBody>
      </p:sp>
      <p:sp>
        <p:nvSpPr>
          <p:cNvPr id="2" name="">
            <a:extLst xmlns:a="http://schemas.openxmlformats.org/drawingml/2006/main">
              <a:ext uri="{FF2B5EF4-FFF2-40B4-BE49-F238E27FC236}">
                <a16:creationId xmlns:a16="http://schemas.microsoft.com/office/drawing/2014/main" id="{F3979CBE-47EB-41A8-A3C9-E71FF58F97E0}"/>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Confidence grounded in better understanding</a:t>
            </a:r>
          </a:p>
        </p:txBody>
      </p:sp>
      <p:sp>
        <p:nvSpPr>
          <p:cNvPr id="3" name="">
            <a:extLst xmlns:a="http://schemas.openxmlformats.org/drawingml/2006/main">
              <a:ext uri="{FF2B5EF4-FFF2-40B4-BE49-F238E27FC236}">
                <a16:creationId xmlns:a16="http://schemas.microsoft.com/office/drawing/2014/main" id="{85710E0F-907D-4A21-A640-D39E04080112}"/>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3C810790-A8B4-4940-918A-0347CD9705DD}"/>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920C4CA2-3CE1-4F54-BB28-4FA93A01B70B}"/>
              </a:ext>
            </a:extLst>
          </p:cNvPr>
          <p:cNvSpPr>
            <a:spLocks xmlns:a="http://schemas.openxmlformats.org/drawingml/2006/main" noGrp="1"/>
          </p:cNvSpPr>
          <p:nvPr/>
        </p:nvSpPr>
        <p:spPr>
          <a:xfrm xmlns:a="http://schemas.openxmlformats.org/drawingml/2006/main">
            <a:off x="609600" y="2390775"/>
            <a:ext cx="5381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PRODUCT EVIDENCE</a:t>
            </a:r>
          </a:p>
        </p:txBody>
      </p:sp>
      <p:sp>
        <p:nvSpPr>
          <p:cNvPr id="6" name="">
            <a:extLst xmlns:a="http://schemas.openxmlformats.org/drawingml/2006/main">
              <a:ext uri="{FF2B5EF4-FFF2-40B4-BE49-F238E27FC236}">
                <a16:creationId xmlns:a16="http://schemas.microsoft.com/office/drawing/2014/main" id="{194AAC96-3613-4508-9963-E3FAA55070AE}"/>
              </a:ext>
            </a:extLst>
          </p:cNvPr>
          <p:cNvSpPr>
            <a:spLocks xmlns:a="http://schemas.openxmlformats.org/drawingml/2006/main" noGrp="1"/>
          </p:cNvSpPr>
          <p:nvPr/>
        </p:nvSpPr>
        <p:spPr>
          <a:xfrm xmlns:a="http://schemas.openxmlformats.org/drawingml/2006/main">
            <a:off x="609600" y="2828925"/>
            <a:ext cx="54102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75" b="1">
                <a:solidFill>
                  <a:srgbClr val="17243E"/>
                </a:solidFill>
                <a:latin typeface="Georgia"/>
                <a:ea typeface="Georgia"/>
                <a:cs typeface="Georgia"/>
              </a:defRPr>
            </a:pPr>
            <a:r>
              <a:rPr sz="2475" b="1">
                <a:solidFill>
                  <a:srgbClr val="17243E"/>
                </a:solidFill>
                <a:latin typeface="Georgia"/>
                <a:ea typeface="Georgia"/>
                <a:cs typeface="Georgia"/>
              </a:rPr>
              <a:t>Useful issues surfaced</a:t>
            </a:r>
          </a:p>
          <a:p xmlns:a="http://schemas.openxmlformats.org/drawingml/2006/main">
            <a:pPr>
              <a:lnSpc>
                <a:spcPct val="108000"/>
              </a:lnSpc>
              <a:buNone/>
              <a:defRPr sz="2475" b="1">
                <a:solidFill>
                  <a:srgbClr val="17243E"/>
                </a:solidFill>
                <a:latin typeface="Georgia"/>
                <a:ea typeface="Georgia"/>
                <a:cs typeface="Georgia"/>
              </a:defRPr>
            </a:pPr>
            <a:r>
              <a:rPr sz="2475" b="1">
                <a:solidFill>
                  <a:srgbClr val="17243E"/>
                </a:solidFill>
                <a:latin typeface="Georgia"/>
                <a:ea typeface="Georgia"/>
                <a:cs typeface="Georgia"/>
              </a:rPr>
              <a:t>with less lawyer steering</a:t>
            </a:r>
          </a:p>
        </p:txBody>
      </p:sp>
      <p:sp>
        <p:nvSpPr>
          <p:cNvPr id="7" name="">
            <a:extLst xmlns:a="http://schemas.openxmlformats.org/drawingml/2006/main">
              <a:ext uri="{FF2B5EF4-FFF2-40B4-BE49-F238E27FC236}">
                <a16:creationId xmlns:a16="http://schemas.microsoft.com/office/drawing/2014/main" id="{BF1CC620-6926-40FA-9559-DFB82790887D}"/>
              </a:ext>
            </a:extLst>
          </p:cNvPr>
          <p:cNvSpPr>
            <a:spLocks xmlns:a="http://schemas.openxmlformats.org/drawingml/2006/main" noGrp="1"/>
          </p:cNvSpPr>
          <p:nvPr/>
        </p:nvSpPr>
        <p:spPr>
          <a:xfrm xmlns:a="http://schemas.openxmlformats.org/drawingml/2006/main">
            <a:off x="609600" y="4000500"/>
            <a:ext cx="54292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596273"/>
                </a:solidFill>
                <a:latin typeface="Arial"/>
                <a:ea typeface="Arial"/>
                <a:cs typeface="Arial"/>
              </a:defRPr>
            </a:pPr>
            <a:r>
              <a:rPr sz="2025" b="0">
                <a:solidFill>
                  <a:srgbClr val="596273"/>
                </a:solidFill>
                <a:latin typeface="Arial"/>
                <a:ea typeface="Arial"/>
                <a:cs typeface="Arial"/>
              </a:rPr>
              <a:t>Can the lawyer explain the recommendation</a:t>
            </a:r>
          </a:p>
          <a:p xmlns:a="http://schemas.openxmlformats.org/drawingml/2006/main">
            <a:pPr>
              <a:lnSpc>
                <a:spcPct val="108000"/>
              </a:lnSpc>
              <a:buNone/>
              <a:defRPr sz="2025" b="0">
                <a:solidFill>
                  <a:srgbClr val="596273"/>
                </a:solidFill>
                <a:latin typeface="Arial"/>
                <a:ea typeface="Arial"/>
                <a:cs typeface="Arial"/>
              </a:defRPr>
            </a:pPr>
            <a:r>
              <a:rPr sz="2025" b="0">
                <a:solidFill>
                  <a:srgbClr val="596273"/>
                </a:solidFill>
                <a:latin typeface="Arial"/>
                <a:ea typeface="Arial"/>
                <a:cs typeface="Arial"/>
              </a:rPr>
              <a:t>and what could change it?</a:t>
            </a:r>
          </a:p>
          <a:p xmlns:a="http://schemas.openxmlformats.org/drawingml/2006/main">
            <a:r>
              <a:t/>
            </a:r>
          </a:p>
          <a:p xmlns:a="http://schemas.openxmlformats.org/drawingml/2006/main">
            <a:pPr>
              <a:lnSpc>
                <a:spcPct val="108000"/>
              </a:lnSpc>
              <a:buNone/>
              <a:defRPr sz="2025" b="0">
                <a:solidFill>
                  <a:srgbClr val="596273"/>
                </a:solidFill>
                <a:latin typeface="Arial"/>
                <a:ea typeface="Arial"/>
                <a:cs typeface="Arial"/>
              </a:defRPr>
            </a:pPr>
            <a:r>
              <a:rPr sz="2025" b="0">
                <a:solidFill>
                  <a:srgbClr val="596273"/>
                </a:solidFill>
                <a:latin typeface="Arial"/>
                <a:ea typeface="Arial"/>
                <a:cs typeface="Arial"/>
              </a:rPr>
              <a:t>Does total preparation effort fall?</a:t>
            </a:r>
          </a:p>
        </p:txBody>
      </p:sp>
      <p:sp>
        <p:nvSpPr>
          <p:cNvPr id="8" name="">
            <a:extLst xmlns:a="http://schemas.openxmlformats.org/drawingml/2006/main">
              <a:ext uri="{FF2B5EF4-FFF2-40B4-BE49-F238E27FC236}">
                <a16:creationId xmlns:a16="http://schemas.microsoft.com/office/drawing/2014/main" id="{4A4917DA-00AB-4A4A-9DD6-B9D37DDAD1A3}"/>
              </a:ext>
            </a:extLst>
          </p:cNvPr>
          <p:cNvSpPr>
            <a:spLocks xmlns:a="http://schemas.openxmlformats.org/drawingml/2006/main" noGrp="1"/>
          </p:cNvSpPr>
          <p:nvPr/>
        </p:nvSpPr>
        <p:spPr>
          <a:xfrm xmlns:a="http://schemas.openxmlformats.org/drawingml/2006/main">
            <a:off x="7191375" y="2390775"/>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COMMERCIAL TARGETS</a:t>
            </a:r>
          </a:p>
        </p:txBody>
      </p:sp>
      <p:sp>
        <p:nvSpPr>
          <p:cNvPr id="9" name="">
            <a:extLst xmlns:a="http://schemas.openxmlformats.org/drawingml/2006/main">
              <a:ext uri="{FF2B5EF4-FFF2-40B4-BE49-F238E27FC236}">
                <a16:creationId xmlns:a16="http://schemas.microsoft.com/office/drawing/2014/main" id="{6C7F5D0A-0A1C-4C0D-B6B1-93B4D6CD2FB5}"/>
              </a:ext>
            </a:extLst>
          </p:cNvPr>
          <p:cNvSpPr>
            <a:spLocks xmlns:a="http://schemas.openxmlformats.org/drawingml/2006/main" noGrp="1"/>
          </p:cNvSpPr>
          <p:nvPr/>
        </p:nvSpPr>
        <p:spPr>
          <a:xfrm xmlns:a="http://schemas.openxmlformats.org/drawingml/2006/main">
            <a:off x="7191375" y="2867025"/>
            <a:ext cx="42862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75" b="1">
                <a:solidFill>
                  <a:srgbClr val="4169A4"/>
                </a:solidFill>
                <a:latin typeface="Georgia"/>
                <a:ea typeface="Georgia"/>
                <a:cs typeface="Georgia"/>
              </a:defRPr>
            </a:pPr>
            <a:r>
              <a:rPr sz="2175" b="1">
                <a:solidFill>
                  <a:srgbClr val="4169A4"/>
                </a:solidFill>
                <a:latin typeface="Georgia"/>
                <a:ea typeface="Georgia"/>
                <a:cs typeface="Georgia"/>
              </a:rPr>
              <a:t>25 paying teams</a:t>
            </a:r>
          </a:p>
          <a:p xmlns:a="http://schemas.openxmlformats.org/drawingml/2006/main">
            <a:pPr>
              <a:lnSpc>
                <a:spcPct val="108000"/>
              </a:lnSpc>
              <a:buNone/>
              <a:defRPr sz="2175" b="1">
                <a:solidFill>
                  <a:srgbClr val="4169A4"/>
                </a:solidFill>
                <a:latin typeface="Georgia"/>
                <a:ea typeface="Georgia"/>
                <a:cs typeface="Georgia"/>
              </a:defRPr>
            </a:pPr>
            <a:r>
              <a:rPr sz="2175" b="1">
                <a:solidFill>
                  <a:srgbClr val="4169A4"/>
                </a:solidFill>
                <a:latin typeface="Georgia"/>
                <a:ea typeface="Georgia"/>
                <a:cs typeface="Georgia"/>
              </a:rPr>
              <a:t>50 paying lawyers</a:t>
            </a:r>
          </a:p>
          <a:p xmlns:a="http://schemas.openxmlformats.org/drawingml/2006/main">
            <a:pPr>
              <a:lnSpc>
                <a:spcPct val="108000"/>
              </a:lnSpc>
              <a:buNone/>
              <a:defRPr sz="2175" b="1">
                <a:solidFill>
                  <a:srgbClr val="4169A4"/>
                </a:solidFill>
                <a:latin typeface="Georgia"/>
                <a:ea typeface="Georgia"/>
                <a:cs typeface="Georgia"/>
              </a:defRPr>
            </a:pPr>
            <a:r>
              <a:rPr sz="2175" b="1">
                <a:solidFill>
                  <a:srgbClr val="4169A4"/>
                </a:solidFill>
                <a:latin typeface="Georgia"/>
                <a:ea typeface="Georgia"/>
                <a:cs typeface="Georgia"/>
              </a:rPr>
              <a:t>$300,000 annual recurring revenue</a:t>
            </a:r>
          </a:p>
        </p:txBody>
      </p:sp>
      <p:sp>
        <p:nvSpPr>
          <p:cNvPr id="10" name="">
            <a:extLst xmlns:a="http://schemas.openxmlformats.org/drawingml/2006/main">
              <a:ext uri="{FF2B5EF4-FFF2-40B4-BE49-F238E27FC236}">
                <a16:creationId xmlns:a16="http://schemas.microsoft.com/office/drawing/2014/main" id="{3F3388F1-4FDB-48A8-BC02-39057340C142}"/>
              </a:ext>
            </a:extLst>
          </p:cNvPr>
          <p:cNvSpPr>
            <a:spLocks xmlns:a="http://schemas.openxmlformats.org/drawingml/2006/main" noGrp="1"/>
          </p:cNvSpPr>
          <p:nvPr/>
        </p:nvSpPr>
        <p:spPr>
          <a:xfrm xmlns:a="http://schemas.openxmlformats.org/drawingml/2006/main">
            <a:off x="7191375" y="4638675"/>
            <a:ext cx="4286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60% start a second matter</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within 30 days.</a:t>
            </a:r>
          </a:p>
        </p:txBody>
      </p:sp>
      <p:sp>
        <p:nvSpPr>
          <p:cNvPr id="11" name="">
            <a:extLst xmlns:a="http://schemas.openxmlformats.org/drawingml/2006/main">
              <a:ext uri="{FF2B5EF4-FFF2-40B4-BE49-F238E27FC236}">
                <a16:creationId xmlns:a16="http://schemas.microsoft.com/office/drawing/2014/main" id="{709D925C-CBEA-4F38-8D7F-D782A333973F}"/>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Proposed targets, not results. Today: local prototype and four exploratory interviews. No paid traction demonstrated.</a:t>
            </a:r>
          </a:p>
        </p:txBody>
      </p:sp>
    </p:spTree>
    <p:extLst>
      <p:ext uri="{BB962C8B-B14F-4D97-AF65-F5344CB8AC3E}">
        <p14:creationId xmlns:p14="http://schemas.microsoft.com/office/powerpoint/2010/main" val="1866216130"/>
      </p:ext>
    </p:extLst>
  </p:cSld>
</p:sld>
</file>

<file path=ppt/slides/slide14.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D491E68-F60A-4EC0-B32E-070BAB311651}"/>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D8B66A"/>
                </a:solidFill>
                <a:latin typeface="Arial"/>
                <a:ea typeface="Arial"/>
                <a:cs typeface="Arial"/>
              </a:defRPr>
            </a:pPr>
            <a:r>
              <a:rPr sz="1125" b="1">
                <a:solidFill>
                  <a:srgbClr val="D8B66A"/>
                </a:solidFill>
                <a:latin typeface="Arial"/>
                <a:ea typeface="Arial"/>
                <a:cs typeface="Arial"/>
              </a:rPr>
              <a:t>INVESTMENT PROPOSAL</a:t>
            </a:r>
          </a:p>
        </p:txBody>
      </p:sp>
      <p:sp>
        <p:nvSpPr>
          <p:cNvPr id="2" name="">
            <a:extLst xmlns:a="http://schemas.openxmlformats.org/drawingml/2006/main">
              <a:ext uri="{FF2B5EF4-FFF2-40B4-BE49-F238E27FC236}">
                <a16:creationId xmlns:a16="http://schemas.microsoft.com/office/drawing/2014/main" id="{B1935434-9716-4A09-8135-D250103F759A}"/>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75" b="1">
                <a:solidFill>
                  <a:srgbClr val="FAF8F2"/>
                </a:solidFill>
                <a:latin typeface="Georgia"/>
                <a:ea typeface="Georgia"/>
                <a:cs typeface="Georgia"/>
              </a:defRPr>
            </a:pPr>
            <a:r>
              <a:rPr sz="3675" b="1">
                <a:solidFill>
                  <a:srgbClr val="FAF8F2"/>
                </a:solidFill>
                <a:latin typeface="Georgia"/>
                <a:ea typeface="Georgia"/>
                <a:cs typeface="Georgia"/>
              </a:rPr>
              <a:t>Associate support for the small legal team</a:t>
            </a:r>
          </a:p>
        </p:txBody>
      </p:sp>
      <p:sp>
        <p:nvSpPr>
          <p:cNvPr id="3" name="">
            <a:extLst xmlns:a="http://schemas.openxmlformats.org/drawingml/2006/main">
              <a:ext uri="{FF2B5EF4-FFF2-40B4-BE49-F238E27FC236}">
                <a16:creationId xmlns:a16="http://schemas.microsoft.com/office/drawing/2014/main" id="{4E3DD0E9-37A6-46EA-93AC-3D6F1D48153E}"/>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DCE1EA"/>
                </a:solidFill>
                <a:latin typeface="Arial"/>
                <a:ea typeface="Arial"/>
                <a:cs typeface="Arial"/>
              </a:defRPr>
            </a:pPr>
            <a:r>
              <a:rPr sz="900" b="1">
                <a:solidFill>
                  <a:srgbClr val="DCE1EA"/>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AF4B5308-567A-4684-820E-A61B569A9DB0}"/>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DCE1EA"/>
                </a:solidFill>
                <a:latin typeface="Arial"/>
                <a:ea typeface="Arial"/>
                <a:cs typeface="Arial"/>
              </a:defRPr>
            </a:pPr>
            <a:r>
              <a:rPr sz="900" b="0">
                <a:solidFill>
                  <a:srgbClr val="DCE1EA"/>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ACC523DC-8027-4019-B18F-55778092FAF9}"/>
              </a:ext>
            </a:extLst>
          </p:cNvPr>
          <p:cNvSpPr>
            <a:spLocks xmlns:a="http://schemas.openxmlformats.org/drawingml/2006/main" noGrp="1"/>
          </p:cNvSpPr>
          <p:nvPr/>
        </p:nvSpPr>
        <p:spPr>
          <a:xfrm xmlns:a="http://schemas.openxmlformats.org/drawingml/2006/main">
            <a:off x="609600" y="2390775"/>
            <a:ext cx="5619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7350" b="1">
                <a:solidFill>
                  <a:srgbClr val="D8B66A"/>
                </a:solidFill>
                <a:latin typeface="Georgia"/>
                <a:ea typeface="Georgia"/>
                <a:cs typeface="Georgia"/>
              </a:defRPr>
            </a:pPr>
            <a:r>
              <a:rPr sz="7350" b="1">
                <a:solidFill>
                  <a:srgbClr val="D8B66A"/>
                </a:solidFill>
                <a:latin typeface="Georgia"/>
                <a:ea typeface="Georgia"/>
                <a:cs typeface="Georgia"/>
              </a:rPr>
              <a:t>$1.5M</a:t>
            </a:r>
          </a:p>
        </p:txBody>
      </p:sp>
      <p:sp>
        <p:nvSpPr>
          <p:cNvPr id="6" name="">
            <a:extLst xmlns:a="http://schemas.openxmlformats.org/drawingml/2006/main">
              <a:ext uri="{FF2B5EF4-FFF2-40B4-BE49-F238E27FC236}">
                <a16:creationId xmlns:a16="http://schemas.microsoft.com/office/drawing/2014/main" id="{B3B4190E-F943-4E1D-8FC2-2C17757E801E}"/>
              </a:ext>
            </a:extLst>
          </p:cNvPr>
          <p:cNvSpPr>
            <a:spLocks xmlns:a="http://schemas.openxmlformats.org/drawingml/2006/main" noGrp="1"/>
          </p:cNvSpPr>
          <p:nvPr/>
        </p:nvSpPr>
        <p:spPr>
          <a:xfrm xmlns:a="http://schemas.openxmlformats.org/drawingml/2006/main">
            <a:off x="609600" y="3781425"/>
            <a:ext cx="5619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0">
                <a:solidFill>
                  <a:srgbClr val="FAF8F2"/>
                </a:solidFill>
                <a:latin typeface="Arial"/>
                <a:ea typeface="Arial"/>
                <a:cs typeface="Arial"/>
              </a:defRPr>
            </a:pPr>
            <a:r>
              <a:rPr sz="2325" b="0">
                <a:solidFill>
                  <a:srgbClr val="FAF8F2"/>
                </a:solidFill>
                <a:latin typeface="Arial"/>
                <a:ea typeface="Arial"/>
                <a:cs typeface="Arial"/>
              </a:rPr>
              <a:t>Proposed pre-seed raise</a:t>
            </a:r>
          </a:p>
          <a:p xmlns:a="http://schemas.openxmlformats.org/drawingml/2006/main">
            <a:pPr>
              <a:lnSpc>
                <a:spcPct val="108000"/>
              </a:lnSpc>
              <a:buNone/>
              <a:defRPr sz="2325" b="0">
                <a:solidFill>
                  <a:srgbClr val="FAF8F2"/>
                </a:solidFill>
                <a:latin typeface="Arial"/>
                <a:ea typeface="Arial"/>
                <a:cs typeface="Arial"/>
              </a:defRPr>
            </a:pPr>
            <a:r>
              <a:rPr sz="2325" b="0">
                <a:solidFill>
                  <a:srgbClr val="FAF8F2"/>
                </a:solidFill>
                <a:latin typeface="Arial"/>
                <a:ea typeface="Arial"/>
                <a:cs typeface="Arial"/>
              </a:rPr>
              <a:t>18 months of focused execution</a:t>
            </a:r>
          </a:p>
        </p:txBody>
      </p:sp>
      <p:sp>
        <p:nvSpPr>
          <p:cNvPr id="7" name="">
            <a:extLst xmlns:a="http://schemas.openxmlformats.org/drawingml/2006/main">
              <a:ext uri="{FF2B5EF4-FFF2-40B4-BE49-F238E27FC236}">
                <a16:creationId xmlns:a16="http://schemas.microsoft.com/office/drawing/2014/main" id="{D9ADEFAE-3F5F-4C0F-ACD9-3AEF77723BEE}"/>
              </a:ext>
            </a:extLst>
          </p:cNvPr>
          <p:cNvSpPr>
            <a:spLocks xmlns:a="http://schemas.openxmlformats.org/drawingml/2006/main" noGrp="1"/>
          </p:cNvSpPr>
          <p:nvPr/>
        </p:nvSpPr>
        <p:spPr>
          <a:xfrm xmlns:a="http://schemas.openxmlformats.org/drawingml/2006/main">
            <a:off x="7239000" y="2390775"/>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D8B66A"/>
                </a:solidFill>
                <a:latin typeface="Arial"/>
                <a:ea typeface="Arial"/>
                <a:cs typeface="Arial"/>
              </a:defRPr>
            </a:pPr>
            <a:r>
              <a:rPr sz="1275" b="1">
                <a:solidFill>
                  <a:srgbClr val="D8B66A"/>
                </a:solidFill>
                <a:latin typeface="Arial"/>
                <a:ea typeface="Arial"/>
                <a:cs typeface="Arial"/>
              </a:rPr>
              <a:t>THE NEXT STAGE</a:t>
            </a:r>
          </a:p>
        </p:txBody>
      </p:sp>
      <p:sp>
        <p:nvSpPr>
          <p:cNvPr id="8" name="">
            <a:extLst xmlns:a="http://schemas.openxmlformats.org/drawingml/2006/main">
              <a:ext uri="{FF2B5EF4-FFF2-40B4-BE49-F238E27FC236}">
                <a16:creationId xmlns:a16="http://schemas.microsoft.com/office/drawing/2014/main" id="{081A6F8C-ED37-4405-85BA-35D0B47F5300}"/>
              </a:ext>
            </a:extLst>
          </p:cNvPr>
          <p:cNvSpPr>
            <a:spLocks xmlns:a="http://schemas.openxmlformats.org/drawingml/2006/main" noGrp="1"/>
          </p:cNvSpPr>
          <p:nvPr/>
        </p:nvSpPr>
        <p:spPr>
          <a:xfrm xmlns:a="http://schemas.openxmlformats.org/drawingml/2006/main">
            <a:off x="7239000" y="2895600"/>
            <a:ext cx="42862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Build the founding technical team.</a:t>
            </a:r>
          </a:p>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Put Themis into live legal matters.</a:t>
            </a:r>
          </a:p>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Prove lawyers return and pay.</a:t>
            </a:r>
          </a:p>
        </p:txBody>
      </p:sp>
      <p:sp>
        <p:nvSpPr>
          <p:cNvPr id="9" name="">
            <a:extLst xmlns:a="http://schemas.openxmlformats.org/drawingml/2006/main">
              <a:ext uri="{FF2B5EF4-FFF2-40B4-BE49-F238E27FC236}">
                <a16:creationId xmlns:a16="http://schemas.microsoft.com/office/drawing/2014/main" id="{335B7CF4-4C1D-40D9-B429-98F6254E7870}"/>
              </a:ext>
            </a:extLst>
          </p:cNvPr>
          <p:cNvSpPr>
            <a:spLocks xmlns:a="http://schemas.openxmlformats.org/drawingml/2006/main" noGrp="1"/>
          </p:cNvSpPr>
          <p:nvPr/>
        </p:nvSpPr>
        <p:spPr>
          <a:xfrm xmlns:a="http://schemas.openxmlformats.org/drawingml/2006/main">
            <a:off x="609600" y="5153025"/>
            <a:ext cx="1095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00" b="1">
                <a:solidFill>
                  <a:srgbClr val="FAF8F2"/>
                </a:solidFill>
                <a:latin typeface="Georgia"/>
                <a:ea typeface="Georgia"/>
                <a:cs typeface="Georgia"/>
              </a:defRPr>
            </a:pPr>
            <a:r>
              <a:rPr sz="2400" b="1">
                <a:solidFill>
                  <a:srgbClr val="FAF8F2"/>
                </a:solidFill>
                <a:latin typeface="Georgia"/>
                <a:ea typeface="Georgia"/>
                <a:cs typeface="Georgia"/>
              </a:rPr>
              <a:t>Themis equips lawyers to advise with confidence—and gives</a:t>
            </a:r>
          </a:p>
          <a:p xmlns:a="http://schemas.openxmlformats.org/drawingml/2006/main">
            <a:pPr>
              <a:lnSpc>
                <a:spcPct val="108000"/>
              </a:lnSpc>
              <a:buNone/>
              <a:defRPr sz="2400" b="1">
                <a:solidFill>
                  <a:srgbClr val="FAF8F2"/>
                </a:solidFill>
                <a:latin typeface="Georgia"/>
                <a:ea typeface="Georgia"/>
                <a:cs typeface="Georgia"/>
              </a:defRPr>
            </a:pPr>
            <a:r>
              <a:rPr sz="2400" b="1">
                <a:solidFill>
                  <a:srgbClr val="FAF8F2"/>
                </a:solidFill>
                <a:latin typeface="Georgia"/>
                <a:ea typeface="Georgia"/>
                <a:cs typeface="Georgia"/>
              </a:rPr>
              <a:t>them more time to be present in the room,</a:t>
            </a:r>
          </a:p>
          <a:p xmlns:a="http://schemas.openxmlformats.org/drawingml/2006/main">
            <a:pPr>
              <a:lnSpc>
                <a:spcPct val="108000"/>
              </a:lnSpc>
              <a:buNone/>
              <a:defRPr sz="2400" b="1">
                <a:solidFill>
                  <a:srgbClr val="FAF8F2"/>
                </a:solidFill>
                <a:latin typeface="Georgia"/>
                <a:ea typeface="Georgia"/>
                <a:cs typeface="Georgia"/>
              </a:defRPr>
            </a:pPr>
            <a:r>
              <a:rPr sz="2400" b="1">
                <a:solidFill>
                  <a:srgbClr val="FAF8F2"/>
                </a:solidFill>
                <a:latin typeface="Georgia"/>
                <a:ea typeface="Georgia"/>
                <a:cs typeface="Georgia"/>
              </a:rPr>
              <a:t>shaping business decisions.</a:t>
            </a:r>
          </a:p>
        </p:txBody>
      </p:sp>
    </p:spTree>
    <p:extLst>
      <p:ext uri="{BB962C8B-B14F-4D97-AF65-F5344CB8AC3E}">
        <p14:creationId xmlns:p14="http://schemas.microsoft.com/office/powerpoint/2010/main" val="13210243"/>
      </p:ext>
    </p:extLst>
  </p:cSld>
</p:sld>
</file>

<file path=ppt/slides/slide15.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A900D01-E899-47AC-9EA4-F3349AACAF34}"/>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APPENDIX / PARTNERSHIP</a:t>
            </a:r>
          </a:p>
        </p:txBody>
      </p:sp>
      <p:sp>
        <p:nvSpPr>
          <p:cNvPr id="2" name="">
            <a:extLst xmlns:a="http://schemas.openxmlformats.org/drawingml/2006/main">
              <a:ext uri="{FF2B5EF4-FFF2-40B4-BE49-F238E27FC236}">
                <a16:creationId xmlns:a16="http://schemas.microsoft.com/office/drawing/2014/main" id="{2C43B927-9473-44A3-BAF9-041C44065D80}"/>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450" b="1">
                <a:solidFill>
                  <a:srgbClr val="17243E"/>
                </a:solidFill>
                <a:latin typeface="Georgia"/>
                <a:ea typeface="Georgia"/>
                <a:cs typeface="Georgia"/>
              </a:defRPr>
            </a:pPr>
            <a:r>
              <a:rPr sz="3450" b="1">
                <a:solidFill>
                  <a:srgbClr val="17243E"/>
                </a:solidFill>
                <a:latin typeface="Georgia"/>
                <a:ea typeface="Georgia"/>
                <a:cs typeface="Georgia"/>
              </a:rPr>
              <a:t>Themis brings intelligence at scale.</a:t>
            </a:r>
          </a:p>
          <a:p xmlns:a="http://schemas.openxmlformats.org/drawingml/2006/main">
            <a:pPr>
              <a:lnSpc>
                <a:spcPct val="108000"/>
              </a:lnSpc>
              <a:buNone/>
              <a:defRPr sz="3450" b="1">
                <a:solidFill>
                  <a:srgbClr val="17243E"/>
                </a:solidFill>
                <a:latin typeface="Georgia"/>
                <a:ea typeface="Georgia"/>
                <a:cs typeface="Georgia"/>
              </a:defRPr>
            </a:pPr>
            <a:r>
              <a:rPr sz="3450" b="1">
                <a:solidFill>
                  <a:srgbClr val="17243E"/>
                </a:solidFill>
                <a:latin typeface="Georgia"/>
                <a:ea typeface="Georgia"/>
                <a:cs typeface="Georgia"/>
              </a:rPr>
              <a:t>The lawyer brings judgment</a:t>
            </a:r>
          </a:p>
        </p:txBody>
      </p:sp>
      <p:sp>
        <p:nvSpPr>
          <p:cNvPr id="3" name="">
            <a:extLst xmlns:a="http://schemas.openxmlformats.org/drawingml/2006/main">
              <a:ext uri="{FF2B5EF4-FFF2-40B4-BE49-F238E27FC236}">
                <a16:creationId xmlns:a16="http://schemas.microsoft.com/office/drawing/2014/main" id="{83E67AF8-9DAD-4F0C-9605-B09F61EC40DC}"/>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E8369C79-04CC-4FC5-8ACA-B3FDD55CEC5D}"/>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15</a:t>
            </a:r>
          </a:p>
        </p:txBody>
      </p:sp>
      <p:graphicFrame>
        <p:nvGraphicFramePr>
          <p:cNvPr id="11" name=""/>
          <p:cNvGraphicFramePr/>
          <p:nvPr/>
        </p:nvGraphicFramePr>
        <p:xfrm>
          <a:off xmlns:a="http://schemas.openxmlformats.org/drawingml/2006/main" x="609600" y="2486025"/>
          <a:ext xmlns:a="http://schemas.openxmlformats.org/drawingml/2006/main" cx="10972800" cy="2952750"/>
        </p:xfrm>
        <a:graphic xmlns:a="http://schemas.openxmlformats.org/drawingml/2006/main">
          <a:graphicData uri="http://schemas.openxmlformats.org/drawingml/2006/table">
            <a:tbl>
              <a:tblPr/>
              <a:tblGrid>
                <a:gridCol w="5486400"/>
                <a:gridCol w="5486400"/>
              </a:tblGrid>
              <a:tr h="495300">
                <a:tc>
                  <a:txBody>
                    <a:bodyPr/>
                    <a:lstStyle/>
                    <a:p>
                      <a:r>
                        <a:rPr sz="1875" b="1">
                          <a:solidFill>
                            <a:srgbClr val="FAF8F2"/>
                          </a:solidFill>
                          <a:latin typeface="Arial"/>
                          <a:ea typeface="Arial"/>
                          <a:cs typeface="Arial"/>
                        </a:rPr>
                        <a:t>Themis brings</a:t>
                      </a:r>
                    </a:p>
                  </a:txBody>
                  <a:tcPr marL="91440" marR="91440" marT="45720" marB="45720">
                    <a:solidFill>
                      <a:srgbClr val="17243E"/>
                    </a:solidFill>
                  </a:tcPr>
                </a:tc>
                <a:tc>
                  <a:txBody>
                    <a:bodyPr/>
                    <a:lstStyle/>
                    <a:p>
                      <a:r>
                        <a:rPr sz="1875" b="1">
                          <a:solidFill>
                            <a:srgbClr val="FAF8F2"/>
                          </a:solidFill>
                          <a:latin typeface="Arial"/>
                          <a:ea typeface="Arial"/>
                          <a:cs typeface="Arial"/>
                        </a:rPr>
                        <a:t>The lawyer brings</a:t>
                      </a:r>
                    </a:p>
                  </a:txBody>
                  <a:tcPr marL="91440" marR="91440" marT="45720" marB="45720">
                    <a:solidFill>
                      <a:srgbClr val="17243E"/>
                    </a:solidFill>
                  </a:tcPr>
                </a:tc>
              </a:tr>
              <a:tr h="495300">
                <a:tc>
                  <a:txBody>
                    <a:bodyPr/>
                    <a:lstStyle/>
                    <a:p>
                      <a:r>
                        <a:rPr sz="1875" b="0">
                          <a:solidFill>
                            <a:srgbClr val="17243E"/>
                          </a:solidFill>
                          <a:latin typeface="Arial"/>
                          <a:ea typeface="Arial"/>
                          <a:cs typeface="Arial"/>
                        </a:rPr>
                        <a:t>Speed and capacity</a:t>
                      </a:r>
                    </a:p>
                  </a:txBody>
                  <a:tcPr marL="91440" marR="91440" marT="45720" marB="45720">
                    <a:solidFill>
                      <a:srgbClr val="FAF8F2"/>
                    </a:solidFill>
                  </a:tcPr>
                </a:tc>
                <a:tc>
                  <a:txBody>
                    <a:bodyPr/>
                    <a:lstStyle/>
                    <a:p>
                      <a:r>
                        <a:rPr sz="1875" b="0">
                          <a:solidFill>
                            <a:srgbClr val="17243E"/>
                          </a:solidFill>
                          <a:latin typeface="Arial"/>
                          <a:ea typeface="Arial"/>
                          <a:cs typeface="Arial"/>
                        </a:rPr>
                        <a:t>Business and human context</a:t>
                      </a:r>
                    </a:p>
                  </a:txBody>
                  <a:tcPr marL="91440" marR="91440" marT="45720" marB="45720">
                    <a:solidFill>
                      <a:srgbClr val="FAF8F2"/>
                    </a:solidFill>
                  </a:tcPr>
                </a:tc>
              </a:tr>
              <a:tr h="495300">
                <a:tc>
                  <a:txBody>
                    <a:bodyPr/>
                    <a:lstStyle/>
                    <a:p>
                      <a:r>
                        <a:rPr sz="1875" b="0">
                          <a:solidFill>
                            <a:srgbClr val="17243E"/>
                          </a:solidFill>
                          <a:latin typeface="Arial"/>
                          <a:ea typeface="Arial"/>
                          <a:cs typeface="Arial"/>
                        </a:rPr>
                        <a:t>Research and analysis</a:t>
                      </a:r>
                    </a:p>
                  </a:txBody>
                  <a:tcPr marL="91440" marR="91440" marT="45720" marB="45720">
                    <a:solidFill>
                      <a:srgbClr val="FAF8F2"/>
                    </a:solidFill>
                  </a:tcPr>
                </a:tc>
                <a:tc>
                  <a:txBody>
                    <a:bodyPr/>
                    <a:lstStyle/>
                    <a:p>
                      <a:r>
                        <a:rPr sz="1875" b="0">
                          <a:solidFill>
                            <a:srgbClr val="17243E"/>
                          </a:solidFill>
                          <a:latin typeface="Arial"/>
                          <a:ea typeface="Arial"/>
                          <a:cs typeface="Arial"/>
                        </a:rPr>
                        <a:t>Experience and wisdom</a:t>
                      </a:r>
                    </a:p>
                  </a:txBody>
                  <a:tcPr marL="91440" marR="91440" marT="45720" marB="45720">
                    <a:solidFill>
                      <a:srgbClr val="FAF8F2"/>
                    </a:solidFill>
                  </a:tcPr>
                </a:tc>
              </a:tr>
              <a:tr h="495300">
                <a:tc>
                  <a:txBody>
                    <a:bodyPr/>
                    <a:lstStyle/>
                    <a:p>
                      <a:r>
                        <a:rPr sz="1875" b="0">
                          <a:solidFill>
                            <a:srgbClr val="17243E"/>
                          </a:solidFill>
                          <a:latin typeface="Arial"/>
                          <a:ea typeface="Arial"/>
                          <a:cs typeface="Arial"/>
                        </a:rPr>
                        <a:t>Persistent memory</a:t>
                      </a:r>
                    </a:p>
                  </a:txBody>
                  <a:tcPr marL="91440" marR="91440" marT="45720" marB="45720">
                    <a:solidFill>
                      <a:srgbClr val="FAF8F2"/>
                    </a:solidFill>
                  </a:tcPr>
                </a:tc>
                <a:tc>
                  <a:txBody>
                    <a:bodyPr/>
                    <a:lstStyle/>
                    <a:p>
                      <a:r>
                        <a:rPr sz="1875" b="0">
                          <a:solidFill>
                            <a:srgbClr val="17243E"/>
                          </a:solidFill>
                          <a:latin typeface="Arial"/>
                          <a:ea typeface="Arial"/>
                          <a:cs typeface="Arial"/>
                        </a:rPr>
                        <a:t>Values and risk tolerance</a:t>
                      </a:r>
                    </a:p>
                  </a:txBody>
                  <a:tcPr marL="91440" marR="91440" marT="45720" marB="45720">
                    <a:solidFill>
                      <a:srgbClr val="FAF8F2"/>
                    </a:solidFill>
                  </a:tcPr>
                </a:tc>
              </a:tr>
              <a:tr h="495300">
                <a:tc>
                  <a:txBody>
                    <a:bodyPr/>
                    <a:lstStyle/>
                    <a:p>
                      <a:r>
                        <a:rPr sz="1875" b="0">
                          <a:solidFill>
                            <a:srgbClr val="17243E"/>
                          </a:solidFill>
                          <a:latin typeface="Arial"/>
                          <a:ea typeface="Arial"/>
                          <a:cs typeface="Arial"/>
                        </a:rPr>
                        <a:t>Questions and alternatives</a:t>
                      </a:r>
                    </a:p>
                  </a:txBody>
                  <a:tcPr marL="91440" marR="91440" marT="45720" marB="45720">
                    <a:solidFill>
                      <a:srgbClr val="FAF8F2"/>
                    </a:solidFill>
                  </a:tcPr>
                </a:tc>
                <a:tc>
                  <a:txBody>
                    <a:bodyPr/>
                    <a:lstStyle/>
                    <a:p>
                      <a:r>
                        <a:rPr sz="1875" b="0">
                          <a:solidFill>
                            <a:srgbClr val="17243E"/>
                          </a:solidFill>
                          <a:latin typeface="Arial"/>
                          <a:ea typeface="Arial"/>
                          <a:cs typeface="Arial"/>
                        </a:rPr>
                        <a:t>The choice of path</a:t>
                      </a:r>
                    </a:p>
                  </a:txBody>
                  <a:tcPr marL="91440" marR="91440" marT="45720" marB="45720">
                    <a:solidFill>
                      <a:srgbClr val="FAF8F2"/>
                    </a:solidFill>
                  </a:tcPr>
                </a:tc>
              </a:tr>
              <a:tr h="495300">
                <a:tc>
                  <a:txBody>
                    <a:bodyPr/>
                    <a:lstStyle/>
                    <a:p>
                      <a:r>
                        <a:rPr sz="1875" b="0">
                          <a:solidFill>
                            <a:srgbClr val="17243E"/>
                          </a:solidFill>
                          <a:latin typeface="Arial"/>
                          <a:ea typeface="Arial"/>
                          <a:cs typeface="Arial"/>
                        </a:rPr>
                        <a:t>Accurate, well-supported work</a:t>
                      </a:r>
                    </a:p>
                  </a:txBody>
                  <a:tcPr marL="91440" marR="91440" marT="45720" marB="45720">
                    <a:solidFill>
                      <a:srgbClr val="FAF8F2"/>
                    </a:solidFill>
                  </a:tcPr>
                </a:tc>
                <a:tc>
                  <a:txBody>
                    <a:bodyPr/>
                    <a:lstStyle/>
                    <a:p>
                      <a:r>
                        <a:rPr sz="1875" b="0">
                          <a:solidFill>
                            <a:srgbClr val="17243E"/>
                          </a:solidFill>
                          <a:latin typeface="Arial"/>
                          <a:ea typeface="Arial"/>
                          <a:cs typeface="Arial"/>
                        </a:rPr>
                        <a:t>Ownership of the decision</a:t>
                      </a:r>
                    </a:p>
                  </a:txBody>
                  <a:tcPr marL="91440" marR="91440" marT="45720" marB="45720">
                    <a:solidFill>
                      <a:srgbClr val="FAF8F2"/>
                    </a:solidFill>
                  </a:tcPr>
                </a:tc>
              </a:tr>
            </a:tbl>
          </a:graphicData>
        </a:graphic>
      </p:graphicFrame>
      <p:sp>
        <p:nvSpPr>
          <p:cNvPr id="6" name="">
            <a:extLst xmlns:a="http://schemas.openxmlformats.org/drawingml/2006/main">
              <a:ext uri="{FF2B5EF4-FFF2-40B4-BE49-F238E27FC236}">
                <a16:creationId xmlns:a16="http://schemas.microsoft.com/office/drawing/2014/main" id="{D7DB4065-802A-4C50-8CBD-7E3A515D3D5E}"/>
              </a:ext>
            </a:extLst>
          </p:cNvPr>
          <p:cNvSpPr>
            <a:spLocks xmlns:a="http://schemas.openxmlformats.org/drawingml/2006/main" noGrp="1"/>
          </p:cNvSpPr>
          <p:nvPr/>
        </p:nvSpPr>
        <p:spPr>
          <a:xfrm xmlns:a="http://schemas.openxmlformats.org/drawingml/2006/main">
            <a:off x="609600" y="57721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4169A4"/>
                </a:solidFill>
                <a:latin typeface="Georgia"/>
                <a:ea typeface="Georgia"/>
                <a:cs typeface="Georgia"/>
              </a:defRPr>
            </a:pPr>
            <a:r>
              <a:rPr sz="2325" b="1">
                <a:solidFill>
                  <a:srgbClr val="4169A4"/>
                </a:solidFill>
                <a:latin typeface="Georgia"/>
                <a:ea typeface="Georgia"/>
                <a:cs typeface="Georgia"/>
              </a:rPr>
              <a:t>More capacity for the work only the lawyer can do.</a:t>
            </a:r>
          </a:p>
        </p:txBody>
      </p:sp>
    </p:spTree>
    <p:extLst>
      <p:ext uri="{BB962C8B-B14F-4D97-AF65-F5344CB8AC3E}">
        <p14:creationId xmlns:p14="http://schemas.microsoft.com/office/powerpoint/2010/main" val="1155112021"/>
      </p:ext>
    </p:extLst>
  </p:cSld>
</p:sld>
</file>

<file path=ppt/slides/slide1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acfbfef2af4e4739"/>
          <a:stretch xmlns:a="http://schemas.openxmlformats.org/drawingml/2006/main"/>
        </p:blipFill>
        <p:spPr>
          <a:xfrm xmlns:a="http://schemas.openxmlformats.org/drawingml/2006/main">
            <a:off x="0" y="24525"/>
            <a:ext cx="12192000" cy="6808950"/>
          </a:xfrm>
          <a:prstGeom xmlns:a="http://schemas.openxmlformats.org/drawingml/2006/main" prst="rect">
            <a:avLst/>
          </a:prstGeom>
        </p:spPr>
      </p:pic>
    </p:spTree>
    <p:extLst>
      <p:ext uri="{BB962C8B-B14F-4D97-AF65-F5344CB8AC3E}">
        <p14:creationId xmlns:p14="http://schemas.microsoft.com/office/powerpoint/2010/main" val="646170347"/>
      </p:ext>
    </p:extLst>
  </p:cSld>
</p:sld>
</file>

<file path=ppt/slides/slide17.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80182FD-1E53-4D56-BC77-9E932FDBB6B7}"/>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APPENDIX / OPERATING ASSUMPTIONS</a:t>
            </a:r>
          </a:p>
        </p:txBody>
      </p:sp>
      <p:sp>
        <p:nvSpPr>
          <p:cNvPr id="2" name="">
            <a:extLst xmlns:a="http://schemas.openxmlformats.org/drawingml/2006/main">
              <a:ext uri="{FF2B5EF4-FFF2-40B4-BE49-F238E27FC236}">
                <a16:creationId xmlns:a16="http://schemas.microsoft.com/office/drawing/2014/main" id="{8B470EB7-69BA-4349-8FD8-F711A9181D19}"/>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A focused 18-month plan</a:t>
            </a:r>
          </a:p>
        </p:txBody>
      </p:sp>
      <p:sp>
        <p:nvSpPr>
          <p:cNvPr id="3" name="">
            <a:extLst xmlns:a="http://schemas.openxmlformats.org/drawingml/2006/main">
              <a:ext uri="{FF2B5EF4-FFF2-40B4-BE49-F238E27FC236}">
                <a16:creationId xmlns:a16="http://schemas.microsoft.com/office/drawing/2014/main" id="{88FB687D-CB7F-4C7B-B9E7-826E0F4B14FE}"/>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7F30996F-5A7F-48A4-AF58-2A2CD4D436F9}"/>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17</a:t>
            </a:r>
          </a:p>
        </p:txBody>
      </p:sp>
      <p:graphicFrame>
        <p:nvGraphicFramePr>
          <p:cNvPr id="14" name=""/>
          <p:cNvGraphicFramePr/>
          <p:nvPr/>
        </p:nvGraphicFramePr>
        <p:xfrm>
          <a:off xmlns:a="http://schemas.openxmlformats.org/drawingml/2006/main" x="609600" y="2314575"/>
          <a:ext xmlns:a="http://schemas.openxmlformats.org/drawingml/2006/main" cx="6838950" cy="3200400"/>
        </p:xfrm>
        <a:graphic xmlns:a="http://schemas.openxmlformats.org/drawingml/2006/main">
          <a:graphicData uri="http://schemas.openxmlformats.org/drawingml/2006/table">
            <a:tbl>
              <a:tblPr/>
              <a:tblGrid>
                <a:gridCol w="4953000"/>
                <a:gridCol w="1885950"/>
              </a:tblGrid>
              <a:tr h="457200">
                <a:tc>
                  <a:txBody>
                    <a:bodyPr/>
                    <a:lstStyle/>
                    <a:p>
                      <a:r>
                        <a:rPr sz="1650" b="1">
                          <a:solidFill>
                            <a:srgbClr val="FAF8F2"/>
                          </a:solidFill>
                          <a:latin typeface="Arial"/>
                          <a:ea typeface="Arial"/>
                          <a:cs typeface="Arial"/>
                        </a:rPr>
                        <a:t>Use of funds</a:t>
                      </a:r>
                    </a:p>
                  </a:txBody>
                  <a:tcPr marL="91440" marR="91440" marT="45720" marB="45720">
                    <a:solidFill>
                      <a:srgbClr val="17243E"/>
                    </a:solidFill>
                  </a:tcPr>
                </a:tc>
                <a:tc>
                  <a:txBody>
                    <a:bodyPr/>
                    <a:lstStyle/>
                    <a:p>
                      <a:r>
                        <a:rPr sz="1650" b="1">
                          <a:solidFill>
                            <a:srgbClr val="FAF8F2"/>
                          </a:solidFill>
                          <a:latin typeface="Arial"/>
                          <a:ea typeface="Arial"/>
                          <a:cs typeface="Arial"/>
                        </a:rPr>
                        <a:t>Budget</a:t>
                      </a:r>
                    </a:p>
                  </a:txBody>
                  <a:tcPr marL="91440" marR="91440" marT="45720" marB="45720">
                    <a:solidFill>
                      <a:srgbClr val="17243E"/>
                    </a:solidFill>
                  </a:tcPr>
                </a:tc>
              </a:tr>
              <a:tr h="457200">
                <a:tc>
                  <a:txBody>
                    <a:bodyPr/>
                    <a:lstStyle/>
                    <a:p>
                      <a:r>
                        <a:rPr sz="1650" b="0">
                          <a:solidFill>
                            <a:srgbClr val="17243E"/>
                          </a:solidFill>
                          <a:latin typeface="Arial"/>
                          <a:ea typeface="Arial"/>
                          <a:cs typeface="Arial"/>
                        </a:rPr>
                        <a:t>Founder and technical delivery</a:t>
                      </a:r>
                    </a:p>
                  </a:txBody>
                  <a:tcPr marL="91440" marR="91440" marT="45720" marB="45720">
                    <a:solidFill>
                      <a:srgbClr val="FAF8F2"/>
                    </a:solidFill>
                  </a:tcPr>
                </a:tc>
                <a:tc>
                  <a:txBody>
                    <a:bodyPr/>
                    <a:lstStyle/>
                    <a:p>
                      <a:r>
                        <a:rPr sz="1650" b="0">
                          <a:solidFill>
                            <a:srgbClr val="17243E"/>
                          </a:solidFill>
                          <a:latin typeface="Arial"/>
                          <a:ea typeface="Arial"/>
                          <a:cs typeface="Arial"/>
                        </a:rPr>
                        <a:t>$900,000</a:t>
                      </a:r>
                    </a:p>
                  </a:txBody>
                  <a:tcPr marL="91440" marR="91440" marT="45720" marB="45720">
                    <a:solidFill>
                      <a:srgbClr val="FAF8F2"/>
                    </a:solidFill>
                  </a:tcPr>
                </a:tc>
              </a:tr>
              <a:tr h="457200">
                <a:tc>
                  <a:txBody>
                    <a:bodyPr/>
                    <a:lstStyle/>
                    <a:p>
                      <a:r>
                        <a:rPr sz="1650" b="0">
                          <a:solidFill>
                            <a:srgbClr val="17243E"/>
                          </a:solidFill>
                          <a:latin typeface="Arial"/>
                          <a:ea typeface="Arial"/>
                          <a:cs typeface="Arial"/>
                        </a:rPr>
                        <a:t>Customer development</a:t>
                      </a:r>
                    </a:p>
                  </a:txBody>
                  <a:tcPr marL="91440" marR="91440" marT="45720" marB="45720">
                    <a:solidFill>
                      <a:srgbClr val="FAF8F2"/>
                    </a:solidFill>
                  </a:tcPr>
                </a:tc>
                <a:tc>
                  <a:txBody>
                    <a:bodyPr/>
                    <a:lstStyle/>
                    <a:p>
                      <a:r>
                        <a:rPr sz="1650" b="0">
                          <a:solidFill>
                            <a:srgbClr val="17243E"/>
                          </a:solidFill>
                          <a:latin typeface="Arial"/>
                          <a:ea typeface="Arial"/>
                          <a:cs typeface="Arial"/>
                        </a:rPr>
                        <a:t>$180,000</a:t>
                      </a:r>
                    </a:p>
                  </a:txBody>
                  <a:tcPr marL="91440" marR="91440" marT="45720" marB="45720">
                    <a:solidFill>
                      <a:srgbClr val="FAF8F2"/>
                    </a:solidFill>
                  </a:tcPr>
                </a:tc>
              </a:tr>
              <a:tr h="457200">
                <a:tc>
                  <a:txBody>
                    <a:bodyPr/>
                    <a:lstStyle/>
                    <a:p>
                      <a:r>
                        <a:rPr sz="1650" b="0">
                          <a:solidFill>
                            <a:srgbClr val="17243E"/>
                          </a:solidFill>
                          <a:latin typeface="Arial"/>
                          <a:ea typeface="Arial"/>
                          <a:cs typeface="Arial"/>
                        </a:rPr>
                        <a:t>Models, research and infrastructure</a:t>
                      </a:r>
                    </a:p>
                  </a:txBody>
                  <a:tcPr marL="91440" marR="91440" marT="45720" marB="45720">
                    <a:solidFill>
                      <a:srgbClr val="FAF8F2"/>
                    </a:solidFill>
                  </a:tcPr>
                </a:tc>
                <a:tc>
                  <a:txBody>
                    <a:bodyPr/>
                    <a:lstStyle/>
                    <a:p>
                      <a:r>
                        <a:rPr sz="1650" b="0">
                          <a:solidFill>
                            <a:srgbClr val="17243E"/>
                          </a:solidFill>
                          <a:latin typeface="Arial"/>
                          <a:ea typeface="Arial"/>
                          <a:cs typeface="Arial"/>
                        </a:rPr>
                        <a:t>$150,000</a:t>
                      </a:r>
                    </a:p>
                  </a:txBody>
                  <a:tcPr marL="91440" marR="91440" marT="45720" marB="45720">
                    <a:solidFill>
                      <a:srgbClr val="FAF8F2"/>
                    </a:solidFill>
                  </a:tcPr>
                </a:tc>
              </a:tr>
              <a:tr h="457200">
                <a:tc>
                  <a:txBody>
                    <a:bodyPr/>
                    <a:lstStyle/>
                    <a:p>
                      <a:r>
                        <a:rPr sz="1650" b="0">
                          <a:solidFill>
                            <a:srgbClr val="17243E"/>
                          </a:solidFill>
                          <a:latin typeface="Arial"/>
                          <a:ea typeface="Arial"/>
                          <a:cs typeface="Arial"/>
                        </a:rPr>
                        <a:t>Secure pilot delivery and operations</a:t>
                      </a:r>
                    </a:p>
                  </a:txBody>
                  <a:tcPr marL="91440" marR="91440" marT="45720" marB="45720">
                    <a:solidFill>
                      <a:srgbClr val="FAF8F2"/>
                    </a:solidFill>
                  </a:tcPr>
                </a:tc>
                <a:tc>
                  <a:txBody>
                    <a:bodyPr/>
                    <a:lstStyle/>
                    <a:p>
                      <a:r>
                        <a:rPr sz="1650" b="0">
                          <a:solidFill>
                            <a:srgbClr val="17243E"/>
                          </a:solidFill>
                          <a:latin typeface="Arial"/>
                          <a:ea typeface="Arial"/>
                          <a:cs typeface="Arial"/>
                        </a:rPr>
                        <a:t>$120,000</a:t>
                      </a:r>
                    </a:p>
                  </a:txBody>
                  <a:tcPr marL="91440" marR="91440" marT="45720" marB="45720">
                    <a:solidFill>
                      <a:srgbClr val="FAF8F2"/>
                    </a:solidFill>
                  </a:tcPr>
                </a:tc>
              </a:tr>
              <a:tr h="457200">
                <a:tc>
                  <a:txBody>
                    <a:bodyPr/>
                    <a:lstStyle/>
                    <a:p>
                      <a:r>
                        <a:rPr sz="1650" b="0">
                          <a:solidFill>
                            <a:srgbClr val="17243E"/>
                          </a:solidFill>
                          <a:latin typeface="Arial"/>
                          <a:ea typeface="Arial"/>
                          <a:cs typeface="Arial"/>
                        </a:rPr>
                        <a:t>Contingency</a:t>
                      </a:r>
                    </a:p>
                  </a:txBody>
                  <a:tcPr marL="91440" marR="91440" marT="45720" marB="45720">
                    <a:solidFill>
                      <a:srgbClr val="FAF8F2"/>
                    </a:solidFill>
                  </a:tcPr>
                </a:tc>
                <a:tc>
                  <a:txBody>
                    <a:bodyPr/>
                    <a:lstStyle/>
                    <a:p>
                      <a:r>
                        <a:rPr sz="1650" b="0">
                          <a:solidFill>
                            <a:srgbClr val="17243E"/>
                          </a:solidFill>
                          <a:latin typeface="Arial"/>
                          <a:ea typeface="Arial"/>
                          <a:cs typeface="Arial"/>
                        </a:rPr>
                        <a:t>$150,000</a:t>
                      </a:r>
                    </a:p>
                  </a:txBody>
                  <a:tcPr marL="91440" marR="91440" marT="45720" marB="45720">
                    <a:solidFill>
                      <a:srgbClr val="FAF8F2"/>
                    </a:solidFill>
                  </a:tcPr>
                </a:tc>
              </a:tr>
              <a:tr h="457200">
                <a:tc>
                  <a:txBody>
                    <a:bodyPr/>
                    <a:lstStyle/>
                    <a:p>
                      <a:r>
                        <a:rPr sz="1650" b="1">
                          <a:solidFill>
                            <a:srgbClr val="17243E"/>
                          </a:solidFill>
                          <a:latin typeface="Arial"/>
                          <a:ea typeface="Arial"/>
                          <a:cs typeface="Arial"/>
                        </a:rPr>
                        <a:t>Total</a:t>
                      </a:r>
                    </a:p>
                  </a:txBody>
                  <a:tcPr marL="91440" marR="91440" marT="45720" marB="45720">
                    <a:solidFill>
                      <a:srgbClr val="FAF8F2"/>
                    </a:solidFill>
                  </a:tcPr>
                </a:tc>
                <a:tc>
                  <a:txBody>
                    <a:bodyPr/>
                    <a:lstStyle/>
                    <a:p>
                      <a:r>
                        <a:rPr sz="1650" b="1">
                          <a:solidFill>
                            <a:srgbClr val="17243E"/>
                          </a:solidFill>
                          <a:latin typeface="Arial"/>
                          <a:ea typeface="Arial"/>
                          <a:cs typeface="Arial"/>
                        </a:rPr>
                        <a:t>$1,500,000</a:t>
                      </a:r>
                    </a:p>
                  </a:txBody>
                  <a:tcPr marL="91440" marR="91440" marT="45720" marB="45720">
                    <a:solidFill>
                      <a:srgbClr val="FAF8F2"/>
                    </a:solidFill>
                  </a:tcPr>
                </a:tc>
              </a:tr>
            </a:tbl>
          </a:graphicData>
        </a:graphic>
      </p:graphicFrame>
      <p:sp>
        <p:nvSpPr>
          <p:cNvPr id="6" name="">
            <a:extLst xmlns:a="http://schemas.openxmlformats.org/drawingml/2006/main">
              <a:ext uri="{FF2B5EF4-FFF2-40B4-BE49-F238E27FC236}">
                <a16:creationId xmlns:a16="http://schemas.microsoft.com/office/drawing/2014/main" id="{A98E2BB6-AFDD-445F-A777-2AC218B940E6}"/>
              </a:ext>
            </a:extLst>
          </p:cNvPr>
          <p:cNvSpPr>
            <a:spLocks xmlns:a="http://schemas.openxmlformats.org/drawingml/2006/main" noGrp="1"/>
          </p:cNvSpPr>
          <p:nvPr/>
        </p:nvSpPr>
        <p:spPr>
          <a:xfrm xmlns:a="http://schemas.openxmlformats.org/drawingml/2006/main">
            <a:off x="8096250" y="2343150"/>
            <a:ext cx="3390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WHAT THE PLAN MUST PROVE</a:t>
            </a:r>
          </a:p>
        </p:txBody>
      </p:sp>
      <p:sp>
        <p:nvSpPr>
          <p:cNvPr id="7" name="">
            <a:extLst xmlns:a="http://schemas.openxmlformats.org/drawingml/2006/main">
              <a:ext uri="{FF2B5EF4-FFF2-40B4-BE49-F238E27FC236}">
                <a16:creationId xmlns:a16="http://schemas.microsoft.com/office/drawing/2014/main" id="{86BA056E-7A0A-498E-8160-673212925455}"/>
              </a:ext>
            </a:extLst>
          </p:cNvPr>
          <p:cNvSpPr>
            <a:spLocks xmlns:a="http://schemas.openxmlformats.org/drawingml/2006/main" noGrp="1"/>
          </p:cNvSpPr>
          <p:nvPr/>
        </p:nvSpPr>
        <p:spPr>
          <a:xfrm xmlns:a="http://schemas.openxmlformats.org/drawingml/2006/main">
            <a:off x="8096250" y="2847975"/>
            <a:ext cx="33909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Advice has a clear basis.</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Lawyers return and pay.</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Total effort falls.</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Delivery costs support the price.</a:t>
            </a:r>
          </a:p>
        </p:txBody>
      </p:sp>
      <p:sp>
        <p:nvSpPr>
          <p:cNvPr id="8" name="">
            <a:extLst xmlns:a="http://schemas.openxmlformats.org/drawingml/2006/main">
              <a:ext uri="{FF2B5EF4-FFF2-40B4-BE49-F238E27FC236}">
                <a16:creationId xmlns:a16="http://schemas.microsoft.com/office/drawing/2014/main" id="{C991A6FE-EAF3-4737-B446-0489EC2970FA}"/>
              </a:ext>
            </a:extLst>
          </p:cNvPr>
          <p:cNvSpPr>
            <a:spLocks xmlns:a="http://schemas.openxmlformats.org/drawingml/2006/main" noGrp="1"/>
          </p:cNvSpPr>
          <p:nvPr/>
        </p:nvSpPr>
        <p:spPr>
          <a:xfrm xmlns:a="http://schemas.openxmlformats.org/drawingml/2006/main">
            <a:off x="8096250" y="4943475"/>
            <a:ext cx="33909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725" b="0">
                <a:solidFill>
                  <a:srgbClr val="596273"/>
                </a:solidFill>
                <a:latin typeface="Arial"/>
                <a:ea typeface="Arial"/>
                <a:cs typeface="Arial"/>
              </a:defRPr>
            </a:pPr>
            <a:r>
              <a:rPr sz="1725" b="0">
                <a:solidFill>
                  <a:srgbClr val="596273"/>
                </a:solidFill>
                <a:latin typeface="Arial"/>
                <a:ea typeface="Arial"/>
                <a:cs typeface="Arial"/>
              </a:rPr>
              <a:t>Shared work and automatic</a:t>
            </a:r>
          </a:p>
          <a:p xmlns:a="http://schemas.openxmlformats.org/drawingml/2006/main">
            <a:pPr>
              <a:lnSpc>
                <a:spcPct val="108000"/>
              </a:lnSpc>
              <a:buNone/>
              <a:defRPr sz="1725" b="0">
                <a:solidFill>
                  <a:srgbClr val="596273"/>
                </a:solidFill>
                <a:latin typeface="Arial"/>
                <a:ea typeface="Arial"/>
                <a:cs typeface="Arial"/>
              </a:defRPr>
            </a:pPr>
            <a:r>
              <a:rPr sz="1725" b="0">
                <a:solidFill>
                  <a:srgbClr val="596273"/>
                </a:solidFill>
                <a:latin typeface="Arial"/>
                <a:ea typeface="Arial"/>
                <a:cs typeface="Arial"/>
              </a:rPr>
              <a:t>adaptation require further</a:t>
            </a:r>
          </a:p>
          <a:p xmlns:a="http://schemas.openxmlformats.org/drawingml/2006/main">
            <a:pPr>
              <a:lnSpc>
                <a:spcPct val="108000"/>
              </a:lnSpc>
              <a:buNone/>
              <a:defRPr sz="1725" b="0">
                <a:solidFill>
                  <a:srgbClr val="596273"/>
                </a:solidFill>
                <a:latin typeface="Arial"/>
                <a:ea typeface="Arial"/>
                <a:cs typeface="Arial"/>
              </a:defRPr>
            </a:pPr>
            <a:r>
              <a:rPr sz="1725" b="0">
                <a:solidFill>
                  <a:srgbClr val="596273"/>
                </a:solidFill>
                <a:latin typeface="Arial"/>
                <a:ea typeface="Arial"/>
                <a:cs typeface="Arial"/>
              </a:rPr>
              <a:t>product development.</a:t>
            </a:r>
          </a:p>
        </p:txBody>
      </p:sp>
      <p:sp>
        <p:nvSpPr>
          <p:cNvPr id="9" name="">
            <a:extLst xmlns:a="http://schemas.openxmlformats.org/drawingml/2006/main">
              <a:ext uri="{FF2B5EF4-FFF2-40B4-BE49-F238E27FC236}">
                <a16:creationId xmlns:a16="http://schemas.microsoft.com/office/drawing/2014/main" id="{B6CD60E3-78FB-46D0-844A-4D7EB7C14DB1}"/>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Proposed budget and milestones for investor discussion. Final staffing and financing terms remain open.</a:t>
            </a:r>
          </a:p>
        </p:txBody>
      </p:sp>
    </p:spTree>
    <p:extLst>
      <p:ext uri="{BB962C8B-B14F-4D97-AF65-F5344CB8AC3E}">
        <p14:creationId xmlns:p14="http://schemas.microsoft.com/office/powerpoint/2010/main" val="17005555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2026-09-05T02:58:42.4020000Z</dcterms:created>
  <dcterms:modified xsi:type="dcterms:W3CDTF">2026-09-05T02:58:42.4020000Z</dcterms:modified>
</coreProperties>
</file>