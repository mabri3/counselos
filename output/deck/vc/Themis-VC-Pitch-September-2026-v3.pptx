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7282556fa94646" /><Relationship Type="http://schemas.openxmlformats.org/officeDocument/2006/relationships/extended-properties" Target="/docProps/app.xml" Id="Rf772683ea8534e73" /><Relationship Type="http://schemas.openxmlformats.org/officeDocument/2006/relationships/officeDocument" Target="/ppt/presentation.xml" Id="Ra33950e2588e4296" /></Relationships>
</file>

<file path=ppt/presentation.xml><?xml version="1.0" encoding="utf-8"?>
<p:presentation xmlns:p="http://schemas.openxmlformats.org/presentationml/2006/main">
  <p:sldMasterIdLst>
    <p:sldMasterId xmlns:r="http://schemas.openxmlformats.org/officeDocument/2006/relationships" id="2147483648" r:id="R8aed11d01f564055"/>
  </p:sldMasterIdLst>
  <p:notesMasterIdLst>
    <p:notesMasterId xmlns:r="http://schemas.openxmlformats.org/officeDocument/2006/relationships" r:id="R6b6deef2360e446a"/>
  </p:notesMasterIdLst>
  <p:sldIdLst>
    <p:sldId xmlns:r="http://schemas.openxmlformats.org/officeDocument/2006/relationships" id="256" r:id="Rcdb2e72175244486"/>
    <p:sldId xmlns:r="http://schemas.openxmlformats.org/officeDocument/2006/relationships" id="257" r:id="R243a499e97a14362"/>
    <p:sldId xmlns:r="http://schemas.openxmlformats.org/officeDocument/2006/relationships" id="258" r:id="R20a3235af6a34a79"/>
    <p:sldId xmlns:r="http://schemas.openxmlformats.org/officeDocument/2006/relationships" id="259" r:id="R11c8148948da4273"/>
    <p:sldId xmlns:r="http://schemas.openxmlformats.org/officeDocument/2006/relationships" id="260" r:id="R56a4617ec6654062"/>
    <p:sldId xmlns:r="http://schemas.openxmlformats.org/officeDocument/2006/relationships" id="261" r:id="R68fed9468cb34cc4"/>
    <p:sldId xmlns:r="http://schemas.openxmlformats.org/officeDocument/2006/relationships" id="262" r:id="R0772dcaa2add4b6e"/>
    <p:sldId xmlns:r="http://schemas.openxmlformats.org/officeDocument/2006/relationships" id="263" r:id="R22f8393a4a044309"/>
    <p:sldId xmlns:r="http://schemas.openxmlformats.org/officeDocument/2006/relationships" id="264" r:id="Re583284aa9fc4402"/>
    <p:sldId xmlns:r="http://schemas.openxmlformats.org/officeDocument/2006/relationships" id="265" r:id="R1ade2fa92e3840aa"/>
    <p:sldId xmlns:r="http://schemas.openxmlformats.org/officeDocument/2006/relationships" id="266" r:id="R49fe5a128d844ec8"/>
    <p:sldId xmlns:r="http://schemas.openxmlformats.org/officeDocument/2006/relationships" id="267" r:id="R1d0ccee2b5634373"/>
    <p:sldId xmlns:r="http://schemas.openxmlformats.org/officeDocument/2006/relationships" id="268" r:id="Rdd3ad993720a4b85"/>
    <p:sldId xmlns:r="http://schemas.openxmlformats.org/officeDocument/2006/relationships" id="269" r:id="Ra9275d0940494775"/>
    <p:sldId xmlns:r="http://schemas.openxmlformats.org/officeDocument/2006/relationships" id="270" r:id="Rd3cf8c2b16144e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0d7b47c8e7493c" /><Relationship Type="http://schemas.openxmlformats.org/officeDocument/2006/relationships/slideMaster" Target="/ppt/slideMasters/slideMaster1.xml" Id="R8aed11d01f564055" /><Relationship Type="http://schemas.openxmlformats.org/officeDocument/2006/relationships/notesMaster" Target="/ppt/notesMasters/notesMaster1.xml" Id="R6b6deef2360e446a" /><Relationship Type="http://schemas.openxmlformats.org/officeDocument/2006/relationships/presProps" Target="/ppt/presProps.xml" Id="Rd00babdeeb6f482a" /><Relationship Type="http://schemas.openxmlformats.org/officeDocument/2006/relationships/tableStyles" Target="/ppt/tableStyles.xml" Id="Rcaf1ff499a8c42fb" /><Relationship Type="http://schemas.openxmlformats.org/officeDocument/2006/relationships/slide" Target="/ppt/slides/slide1.xml" Id="Rcdb2e72175244486" /><Relationship Type="http://schemas.openxmlformats.org/officeDocument/2006/relationships/slide" Target="/ppt/slides/slide2.xml" Id="R243a499e97a14362" /><Relationship Type="http://schemas.openxmlformats.org/officeDocument/2006/relationships/slide" Target="/ppt/slides/slide3.xml" Id="R20a3235af6a34a79" /><Relationship Type="http://schemas.openxmlformats.org/officeDocument/2006/relationships/slide" Target="/ppt/slides/slide4.xml" Id="R11c8148948da4273" /><Relationship Type="http://schemas.openxmlformats.org/officeDocument/2006/relationships/slide" Target="/ppt/slides/slide5.xml" Id="R56a4617ec6654062" /><Relationship Type="http://schemas.openxmlformats.org/officeDocument/2006/relationships/slide" Target="/ppt/slides/slide6.xml" Id="R68fed9468cb34cc4" /><Relationship Type="http://schemas.openxmlformats.org/officeDocument/2006/relationships/slide" Target="/ppt/slides/slide7.xml" Id="R0772dcaa2add4b6e" /><Relationship Type="http://schemas.openxmlformats.org/officeDocument/2006/relationships/slide" Target="/ppt/slides/slide8.xml" Id="R22f8393a4a044309" /><Relationship Type="http://schemas.openxmlformats.org/officeDocument/2006/relationships/slide" Target="/ppt/slides/slide9.xml" Id="Re583284aa9fc4402" /><Relationship Type="http://schemas.openxmlformats.org/officeDocument/2006/relationships/slide" Target="/ppt/slides/slide10.xml" Id="R1ade2fa92e3840aa" /><Relationship Type="http://schemas.openxmlformats.org/officeDocument/2006/relationships/slide" Target="/ppt/slides/slide11.xml" Id="R49fe5a128d844ec8" /><Relationship Type="http://schemas.openxmlformats.org/officeDocument/2006/relationships/slide" Target="/ppt/slides/slide12.xml" Id="R1d0ccee2b5634373" /><Relationship Type="http://schemas.openxmlformats.org/officeDocument/2006/relationships/slide" Target="/ppt/slides/slide13.xml" Id="Rdd3ad993720a4b85" /><Relationship Type="http://schemas.openxmlformats.org/officeDocument/2006/relationships/slide" Target="/ppt/slides/slide14.xml" Id="Ra9275d0940494775" /><Relationship Type="http://schemas.openxmlformats.org/officeDocument/2006/relationships/slide" Target="/ppt/slides/slide15.xml" Id="Rd3cf8c2b16144e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e51ac2b1e7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f8ecb56c4e4c0e" /><Relationship Type="http://schemas.openxmlformats.org/officeDocument/2006/relationships/notesMaster" Target="/ppt/notesMasters/notesMaster1.xml" Id="R9e61a0d0c448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0b39c418724916" /><Relationship Type="http://schemas.openxmlformats.org/officeDocument/2006/relationships/notesMaster" Target="/ppt/notesMasters/notesMaster1.xml" Id="R7f1f757a54f74f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10cd0f3fde4983" /><Relationship Type="http://schemas.openxmlformats.org/officeDocument/2006/relationships/notesMaster" Target="/ppt/notesMasters/notesMaster1.xml" Id="R2cb256cea54b4b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08cb9cc1fd4403" /><Relationship Type="http://schemas.openxmlformats.org/officeDocument/2006/relationships/notesMaster" Target="/ppt/notesMasters/notesMaster1.xml" Id="R1a48b63b3bba41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24903e1ec04ac3" /><Relationship Type="http://schemas.openxmlformats.org/officeDocument/2006/relationships/notesMaster" Target="/ppt/notesMasters/notesMaster1.xml" Id="Rf03c38258f1743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ce4ca50da742c9" /><Relationship Type="http://schemas.openxmlformats.org/officeDocument/2006/relationships/notesMaster" Target="/ppt/notesMasters/notesMaster1.xml" Id="R9d9997d63b634d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1bf35163da4438" /><Relationship Type="http://schemas.openxmlformats.org/officeDocument/2006/relationships/notesMaster" Target="/ppt/notesMasters/notesMaster1.xml" Id="Rc3b316d567904c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4e8a47911846e9" /><Relationship Type="http://schemas.openxmlformats.org/officeDocument/2006/relationships/notesMaster" Target="/ppt/notesMasters/notesMaster1.xml" Id="Re39dd85aace049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8538eb635e481a" /><Relationship Type="http://schemas.openxmlformats.org/officeDocument/2006/relationships/notesMaster" Target="/ppt/notesMasters/notesMaster1.xml" Id="R8c952990772543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4fee0c6c4e4753" /><Relationship Type="http://schemas.openxmlformats.org/officeDocument/2006/relationships/notesMaster" Target="/ppt/notesMasters/notesMaster1.xml" Id="Rbeeaae88e93249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175006391e40fd" /><Relationship Type="http://schemas.openxmlformats.org/officeDocument/2006/relationships/notesMaster" Target="/ppt/notesMasters/notesMaster1.xml" Id="R6c02b72b087f4f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a8484db0574ae7" /><Relationship Type="http://schemas.openxmlformats.org/officeDocument/2006/relationships/notesMaster" Target="/ppt/notesMasters/notesMaster1.xml" Id="Rc2a146037395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11a61a47bb400f" /><Relationship Type="http://schemas.openxmlformats.org/officeDocument/2006/relationships/notesMaster" Target="/ppt/notesMasters/notesMaster1.xml" Id="R97cad53892f545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4ac4bb2f31454a" /><Relationship Type="http://schemas.openxmlformats.org/officeDocument/2006/relationships/notesMaster" Target="/ppt/notesMasters/notesMaster1.xml" Id="Rf28cd32d6c3644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6c1ff7976c4d93" /><Relationship Type="http://schemas.openxmlformats.org/officeDocument/2006/relationships/notesMaster" Target="/ppt/notesMasters/notesMaster1.xml" Id="R90fca9a0586045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The time, question, and product request are illustrative. They are not a measured customer incident or time study. The slide makes the actor explicit: the in-house lawyer reconstructs the business and legal context and reviews the generic AI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visual issue map and hypothetical comparison are proposed next work.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d8cc21ddbc42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6e055d40f040ec" /><Relationship Type="http://schemas.openxmlformats.org/officeDocument/2006/relationships/slideLayout" Target="/ppt/slideLayouts/slideLayout1.xml" Id="Rac6bc925dd364c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6bc925dd364c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a31c5b9a4346ae" /><Relationship Type="http://schemas.openxmlformats.org/officeDocument/2006/relationships/image" Target="/ppt/media/image.png" Id="Rd66cc694ff724ed4" /><Relationship Type="http://schemas.openxmlformats.org/officeDocument/2006/relationships/notesSlide" Target="/ppt/notesSlides/notesSlide1.xml" Id="R02384ef0ab934d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81e66fc1744cc7" /><Relationship Type="http://schemas.openxmlformats.org/officeDocument/2006/relationships/notesSlide" Target="/ppt/notesSlides/notesSlide2.xml" Id="R383285eee85047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8aa35a310146f8" /><Relationship Type="http://schemas.openxmlformats.org/officeDocument/2006/relationships/notesSlide" Target="/ppt/notesSlides/notesSlide3.xml" Id="Ra8b217c0adff45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4aa178e6094270" /><Relationship Type="http://schemas.openxmlformats.org/officeDocument/2006/relationships/notesSlide" Target="/ppt/notesSlides/notesSlide4.xml" Id="R03808530c5df4f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f0fe2b18964472" /><Relationship Type="http://schemas.openxmlformats.org/officeDocument/2006/relationships/notesSlide" Target="/ppt/notesSlides/notesSlide5.xml" Id="R8456bb090c404f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639beba02d4d7e" /><Relationship Type="http://schemas.openxmlformats.org/officeDocument/2006/relationships/notesSlide" Target="/ppt/notesSlides/notesSlide6.xml" Id="Rd71d0971b7d047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e2847a463947df" /><Relationship Type="http://schemas.openxmlformats.org/officeDocument/2006/relationships/notesSlide" Target="/ppt/notesSlides/notesSlide7.xml" Id="R989f5ccb55b94a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0e93519d74453d" /><Relationship Type="http://schemas.openxmlformats.org/officeDocument/2006/relationships/notesSlide" Target="/ppt/notesSlides/notesSlide8.xml" Id="R01dcde2fa36a45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c4f6c5578d48c0" /><Relationship Type="http://schemas.openxmlformats.org/officeDocument/2006/relationships/notesSlide" Target="/ppt/notesSlides/notesSlide9.xml" Id="R6a2c6faea41242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a26e34a1a3472f" /><Relationship Type="http://schemas.openxmlformats.org/officeDocument/2006/relationships/notesSlide" Target="/ppt/notesSlides/notesSlide10.xml" Id="R047e8d3eeff046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e987a99e114f1a" /><Relationship Type="http://schemas.openxmlformats.org/officeDocument/2006/relationships/notesSlide" Target="/ppt/notesSlides/notesSlide11.xml" Id="Rb5bc8203e8634f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e48c264e924a2c" /><Relationship Type="http://schemas.openxmlformats.org/officeDocument/2006/relationships/image" Target="/ppt/media/image2.png" Id="Ra575fa09a5f84276" /><Relationship Type="http://schemas.openxmlformats.org/officeDocument/2006/relationships/notesSlide" Target="/ppt/notesSlides/notesSlide12.xml" Id="Rf2917cb5dcf546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5f99fbf2754f64" /><Relationship Type="http://schemas.openxmlformats.org/officeDocument/2006/relationships/notesSlide" Target="/ppt/notesSlides/notesSlide13.xml" Id="R293a9642751742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e7088942a44f69" /><Relationship Type="http://schemas.openxmlformats.org/officeDocument/2006/relationships/image" Target="/ppt/media/image3.png" Id="R1271a3eadb63448c" /><Relationship Type="http://schemas.openxmlformats.org/officeDocument/2006/relationships/notesSlide" Target="/ppt/notesSlides/notesSlide14.xml" Id="Rba8d770268e34e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946baeffe64f99" /><Relationship Type="http://schemas.openxmlformats.org/officeDocument/2006/relationships/notesSlide" Target="/ppt/notesSlides/notesSlide15.xml" Id="R6f0c38bdaed340dc"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66cc694ff724ed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07C095-2B46-4C0C-9602-A8C38D069750}"/>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74E79F37-B899-498A-8F9E-70A671848690}"/>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AE0AB24-666D-4295-BE4B-7A5046D92709}"/>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B809FE1B-D2F0-46E7-844D-3A38EAF0A558}"/>
              </a:ext>
            </a:extLst>
          </p:cNvPr>
          <p:cNvSpPr>
            <a:spLocks xmlns:a="http://schemas.openxmlformats.org/drawingml/2006/main" noGrp="1"/>
          </p:cNvSpPr>
          <p:nvPr/>
        </p:nvSpPr>
        <p:spPr>
          <a:xfrm xmlns:a="http://schemas.openxmlformats.org/drawingml/2006/main">
            <a:off x="647700" y="476250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DBE1EB"/>
                </a:solidFill>
                <a:latin typeface="Arial"/>
                <a:ea typeface="Arial"/>
                <a:cs typeface="Arial"/>
              </a:defRPr>
            </a:pPr>
            <a:r>
              <a:rPr sz="1875" b="0">
                <a:solidFill>
                  <a:srgbClr val="DBE1EB"/>
                </a:solidFill>
                <a:latin typeface="Arial"/>
                <a:ea typeface="Arial"/>
                <a:cs typeface="Arial"/>
              </a:rPr>
              <a:t>An AI workspace that helps small legal teams turn incomplete business requests into organized analysis, usable work, and lawyer-owned decisions.</a:t>
            </a:r>
          </a:p>
        </p:txBody>
      </p:sp>
      <p:sp>
        <p:nvSpPr>
          <p:cNvPr id="6" name="">
            <a:extLst xmlns:a="http://schemas.openxmlformats.org/drawingml/2006/main">
              <a:ext uri="{FF2B5EF4-FFF2-40B4-BE49-F238E27FC236}">
                <a16:creationId xmlns:a16="http://schemas.microsoft.com/office/drawing/2014/main" id="{3E98DC46-D860-442A-9CAB-541EBE950F4A}"/>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125761122"/>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1B89C2-1D9C-48DB-8C06-FEAC3DF8ACF6}"/>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F4F769F9-5519-4BD0-A2DF-509B21A5E15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A27D98CB-E687-4001-9917-0DA7F0235F0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953AEF6-D001-4613-BC41-807FBE7E7A5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A13224A-7142-4694-8F7F-E981B16449A3}"/>
              </a:ext>
            </a:extLst>
          </p:cNvPr>
          <p:cNvSpPr>
            <a:spLocks xmlns:a="http://schemas.openxmlformats.org/drawingml/2006/main" noGrp="1"/>
          </p:cNvSpPr>
          <p:nvPr/>
        </p:nvSpPr>
        <p:spPr>
          <a:xfrm xmlns:a="http://schemas.openxmlformats.org/drawingml/2006/main">
            <a:off x="609600" y="22574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REQUEST · 4:12 P.M.</a:t>
            </a:r>
          </a:p>
        </p:txBody>
      </p:sp>
      <p:sp>
        <p:nvSpPr>
          <p:cNvPr id="6" name="">
            <a:extLst xmlns:a="http://schemas.openxmlformats.org/drawingml/2006/main">
              <a:ext uri="{FF2B5EF4-FFF2-40B4-BE49-F238E27FC236}">
                <a16:creationId xmlns:a16="http://schemas.microsoft.com/office/drawing/2014/main" id="{79179045-132C-45DA-876A-65A669A140C5}"/>
              </a:ext>
            </a:extLst>
          </p:cNvPr>
          <p:cNvSpPr>
            <a:spLocks xmlns:a="http://schemas.openxmlformats.org/drawingml/2006/main" noGrp="1"/>
          </p:cNvSpPr>
          <p:nvPr/>
        </p:nvSpPr>
        <p:spPr>
          <a:xfrm xmlns:a="http://schemas.openxmlformats.org/drawingml/2006/main">
            <a:off x="609600" y="26955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E32E5C01-5EB3-46F3-8B6A-646DAC710A03}"/>
              </a:ext>
            </a:extLst>
          </p:cNvPr>
          <p:cNvSpPr>
            <a:spLocks xmlns:a="http://schemas.openxmlformats.org/drawingml/2006/main" noGrp="1"/>
          </p:cNvSpPr>
          <p:nvPr/>
        </p:nvSpPr>
        <p:spPr>
          <a:xfrm xmlns:a="http://schemas.openxmlformats.org/drawingml/2006/main">
            <a:off x="609600" y="36099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That short message leaves out facts the legal answer may depend on: how the product works, which company does what, when each step happens, and what the company decided before.</a:t>
            </a:r>
          </a:p>
        </p:txBody>
      </p:sp>
      <p:sp>
        <p:nvSpPr>
          <p:cNvPr id="8" name="">
            <a:extLst xmlns:a="http://schemas.openxmlformats.org/drawingml/2006/main">
              <a:ext uri="{FF2B5EF4-FFF2-40B4-BE49-F238E27FC236}">
                <a16:creationId xmlns:a16="http://schemas.microsoft.com/office/drawing/2014/main" id="{85F9320F-C259-4BCD-A1BE-E363A0221246}"/>
              </a:ext>
            </a:extLst>
          </p:cNvPr>
          <p:cNvSpPr>
            <a:spLocks xmlns:a="http://schemas.openxmlformats.org/drawingml/2006/main" noGrp="1"/>
          </p:cNvSpPr>
          <p:nvPr/>
        </p:nvSpPr>
        <p:spPr>
          <a:xfrm xmlns:a="http://schemas.openxmlformats.org/drawingml/2006/main">
            <a:off x="6191250" y="2257425"/>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LAWYER’S WORK BEFORE ANSWERING</a:t>
            </a:r>
          </a:p>
        </p:txBody>
      </p:sp>
      <p:sp>
        <p:nvSpPr>
          <p:cNvPr id="9" name="">
            <a:extLst xmlns:a="http://schemas.openxmlformats.org/drawingml/2006/main">
              <a:ext uri="{FF2B5EF4-FFF2-40B4-BE49-F238E27FC236}">
                <a16:creationId xmlns:a16="http://schemas.microsoft.com/office/drawing/2014/main" id="{FB777EF9-4ECF-4724-B5E1-2594B9E0CA50}"/>
              </a:ext>
            </a:extLst>
          </p:cNvPr>
          <p:cNvSpPr>
            <a:spLocks xmlns:a="http://schemas.openxmlformats.org/drawingml/2006/main" noGrp="1"/>
          </p:cNvSpPr>
          <p:nvPr/>
        </p:nvSpPr>
        <p:spPr>
          <a:xfrm xmlns:a="http://schemas.openxmlformats.org/drawingml/2006/main">
            <a:off x="6191250" y="2686050"/>
            <a:ext cx="5381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Gather the product documents and history.</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Verify what the business is actually doing.</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Find the governing law and recent developments.</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Explain the options and what could change the answer.</a:t>
            </a:r>
          </a:p>
        </p:txBody>
      </p:sp>
      <p:sp>
        <p:nvSpPr>
          <p:cNvPr id="10" name="">
            <a:extLst xmlns:a="http://schemas.openxmlformats.org/drawingml/2006/main">
              <a:ext uri="{FF2B5EF4-FFF2-40B4-BE49-F238E27FC236}">
                <a16:creationId xmlns:a16="http://schemas.microsoft.com/office/drawing/2014/main" id="{1ED42363-5AAF-497B-B318-6B9F151D1702}"/>
              </a:ext>
            </a:extLst>
          </p:cNvPr>
          <p:cNvSpPr>
            <a:spLocks xmlns:a="http://schemas.openxmlformats.org/drawingml/2006/main" noGrp="1"/>
          </p:cNvSpPr>
          <p:nvPr/>
        </p:nvSpPr>
        <p:spPr>
          <a:xfrm xmlns:a="http://schemas.openxmlformats.org/drawingml/2006/main">
            <a:off x="6191250" y="46101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GENERIC AI DOES NOT REMOVE THIS PREPARATION</a:t>
            </a:r>
          </a:p>
        </p:txBody>
      </p:sp>
      <p:sp>
        <p:nvSpPr>
          <p:cNvPr id="11" name="">
            <a:extLst xmlns:a="http://schemas.openxmlformats.org/drawingml/2006/main">
              <a:ext uri="{FF2B5EF4-FFF2-40B4-BE49-F238E27FC236}">
                <a16:creationId xmlns:a16="http://schemas.microsoft.com/office/drawing/2014/main" id="{542B994E-E952-4819-8078-38041DBF0BB0}"/>
              </a:ext>
            </a:extLst>
          </p:cNvPr>
          <p:cNvSpPr>
            <a:spLocks xmlns:a="http://schemas.openxmlformats.org/drawingml/2006/main" noGrp="1"/>
          </p:cNvSpPr>
          <p:nvPr/>
        </p:nvSpPr>
        <p:spPr>
          <a:xfrm xmlns:a="http://schemas.openxmlformats.org/drawingml/2006/main">
            <a:off x="6191250" y="50196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596273"/>
                </a:solidFill>
                <a:latin typeface="Arial"/>
                <a:ea typeface="Arial"/>
                <a:cs typeface="Arial"/>
              </a:defRPr>
            </a:pPr>
            <a:r>
              <a:rPr sz="1650" b="0">
                <a:solidFill>
                  <a:srgbClr val="596273"/>
                </a:solidFill>
                <a:latin typeface="Arial"/>
                <a:ea typeface="Arial"/>
                <a:cs typeface="Arial"/>
              </a:rPr>
              <a:t>The lawyer must still load the context, point the model toward the right issues, challenge confident assumptions, and check the sources.</a:t>
            </a:r>
          </a:p>
        </p:txBody>
      </p:sp>
      <p:sp>
        <p:nvSpPr>
          <p:cNvPr id="12" name="">
            <a:extLst xmlns:a="http://schemas.openxmlformats.org/drawingml/2006/main">
              <a:ext uri="{FF2B5EF4-FFF2-40B4-BE49-F238E27FC236}">
                <a16:creationId xmlns:a16="http://schemas.microsoft.com/office/drawing/2014/main" id="{8AA961E4-AFAA-490A-8BBB-5AACF2E30D2D}"/>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17243E"/>
                </a:solidFill>
                <a:latin typeface="Georgia"/>
                <a:ea typeface="Georgia"/>
                <a:cs typeface="Georgia"/>
              </a:defRPr>
            </a:pPr>
            <a:r>
              <a:rPr sz="2100" b="1">
                <a:solidFill>
                  <a:srgbClr val="17243E"/>
                </a:solidFill>
                <a:latin typeface="Georgia"/>
                <a:ea typeface="Georgia"/>
                <a:cs typeface="Georgia"/>
              </a:rPr>
              <a:t>The business asked for an answer. The lawyer first has to build the question.</a:t>
            </a:r>
          </a:p>
        </p:txBody>
      </p:sp>
    </p:spTree>
    <p:extLst>
      <p:ext uri="{BB962C8B-B14F-4D97-AF65-F5344CB8AC3E}">
        <p14:creationId xmlns:p14="http://schemas.microsoft.com/office/powerpoint/2010/main" val="1461040012"/>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39EAA8-C20C-497B-90B8-2DAEC724165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8140D99B-B143-49BD-B010-3A0C886780B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business asks for a yes or no.</a:t>
            </a:r>
          </a:p>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lawyer needs the conditions behind it.</a:t>
            </a:r>
          </a:p>
        </p:txBody>
      </p:sp>
      <p:sp>
        <p:nvSpPr>
          <p:cNvPr id="3" name="">
            <a:extLst xmlns:a="http://schemas.openxmlformats.org/drawingml/2006/main">
              <a:ext uri="{FF2B5EF4-FFF2-40B4-BE49-F238E27FC236}">
                <a16:creationId xmlns:a16="http://schemas.microsoft.com/office/drawing/2014/main" id="{4E3A9150-C229-4DE6-94A8-6759701CA05A}"/>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1BFE545-61F2-427A-83F7-80D2D1C1454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3530C06-4687-4656-9F63-165E1EFF132C}"/>
              </a:ext>
            </a:extLst>
          </p:cNvPr>
          <p:cNvSpPr>
            <a:spLocks xmlns:a="http://schemas.openxmlformats.org/drawingml/2006/main" noGrp="1"/>
          </p:cNvSpPr>
          <p:nvPr/>
        </p:nvSpPr>
        <p:spPr>
          <a:xfrm xmlns:a="http://schemas.openxmlformats.org/drawingml/2006/main">
            <a:off x="609600" y="2466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BUSINESS QUESTION</a:t>
            </a:r>
          </a:p>
        </p:txBody>
      </p:sp>
      <p:sp>
        <p:nvSpPr>
          <p:cNvPr id="6" name="">
            <a:extLst xmlns:a="http://schemas.openxmlformats.org/drawingml/2006/main">
              <a:ext uri="{FF2B5EF4-FFF2-40B4-BE49-F238E27FC236}">
                <a16:creationId xmlns:a16="http://schemas.microsoft.com/office/drawing/2014/main" id="{0A60C9FF-2CED-47F6-A620-5059AD864798}"/>
              </a:ext>
            </a:extLst>
          </p:cNvPr>
          <p:cNvSpPr>
            <a:spLocks xmlns:a="http://schemas.openxmlformats.org/drawingml/2006/main" noGrp="1"/>
          </p:cNvSpPr>
          <p:nvPr/>
        </p:nvSpPr>
        <p:spPr>
          <a:xfrm xmlns:a="http://schemas.openxmlformats.org/drawingml/2006/main">
            <a:off x="609600" y="2981325"/>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0">
                <a:solidFill>
                  <a:srgbClr val="FAF8F2"/>
                </a:solidFill>
                <a:latin typeface="Georgia"/>
                <a:ea typeface="Georgia"/>
                <a:cs typeface="Georgia"/>
              </a:defRPr>
            </a:pPr>
            <a:r>
              <a:rPr sz="3225" b="0">
                <a:solidFill>
                  <a:srgbClr val="FAF8F2"/>
                </a:solidFill>
                <a:latin typeface="Georgia"/>
                <a:ea typeface="Georgia"/>
                <a:cs typeface="Georgia"/>
              </a:rPr>
              <a:t>“Can we launch Friday?”</a:t>
            </a:r>
          </a:p>
        </p:txBody>
      </p:sp>
      <p:sp>
        <p:nvSpPr>
          <p:cNvPr id="7" name="">
            <a:extLst xmlns:a="http://schemas.openxmlformats.org/drawingml/2006/main">
              <a:ext uri="{FF2B5EF4-FFF2-40B4-BE49-F238E27FC236}">
                <a16:creationId xmlns:a16="http://schemas.microsoft.com/office/drawing/2014/main" id="{3C093C88-4217-4A66-A08D-0ADC52015056}"/>
              </a:ext>
            </a:extLst>
          </p:cNvPr>
          <p:cNvSpPr>
            <a:spLocks xmlns:a="http://schemas.openxmlformats.org/drawingml/2006/main" noGrp="1"/>
          </p:cNvSpPr>
          <p:nvPr/>
        </p:nvSpPr>
        <p:spPr>
          <a:xfrm xmlns:a="http://schemas.openxmlformats.org/drawingml/2006/main">
            <a:off x="5810250" y="2466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THE ANSWER MAY CHANGE BASED ON</a:t>
            </a:r>
          </a:p>
        </p:txBody>
      </p:sp>
      <p:sp>
        <p:nvSpPr>
          <p:cNvPr id="8" name="">
            <a:extLst xmlns:a="http://schemas.openxmlformats.org/drawingml/2006/main">
              <a:ext uri="{FF2B5EF4-FFF2-40B4-BE49-F238E27FC236}">
                <a16:creationId xmlns:a16="http://schemas.microsoft.com/office/drawing/2014/main" id="{C38728D2-62F9-4D18-ADD9-3CB995652567}"/>
              </a:ext>
            </a:extLst>
          </p:cNvPr>
          <p:cNvSpPr>
            <a:spLocks xmlns:a="http://schemas.openxmlformats.org/drawingml/2006/main" noGrp="1"/>
          </p:cNvSpPr>
          <p:nvPr/>
        </p:nvSpPr>
        <p:spPr>
          <a:xfrm xmlns:a="http://schemas.openxmlformats.org/drawingml/2006/main">
            <a:off x="5810250" y="2971800"/>
            <a:ext cx="5715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What the product actually does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company handles the money or data</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When each step happens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Where the product and users are located</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laws and earlier company decisions apply</a:t>
            </a:r>
          </a:p>
        </p:txBody>
      </p:sp>
      <p:sp>
        <p:nvSpPr>
          <p:cNvPr id="9" name="">
            <a:extLst xmlns:a="http://schemas.openxmlformats.org/drawingml/2006/main">
              <a:ext uri="{FF2B5EF4-FFF2-40B4-BE49-F238E27FC236}">
                <a16:creationId xmlns:a16="http://schemas.microsoft.com/office/drawing/2014/main" id="{A93D3BCC-F1A5-4973-B9A3-FA91B71D46AA}"/>
              </a:ext>
            </a:extLst>
          </p:cNvPr>
          <p:cNvSpPr>
            <a:spLocks xmlns:a="http://schemas.openxmlformats.org/drawingml/2006/main" noGrp="1"/>
          </p:cNvSpPr>
          <p:nvPr/>
        </p:nvSpPr>
        <p:spPr>
          <a:xfrm xmlns:a="http://schemas.openxmlformats.org/drawingml/2006/main">
            <a:off x="609600" y="572452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Generic AI often answers from the facts it receives. A lawyer must prepare for facts that are missing, disputed, or wrong.</a:t>
            </a:r>
          </a:p>
        </p:txBody>
      </p:sp>
    </p:spTree>
    <p:extLst>
      <p:ext uri="{BB962C8B-B14F-4D97-AF65-F5344CB8AC3E}">
        <p14:creationId xmlns:p14="http://schemas.microsoft.com/office/powerpoint/2010/main" val="690517746"/>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8D4BB0-0DEF-4ABE-AE0E-FDC227F58BE6}"/>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AE678381-1FA4-4D00-BBBF-AE13F84AE6D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AI can now do useful legal work.</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It still needs a lawyer to make it useful.</a:t>
            </a:r>
          </a:p>
        </p:txBody>
      </p:sp>
      <p:sp>
        <p:nvSpPr>
          <p:cNvPr id="3" name="">
            <a:extLst xmlns:a="http://schemas.openxmlformats.org/drawingml/2006/main">
              <a:ext uri="{FF2B5EF4-FFF2-40B4-BE49-F238E27FC236}">
                <a16:creationId xmlns:a16="http://schemas.microsoft.com/office/drawing/2014/main" id="{14B7BE4E-008F-4204-BD4A-D2F12D38A36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479EB5A-1244-4B32-8724-2CDFE5A999D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713C166-A06D-4AF2-B6E0-42EA98EF2D29}"/>
              </a:ext>
            </a:extLst>
          </p:cNvPr>
          <p:cNvSpPr>
            <a:spLocks xmlns:a="http://schemas.openxmlformats.org/drawingml/2006/main" noGrp="1"/>
          </p:cNvSpPr>
          <p:nvPr/>
        </p:nvSpPr>
        <p:spPr>
          <a:xfrm xmlns:a="http://schemas.openxmlformats.org/drawingml/2006/main">
            <a:off x="609600" y="24574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Brian began building Themis after using newer AI models for legal research, synthesis, and drafting in his own work.</a:t>
            </a:r>
          </a:p>
        </p:txBody>
      </p:sp>
      <p:sp>
        <p:nvSpPr>
          <p:cNvPr id="6" name="">
            <a:extLst xmlns:a="http://schemas.openxmlformats.org/drawingml/2006/main">
              <a:ext uri="{FF2B5EF4-FFF2-40B4-BE49-F238E27FC236}">
                <a16:creationId xmlns:a16="http://schemas.microsoft.com/office/drawing/2014/main" id="{E68278EC-3A79-498F-93F6-BFA73B99A34D}"/>
              </a:ext>
            </a:extLst>
          </p:cNvPr>
          <p:cNvSpPr>
            <a:spLocks xmlns:a="http://schemas.openxmlformats.org/drawingml/2006/main" noGrp="1"/>
          </p:cNvSpPr>
          <p:nvPr/>
        </p:nvSpPr>
        <p:spPr>
          <a:xfrm xmlns:a="http://schemas.openxmlformats.org/drawingml/2006/main">
            <a:off x="6667500" y="2457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WITHOUT A LEGAL WORKSPACE, THE LAWYER MUST REPEAT</a:t>
            </a:r>
          </a:p>
        </p:txBody>
      </p:sp>
      <p:sp>
        <p:nvSpPr>
          <p:cNvPr id="7" name="">
            <a:extLst xmlns:a="http://schemas.openxmlformats.org/drawingml/2006/main">
              <a:ext uri="{FF2B5EF4-FFF2-40B4-BE49-F238E27FC236}">
                <a16:creationId xmlns:a16="http://schemas.microsoft.com/office/drawing/2014/main" id="{326EC062-FEC7-47EF-AEAD-FFBDA52A497A}"/>
              </a:ext>
            </a:extLst>
          </p:cNvPr>
          <p:cNvSpPr>
            <a:spLocks xmlns:a="http://schemas.openxmlformats.org/drawingml/2006/main" noGrp="1"/>
          </p:cNvSpPr>
          <p:nvPr/>
        </p:nvSpPr>
        <p:spPr>
          <a:xfrm xmlns:a="http://schemas.openxmlformats.org/drawingml/2006/main">
            <a:off x="6667500" y="307657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Explain the company and product</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Upload the matter documents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Guide the model toward the relevant law</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Challenge its assumptions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Turn the result into usable legal work</a:t>
            </a:r>
          </a:p>
        </p:txBody>
      </p:sp>
      <p:sp>
        <p:nvSpPr>
          <p:cNvPr id="8" name="">
            <a:extLst xmlns:a="http://schemas.openxmlformats.org/drawingml/2006/main">
              <a:ext uri="{FF2B5EF4-FFF2-40B4-BE49-F238E27FC236}">
                <a16:creationId xmlns:a16="http://schemas.microsoft.com/office/drawing/2014/main" id="{15F5D4A5-CD0F-4B8A-884F-7908FB74871F}"/>
              </a:ext>
            </a:extLst>
          </p:cNvPr>
          <p:cNvSpPr>
            <a:spLocks xmlns:a="http://schemas.openxmlformats.org/drawingml/2006/main" noGrp="1"/>
          </p:cNvSpPr>
          <p:nvPr/>
        </p:nvSpPr>
        <p:spPr>
          <a:xfrm xmlns:a="http://schemas.openxmlformats.org/drawingml/2006/main">
            <a:off x="609600" y="57245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The opportunity is to design the product around how lawyers examine questions and reach decisions.</a:t>
            </a:r>
          </a:p>
        </p:txBody>
      </p:sp>
    </p:spTree>
    <p:extLst>
      <p:ext uri="{BB962C8B-B14F-4D97-AF65-F5344CB8AC3E}">
        <p14:creationId xmlns:p14="http://schemas.microsoft.com/office/powerpoint/2010/main" val="1771080750"/>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FBDBF0-B339-46AA-9A80-196D38849DB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3A1DC864-8042-457B-B5B6-0B835686A56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Themis turns an incomplete request into</a:t>
            </a:r>
          </a:p>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a legal matter the lawyer can work from.</a:t>
            </a:r>
          </a:p>
        </p:txBody>
      </p:sp>
      <p:sp>
        <p:nvSpPr>
          <p:cNvPr id="3" name="">
            <a:extLst xmlns:a="http://schemas.openxmlformats.org/drawingml/2006/main">
              <a:ext uri="{FF2B5EF4-FFF2-40B4-BE49-F238E27FC236}">
                <a16:creationId xmlns:a16="http://schemas.microsoft.com/office/drawing/2014/main" id="{57AF0430-F2C7-4E18-BE8B-578370FEDA7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3952A01-BCF3-4FB1-B5E5-30ABA5D3452C}"/>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33EA5E5-11F5-4C21-96F6-FFE798E61545}"/>
              </a:ext>
            </a:extLst>
          </p:cNvPr>
          <p:cNvSpPr>
            <a:spLocks xmlns:a="http://schemas.openxmlformats.org/drawingml/2006/main" noGrp="1"/>
          </p:cNvSpPr>
          <p:nvPr/>
        </p:nvSpPr>
        <p:spPr>
          <a:xfrm xmlns:a="http://schemas.openxmlformats.org/drawingml/2006/main">
            <a:off x="609600" y="23907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Themis is a matter-centered AI workspace for in-house lawyers. It keeps the work around a business question together as the facts and law change.</a:t>
            </a:r>
          </a:p>
        </p:txBody>
      </p:sp>
      <p:sp>
        <p:nvSpPr>
          <p:cNvPr id="6" name="">
            <a:extLst xmlns:a="http://schemas.openxmlformats.org/drawingml/2006/main">
              <a:ext uri="{FF2B5EF4-FFF2-40B4-BE49-F238E27FC236}">
                <a16:creationId xmlns:a16="http://schemas.microsoft.com/office/drawing/2014/main" id="{CFA8B189-CD76-4686-8B4F-B4F15F70CE41}"/>
              </a:ext>
            </a:extLst>
          </p:cNvPr>
          <p:cNvSpPr>
            <a:spLocks xmlns:a="http://schemas.openxmlformats.org/drawingml/2006/main" noGrp="1"/>
          </p:cNvSpPr>
          <p:nvPr/>
        </p:nvSpPr>
        <p:spPr>
          <a:xfrm xmlns:a="http://schemas.openxmlformats.org/drawingml/2006/main">
            <a:off x="6667500" y="23907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EACH MATTER CONNECTS</a:t>
            </a:r>
          </a:p>
        </p:txBody>
      </p:sp>
      <p:sp>
        <p:nvSpPr>
          <p:cNvPr id="7" name="">
            <a:extLst xmlns:a="http://schemas.openxmlformats.org/drawingml/2006/main">
              <a:ext uri="{FF2B5EF4-FFF2-40B4-BE49-F238E27FC236}">
                <a16:creationId xmlns:a16="http://schemas.microsoft.com/office/drawing/2014/main" id="{186DFDB2-9D55-4A82-AAD1-6303548894CD}"/>
              </a:ext>
            </a:extLst>
          </p:cNvPr>
          <p:cNvSpPr>
            <a:spLocks xmlns:a="http://schemas.openxmlformats.org/drawingml/2006/main" noGrp="1"/>
          </p:cNvSpPr>
          <p:nvPr/>
        </p:nvSpPr>
        <p:spPr>
          <a:xfrm xmlns:a="http://schemas.openxmlformats.org/drawingml/2006/main">
            <a:off x="6667500" y="294322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Original business request</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Company context and source documents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Facts, assumptions, and open questions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Research and supported analysis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Draft work and lawyer-recorded decisions</a:t>
            </a:r>
          </a:p>
        </p:txBody>
      </p:sp>
      <p:sp>
        <p:nvSpPr>
          <p:cNvPr id="8" name="">
            <a:extLst xmlns:a="http://schemas.openxmlformats.org/drawingml/2006/main">
              <a:ext uri="{FF2B5EF4-FFF2-40B4-BE49-F238E27FC236}">
                <a16:creationId xmlns:a16="http://schemas.microsoft.com/office/drawing/2014/main" id="{8021D850-8B8E-4244-A721-EB784B811FF7}"/>
              </a:ext>
            </a:extLst>
          </p:cNvPr>
          <p:cNvSpPr>
            <a:spLocks xmlns:a="http://schemas.openxmlformats.org/drawingml/2006/main" noGrp="1"/>
          </p:cNvSpPr>
          <p:nvPr/>
        </p:nvSpPr>
        <p:spPr>
          <a:xfrm xmlns:a="http://schemas.openxmlformats.org/drawingml/2006/main">
            <a:off x="609600" y="5105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625" b="0">
                <a:solidFill>
                  <a:srgbClr val="4169A4"/>
                </a:solidFill>
                <a:latin typeface="Georgia"/>
                <a:ea typeface="Georgia"/>
                <a:cs typeface="Georgia"/>
              </a:defRPr>
            </a:pPr>
            <a:r>
              <a:rPr sz="26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16434805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7F919A-3F58-4D8C-97D0-C6180E824E1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C4C90C0C-778B-4F1A-BC53-EFE4D4528163}"/>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42452A43-2600-4331-80E0-7BF7FE8EB14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1995B45-4B66-4DEA-B6E2-96D83799A17D}"/>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4F16675-BFA2-4850-BEA3-0E6B52AD8E76}"/>
              </a:ext>
            </a:extLst>
          </p:cNvPr>
          <p:cNvSpPr>
            <a:spLocks xmlns:a="http://schemas.openxmlformats.org/drawingml/2006/main" noGrp="1"/>
          </p:cNvSpPr>
          <p:nvPr/>
        </p:nvSpPr>
        <p:spPr>
          <a:xfrm xmlns:a="http://schemas.openxmlformats.org/drawingml/2006/main">
            <a:off x="609600" y="2028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596273"/>
                </a:solidFill>
                <a:latin typeface="Arial"/>
                <a:ea typeface="Arial"/>
                <a:cs typeface="Arial"/>
              </a:defRPr>
            </a:pPr>
            <a:r>
              <a:rPr sz="1500" b="0">
                <a:solidFill>
                  <a:srgbClr val="596273"/>
                </a:solidFill>
                <a:latin typeface="Arial"/>
                <a:ea typeface="Arial"/>
                <a:cs typeface="Arial"/>
              </a:rPr>
              <a:t>Themis prepares and preserves the work around the decision. The lawyer applies context, risk tolerance, and authority.</a:t>
            </a:r>
          </a:p>
        </p:txBody>
      </p:sp>
      <p:graphicFrame>
        <p:nvGraphicFramePr>
          <p:cNvPr id="13" name=""/>
          <p:cNvGraphicFramePr/>
          <p:nvPr/>
        </p:nvGraphicFramePr>
        <p:xfrm>
          <a:off xmlns:a="http://schemas.openxmlformats.org/drawingml/2006/main" x="609600" y="2505075"/>
          <a:ext xmlns:a="http://schemas.openxmlformats.org/drawingml/2006/main" cx="10972800" cy="284797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7" name="">
            <a:extLst xmlns:a="http://schemas.openxmlformats.org/drawingml/2006/main">
              <a:ext uri="{FF2B5EF4-FFF2-40B4-BE49-F238E27FC236}">
                <a16:creationId xmlns:a16="http://schemas.microsoft.com/office/drawing/2014/main" id="{B06494C0-F3D8-4F39-B492-AF99D6EBF83D}"/>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221069904"/>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BB855EF-4B12-4523-8402-DD4A6380AC3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28EEC42F-1354-4140-B381-E258DC0D95DA}"/>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missing fact can change the legal analysis.</a:t>
            </a:r>
          </a:p>
        </p:txBody>
      </p:sp>
      <p:sp>
        <p:nvSpPr>
          <p:cNvPr id="3" name="">
            <a:extLst xmlns:a="http://schemas.openxmlformats.org/drawingml/2006/main">
              <a:ext uri="{FF2B5EF4-FFF2-40B4-BE49-F238E27FC236}">
                <a16:creationId xmlns:a16="http://schemas.microsoft.com/office/drawing/2014/main" id="{44AC4BC9-3FC4-454B-A353-E62B2E708DF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E313611-DEB8-4BC9-A536-E7FBF3F96A2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7BA8137-5DA6-4029-991B-0E3BC36B54F0}"/>
              </a:ext>
            </a:extLst>
          </p:cNvPr>
          <p:cNvSpPr>
            <a:spLocks xmlns:a="http://schemas.openxmlformats.org/drawingml/2006/main" noGrp="1"/>
          </p:cNvSpPr>
          <p:nvPr/>
        </p:nvSpPr>
        <p:spPr>
          <a:xfrm xmlns:a="http://schemas.openxmlformats.org/drawingml/2006/main">
            <a:off x="609600" y="2057400"/>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BUSINESS REQUEST</a:t>
            </a:r>
          </a:p>
        </p:txBody>
      </p:sp>
      <p:sp>
        <p:nvSpPr>
          <p:cNvPr id="6" name="">
            <a:extLst xmlns:a="http://schemas.openxmlformats.org/drawingml/2006/main">
              <a:ext uri="{FF2B5EF4-FFF2-40B4-BE49-F238E27FC236}">
                <a16:creationId xmlns:a16="http://schemas.microsoft.com/office/drawing/2014/main" id="{49320004-3352-4821-94A5-F9B37C368C3A}"/>
              </a:ext>
            </a:extLst>
          </p:cNvPr>
          <p:cNvSpPr>
            <a:spLocks xmlns:a="http://schemas.openxmlformats.org/drawingml/2006/main" noGrp="1"/>
          </p:cNvSpPr>
          <p:nvPr/>
        </p:nvSpPr>
        <p:spPr>
          <a:xfrm xmlns:a="http://schemas.openxmlformats.org/drawingml/2006/main">
            <a:off x="609600" y="24003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“Our marketplace will move money from a customer to a seller. Do we need to change the launch plan?”</a:t>
            </a:r>
          </a:p>
        </p:txBody>
      </p:sp>
      <p:sp>
        <p:nvSpPr>
          <p:cNvPr id="7" name="">
            <a:extLst xmlns:a="http://schemas.openxmlformats.org/drawingml/2006/main">
              <a:ext uri="{FF2B5EF4-FFF2-40B4-BE49-F238E27FC236}">
                <a16:creationId xmlns:a16="http://schemas.microsoft.com/office/drawing/2014/main" id="{FD7F14A7-562C-4DA9-BFBD-C22CB60A6070}"/>
              </a:ext>
            </a:extLst>
          </p:cNvPr>
          <p:cNvSpPr>
            <a:spLocks xmlns:a="http://schemas.openxmlformats.org/drawingml/2006/main" noGrp="1"/>
          </p:cNvSpPr>
          <p:nvPr/>
        </p:nvSpPr>
        <p:spPr>
          <a:xfrm xmlns:a="http://schemas.openxmlformats.org/drawingml/2006/main">
            <a:off x="6096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81E63F09-1B35-4B21-ABB7-4B045034AC27}"/>
              </a:ext>
            </a:extLst>
          </p:cNvPr>
          <p:cNvSpPr>
            <a:spLocks xmlns:a="http://schemas.openxmlformats.org/drawingml/2006/main" noGrp="1"/>
          </p:cNvSpPr>
          <p:nvPr/>
        </p:nvSpPr>
        <p:spPr>
          <a:xfrm xmlns:a="http://schemas.openxmlformats.org/drawingml/2006/main">
            <a:off x="11811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Map the transaction</a:t>
            </a:r>
          </a:p>
        </p:txBody>
      </p:sp>
      <p:sp>
        <p:nvSpPr>
          <p:cNvPr id="9" name="">
            <a:extLst xmlns:a="http://schemas.openxmlformats.org/drawingml/2006/main">
              <a:ext uri="{FF2B5EF4-FFF2-40B4-BE49-F238E27FC236}">
                <a16:creationId xmlns:a16="http://schemas.microsoft.com/office/drawing/2014/main" id="{1D67AC14-942B-4A29-A2A9-205B08403400}"/>
              </a:ext>
            </a:extLst>
          </p:cNvPr>
          <p:cNvSpPr>
            <a:spLocks xmlns:a="http://schemas.openxmlformats.org/drawingml/2006/main" noGrp="1"/>
          </p:cNvSpPr>
          <p:nvPr/>
        </p:nvSpPr>
        <p:spPr>
          <a:xfrm xmlns:a="http://schemas.openxmlformats.org/drawingml/2006/main">
            <a:off x="11811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Organize each party, account, transfer, and point in time.</a:t>
            </a:r>
          </a:p>
        </p:txBody>
      </p:sp>
      <p:sp>
        <p:nvSpPr>
          <p:cNvPr id="10" name="">
            <a:extLst xmlns:a="http://schemas.openxmlformats.org/drawingml/2006/main">
              <a:ext uri="{FF2B5EF4-FFF2-40B4-BE49-F238E27FC236}">
                <a16:creationId xmlns:a16="http://schemas.microsoft.com/office/drawing/2014/main" id="{DFEFBD04-4DFC-4C29-863B-8D5A4113757F}"/>
              </a:ext>
            </a:extLst>
          </p:cNvPr>
          <p:cNvSpPr>
            <a:spLocks xmlns:a="http://schemas.openxmlformats.org/drawingml/2006/main" noGrp="1"/>
          </p:cNvSpPr>
          <p:nvPr/>
        </p:nvSpPr>
        <p:spPr>
          <a:xfrm xmlns:a="http://schemas.openxmlformats.org/drawingml/2006/main">
            <a:off x="43434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6C18DA3-9F0F-43DB-970D-527A58A60E93}"/>
              </a:ext>
            </a:extLst>
          </p:cNvPr>
          <p:cNvSpPr>
            <a:spLocks xmlns:a="http://schemas.openxmlformats.org/drawingml/2006/main" noGrp="1"/>
          </p:cNvSpPr>
          <p:nvPr/>
        </p:nvSpPr>
        <p:spPr>
          <a:xfrm xmlns:a="http://schemas.openxmlformats.org/drawingml/2006/main">
            <a:off x="49149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Surface the missing fact</a:t>
            </a:r>
          </a:p>
        </p:txBody>
      </p:sp>
      <p:sp>
        <p:nvSpPr>
          <p:cNvPr id="12" name="">
            <a:extLst xmlns:a="http://schemas.openxmlformats.org/drawingml/2006/main">
              <a:ext uri="{FF2B5EF4-FFF2-40B4-BE49-F238E27FC236}">
                <a16:creationId xmlns:a16="http://schemas.microsoft.com/office/drawing/2014/main" id="{A0BDB96A-2758-4034-8720-B2A7DFAF34F4}"/>
              </a:ext>
            </a:extLst>
          </p:cNvPr>
          <p:cNvSpPr>
            <a:spLocks xmlns:a="http://schemas.openxmlformats.org/drawingml/2006/main" noGrp="1"/>
          </p:cNvSpPr>
          <p:nvPr/>
        </p:nvSpPr>
        <p:spPr>
          <a:xfrm xmlns:a="http://schemas.openxmlformats.org/drawingml/2006/main">
            <a:off x="49149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Does the company ever receive or control the funds, even briefly?</a:t>
            </a:r>
          </a:p>
        </p:txBody>
      </p:sp>
      <p:sp>
        <p:nvSpPr>
          <p:cNvPr id="13" name="">
            <a:extLst xmlns:a="http://schemas.openxmlformats.org/drawingml/2006/main">
              <a:ext uri="{FF2B5EF4-FFF2-40B4-BE49-F238E27FC236}">
                <a16:creationId xmlns:a16="http://schemas.microsoft.com/office/drawing/2014/main" id="{74A5833F-CE28-4A22-BDC8-77F300582EA0}"/>
              </a:ext>
            </a:extLst>
          </p:cNvPr>
          <p:cNvSpPr>
            <a:spLocks xmlns:a="http://schemas.openxmlformats.org/drawingml/2006/main" noGrp="1"/>
          </p:cNvSpPr>
          <p:nvPr/>
        </p:nvSpPr>
        <p:spPr>
          <a:xfrm xmlns:a="http://schemas.openxmlformats.org/drawingml/2006/main">
            <a:off x="80772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68921B8-138A-4CF2-A4F4-E0AEB914CF7A}"/>
              </a:ext>
            </a:extLst>
          </p:cNvPr>
          <p:cNvSpPr>
            <a:spLocks xmlns:a="http://schemas.openxmlformats.org/drawingml/2006/main" noGrp="1"/>
          </p:cNvSpPr>
          <p:nvPr/>
        </p:nvSpPr>
        <p:spPr>
          <a:xfrm xmlns:a="http://schemas.openxmlformats.org/drawingml/2006/main">
            <a:off x="8648700" y="33528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Explore both possibilities</a:t>
            </a:r>
          </a:p>
        </p:txBody>
      </p:sp>
      <p:sp>
        <p:nvSpPr>
          <p:cNvPr id="15" name="">
            <a:extLst xmlns:a="http://schemas.openxmlformats.org/drawingml/2006/main">
              <a:ext uri="{FF2B5EF4-FFF2-40B4-BE49-F238E27FC236}">
                <a16:creationId xmlns:a16="http://schemas.microsoft.com/office/drawing/2014/main" id="{244A45D4-1041-4644-B208-C6D6BC027131}"/>
              </a:ext>
            </a:extLst>
          </p:cNvPr>
          <p:cNvSpPr>
            <a:spLocks xmlns:a="http://schemas.openxmlformats.org/drawingml/2006/main" noGrp="1"/>
          </p:cNvSpPr>
          <p:nvPr/>
        </p:nvSpPr>
        <p:spPr>
          <a:xfrm xmlns:a="http://schemas.openxmlformats.org/drawingml/2006/main">
            <a:off x="8648700" y="38576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Explain why the fact matters and research each relevant legal path.</a:t>
            </a:r>
          </a:p>
        </p:txBody>
      </p:sp>
      <p:sp>
        <p:nvSpPr>
          <p:cNvPr id="16" name="">
            <a:extLst xmlns:a="http://schemas.openxmlformats.org/drawingml/2006/main">
              <a:ext uri="{FF2B5EF4-FFF2-40B4-BE49-F238E27FC236}">
                <a16:creationId xmlns:a16="http://schemas.microsoft.com/office/drawing/2014/main" id="{135CC30A-B52C-4388-ACD7-9F4D93481B3D}"/>
              </a:ext>
            </a:extLst>
          </p:cNvPr>
          <p:cNvSpPr>
            <a:spLocks xmlns:a="http://schemas.openxmlformats.org/drawingml/2006/main" noGrp="1"/>
          </p:cNvSpPr>
          <p:nvPr/>
        </p:nvSpPr>
        <p:spPr>
          <a:xfrm xmlns:a="http://schemas.openxmlformats.org/drawingml/2006/main">
            <a:off x="609600" y="5562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0">
                <a:solidFill>
                  <a:srgbClr val="4169A4"/>
                </a:solidFill>
                <a:latin typeface="Georgia"/>
                <a:ea typeface="Georgia"/>
                <a:cs typeface="Georgia"/>
              </a:defRPr>
            </a:pPr>
            <a:r>
              <a:rPr sz="2325" b="0">
                <a:solidFill>
                  <a:srgbClr val="4169A4"/>
                </a:solidFill>
                <a:latin typeface="Georgia"/>
                <a:ea typeface="Georgia"/>
                <a:cs typeface="Georgia"/>
              </a:rPr>
              <a:t>Themis shows where the analysis can change. The lawyer determines which facts and path apply.</a:t>
            </a:r>
          </a:p>
        </p:txBody>
      </p:sp>
      <p:sp>
        <p:nvSpPr>
          <p:cNvPr id="17" name="">
            <a:extLst xmlns:a="http://schemas.openxmlformats.org/drawingml/2006/main">
              <a:ext uri="{FF2B5EF4-FFF2-40B4-BE49-F238E27FC236}">
                <a16:creationId xmlns:a16="http://schemas.microsoft.com/office/drawing/2014/main" id="{7D884591-D6C4-4125-AA4B-6FF0314FCFC5}"/>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1237234448"/>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B35129-FEBA-41E4-9DE9-A0737D02B910}"/>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60F10795-D986-45C9-968C-753271947D4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first buyer is the lawyer carrying</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 entire legal function.</a:t>
            </a:r>
          </a:p>
        </p:txBody>
      </p:sp>
      <p:sp>
        <p:nvSpPr>
          <p:cNvPr id="3" name="">
            <a:extLst xmlns:a="http://schemas.openxmlformats.org/drawingml/2006/main">
              <a:ext uri="{FF2B5EF4-FFF2-40B4-BE49-F238E27FC236}">
                <a16:creationId xmlns:a16="http://schemas.microsoft.com/office/drawing/2014/main" id="{476FBAF6-2DDB-4BCF-BACD-E2312C26CA5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54723EF-FDA5-4196-886A-ABBA51788D4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361BC41-36FC-4A07-B481-6F2C98D1373C}"/>
              </a:ext>
            </a:extLst>
          </p:cNvPr>
          <p:cNvSpPr>
            <a:spLocks xmlns:a="http://schemas.openxmlformats.org/drawingml/2006/main" noGrp="1"/>
          </p:cNvSpPr>
          <p:nvPr/>
        </p:nvSpPr>
        <p:spPr>
          <a:xfrm xmlns:a="http://schemas.openxmlformats.org/drawingml/2006/main">
            <a:off x="609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INITIAL USER</a:t>
            </a:r>
          </a:p>
        </p:txBody>
      </p:sp>
      <p:sp>
        <p:nvSpPr>
          <p:cNvPr id="6" name="">
            <a:extLst xmlns:a="http://schemas.openxmlformats.org/drawingml/2006/main">
              <a:ext uri="{FF2B5EF4-FFF2-40B4-BE49-F238E27FC236}">
                <a16:creationId xmlns:a16="http://schemas.microsoft.com/office/drawing/2014/main" id="{268BA25B-82CD-4599-911E-51C6B154EE83}"/>
              </a:ext>
            </a:extLst>
          </p:cNvPr>
          <p:cNvSpPr>
            <a:spLocks xmlns:a="http://schemas.openxmlformats.org/drawingml/2006/main" noGrp="1"/>
          </p:cNvSpPr>
          <p:nvPr/>
        </p:nvSpPr>
        <p:spPr>
          <a:xfrm xmlns:a="http://schemas.openxmlformats.org/drawingml/2006/main">
            <a:off x="609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Solo general counsel</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or product lawyer</a:t>
            </a:r>
          </a:p>
        </p:txBody>
      </p:sp>
      <p:sp>
        <p:nvSpPr>
          <p:cNvPr id="7" name="">
            <a:extLst xmlns:a="http://schemas.openxmlformats.org/drawingml/2006/main">
              <a:ext uri="{FF2B5EF4-FFF2-40B4-BE49-F238E27FC236}">
                <a16:creationId xmlns:a16="http://schemas.microsoft.com/office/drawing/2014/main" id="{D6190D5B-9FE9-46C7-847A-1D5FADF55E18}"/>
              </a:ext>
            </a:extLst>
          </p:cNvPr>
          <p:cNvSpPr>
            <a:spLocks xmlns:a="http://schemas.openxmlformats.org/drawingml/2006/main" noGrp="1"/>
          </p:cNvSpPr>
          <p:nvPr/>
        </p:nvSpPr>
        <p:spPr>
          <a:xfrm xmlns:a="http://schemas.openxmlformats.org/drawingml/2006/main">
            <a:off x="609600" y="42100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Often works without junior support and must answer product and business questions across the company.</a:t>
            </a:r>
          </a:p>
        </p:txBody>
      </p:sp>
      <p:sp>
        <p:nvSpPr>
          <p:cNvPr id="8" name="">
            <a:extLst xmlns:a="http://schemas.openxmlformats.org/drawingml/2006/main">
              <a:ext uri="{FF2B5EF4-FFF2-40B4-BE49-F238E27FC236}">
                <a16:creationId xmlns:a16="http://schemas.microsoft.com/office/drawing/2014/main" id="{C5D2D8A8-01D3-4FD8-9F25-C8F58D6880F1}"/>
              </a:ext>
            </a:extLst>
          </p:cNvPr>
          <p:cNvSpPr>
            <a:spLocks xmlns:a="http://schemas.openxmlformats.org/drawingml/2006/main" noGrp="1"/>
          </p:cNvSpPr>
          <p:nvPr/>
        </p:nvSpPr>
        <p:spPr>
          <a:xfrm xmlns:a="http://schemas.openxmlformats.org/drawingml/2006/main">
            <a:off x="6705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TEAM EXPANSION</a:t>
            </a:r>
          </a:p>
        </p:txBody>
      </p:sp>
      <p:sp>
        <p:nvSpPr>
          <p:cNvPr id="9" name="">
            <a:extLst xmlns:a="http://schemas.openxmlformats.org/drawingml/2006/main">
              <a:ext uri="{FF2B5EF4-FFF2-40B4-BE49-F238E27FC236}">
                <a16:creationId xmlns:a16="http://schemas.microsoft.com/office/drawing/2014/main" id="{856BC751-047B-4367-8B3B-5B81B64058A9}"/>
              </a:ext>
            </a:extLst>
          </p:cNvPr>
          <p:cNvSpPr>
            <a:spLocks xmlns:a="http://schemas.openxmlformats.org/drawingml/2006/main" noGrp="1"/>
          </p:cNvSpPr>
          <p:nvPr/>
        </p:nvSpPr>
        <p:spPr>
          <a:xfrm xmlns:a="http://schemas.openxmlformats.org/drawingml/2006/main">
            <a:off x="6705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In-house legal team</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with fewer than ten lawyers</a:t>
            </a:r>
          </a:p>
        </p:txBody>
      </p:sp>
      <p:sp>
        <p:nvSpPr>
          <p:cNvPr id="10" name="">
            <a:extLst xmlns:a="http://schemas.openxmlformats.org/drawingml/2006/main">
              <a:ext uri="{FF2B5EF4-FFF2-40B4-BE49-F238E27FC236}">
                <a16:creationId xmlns:a16="http://schemas.microsoft.com/office/drawing/2014/main" id="{9CA8F71B-284F-4245-A4A5-BDBE17A89787}"/>
              </a:ext>
            </a:extLst>
          </p:cNvPr>
          <p:cNvSpPr>
            <a:spLocks xmlns:a="http://schemas.openxmlformats.org/drawingml/2006/main" noGrp="1"/>
          </p:cNvSpPr>
          <p:nvPr/>
        </p:nvSpPr>
        <p:spPr>
          <a:xfrm xmlns:a="http://schemas.openxmlformats.org/drawingml/2006/main">
            <a:off x="6705600" y="42100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Shared matters can let a second lawyer see the request, facts, research, decisions, and next open question without a long handoff.</a:t>
            </a:r>
          </a:p>
        </p:txBody>
      </p:sp>
      <p:sp>
        <p:nvSpPr>
          <p:cNvPr id="11" name="">
            <a:extLst xmlns:a="http://schemas.openxmlformats.org/drawingml/2006/main">
              <a:ext uri="{FF2B5EF4-FFF2-40B4-BE49-F238E27FC236}">
                <a16:creationId xmlns:a16="http://schemas.microsoft.com/office/drawing/2014/main" id="{37339741-265F-4916-A1B9-ECC2E772D573}"/>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596273"/>
                </a:solidFill>
                <a:latin typeface="Arial"/>
                <a:ea typeface="Arial"/>
                <a:cs typeface="Arial"/>
              </a:defRPr>
            </a:pPr>
            <a:r>
              <a:rPr sz="1575" b="0">
                <a:solidFill>
                  <a:srgbClr val="596273"/>
                </a:solidFill>
                <a:latin typeface="Arial"/>
                <a:ea typeface="Arial"/>
                <a:cs typeface="Arial"/>
              </a:rPr>
              <a:t>Business hypothesis: earn repeat use from one lawyer, then prove that shared context supports team adoption.</a:t>
            </a:r>
          </a:p>
        </p:txBody>
      </p:sp>
    </p:spTree>
    <p:extLst>
      <p:ext uri="{BB962C8B-B14F-4D97-AF65-F5344CB8AC3E}">
        <p14:creationId xmlns:p14="http://schemas.microsoft.com/office/powerpoint/2010/main" val="675519570"/>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3040B78-9272-43B7-8CD6-6645DB5D168D}"/>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FC883C8E-80AA-4E65-930D-D112F76102B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FAF8F2"/>
                </a:solidFill>
                <a:latin typeface="Georgia"/>
                <a:ea typeface="Georgia"/>
                <a:cs typeface="Georgia"/>
              </a:defRPr>
            </a:pPr>
            <a:r>
              <a:rPr sz="3225" b="1">
                <a:solidFill>
                  <a:srgbClr val="FAF8F2"/>
                </a:solidFill>
                <a:latin typeface="Georgia"/>
                <a:ea typeface="Georgia"/>
                <a:cs typeface="Georgia"/>
              </a:rPr>
              <a:t>Legal AI earns trust through observable behavior.</a:t>
            </a:r>
          </a:p>
        </p:txBody>
      </p:sp>
      <p:sp>
        <p:nvSpPr>
          <p:cNvPr id="3" name="">
            <a:extLst xmlns:a="http://schemas.openxmlformats.org/drawingml/2006/main">
              <a:ext uri="{FF2B5EF4-FFF2-40B4-BE49-F238E27FC236}">
                <a16:creationId xmlns:a16="http://schemas.microsoft.com/office/drawing/2014/main" id="{CA4FEA4B-D0A2-4272-99C2-701511A71CEB}"/>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4BBB790-2A98-4943-A811-BCF42C623CD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0AA782F-011F-4633-8C25-A5D97F37ED63}"/>
              </a:ext>
            </a:extLst>
          </p:cNvPr>
          <p:cNvSpPr>
            <a:spLocks xmlns:a="http://schemas.openxmlformats.org/drawingml/2006/main" noGrp="1"/>
          </p:cNvSpPr>
          <p:nvPr/>
        </p:nvSpPr>
        <p:spPr>
          <a:xfrm xmlns:a="http://schemas.openxmlformats.org/drawingml/2006/main">
            <a:off x="609600" y="19526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DCE1EA"/>
                </a:solidFill>
                <a:latin typeface="Arial"/>
                <a:ea typeface="Arial"/>
                <a:cs typeface="Arial"/>
              </a:defRPr>
            </a:pPr>
            <a:r>
              <a:rPr sz="1575" b="0">
                <a:solidFill>
                  <a:srgbClr val="DCE1EA"/>
                </a:solidFill>
                <a:latin typeface="Arial"/>
                <a:ea typeface="Arial"/>
                <a:cs typeface="Arial"/>
              </a:rPr>
              <a:t>The product must show what it knows, what it does not know, and who owns the decision.</a:t>
            </a:r>
          </a:p>
        </p:txBody>
      </p:sp>
      <p:sp>
        <p:nvSpPr>
          <p:cNvPr id="6" name="">
            <a:extLst xmlns:a="http://schemas.openxmlformats.org/drawingml/2006/main">
              <a:ext uri="{FF2B5EF4-FFF2-40B4-BE49-F238E27FC236}">
                <a16:creationId xmlns:a16="http://schemas.microsoft.com/office/drawing/2014/main" id="{4CC648F3-3087-4941-89C3-7158160416AE}"/>
              </a:ext>
            </a:extLst>
          </p:cNvPr>
          <p:cNvSpPr>
            <a:spLocks xmlns:a="http://schemas.openxmlformats.org/drawingml/2006/main" noGrp="1"/>
          </p:cNvSpPr>
          <p:nvPr/>
        </p:nvSpPr>
        <p:spPr>
          <a:xfrm xmlns:a="http://schemas.openxmlformats.org/drawingml/2006/main">
            <a:off x="6096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Humble</a:t>
            </a:r>
          </a:p>
        </p:txBody>
      </p:sp>
      <p:sp>
        <p:nvSpPr>
          <p:cNvPr id="7" name="">
            <a:extLst xmlns:a="http://schemas.openxmlformats.org/drawingml/2006/main">
              <a:ext uri="{FF2B5EF4-FFF2-40B4-BE49-F238E27FC236}">
                <a16:creationId xmlns:a16="http://schemas.microsoft.com/office/drawing/2014/main" id="{CAC060A7-655E-4967-BC25-9E8A13F11F64}"/>
              </a:ext>
            </a:extLst>
          </p:cNvPr>
          <p:cNvSpPr>
            <a:spLocks xmlns:a="http://schemas.openxmlformats.org/drawingml/2006/main" noGrp="1"/>
          </p:cNvSpPr>
          <p:nvPr/>
        </p:nvSpPr>
        <p:spPr>
          <a:xfrm xmlns:a="http://schemas.openxmlformats.org/drawingml/2006/main">
            <a:off x="6096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Marks uncertainty instead of pretending ambiguity disappeared.</a:t>
            </a:r>
          </a:p>
        </p:txBody>
      </p:sp>
      <p:sp>
        <p:nvSpPr>
          <p:cNvPr id="8" name="">
            <a:extLst xmlns:a="http://schemas.openxmlformats.org/drawingml/2006/main">
              <a:ext uri="{FF2B5EF4-FFF2-40B4-BE49-F238E27FC236}">
                <a16:creationId xmlns:a16="http://schemas.microsoft.com/office/drawing/2014/main" id="{64189802-E346-4227-B6F0-B5A4FCFBA412}"/>
              </a:ext>
            </a:extLst>
          </p:cNvPr>
          <p:cNvSpPr>
            <a:spLocks xmlns:a="http://schemas.openxmlformats.org/drawingml/2006/main" noGrp="1"/>
          </p:cNvSpPr>
          <p:nvPr/>
        </p:nvSpPr>
        <p:spPr>
          <a:xfrm xmlns:a="http://schemas.openxmlformats.org/drawingml/2006/main">
            <a:off x="65532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Curious</a:t>
            </a:r>
          </a:p>
        </p:txBody>
      </p:sp>
      <p:sp>
        <p:nvSpPr>
          <p:cNvPr id="9" name="">
            <a:extLst xmlns:a="http://schemas.openxmlformats.org/drawingml/2006/main">
              <a:ext uri="{FF2B5EF4-FFF2-40B4-BE49-F238E27FC236}">
                <a16:creationId xmlns:a16="http://schemas.microsoft.com/office/drawing/2014/main" id="{0FB9AAFB-3701-4EDE-9DFE-6D05CA8C4582}"/>
              </a:ext>
            </a:extLst>
          </p:cNvPr>
          <p:cNvSpPr>
            <a:spLocks xmlns:a="http://schemas.openxmlformats.org/drawingml/2006/main" noGrp="1"/>
          </p:cNvSpPr>
          <p:nvPr/>
        </p:nvSpPr>
        <p:spPr>
          <a:xfrm xmlns:a="http://schemas.openxmlformats.org/drawingml/2006/main">
            <a:off x="65532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Asks the factual question that could change the analysis.</a:t>
            </a:r>
          </a:p>
        </p:txBody>
      </p:sp>
      <p:sp>
        <p:nvSpPr>
          <p:cNvPr id="10" name="">
            <a:extLst xmlns:a="http://schemas.openxmlformats.org/drawingml/2006/main">
              <a:ext uri="{FF2B5EF4-FFF2-40B4-BE49-F238E27FC236}">
                <a16:creationId xmlns:a16="http://schemas.microsoft.com/office/drawing/2014/main" id="{B4E169ED-A1AA-4D73-BCE3-EDF8736DCA5B}"/>
              </a:ext>
            </a:extLst>
          </p:cNvPr>
          <p:cNvSpPr>
            <a:spLocks xmlns:a="http://schemas.openxmlformats.org/drawingml/2006/main" noGrp="1"/>
          </p:cNvSpPr>
          <p:nvPr/>
        </p:nvSpPr>
        <p:spPr>
          <a:xfrm xmlns:a="http://schemas.openxmlformats.org/drawingml/2006/main">
            <a:off x="6096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Present</a:t>
            </a:r>
          </a:p>
        </p:txBody>
      </p:sp>
      <p:sp>
        <p:nvSpPr>
          <p:cNvPr id="11" name="">
            <a:extLst xmlns:a="http://schemas.openxmlformats.org/drawingml/2006/main">
              <a:ext uri="{FF2B5EF4-FFF2-40B4-BE49-F238E27FC236}">
                <a16:creationId xmlns:a16="http://schemas.microsoft.com/office/drawing/2014/main" id="{FA02A650-FDF7-40AB-9E22-9C19B9675565}"/>
              </a:ext>
            </a:extLst>
          </p:cNvPr>
          <p:cNvSpPr>
            <a:spLocks xmlns:a="http://schemas.openxmlformats.org/drawingml/2006/main" noGrp="1"/>
          </p:cNvSpPr>
          <p:nvPr/>
        </p:nvSpPr>
        <p:spPr>
          <a:xfrm xmlns:a="http://schemas.openxmlformats.org/drawingml/2006/main">
            <a:off x="6096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Remains available without taking control of the decision.</a:t>
            </a:r>
          </a:p>
        </p:txBody>
      </p:sp>
      <p:sp>
        <p:nvSpPr>
          <p:cNvPr id="12" name="">
            <a:extLst xmlns:a="http://schemas.openxmlformats.org/drawingml/2006/main">
              <a:ext uri="{FF2B5EF4-FFF2-40B4-BE49-F238E27FC236}">
                <a16:creationId xmlns:a16="http://schemas.microsoft.com/office/drawing/2014/main" id="{474A8066-29DD-44EF-8427-3EFC6609562C}"/>
              </a:ext>
            </a:extLst>
          </p:cNvPr>
          <p:cNvSpPr>
            <a:spLocks xmlns:a="http://schemas.openxmlformats.org/drawingml/2006/main" noGrp="1"/>
          </p:cNvSpPr>
          <p:nvPr/>
        </p:nvSpPr>
        <p:spPr>
          <a:xfrm xmlns:a="http://schemas.openxmlformats.org/drawingml/2006/main">
            <a:off x="65532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Persistent</a:t>
            </a:r>
          </a:p>
        </p:txBody>
      </p:sp>
      <p:sp>
        <p:nvSpPr>
          <p:cNvPr id="13" name="">
            <a:extLst xmlns:a="http://schemas.openxmlformats.org/drawingml/2006/main">
              <a:ext uri="{FF2B5EF4-FFF2-40B4-BE49-F238E27FC236}">
                <a16:creationId xmlns:a16="http://schemas.microsoft.com/office/drawing/2014/main" id="{57031396-3035-410E-9140-1B24E7527836}"/>
              </a:ext>
            </a:extLst>
          </p:cNvPr>
          <p:cNvSpPr>
            <a:spLocks xmlns:a="http://schemas.openxmlformats.org/drawingml/2006/main" noGrp="1"/>
          </p:cNvSpPr>
          <p:nvPr/>
        </p:nvSpPr>
        <p:spPr>
          <a:xfrm xmlns:a="http://schemas.openxmlformats.org/drawingml/2006/main">
            <a:off x="65532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Carries the matter context forward.</a:t>
            </a:r>
          </a:p>
        </p:txBody>
      </p:sp>
      <p:sp>
        <p:nvSpPr>
          <p:cNvPr id="14" name="">
            <a:extLst xmlns:a="http://schemas.openxmlformats.org/drawingml/2006/main">
              <a:ext uri="{FF2B5EF4-FFF2-40B4-BE49-F238E27FC236}">
                <a16:creationId xmlns:a16="http://schemas.microsoft.com/office/drawing/2014/main" id="{83CFBF00-64B0-4299-8EBC-395B6F4C3251}"/>
              </a:ext>
            </a:extLst>
          </p:cNvPr>
          <p:cNvSpPr>
            <a:spLocks xmlns:a="http://schemas.openxmlformats.org/drawingml/2006/main" noGrp="1"/>
          </p:cNvSpPr>
          <p:nvPr/>
        </p:nvSpPr>
        <p:spPr>
          <a:xfrm xmlns:a="http://schemas.openxmlformats.org/drawingml/2006/main">
            <a:off x="6096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Supportive</a:t>
            </a:r>
          </a:p>
        </p:txBody>
      </p:sp>
      <p:sp>
        <p:nvSpPr>
          <p:cNvPr id="15" name="">
            <a:extLst xmlns:a="http://schemas.openxmlformats.org/drawingml/2006/main">
              <a:ext uri="{FF2B5EF4-FFF2-40B4-BE49-F238E27FC236}">
                <a16:creationId xmlns:a16="http://schemas.microsoft.com/office/drawing/2014/main" id="{76B4D5B8-0E25-4930-A418-1BB08582907E}"/>
              </a:ext>
            </a:extLst>
          </p:cNvPr>
          <p:cNvSpPr>
            <a:spLocks xmlns:a="http://schemas.openxmlformats.org/drawingml/2006/main" noGrp="1"/>
          </p:cNvSpPr>
          <p:nvPr/>
        </p:nvSpPr>
        <p:spPr>
          <a:xfrm xmlns:a="http://schemas.openxmlformats.org/drawingml/2006/main">
            <a:off x="6096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Strengthens judgment instead of claiming legal authority.</a:t>
            </a:r>
          </a:p>
        </p:txBody>
      </p:sp>
      <p:sp>
        <p:nvSpPr>
          <p:cNvPr id="16" name="">
            <a:extLst xmlns:a="http://schemas.openxmlformats.org/drawingml/2006/main">
              <a:ext uri="{FF2B5EF4-FFF2-40B4-BE49-F238E27FC236}">
                <a16:creationId xmlns:a16="http://schemas.microsoft.com/office/drawing/2014/main" id="{58216FA1-D118-4587-A2D2-CC5F75F8509D}"/>
              </a:ext>
            </a:extLst>
          </p:cNvPr>
          <p:cNvSpPr>
            <a:spLocks xmlns:a="http://schemas.openxmlformats.org/drawingml/2006/main" noGrp="1"/>
          </p:cNvSpPr>
          <p:nvPr/>
        </p:nvSpPr>
        <p:spPr>
          <a:xfrm xmlns:a="http://schemas.openxmlformats.org/drawingml/2006/main">
            <a:off x="65532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Faithful</a:t>
            </a:r>
          </a:p>
        </p:txBody>
      </p:sp>
      <p:sp>
        <p:nvSpPr>
          <p:cNvPr id="17" name="">
            <a:extLst xmlns:a="http://schemas.openxmlformats.org/drawingml/2006/main">
              <a:ext uri="{FF2B5EF4-FFF2-40B4-BE49-F238E27FC236}">
                <a16:creationId xmlns:a16="http://schemas.microsoft.com/office/drawing/2014/main" id="{C30A63DE-8ADD-4E79-94CC-ACBB7C49E395}"/>
              </a:ext>
            </a:extLst>
          </p:cNvPr>
          <p:cNvSpPr>
            <a:spLocks xmlns:a="http://schemas.openxmlformats.org/drawingml/2006/main" noGrp="1"/>
          </p:cNvSpPr>
          <p:nvPr/>
        </p:nvSpPr>
        <p:spPr>
          <a:xfrm xmlns:a="http://schemas.openxmlformats.org/drawingml/2006/main">
            <a:off x="65532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Records the lawyer’s decision without rewriting it.</a:t>
            </a:r>
          </a:p>
        </p:txBody>
      </p:sp>
    </p:spTree>
    <p:extLst>
      <p:ext uri="{BB962C8B-B14F-4D97-AF65-F5344CB8AC3E}">
        <p14:creationId xmlns:p14="http://schemas.microsoft.com/office/powerpoint/2010/main" val="1943600419"/>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238E70-5982-4D0E-8BE9-44CCAB6C26EA}"/>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EB377624-3CA3-4CC6-89E5-261DFEC6351A}"/>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Themis must beat the lawyer’s current tool stack.</a:t>
            </a:r>
          </a:p>
        </p:txBody>
      </p:sp>
      <p:sp>
        <p:nvSpPr>
          <p:cNvPr id="3" name="">
            <a:extLst xmlns:a="http://schemas.openxmlformats.org/drawingml/2006/main">
              <a:ext uri="{FF2B5EF4-FFF2-40B4-BE49-F238E27FC236}">
                <a16:creationId xmlns:a16="http://schemas.microsoft.com/office/drawing/2014/main" id="{DA451410-540A-4A67-B96B-01F7DB037B6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F3AC688-4427-4D27-970F-41B9CE4250B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A610444-012C-4733-8F34-B7C0CDD4CFF2}"/>
              </a:ext>
            </a:extLst>
          </p:cNvPr>
          <p:cNvSpPr>
            <a:spLocks xmlns:a="http://schemas.openxmlformats.org/drawingml/2006/main" noGrp="1"/>
          </p:cNvSpPr>
          <p:nvPr/>
        </p:nvSpPr>
        <p:spPr>
          <a:xfrm xmlns:a="http://schemas.openxmlformats.org/drawingml/2006/main">
            <a:off x="609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CURRENT WORKFLOW</a:t>
            </a:r>
          </a:p>
        </p:txBody>
      </p:sp>
      <p:sp>
        <p:nvSpPr>
          <p:cNvPr id="6" name="">
            <a:extLst xmlns:a="http://schemas.openxmlformats.org/drawingml/2006/main">
              <a:ext uri="{FF2B5EF4-FFF2-40B4-BE49-F238E27FC236}">
                <a16:creationId xmlns:a16="http://schemas.microsoft.com/office/drawing/2014/main" id="{19C8FB0A-9143-4AE1-907C-DA5F811CA19F}"/>
              </a:ext>
            </a:extLst>
          </p:cNvPr>
          <p:cNvSpPr>
            <a:spLocks xmlns:a="http://schemas.openxmlformats.org/drawingml/2006/main" noGrp="1"/>
          </p:cNvSpPr>
          <p:nvPr/>
        </p:nvSpPr>
        <p:spPr>
          <a:xfrm xmlns:a="http://schemas.openxmlformats.org/drawingml/2006/main">
            <a:off x="609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General AI such as ChatGPT or Claude</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Legal and web research sources</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Documents, email, and Slack</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Manual notes and personal memory</a:t>
            </a:r>
          </a:p>
        </p:txBody>
      </p:sp>
      <p:sp>
        <p:nvSpPr>
          <p:cNvPr id="7" name="">
            <a:extLst xmlns:a="http://schemas.openxmlformats.org/drawingml/2006/main">
              <a:ext uri="{FF2B5EF4-FFF2-40B4-BE49-F238E27FC236}">
                <a16:creationId xmlns:a16="http://schemas.microsoft.com/office/drawing/2014/main" id="{2650D3CB-D37C-4997-82A6-D756E31E4A27}"/>
              </a:ext>
            </a:extLst>
          </p:cNvPr>
          <p:cNvSpPr>
            <a:spLocks xmlns:a="http://schemas.openxmlformats.org/drawingml/2006/main" noGrp="1"/>
          </p:cNvSpPr>
          <p:nvPr/>
        </p:nvSpPr>
        <p:spPr>
          <a:xfrm xmlns:a="http://schemas.openxmlformats.org/drawingml/2006/main">
            <a:off x="6705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TEST FOR THEMIS</a:t>
            </a:r>
          </a:p>
        </p:txBody>
      </p:sp>
      <p:sp>
        <p:nvSpPr>
          <p:cNvPr id="8" name="">
            <a:extLst xmlns:a="http://schemas.openxmlformats.org/drawingml/2006/main">
              <a:ext uri="{FF2B5EF4-FFF2-40B4-BE49-F238E27FC236}">
                <a16:creationId xmlns:a16="http://schemas.microsoft.com/office/drawing/2014/main" id="{0D6EFDD6-8D5D-4255-B749-3FEB395F8876}"/>
              </a:ext>
            </a:extLst>
          </p:cNvPr>
          <p:cNvSpPr>
            <a:spLocks xmlns:a="http://schemas.openxmlformats.org/drawingml/2006/main" noGrp="1"/>
          </p:cNvSpPr>
          <p:nvPr/>
        </p:nvSpPr>
        <p:spPr>
          <a:xfrm xmlns:a="http://schemas.openxmlformats.org/drawingml/2006/main">
            <a:off x="6705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spend less total effort?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Can the lawyer inspect the sources quickly?</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Themis remember relevant company context?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return with the next matter?</a:t>
            </a:r>
          </a:p>
        </p:txBody>
      </p:sp>
      <p:sp>
        <p:nvSpPr>
          <p:cNvPr id="9" name="">
            <a:extLst xmlns:a="http://schemas.openxmlformats.org/drawingml/2006/main">
              <a:ext uri="{FF2B5EF4-FFF2-40B4-BE49-F238E27FC236}">
                <a16:creationId xmlns:a16="http://schemas.microsoft.com/office/drawing/2014/main" id="{D78D6864-C091-4303-8340-75426E8E54A9}"/>
              </a:ext>
            </a:extLst>
          </p:cNvPr>
          <p:cNvSpPr>
            <a:spLocks xmlns:a="http://schemas.openxmlformats.org/drawingml/2006/main" noGrp="1"/>
          </p:cNvSpPr>
          <p:nvPr/>
        </p:nvSpPr>
        <p:spPr>
          <a:xfrm xmlns:a="http://schemas.openxmlformats.org/drawingml/2006/main">
            <a:off x="6096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Repeat use and willingness to pay remain to be proven.</a:t>
            </a:r>
          </a:p>
        </p:txBody>
      </p:sp>
    </p:spTree>
    <p:extLst>
      <p:ext uri="{BB962C8B-B14F-4D97-AF65-F5344CB8AC3E}">
        <p14:creationId xmlns:p14="http://schemas.microsoft.com/office/powerpoint/2010/main" val="540802039"/>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A01938-32D8-4DF1-BE1B-909F4B7CD40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3344ABF8-F4BF-4DD1-B9D8-83ABF883A19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Founder experience spans the user problem</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and the technology.</a:t>
            </a:r>
          </a:p>
        </p:txBody>
      </p:sp>
      <p:sp>
        <p:nvSpPr>
          <p:cNvPr id="3" name="">
            <a:extLst xmlns:a="http://schemas.openxmlformats.org/drawingml/2006/main">
              <a:ext uri="{FF2B5EF4-FFF2-40B4-BE49-F238E27FC236}">
                <a16:creationId xmlns:a16="http://schemas.microsoft.com/office/drawing/2014/main" id="{58B77CEB-5134-4700-A9DD-2522FC1E3A4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BCAC7D2-8D15-420A-A9DB-01DC9E4136D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D2E99157-C599-4528-8800-C2841F7E57EC}"/>
              </a:ext>
            </a:extLst>
          </p:cNvPr>
          <p:cNvSpPr>
            <a:spLocks xmlns:a="http://schemas.openxmlformats.org/drawingml/2006/main" noGrp="1"/>
          </p:cNvSpPr>
          <p:nvPr/>
        </p:nvSpPr>
        <p:spPr>
          <a:xfrm xmlns:a="http://schemas.openxmlformats.org/drawingml/2006/main">
            <a:off x="609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LEGAL EXPERIENCE</a:t>
            </a:r>
          </a:p>
        </p:txBody>
      </p:sp>
      <p:sp>
        <p:nvSpPr>
          <p:cNvPr id="6" name="">
            <a:extLst xmlns:a="http://schemas.openxmlformats.org/drawingml/2006/main">
              <a:ext uri="{FF2B5EF4-FFF2-40B4-BE49-F238E27FC236}">
                <a16:creationId xmlns:a16="http://schemas.microsoft.com/office/drawing/2014/main" id="{ADBC9893-1D8D-4230-89DC-4A1D5125D763}"/>
              </a:ext>
            </a:extLst>
          </p:cNvPr>
          <p:cNvSpPr>
            <a:spLocks xmlns:a="http://schemas.openxmlformats.org/drawingml/2006/main" noGrp="1"/>
          </p:cNvSpPr>
          <p:nvPr/>
        </p:nvSpPr>
        <p:spPr>
          <a:xfrm xmlns:a="http://schemas.openxmlformats.org/drawingml/2006/main">
            <a:off x="609600" y="28956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17 years as a lawyer</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General counsel and product counsel</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Built legal functions and led teams</a:t>
            </a:r>
          </a:p>
        </p:txBody>
      </p:sp>
      <p:sp>
        <p:nvSpPr>
          <p:cNvPr id="7" name="">
            <a:extLst xmlns:a="http://schemas.openxmlformats.org/drawingml/2006/main">
              <a:ext uri="{FF2B5EF4-FFF2-40B4-BE49-F238E27FC236}">
                <a16:creationId xmlns:a16="http://schemas.microsoft.com/office/drawing/2014/main" id="{9A69E700-747D-45FE-B1B4-591AB276B2CE}"/>
              </a:ext>
            </a:extLst>
          </p:cNvPr>
          <p:cNvSpPr>
            <a:spLocks xmlns:a="http://schemas.openxmlformats.org/drawingml/2006/main" noGrp="1"/>
          </p:cNvSpPr>
          <p:nvPr/>
        </p:nvSpPr>
        <p:spPr>
          <a:xfrm xmlns:a="http://schemas.openxmlformats.org/drawingml/2006/main">
            <a:off x="6705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TECHNICAL EXPERIENCE</a:t>
            </a:r>
          </a:p>
        </p:txBody>
      </p:sp>
      <p:sp>
        <p:nvSpPr>
          <p:cNvPr id="8" name="">
            <a:extLst xmlns:a="http://schemas.openxmlformats.org/drawingml/2006/main">
              <a:ext uri="{FF2B5EF4-FFF2-40B4-BE49-F238E27FC236}">
                <a16:creationId xmlns:a16="http://schemas.microsoft.com/office/drawing/2014/main" id="{FDDB2DE2-3707-4D1C-9CC5-5A54358C2450}"/>
              </a:ext>
            </a:extLst>
          </p:cNvPr>
          <p:cNvSpPr>
            <a:spLocks xmlns:a="http://schemas.openxmlformats.org/drawingml/2006/main" noGrp="1"/>
          </p:cNvSpPr>
          <p:nvPr/>
        </p:nvSpPr>
        <p:spPr>
          <a:xfrm xmlns:a="http://schemas.openxmlformats.org/drawingml/2006/main">
            <a:off x="6705600" y="28956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Earlier AI and natural-language research at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M.S. in Computer Science,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J.D., Northwestern</a:t>
            </a:r>
          </a:p>
        </p:txBody>
      </p:sp>
      <p:sp>
        <p:nvSpPr>
          <p:cNvPr id="9" name="">
            <a:extLst xmlns:a="http://schemas.openxmlformats.org/drawingml/2006/main">
              <a:ext uri="{FF2B5EF4-FFF2-40B4-BE49-F238E27FC236}">
                <a16:creationId xmlns:a16="http://schemas.microsoft.com/office/drawing/2014/main" id="{1ADE665A-5AF1-4C35-A3BA-EB92CC138E41}"/>
              </a:ext>
            </a:extLst>
          </p:cNvPr>
          <p:cNvSpPr>
            <a:spLocks xmlns:a="http://schemas.openxmlformats.org/drawingml/2006/main" noGrp="1"/>
          </p:cNvSpPr>
          <p:nvPr/>
        </p:nvSpPr>
        <p:spPr>
          <a:xfrm xmlns:a="http://schemas.openxmlformats.org/drawingml/2006/main">
            <a:off x="609600" y="53816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Brian Harris is the sole founder. He built Themis to give small legal teams the capacity he wanted as a lawyer and legal leader.</a:t>
            </a:r>
          </a:p>
        </p:txBody>
      </p:sp>
    </p:spTree>
    <p:extLst>
      <p:ext uri="{BB962C8B-B14F-4D97-AF65-F5344CB8AC3E}">
        <p14:creationId xmlns:p14="http://schemas.microsoft.com/office/powerpoint/2010/main" val="1247579954"/>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D412A5-C4DC-4192-B63F-A19E4B879D79}"/>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4A6E05DE-2B65-41FE-B434-27F00A6F8AC3}"/>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 working prototype exists.</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next proof is attorney return use.</a:t>
            </a:r>
          </a:p>
        </p:txBody>
      </p:sp>
      <p:sp>
        <p:nvSpPr>
          <p:cNvPr id="3" name="">
            <a:extLst xmlns:a="http://schemas.openxmlformats.org/drawingml/2006/main">
              <a:ext uri="{FF2B5EF4-FFF2-40B4-BE49-F238E27FC236}">
                <a16:creationId xmlns:a16="http://schemas.microsoft.com/office/drawing/2014/main" id="{AC5D7103-97BE-427F-8C30-A4205844DDC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7241D0F-EAAB-4F19-AA24-FB478F1145B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575fa09a5f84276"/>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8E58B5-8A7B-414D-A49F-B22FCC1D5196}"/>
              </a:ext>
            </a:extLst>
          </p:cNvPr>
          <p:cNvSpPr>
            <a:spLocks xmlns:a="http://schemas.openxmlformats.org/drawingml/2006/main" noGrp="1"/>
          </p:cNvSpPr>
          <p:nvPr/>
        </p:nvSpPr>
        <p:spPr>
          <a:xfrm xmlns:a="http://schemas.openxmlformats.org/drawingml/2006/main">
            <a:off x="7696200" y="22574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BUILT TODAY</a:t>
            </a:r>
          </a:p>
        </p:txBody>
      </p:sp>
      <p:sp>
        <p:nvSpPr>
          <p:cNvPr id="7" name="">
            <a:extLst xmlns:a="http://schemas.openxmlformats.org/drawingml/2006/main">
              <a:ext uri="{FF2B5EF4-FFF2-40B4-BE49-F238E27FC236}">
                <a16:creationId xmlns:a16="http://schemas.microsoft.com/office/drawing/2014/main" id="{90E178F5-EC28-4299-B142-3BE779566612}"/>
              </a:ext>
            </a:extLst>
          </p:cNvPr>
          <p:cNvSpPr>
            <a:spLocks xmlns:a="http://schemas.openxmlformats.org/drawingml/2006/main" noGrp="1"/>
          </p:cNvSpPr>
          <p:nvPr/>
        </p:nvSpPr>
        <p:spPr>
          <a:xfrm xmlns:a="http://schemas.openxmlformats.org/drawingml/2006/main">
            <a:off x="7696200" y="2628900"/>
            <a:ext cx="3857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Local prototype with matter context, research, editable drafts, and explicit lawyer-recorded decisions.</a:t>
            </a:r>
          </a:p>
        </p:txBody>
      </p:sp>
      <p:sp>
        <p:nvSpPr>
          <p:cNvPr id="8" name="">
            <a:extLst xmlns:a="http://schemas.openxmlformats.org/drawingml/2006/main">
              <a:ext uri="{FF2B5EF4-FFF2-40B4-BE49-F238E27FC236}">
                <a16:creationId xmlns:a16="http://schemas.microsoft.com/office/drawing/2014/main" id="{601B9EC0-3D4E-4845-A770-FB0E25B6CDEF}"/>
              </a:ext>
            </a:extLst>
          </p:cNvPr>
          <p:cNvSpPr>
            <a:spLocks xmlns:a="http://schemas.openxmlformats.org/drawingml/2006/main" noGrp="1"/>
          </p:cNvSpPr>
          <p:nvPr/>
        </p:nvSpPr>
        <p:spPr>
          <a:xfrm xmlns:a="http://schemas.openxmlformats.org/drawingml/2006/main">
            <a:off x="7696200" y="3924300"/>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NEXT PROOF</a:t>
            </a:r>
          </a:p>
        </p:txBody>
      </p:sp>
      <p:sp>
        <p:nvSpPr>
          <p:cNvPr id="9" name="">
            <a:extLst xmlns:a="http://schemas.openxmlformats.org/drawingml/2006/main">
              <a:ext uri="{FF2B5EF4-FFF2-40B4-BE49-F238E27FC236}">
                <a16:creationId xmlns:a16="http://schemas.microsoft.com/office/drawing/2014/main" id="{AF615A0C-82BE-46B9-9F47-7BF47F622437}"/>
              </a:ext>
            </a:extLst>
          </p:cNvPr>
          <p:cNvSpPr>
            <a:spLocks xmlns:a="http://schemas.openxmlformats.org/drawingml/2006/main" noGrp="1"/>
          </p:cNvSpPr>
          <p:nvPr/>
        </p:nvSpPr>
        <p:spPr>
          <a:xfrm xmlns:a="http://schemas.openxmlformats.org/drawingml/2006/main">
            <a:off x="7696200" y="4295775"/>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Attorneys use Themis on real questions and return with another matter.</a:t>
            </a:r>
          </a:p>
        </p:txBody>
      </p:sp>
      <p:sp>
        <p:nvSpPr>
          <p:cNvPr id="10" name="">
            <a:extLst xmlns:a="http://schemas.openxmlformats.org/drawingml/2006/main">
              <a:ext uri="{FF2B5EF4-FFF2-40B4-BE49-F238E27FC236}">
                <a16:creationId xmlns:a16="http://schemas.microsoft.com/office/drawing/2014/main" id="{DD1AD129-D300-48D8-820C-5C53D4A0215C}"/>
              </a:ext>
            </a:extLst>
          </p:cNvPr>
          <p:cNvSpPr>
            <a:spLocks xmlns:a="http://schemas.openxmlformats.org/drawingml/2006/main" noGrp="1"/>
          </p:cNvSpPr>
          <p:nvPr/>
        </p:nvSpPr>
        <p:spPr>
          <a:xfrm xmlns:a="http://schemas.openxmlformats.org/drawingml/2006/main">
            <a:off x="7696200" y="52673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WHAT TO MEASURE</a:t>
            </a:r>
          </a:p>
        </p:txBody>
      </p:sp>
      <p:sp>
        <p:nvSpPr>
          <p:cNvPr id="11" name="">
            <a:extLst xmlns:a="http://schemas.openxmlformats.org/drawingml/2006/main">
              <a:ext uri="{FF2B5EF4-FFF2-40B4-BE49-F238E27FC236}">
                <a16:creationId xmlns:a16="http://schemas.microsoft.com/office/drawing/2014/main" id="{72946B50-6B66-4368-99FE-B3222013A11B}"/>
              </a:ext>
            </a:extLst>
          </p:cNvPr>
          <p:cNvSpPr>
            <a:spLocks xmlns:a="http://schemas.openxmlformats.org/drawingml/2006/main" noGrp="1"/>
          </p:cNvSpPr>
          <p:nvPr/>
        </p:nvSpPr>
        <p:spPr>
          <a:xfrm xmlns:a="http://schemas.openxmlformats.org/drawingml/2006/main">
            <a:off x="7696200" y="5638800"/>
            <a:ext cx="3857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425" b="0">
                <a:solidFill>
                  <a:srgbClr val="596273"/>
                </a:solidFill>
                <a:latin typeface="Arial"/>
                <a:ea typeface="Arial"/>
                <a:cs typeface="Arial"/>
              </a:defRPr>
            </a:pPr>
            <a:r>
              <a:rPr sz="1425" b="0">
                <a:solidFill>
                  <a:srgbClr val="596273"/>
                </a:solidFill>
                <a:latin typeface="Arial"/>
                <a:ea typeface="Arial"/>
                <a:cs typeface="Arial"/>
              </a:rPr>
              <a:t>Time to useful orientation · Source correctness · Correction burden · Repeat use</a:t>
            </a:r>
          </a:p>
        </p:txBody>
      </p:sp>
      <p:sp>
        <p:nvSpPr>
          <p:cNvPr id="12" name="">
            <a:extLst xmlns:a="http://schemas.openxmlformats.org/drawingml/2006/main">
              <a:ext uri="{FF2B5EF4-FFF2-40B4-BE49-F238E27FC236}">
                <a16:creationId xmlns:a16="http://schemas.microsoft.com/office/drawing/2014/main" id="{CEE6E24D-BB48-476B-BD03-373CA0C139E6}"/>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1845870087"/>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FCFB04-157F-41C0-9636-25D9D6FF49D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A5E2FE93-78C8-407D-AC5C-A4ED24AE581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Early capital funds the path</a:t>
            </a:r>
          </a:p>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from prototype to repeat use.</a:t>
            </a:r>
          </a:p>
        </p:txBody>
      </p:sp>
      <p:sp>
        <p:nvSpPr>
          <p:cNvPr id="3" name="">
            <a:extLst xmlns:a="http://schemas.openxmlformats.org/drawingml/2006/main">
              <a:ext uri="{FF2B5EF4-FFF2-40B4-BE49-F238E27FC236}">
                <a16:creationId xmlns:a16="http://schemas.microsoft.com/office/drawing/2014/main" id="{0F2AD901-586C-4BD9-8053-43CD6D8C9C4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A2DA32C-0587-4F65-84DF-583F24CAA74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0CE9230-A7C2-42AB-A8AA-443CC5CDE419}"/>
              </a:ext>
            </a:extLst>
          </p:cNvPr>
          <p:cNvSpPr>
            <a:spLocks xmlns:a="http://schemas.openxmlformats.org/drawingml/2006/main" noGrp="1"/>
          </p:cNvSpPr>
          <p:nvPr/>
        </p:nvSpPr>
        <p:spPr>
          <a:xfrm xmlns:a="http://schemas.openxmlformats.org/drawingml/2006/main">
            <a:off x="609600" y="25431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CAPITAL SUPPORTS</a:t>
            </a:r>
          </a:p>
        </p:txBody>
      </p:sp>
      <p:sp>
        <p:nvSpPr>
          <p:cNvPr id="6" name="">
            <a:extLst xmlns:a="http://schemas.openxmlformats.org/drawingml/2006/main">
              <a:ext uri="{FF2B5EF4-FFF2-40B4-BE49-F238E27FC236}">
                <a16:creationId xmlns:a16="http://schemas.microsoft.com/office/drawing/2014/main" id="{F979AE92-28F0-458E-A6F8-398557FCDBC3}"/>
              </a:ext>
            </a:extLst>
          </p:cNvPr>
          <p:cNvSpPr>
            <a:spLocks xmlns:a="http://schemas.openxmlformats.org/drawingml/2006/main" noGrp="1"/>
          </p:cNvSpPr>
          <p:nvPr/>
        </p:nvSpPr>
        <p:spPr>
          <a:xfrm xmlns:a="http://schemas.openxmlformats.org/drawingml/2006/main">
            <a:off x="609600" y="303847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Full-time founder focus</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founding technical leader and engineering capacity</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business leader for pilots, pricing, and customer development</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Secure pilot delivery plus model and research costs</a:t>
            </a:r>
          </a:p>
        </p:txBody>
      </p:sp>
      <p:sp>
        <p:nvSpPr>
          <p:cNvPr id="7" name="">
            <a:extLst xmlns:a="http://schemas.openxmlformats.org/drawingml/2006/main">
              <a:ext uri="{FF2B5EF4-FFF2-40B4-BE49-F238E27FC236}">
                <a16:creationId xmlns:a16="http://schemas.microsoft.com/office/drawing/2014/main" id="{13BD57F7-23BC-404A-ACC9-25E4F12EA12B}"/>
              </a:ext>
            </a:extLst>
          </p:cNvPr>
          <p:cNvSpPr>
            <a:spLocks xmlns:a="http://schemas.openxmlformats.org/drawingml/2006/main" noGrp="1"/>
          </p:cNvSpPr>
          <p:nvPr/>
        </p:nvSpPr>
        <p:spPr>
          <a:xfrm xmlns:a="http://schemas.openxmlformats.org/drawingml/2006/main">
            <a:off x="609600" y="509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FUNDED MILESTONE</a:t>
            </a:r>
          </a:p>
        </p:txBody>
      </p:sp>
      <p:sp>
        <p:nvSpPr>
          <p:cNvPr id="8" name="">
            <a:extLst xmlns:a="http://schemas.openxmlformats.org/drawingml/2006/main">
              <a:ext uri="{FF2B5EF4-FFF2-40B4-BE49-F238E27FC236}">
                <a16:creationId xmlns:a16="http://schemas.microsoft.com/office/drawing/2014/main" id="{671583F4-AA2C-42A1-B208-39A6DA71EAF7}"/>
              </a:ext>
            </a:extLst>
          </p:cNvPr>
          <p:cNvSpPr>
            <a:spLocks xmlns:a="http://schemas.openxmlformats.org/drawingml/2006/main" noGrp="1"/>
          </p:cNvSpPr>
          <p:nvPr/>
        </p:nvSpPr>
        <p:spPr>
          <a:xfrm xmlns:a="http://schemas.openxmlformats.org/drawingml/2006/main">
            <a:off x="609600" y="54959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Georgia"/>
                <a:ea typeface="Georgia"/>
                <a:cs typeface="Georgia"/>
              </a:defRPr>
            </a:pPr>
            <a:r>
              <a:rPr sz="1800" b="0">
                <a:solidFill>
                  <a:srgbClr val="DCE1EA"/>
                </a:solidFill>
                <a:latin typeface="Georgia"/>
                <a:ea typeface="Georgia"/>
                <a:cs typeface="Georgia"/>
              </a:rPr>
              <a:t>Real attorneys use Themis on real questions, find the work useful enough to return, and provide evidence for the next product and financing decision.</a:t>
            </a:r>
          </a:p>
        </p:txBody>
      </p:sp>
    </p:spTree>
    <p:extLst>
      <p:ext uri="{BB962C8B-B14F-4D97-AF65-F5344CB8AC3E}">
        <p14:creationId xmlns:p14="http://schemas.microsoft.com/office/powerpoint/2010/main" val="769312786"/>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271a3eadb63448c"/>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666682824"/>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5A7183-7C7A-4C50-BE64-EB111FB5BCDA}"/>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F02F026A-F3D5-47C8-8572-AE8F63D1BF5C}"/>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EC26E39E-F664-4F1C-BC0B-2DCE6E28DFE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AC77162-EF65-4D54-B569-95FAC07B227F}"/>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33C1DC2-656C-467A-9008-EC78847B0FBF}"/>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FD31043B-5BB7-454B-A84A-3545E042CFDF}"/>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4295FA55-A5E1-4F5E-B8CF-94B3B2A8B6DF}"/>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BE7F84E4-0E58-4DE8-A5BC-3E1B64CCF7F6}"/>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5E40D897-0ABF-43C9-97AA-51AC9DAE0069}"/>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857224F2-D27C-4B07-8013-27A6DC8E26CF}"/>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B7320657-B6E8-44B2-8062-BC37CE68C76B}"/>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EA1ED026-FBFF-45CC-8FDC-BD0C9321AE0B}"/>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3892309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2026-09-05T00:00:09.3650000Z</dcterms:created>
  <dcterms:modified xsi:type="dcterms:W3CDTF">2026-09-05T00:00:09.3650000Z</dcterms:modified>
</coreProperties>
</file>