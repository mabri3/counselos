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6f25a9bc62413f" /><Relationship Type="http://schemas.openxmlformats.org/officeDocument/2006/relationships/extended-properties" Target="/docProps/app.xml" Id="R07c15d5009c248d0" /><Relationship Type="http://schemas.openxmlformats.org/officeDocument/2006/relationships/officeDocument" Target="/ppt/presentation.xml" Id="R03e2038877d84abf" /></Relationships>
</file>

<file path=ppt/presentation.xml><?xml version="1.0" encoding="utf-8"?>
<p:presentation xmlns:p="http://schemas.openxmlformats.org/presentationml/2006/main">
  <p:sldMasterIdLst>
    <p:sldMasterId xmlns:r="http://schemas.openxmlformats.org/officeDocument/2006/relationships" id="2147483648" r:id="R60d6f972b10e44fc"/>
  </p:sldMasterIdLst>
  <p:notesMasterIdLst>
    <p:notesMasterId xmlns:r="http://schemas.openxmlformats.org/officeDocument/2006/relationships" r:id="R4d552992fbb449b8"/>
  </p:notesMasterIdLst>
  <p:sldIdLst>
    <p:sldId xmlns:r="http://schemas.openxmlformats.org/officeDocument/2006/relationships" id="256" r:id="Ra4c9bf0b556e4afc"/>
    <p:sldId xmlns:r="http://schemas.openxmlformats.org/officeDocument/2006/relationships" id="257" r:id="R2c7b8f3dc4234ebe"/>
    <p:sldId xmlns:r="http://schemas.openxmlformats.org/officeDocument/2006/relationships" id="258" r:id="Ra8c0e998dd924492"/>
    <p:sldId xmlns:r="http://schemas.openxmlformats.org/officeDocument/2006/relationships" id="259" r:id="Rdce243df0a2f4e77"/>
    <p:sldId xmlns:r="http://schemas.openxmlformats.org/officeDocument/2006/relationships" id="260" r:id="Rc77f46b58726437e"/>
    <p:sldId xmlns:r="http://schemas.openxmlformats.org/officeDocument/2006/relationships" id="261" r:id="Ra6b655bbb16e40b8"/>
    <p:sldId xmlns:r="http://schemas.openxmlformats.org/officeDocument/2006/relationships" id="262" r:id="Rb27d1eabfdb3439f"/>
    <p:sldId xmlns:r="http://schemas.openxmlformats.org/officeDocument/2006/relationships" id="263" r:id="Rd4f94838af054148"/>
    <p:sldId xmlns:r="http://schemas.openxmlformats.org/officeDocument/2006/relationships" id="264" r:id="Rb3a0884bcc2c4cc9"/>
    <p:sldId xmlns:r="http://schemas.openxmlformats.org/officeDocument/2006/relationships" id="265" r:id="Rb488167df4df44d4"/>
    <p:sldId xmlns:r="http://schemas.openxmlformats.org/officeDocument/2006/relationships" id="266" r:id="Rab593647309c42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63bf4814a4411c" /><Relationship Type="http://schemas.openxmlformats.org/officeDocument/2006/relationships/slideMaster" Target="/ppt/slideMasters/slideMaster1.xml" Id="R60d6f972b10e44fc" /><Relationship Type="http://schemas.openxmlformats.org/officeDocument/2006/relationships/notesMaster" Target="/ppt/notesMasters/notesMaster1.xml" Id="R4d552992fbb449b8" /><Relationship Type="http://schemas.openxmlformats.org/officeDocument/2006/relationships/presProps" Target="/ppt/presProps.xml" Id="R1691f6dbeb07453d" /><Relationship Type="http://schemas.openxmlformats.org/officeDocument/2006/relationships/tableStyles" Target="/ppt/tableStyles.xml" Id="Rbf88b63d12034d58" /><Relationship Type="http://schemas.openxmlformats.org/officeDocument/2006/relationships/slide" Target="/ppt/slides/slide1.xml" Id="Ra4c9bf0b556e4afc" /><Relationship Type="http://schemas.openxmlformats.org/officeDocument/2006/relationships/slide" Target="/ppt/slides/slide2.xml" Id="R2c7b8f3dc4234ebe" /><Relationship Type="http://schemas.openxmlformats.org/officeDocument/2006/relationships/slide" Target="/ppt/slides/slide3.xml" Id="Ra8c0e998dd924492" /><Relationship Type="http://schemas.openxmlformats.org/officeDocument/2006/relationships/slide" Target="/ppt/slides/slide4.xml" Id="Rdce243df0a2f4e77" /><Relationship Type="http://schemas.openxmlformats.org/officeDocument/2006/relationships/slide" Target="/ppt/slides/slide5.xml" Id="Rc77f46b58726437e" /><Relationship Type="http://schemas.openxmlformats.org/officeDocument/2006/relationships/slide" Target="/ppt/slides/slide6.xml" Id="Ra6b655bbb16e40b8" /><Relationship Type="http://schemas.openxmlformats.org/officeDocument/2006/relationships/slide" Target="/ppt/slides/slide7.xml" Id="Rb27d1eabfdb3439f" /><Relationship Type="http://schemas.openxmlformats.org/officeDocument/2006/relationships/slide" Target="/ppt/slides/slide8.xml" Id="Rd4f94838af054148" /><Relationship Type="http://schemas.openxmlformats.org/officeDocument/2006/relationships/slide" Target="/ppt/slides/slide9.xml" Id="Rb3a0884bcc2c4cc9" /><Relationship Type="http://schemas.openxmlformats.org/officeDocument/2006/relationships/slide" Target="/ppt/slides/slide10.xml" Id="Rb488167df4df44d4" /><Relationship Type="http://schemas.openxmlformats.org/officeDocument/2006/relationships/slide" Target="/ppt/slides/slide11.xml" Id="Rab593647309c42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305ebbea2643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4261ce7bd34778" /><Relationship Type="http://schemas.openxmlformats.org/officeDocument/2006/relationships/notesMaster" Target="/ppt/notesMasters/notesMaster1.xml" Id="R8e718f0da09843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15cbae27aa4d4b" /><Relationship Type="http://schemas.openxmlformats.org/officeDocument/2006/relationships/notesMaster" Target="/ppt/notesMasters/notesMaster1.xml" Id="Rdce0e6cbc87d4f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2381106b4d44e9" /><Relationship Type="http://schemas.openxmlformats.org/officeDocument/2006/relationships/notesMaster" Target="/ppt/notesMasters/notesMaster1.xml" Id="R06c6935a197645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e6806eb103489f" /><Relationship Type="http://schemas.openxmlformats.org/officeDocument/2006/relationships/notesMaster" Target="/ppt/notesMasters/notesMaster1.xml" Id="R71139a89ccd746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4ebd56f14440aa" /><Relationship Type="http://schemas.openxmlformats.org/officeDocument/2006/relationships/notesMaster" Target="/ppt/notesMasters/notesMaster1.xml" Id="Rc3708d0468b447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3a5c5b12634484" /><Relationship Type="http://schemas.openxmlformats.org/officeDocument/2006/relationships/notesMaster" Target="/ppt/notesMasters/notesMaster1.xml" Id="R3bebf2a09c4a43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5471f4e1034f95" /><Relationship Type="http://schemas.openxmlformats.org/officeDocument/2006/relationships/notesMaster" Target="/ppt/notesMasters/notesMaster1.xml" Id="Rf4863cabfabd4e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52ec99d2e94a3b" /><Relationship Type="http://schemas.openxmlformats.org/officeDocument/2006/relationships/notesMaster" Target="/ppt/notesMasters/notesMaster1.xml" Id="R190bf35217924e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23ccace03c46f2" /><Relationship Type="http://schemas.openxmlformats.org/officeDocument/2006/relationships/notesMaster" Target="/ppt/notesMasters/notesMaster1.xml" Id="Rdefc20e94d954a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13012184144b3e" /><Relationship Type="http://schemas.openxmlformats.org/officeDocument/2006/relationships/notesMaster" Target="/ppt/notesMasters/notesMaster1.xml" Id="Rf85125ba9ef348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67d3bec3c849b8" /><Relationship Type="http://schemas.openxmlformats.org/officeDocument/2006/relationships/notesMaster" Target="/ppt/notesMasters/notesMaster1.xml" Id="Rabbf9a0489104f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/Users/bharris/Programs/counsel-os-mvp/output/deck/assets/bright-editorial/cover-flashlight-bw.png — black-and-white edit of the original generated illustration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/Users/bharris/Programs/counsel-os-mvp/output/deck/assets/bright-editorial/blind-spots.png — original generated illustration for this deck</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/Users/bharris/Programs/counsel-os-mvp/output/research/raw/legal-ai-reddit-source-corpus.jsonl</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/Users/bharris/Programs/counsel-os-mvp/output/research/raw/legal-ai-reddit-source-corpus.jsonl</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/Users/bharris/Programs/counsel-os-mvp/output/deck/assets/bright-editorial/journey-selective-color-two-beams.png — selective-color edit of the original generated illustration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/Users/bharris/Programs/counsel-os-mvp/output/deck/screenshots/matter.png</a:t>
            </a:r>
          </a:p>
          <a:p xmlns:a="http://schemas.openxmlformats.org/drawingml/2006/main">
            <a:r>
              <a:t>/Users/bharris/Programs/counsel-os-mvp/docs/PRD.md</a:t>
            </a:r>
          </a:p>
          <a:p xmlns:a="http://schemas.openxmlformats.org/drawingml/2006/main">
            <a:r>
              <a:t>/Users/bharris/Programs/counsel-os-mvp/docs/ARCHITECTURE.md</a:t>
            </a:r>
          </a:p>
          <a:p xmlns:a="http://schemas.openxmlformats.org/drawingml/2006/main">
            <a:r>
              <a:t>/Users/bharris/Programs/counsel-os-mvp/docs/IMPLEMENTATION_STATUS.md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/Users/bharris/Programs/counsel-os-mvp/output/deck/assets/bright-editorial/defensible-leap.png — original generated illustration for this deck</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/Users/bharris/Programs/counsel-os-mvp/output/research/raw/legal-ai-reddit-source-corpus.jsonl</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/Users/bharris/Programs/counsel-os-mvp/docs/PRD.md</a:t>
            </a:r>
          </a:p>
          <a:p xmlns:a="http://schemas.openxmlformats.org/drawingml/2006/main">
            <a:r>
              <a:t>/Users/bharris/Programs/counsel-os-mvp/docs/ARCHITECTURE.md</a:t>
            </a:r>
          </a:p>
          <a:p xmlns:a="http://schemas.openxmlformats.org/drawingml/2006/main">
            <a:r>
              <a:t>/Users/bharris/Programs/counsel-os-mvp/docs/IMPLEMENTATION_STATUS.md</a:t>
            </a:r>
          </a:p>
          <a:p xmlns:a="http://schemas.openxmlformats.org/drawingml/2006/main">
            <a:r>
              <a:t>/Users/bharris/Programs/counsel-os-mvp/output/research/raw/legal-ai-reddit-source-corpus.jsonl</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82654b524f41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0080f374f041b0" /><Relationship Type="http://schemas.openxmlformats.org/officeDocument/2006/relationships/slideLayout" Target="/ppt/slideLayouts/slideLayout1.xml" Id="Rdba206c0e0a847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a206c0e0a847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689bf8def840b9" /><Relationship Type="http://schemas.openxmlformats.org/officeDocument/2006/relationships/image" Target="/ppt/media/image.png" Id="R85998458ca504b02" /><Relationship Type="http://schemas.openxmlformats.org/officeDocument/2006/relationships/image" Target="/ppt/media/image2.png" Id="Rfb113bbfb689422f" /><Relationship Type="http://schemas.openxmlformats.org/officeDocument/2006/relationships/notesSlide" Target="/ppt/notesSlides/notesSlide1.xml" Id="Rbac47e59216c47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b1b6530f5b4288" /><Relationship Type="http://schemas.openxmlformats.org/officeDocument/2006/relationships/image" Target="/ppt/media/image3.png" Id="R05eb807be3af4cb1" /><Relationship Type="http://schemas.openxmlformats.org/officeDocument/2006/relationships/notesSlide" Target="/ppt/notesSlides/notesSlide2.xml" Id="Rf16edb619dac45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97a378f4714899" /><Relationship Type="http://schemas.openxmlformats.org/officeDocument/2006/relationships/notesSlide" Target="/ppt/notesSlides/notesSlide3.xml" Id="R66e5151392bc4a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9d7ddbd4554a55" /><Relationship Type="http://schemas.openxmlformats.org/officeDocument/2006/relationships/notesSlide" Target="/ppt/notesSlides/notesSlide4.xml" Id="Rccce104831cd44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8e1780762f46c2" /><Relationship Type="http://schemas.openxmlformats.org/officeDocument/2006/relationships/notesSlide" Target="/ppt/notesSlides/notesSlide5.xml" Id="R2ed93a73ea844d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b2e51206a14556" /><Relationship Type="http://schemas.openxmlformats.org/officeDocument/2006/relationships/image" Target="/ppt/media/image4.png" Id="R253ee54ee5a940c1" /><Relationship Type="http://schemas.openxmlformats.org/officeDocument/2006/relationships/notesSlide" Target="/ppt/notesSlides/notesSlide6.xml" Id="R45d5ea11bdcb42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7c90c8e01c4892" /><Relationship Type="http://schemas.openxmlformats.org/officeDocument/2006/relationships/image" Target="/ppt/media/image5.png" Id="Re443caba147a4e44" /><Relationship Type="http://schemas.openxmlformats.org/officeDocument/2006/relationships/notesSlide" Target="/ppt/notesSlides/notesSlide7.xml" Id="R5f77b4eeb3cb47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60046c9a4b49b0" /><Relationship Type="http://schemas.openxmlformats.org/officeDocument/2006/relationships/notesSlide" Target="/ppt/notesSlides/notesSlide8.xml" Id="Re32d6a2803d645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52d5dbaf78418a" /><Relationship Type="http://schemas.openxmlformats.org/officeDocument/2006/relationships/image" Target="/ppt/media/image6.png" Id="R23367703cfa3472b" /><Relationship Type="http://schemas.openxmlformats.org/officeDocument/2006/relationships/notesSlide" Target="/ppt/notesSlides/notesSlide9.xml" Id="Rac1dda6eea6744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9493c3f30324215" /><Relationship Type="http://schemas.openxmlformats.org/officeDocument/2006/relationships/notesSlide" Target="/ppt/notesSlides/notesSlide10.xml" Id="R63985fd1c7cb4c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2061b7b71b4a2a" /><Relationship Type="http://schemas.openxmlformats.org/officeDocument/2006/relationships/notesSlide" Target="/ppt/notesSlides/notesSlide11.xml" Id="Rf68af8f238ee45a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998458ca504b0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scrim">
            <a:extLst xmlns:a="http://schemas.openxmlformats.org/drawingml/2006/main">
              <a:ext uri="{FF2B5EF4-FFF2-40B4-BE49-F238E27FC236}">
                <a16:creationId xmlns:a16="http://schemas.microsoft.com/office/drawing/2014/main" id="{661968C4-6B48-476B-B0FB-89E69B0FED80}"/>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gradFill xmlns:a="http://schemas.openxmlformats.org/drawingml/2006/main">
            <a:gsLst>
              <a:gs pos="0">
                <a:srgbClr val="11141B">
                  <a:alpha val="96078"/>
                </a:srgbClr>
              </a:gs>
              <a:gs pos="68000">
                <a:srgbClr val="11141B">
                  <a:alpha val="90980"/>
                </a:srgbClr>
              </a:gs>
              <a:gs pos="100000">
                <a:srgbClr val="11141B">
                  <a:alpha val="0"/>
                </a:srgbClr>
              </a:gs>
            </a:gsLst>
            <a:lin ang="0"/>
          </a:gradFill>
          <a:ln xmlns:a="http://schemas.openxmlformats.org/drawingml/2006/main" w="0">
            <a:noFill/>
            <a:prstDash val="solid"/>
          </a:ln>
        </p:spPr>
      </p:sp>
      <p:sp>
        <p:nvSpPr>
          <p:cNvPr id="3" name="logo-ground">
            <a:extLst xmlns:a="http://schemas.openxmlformats.org/drawingml/2006/main">
              <a:ext uri="{FF2B5EF4-FFF2-40B4-BE49-F238E27FC236}">
                <a16:creationId xmlns:a16="http://schemas.microsoft.com/office/drawing/2014/main" id="{73B65E9A-D547-45D1-AE90-C5DFD2604B6B}"/>
              </a:ext>
            </a:extLst>
          </p:cNvPr>
          <p:cNvSpPr>
            <a:spLocks xmlns:a="http://schemas.openxmlformats.org/drawingml/2006/main" noGrp="1"/>
          </p:cNvSpPr>
          <p:nvPr/>
        </p:nvSpPr>
        <p:spPr>
          <a:xfrm xmlns:a="http://schemas.openxmlformats.org/drawingml/2006/main">
            <a:off x="457200" y="361950"/>
            <a:ext cx="1809750" cy="552450"/>
          </a:xfrm>
          <a:prstGeom xmlns:a="http://schemas.openxmlformats.org/drawingml/2006/main" prst="roundRect">
            <a:avLst>
              <a:gd name="adj" fmla="val 13793"/>
            </a:avLst>
          </a:prstGeom>
          <a:solidFill xmlns:a="http://schemas.openxmlformats.org/drawingml/2006/main">
            <a:srgbClr val="FCFAF4"/>
          </a:solidFill>
          <a:ln xmlns:a="http://schemas.openxmlformats.org/drawingml/2006/main" w="0">
            <a:no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b113bbfb689422f"/>
          <a:stretch xmlns:a="http://schemas.openxmlformats.org/drawingml/2006/main"/>
        </p:blipFill>
        <p:spPr>
          <a:xfrm xmlns:a="http://schemas.openxmlformats.org/drawingml/2006/main">
            <a:off x="850035" y="457200"/>
            <a:ext cx="1024080" cy="361950"/>
          </a:xfrm>
          <a:prstGeom xmlns:a="http://schemas.openxmlformats.org/drawingml/2006/main" prst="rect">
            <a:avLst/>
          </a:prstGeom>
        </p:spPr>
      </p:pic>
      <p:sp>
        <p:nvSpPr>
          <p:cNvPr id="5" name="cover-title">
            <a:extLst xmlns:a="http://schemas.openxmlformats.org/drawingml/2006/main">
              <a:ext uri="{FF2B5EF4-FFF2-40B4-BE49-F238E27FC236}">
                <a16:creationId xmlns:a16="http://schemas.microsoft.com/office/drawing/2014/main" id="{3055B66E-E30A-4602-8371-8F628B882E8A}"/>
              </a:ext>
            </a:extLst>
          </p:cNvPr>
          <p:cNvSpPr>
            <a:spLocks xmlns:a="http://schemas.openxmlformats.org/drawingml/2006/main" noGrp="1"/>
          </p:cNvSpPr>
          <p:nvPr/>
        </p:nvSpPr>
        <p:spPr>
          <a:xfrm xmlns:a="http://schemas.openxmlformats.org/drawingml/2006/main">
            <a:off x="514350" y="1295400"/>
            <a:ext cx="68580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i="0">
                <a:solidFill>
                  <a:srgbClr val="FCFAF4"/>
                </a:solidFill>
                <a:latin typeface="Georgia"/>
                <a:ea typeface="Georgia"/>
                <a:cs typeface="Georgia"/>
              </a:defRPr>
            </a:pPr>
            <a:r>
              <a:rPr sz="3600" b="1" i="0">
                <a:solidFill>
                  <a:srgbClr val="FCFAF4"/>
                </a:solidFill>
                <a:latin typeface="Georgia"/>
                <a:ea typeface="Georgia"/>
                <a:cs typeface="Georgia"/>
              </a:rPr>
              <a:t>The lawyer makes the call.</a:t>
            </a:r>
          </a:p>
          <a:p xmlns:a="http://schemas.openxmlformats.org/drawingml/2006/main">
            <a:pPr algn="l">
              <a:lnSpc>
                <a:spcPct val="98000"/>
              </a:lnSpc>
              <a:buNone/>
              <a:defRPr sz="3600" b="1" i="0">
                <a:solidFill>
                  <a:srgbClr val="FCFAF4"/>
                </a:solidFill>
                <a:latin typeface="Georgia"/>
                <a:ea typeface="Georgia"/>
                <a:cs typeface="Georgia"/>
              </a:defRPr>
            </a:pPr>
            <a:r>
              <a:rPr sz="3600" b="1" i="0">
                <a:solidFill>
                  <a:srgbClr val="FCFAF4"/>
                </a:solidFill>
                <a:latin typeface="Georgia"/>
                <a:ea typeface="Georgia"/>
                <a:cs typeface="Georgia"/>
              </a:rPr>
              <a:t>Themis makes sure they do not face it alone.</a:t>
            </a:r>
          </a:p>
        </p:txBody>
      </p:sp>
      <p:sp>
        <p:nvSpPr>
          <p:cNvPr id="6" name="cover-support">
            <a:extLst xmlns:a="http://schemas.openxmlformats.org/drawingml/2006/main">
              <a:ext uri="{FF2B5EF4-FFF2-40B4-BE49-F238E27FC236}">
                <a16:creationId xmlns:a16="http://schemas.microsoft.com/office/drawing/2014/main" id="{0578DDF1-A406-49D6-98F1-F805FB0BA905}"/>
              </a:ext>
            </a:extLst>
          </p:cNvPr>
          <p:cNvSpPr>
            <a:spLocks xmlns:a="http://schemas.openxmlformats.org/drawingml/2006/main" noGrp="1"/>
          </p:cNvSpPr>
          <p:nvPr/>
        </p:nvSpPr>
        <p:spPr>
          <a:xfrm xmlns:a="http://schemas.openxmlformats.org/drawingml/2006/main">
            <a:off x="533400" y="3457575"/>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C79A2B"/>
                </a:solidFill>
                <a:latin typeface="Georgia"/>
                <a:ea typeface="Georgia"/>
                <a:cs typeface="Georgia"/>
              </a:defRPr>
            </a:pPr>
            <a:r>
              <a:rPr sz="1875" b="1" i="0">
                <a:solidFill>
                  <a:srgbClr val="C79A2B"/>
                </a:solidFill>
                <a:latin typeface="Georgia"/>
                <a:ea typeface="Georgia"/>
                <a:cs typeface="Georgia"/>
              </a:rPr>
              <a:t>Themis is a companion to legal judgment—</a:t>
            </a:r>
          </a:p>
          <a:p xmlns:a="http://schemas.openxmlformats.org/drawingml/2006/main">
            <a:pPr algn="l">
              <a:lnSpc>
                <a:spcPct val="102000"/>
              </a:lnSpc>
              <a:buNone/>
              <a:defRPr sz="1875" b="1" i="0">
                <a:solidFill>
                  <a:srgbClr val="C79A2B"/>
                </a:solidFill>
                <a:latin typeface="Georgia"/>
                <a:ea typeface="Georgia"/>
                <a:cs typeface="Georgia"/>
              </a:defRPr>
            </a:pPr>
            <a:r>
              <a:rPr sz="1875" b="1" i="0">
                <a:solidFill>
                  <a:srgbClr val="C79A2B"/>
                </a:solidFill>
                <a:latin typeface="Georgia"/>
                <a:ea typeface="Georgia"/>
                <a:cs typeface="Georgia"/>
              </a:rPr>
              <a:t>a flashlight in the dark.</a:t>
            </a:r>
          </a:p>
        </p:txBody>
      </p:sp>
      <p:sp>
        <p:nvSpPr>
          <p:cNvPr id="7" name="cover-context">
            <a:extLst xmlns:a="http://schemas.openxmlformats.org/drawingml/2006/main">
              <a:ext uri="{FF2B5EF4-FFF2-40B4-BE49-F238E27FC236}">
                <a16:creationId xmlns:a16="http://schemas.microsoft.com/office/drawing/2014/main" id="{2AA9107A-72A9-4A45-B4A6-21D0B93D1AAC}"/>
              </a:ext>
            </a:extLst>
          </p:cNvPr>
          <p:cNvSpPr>
            <a:spLocks xmlns:a="http://schemas.openxmlformats.org/drawingml/2006/main" noGrp="1"/>
          </p:cNvSpPr>
          <p:nvPr/>
        </p:nvSpPr>
        <p:spPr>
          <a:xfrm xmlns:a="http://schemas.openxmlformats.org/drawingml/2006/main">
            <a:off x="533400" y="4286250"/>
            <a:ext cx="5715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FCFAF4"/>
                </a:solidFill>
                <a:latin typeface="Arial"/>
                <a:ea typeface="Arial"/>
                <a:cs typeface="Arial"/>
              </a:defRPr>
            </a:pPr>
            <a:r>
              <a:rPr sz="1275" b="0" i="0">
                <a:solidFill>
                  <a:srgbClr val="FCFAF4"/>
                </a:solidFill>
                <a:latin typeface="Arial"/>
                <a:ea typeface="Arial"/>
                <a:cs typeface="Arial"/>
              </a:rPr>
              <a:t>Legal judgment is rarely a search for one obvious answer. The lawyer must understand an uncertain legal space, see what could change the analysis, and make a decision the business can act on. Themis helps illuminate that space while leaving the judgment with the lawyer.</a:t>
            </a:r>
          </a:p>
        </p:txBody>
      </p:sp>
      <p:sp>
        <p:nvSpPr>
          <p:cNvPr id="8" name="cover-bottom">
            <a:extLst xmlns:a="http://schemas.openxmlformats.org/drawingml/2006/main">
              <a:ext uri="{FF2B5EF4-FFF2-40B4-BE49-F238E27FC236}">
                <a16:creationId xmlns:a16="http://schemas.microsoft.com/office/drawing/2014/main" id="{277D1240-13D4-423F-AF80-6D740EE02223}"/>
              </a:ext>
            </a:extLst>
          </p:cNvPr>
          <p:cNvSpPr>
            <a:spLocks xmlns:a="http://schemas.openxmlformats.org/drawingml/2006/main" noGrp="1"/>
          </p:cNvSpPr>
          <p:nvPr/>
        </p:nvSpPr>
        <p:spPr>
          <a:xfrm xmlns:a="http://schemas.openxmlformats.org/drawingml/2006/main">
            <a:off x="0" y="5676900"/>
            <a:ext cx="7239000" cy="1181100"/>
          </a:xfrm>
          <a:prstGeom xmlns:a="http://schemas.openxmlformats.org/drawingml/2006/main" prst="rect">
            <a:avLst/>
          </a:prstGeom>
          <a:solidFill xmlns:a="http://schemas.openxmlformats.org/drawingml/2006/main">
            <a:srgbClr val="C86449"/>
          </a:solidFill>
          <a:ln xmlns:a="http://schemas.openxmlformats.org/drawingml/2006/main" w="0">
            <a:noFill/>
            <a:prstDash val="solid"/>
          </a:ln>
        </p:spPr>
      </p:sp>
      <p:sp>
        <p:nvSpPr>
          <p:cNvPr id="9" name="cover-bottom-line">
            <a:extLst xmlns:a="http://schemas.openxmlformats.org/drawingml/2006/main">
              <a:ext uri="{FF2B5EF4-FFF2-40B4-BE49-F238E27FC236}">
                <a16:creationId xmlns:a16="http://schemas.microsoft.com/office/drawing/2014/main" id="{2663B584-3F7A-4072-A237-801BB49D5BCF}"/>
              </a:ext>
            </a:extLst>
          </p:cNvPr>
          <p:cNvSpPr>
            <a:spLocks xmlns:a="http://schemas.openxmlformats.org/drawingml/2006/main" noGrp="1"/>
          </p:cNvSpPr>
          <p:nvPr/>
        </p:nvSpPr>
        <p:spPr>
          <a:xfrm xmlns:a="http://schemas.openxmlformats.org/drawingml/2006/main">
            <a:off x="533400" y="5905500"/>
            <a:ext cx="619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6233F"/>
                </a:solidFill>
                <a:latin typeface="Georgia"/>
                <a:ea typeface="Georgia"/>
                <a:cs typeface="Georgia"/>
              </a:defRPr>
            </a:pPr>
            <a:r>
              <a:rPr sz="1650" b="1" i="0">
                <a:solidFill>
                  <a:srgbClr val="16233F"/>
                </a:solidFill>
                <a:latin typeface="Georgia"/>
                <a:ea typeface="Georgia"/>
                <a:cs typeface="Georgia"/>
              </a:rPr>
              <a:t>Themis supports the person responsible for the answer. It does not replace their judgment.</a:t>
            </a:r>
          </a:p>
        </p:txBody>
      </p:sp>
    </p:spTree>
    <p:extLst>
      <p:ext uri="{BB962C8B-B14F-4D97-AF65-F5344CB8AC3E}">
        <p14:creationId xmlns:p14="http://schemas.microsoft.com/office/powerpoint/2010/main" val="1420754457"/>
      </p:ext>
    </p:extLst>
  </p:cSld>
</p:sld>
</file>

<file path=ppt/slides/slide2.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eb807be3af4cb1"/>
          <a:srcRect xmlns:a="http://schemas.openxmlformats.org/drawingml/2006/main" l="28113" t="0" r="28113"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image-edge">
            <a:extLst xmlns:a="http://schemas.openxmlformats.org/drawingml/2006/main">
              <a:ext uri="{FF2B5EF4-FFF2-40B4-BE49-F238E27FC236}">
                <a16:creationId xmlns:a16="http://schemas.microsoft.com/office/drawing/2014/main" id="{6A4243AA-13DC-4C92-95EE-C2A9E8DE3A26}"/>
              </a:ext>
            </a:extLst>
          </p:cNvPr>
          <p:cNvSpPr>
            <a:spLocks xmlns:a="http://schemas.openxmlformats.org/drawingml/2006/main" noGrp="1"/>
          </p:cNvSpPr>
          <p:nvPr/>
        </p:nvSpPr>
        <p:spPr>
          <a:xfrm xmlns:a="http://schemas.openxmlformats.org/drawingml/2006/main">
            <a:off x="6648450" y="0"/>
            <a:ext cx="209550" cy="6858000"/>
          </a:xfrm>
          <a:prstGeom xmlns:a="http://schemas.openxmlformats.org/drawingml/2006/main" prst="rect">
            <a:avLst/>
          </a:prstGeom>
          <a:solidFill xmlns:a="http://schemas.openxmlformats.org/drawingml/2006/main">
            <a:srgbClr val="C79A2B"/>
          </a:solidFill>
          <a:ln xmlns:a="http://schemas.openxmlformats.org/drawingml/2006/main" w="0">
            <a:noFill/>
            <a:prstDash val="solid"/>
          </a:ln>
        </p:spPr>
      </p:sp>
      <p:sp>
        <p:nvSpPr>
          <p:cNvPr id="3" name="kicker-2">
            <a:extLst xmlns:a="http://schemas.openxmlformats.org/drawingml/2006/main">
              <a:ext uri="{FF2B5EF4-FFF2-40B4-BE49-F238E27FC236}">
                <a16:creationId xmlns:a16="http://schemas.microsoft.com/office/drawing/2014/main" id="{A301EB5B-5979-4C0C-9C3E-8B36F2578AFA}"/>
              </a:ext>
            </a:extLst>
          </p:cNvPr>
          <p:cNvSpPr>
            <a:spLocks xmlns:a="http://schemas.openxmlformats.org/drawingml/2006/main" noGrp="1"/>
          </p:cNvSpPr>
          <p:nvPr/>
        </p:nvSpPr>
        <p:spPr>
          <a:xfrm xmlns:a="http://schemas.openxmlformats.org/drawingml/2006/main">
            <a:off x="51435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THEMIS THESIS  /  02</a:t>
            </a:r>
          </a:p>
        </p:txBody>
      </p:sp>
      <p:sp>
        <p:nvSpPr>
          <p:cNvPr id="4" name="title-2">
            <a:extLst xmlns:a="http://schemas.openxmlformats.org/drawingml/2006/main">
              <a:ext uri="{FF2B5EF4-FFF2-40B4-BE49-F238E27FC236}">
                <a16:creationId xmlns:a16="http://schemas.microsoft.com/office/drawing/2014/main" id="{1F69780A-D6B5-45BE-A454-3B02FB3721CE}"/>
              </a:ext>
            </a:extLst>
          </p:cNvPr>
          <p:cNvSpPr>
            <a:spLocks xmlns:a="http://schemas.openxmlformats.org/drawingml/2006/main" noGrp="1"/>
          </p:cNvSpPr>
          <p:nvPr/>
        </p:nvSpPr>
        <p:spPr>
          <a:xfrm xmlns:a="http://schemas.openxmlformats.org/drawingml/2006/main">
            <a:off x="514350" y="609600"/>
            <a:ext cx="619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625" b="1" i="0">
                <a:solidFill>
                  <a:srgbClr val="16233F"/>
                </a:solidFill>
                <a:latin typeface="Georgia"/>
                <a:ea typeface="Georgia"/>
                <a:cs typeface="Georgia"/>
              </a:defRPr>
            </a:pPr>
            <a:r>
              <a:rPr sz="2625" b="1" i="0">
                <a:solidFill>
                  <a:srgbClr val="16233F"/>
                </a:solidFill>
                <a:latin typeface="Georgia"/>
                <a:ea typeface="Georgia"/>
                <a:cs typeface="Georgia"/>
              </a:rPr>
              <a:t>The lawyer must make the call before the whole terrain is visible.</a:t>
            </a:r>
          </a:p>
        </p:txBody>
      </p:sp>
      <p:sp>
        <p:nvSpPr>
          <p:cNvPr id="5" name="s2-context">
            <a:extLst xmlns:a="http://schemas.openxmlformats.org/drawingml/2006/main">
              <a:ext uri="{FF2B5EF4-FFF2-40B4-BE49-F238E27FC236}">
                <a16:creationId xmlns:a16="http://schemas.microsoft.com/office/drawing/2014/main" id="{04141B06-4C87-4FDF-A93F-1F2B14040AAA}"/>
              </a:ext>
            </a:extLst>
          </p:cNvPr>
          <p:cNvSpPr>
            <a:spLocks xmlns:a="http://schemas.openxmlformats.org/drawingml/2006/main" noGrp="1"/>
          </p:cNvSpPr>
          <p:nvPr/>
        </p:nvSpPr>
        <p:spPr>
          <a:xfrm xmlns:a="http://schemas.openxmlformats.org/drawingml/2006/main">
            <a:off x="514350" y="1676400"/>
            <a:ext cx="5638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16233F"/>
                </a:solidFill>
                <a:latin typeface="Arial"/>
                <a:ea typeface="Arial"/>
                <a:cs typeface="Arial"/>
              </a:defRPr>
            </a:pPr>
            <a:r>
              <a:rPr sz="1350" b="0" i="0">
                <a:solidFill>
                  <a:srgbClr val="16233F"/>
                </a:solidFill>
                <a:latin typeface="Arial"/>
                <a:ea typeface="Arial"/>
                <a:cs typeface="Arial"/>
              </a:rPr>
              <a:t>The business wants an answer. The facts are incomplete. The law leaves room for judgment. The lawyer must choose a path without knowing whether an unseen fact, issue, or consequence could change it.</a:t>
            </a:r>
          </a:p>
        </p:txBody>
      </p:sp>
      <p:sp>
        <p:nvSpPr>
          <p:cNvPr id="6" name="s2-q1">
            <a:extLst xmlns:a="http://schemas.openxmlformats.org/drawingml/2006/main">
              <a:ext uri="{FF2B5EF4-FFF2-40B4-BE49-F238E27FC236}">
                <a16:creationId xmlns:a16="http://schemas.microsoft.com/office/drawing/2014/main" id="{12E1DBB1-74BD-4E6F-9732-CCA1DB6B55D8}"/>
              </a:ext>
            </a:extLst>
          </p:cNvPr>
          <p:cNvSpPr>
            <a:spLocks xmlns:a="http://schemas.openxmlformats.org/drawingml/2006/main" noGrp="1"/>
          </p:cNvSpPr>
          <p:nvPr/>
        </p:nvSpPr>
        <p:spPr>
          <a:xfrm xmlns:a="http://schemas.openxmlformats.org/drawingml/2006/main">
            <a:off x="514350" y="2781300"/>
            <a:ext cx="563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0" i="0">
                <a:solidFill>
                  <a:srgbClr val="606878"/>
                </a:solidFill>
                <a:latin typeface="Arial"/>
                <a:ea typeface="Arial"/>
                <a:cs typeface="Arial"/>
              </a:defRPr>
            </a:pPr>
            <a:r>
              <a:rPr sz="1200" b="0" i="0">
                <a:solidFill>
                  <a:srgbClr val="606878"/>
                </a:solidFill>
                <a:latin typeface="Arial"/>
                <a:ea typeface="Arial"/>
                <a:cs typeface="Arial"/>
              </a:rPr>
              <a:t>For the lawyer, the question is not simply:</a:t>
            </a:r>
          </a:p>
        </p:txBody>
      </p:sp>
      <p:sp>
        <p:nvSpPr>
          <p:cNvPr id="7" name="s2-answer">
            <a:extLst xmlns:a="http://schemas.openxmlformats.org/drawingml/2006/main">
              <a:ext uri="{FF2B5EF4-FFF2-40B4-BE49-F238E27FC236}">
                <a16:creationId xmlns:a16="http://schemas.microsoft.com/office/drawing/2014/main" id="{2B5F3259-ECC8-4E0F-861A-DDFEBCA97C84}"/>
              </a:ext>
            </a:extLst>
          </p:cNvPr>
          <p:cNvSpPr>
            <a:spLocks xmlns:a="http://schemas.openxmlformats.org/drawingml/2006/main" noGrp="1"/>
          </p:cNvSpPr>
          <p:nvPr/>
        </p:nvSpPr>
        <p:spPr>
          <a:xfrm xmlns:a="http://schemas.openxmlformats.org/drawingml/2006/main">
            <a:off x="514350" y="3105150"/>
            <a:ext cx="5638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i="1">
                <a:solidFill>
                  <a:srgbClr val="606878"/>
                </a:solidFill>
                <a:latin typeface="Georgia"/>
                <a:ea typeface="Georgia"/>
                <a:cs typeface="Georgia"/>
              </a:defRPr>
            </a:pPr>
            <a:r>
              <a:rPr sz="1875" b="0" i="1">
                <a:solidFill>
                  <a:srgbClr val="606878"/>
                </a:solidFill>
                <a:latin typeface="Georgia"/>
                <a:ea typeface="Georgia"/>
                <a:cs typeface="Georgia"/>
              </a:rPr>
              <a:t>What is the answer?</a:t>
            </a:r>
          </a:p>
        </p:txBody>
      </p:sp>
      <p:sp>
        <p:nvSpPr>
          <p:cNvPr id="8" name="s2-it-is">
            <a:extLst xmlns:a="http://schemas.openxmlformats.org/drawingml/2006/main">
              <a:ext uri="{FF2B5EF4-FFF2-40B4-BE49-F238E27FC236}">
                <a16:creationId xmlns:a16="http://schemas.microsoft.com/office/drawing/2014/main" id="{AE9B041B-F21B-4E45-97F0-1D7AC75D09A3}"/>
              </a:ext>
            </a:extLst>
          </p:cNvPr>
          <p:cNvSpPr>
            <a:spLocks xmlns:a="http://schemas.openxmlformats.org/drawingml/2006/main" noGrp="1"/>
          </p:cNvSpPr>
          <p:nvPr/>
        </p:nvSpPr>
        <p:spPr>
          <a:xfrm xmlns:a="http://schemas.openxmlformats.org/drawingml/2006/main">
            <a:off x="514350" y="35242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0" i="0">
                <a:solidFill>
                  <a:srgbClr val="606878"/>
                </a:solidFill>
                <a:latin typeface="Arial"/>
                <a:ea typeface="Arial"/>
                <a:cs typeface="Arial"/>
              </a:defRPr>
            </a:pPr>
            <a:r>
              <a:rPr sz="1200" b="0" i="0">
                <a:solidFill>
                  <a:srgbClr val="606878"/>
                </a:solidFill>
                <a:latin typeface="Arial"/>
                <a:ea typeface="Arial"/>
                <a:cs typeface="Arial"/>
              </a:rPr>
              <a:t>It is:</a:t>
            </a:r>
          </a:p>
        </p:txBody>
      </p:sp>
      <p:sp>
        <p:nvSpPr>
          <p:cNvPr id="9" name="s2-quote-bar">
            <a:extLst xmlns:a="http://schemas.openxmlformats.org/drawingml/2006/main">
              <a:ext uri="{FF2B5EF4-FFF2-40B4-BE49-F238E27FC236}">
                <a16:creationId xmlns:a16="http://schemas.microsoft.com/office/drawing/2014/main" id="{1F3E3640-E077-4B22-9A00-1775C6C8E068}"/>
              </a:ext>
            </a:extLst>
          </p:cNvPr>
          <p:cNvSpPr>
            <a:spLocks xmlns:a="http://schemas.openxmlformats.org/drawingml/2006/main" noGrp="1"/>
          </p:cNvSpPr>
          <p:nvPr/>
        </p:nvSpPr>
        <p:spPr>
          <a:xfrm xmlns:a="http://schemas.openxmlformats.org/drawingml/2006/main">
            <a:off x="514350" y="3857625"/>
            <a:ext cx="95250" cy="914400"/>
          </a:xfrm>
          <a:prstGeom xmlns:a="http://schemas.openxmlformats.org/drawingml/2006/main" prst="rect">
            <a:avLst/>
          </a:prstGeom>
          <a:solidFill xmlns:a="http://schemas.openxmlformats.org/drawingml/2006/main">
            <a:srgbClr val="C86449"/>
          </a:solidFill>
          <a:ln xmlns:a="http://schemas.openxmlformats.org/drawingml/2006/main" w="0">
            <a:noFill/>
            <a:prstDash val="solid"/>
          </a:ln>
        </p:spPr>
      </p:sp>
      <p:sp>
        <p:nvSpPr>
          <p:cNvPr id="10" name="s2-quote">
            <a:extLst xmlns:a="http://schemas.openxmlformats.org/drawingml/2006/main">
              <a:ext uri="{FF2B5EF4-FFF2-40B4-BE49-F238E27FC236}">
                <a16:creationId xmlns:a16="http://schemas.microsoft.com/office/drawing/2014/main" id="{63B93957-C933-4648-8647-8BC85AD20F29}"/>
              </a:ext>
            </a:extLst>
          </p:cNvPr>
          <p:cNvSpPr>
            <a:spLocks xmlns:a="http://schemas.openxmlformats.org/drawingml/2006/main" noGrp="1"/>
          </p:cNvSpPr>
          <p:nvPr/>
        </p:nvSpPr>
        <p:spPr>
          <a:xfrm xmlns:a="http://schemas.openxmlformats.org/drawingml/2006/main">
            <a:off x="781050" y="3829050"/>
            <a:ext cx="5429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325" b="1" i="0">
                <a:solidFill>
                  <a:srgbClr val="3E5F9D"/>
                </a:solidFill>
                <a:latin typeface="Georgia"/>
                <a:ea typeface="Georgia"/>
                <a:cs typeface="Georgia"/>
              </a:defRPr>
            </a:pPr>
            <a:r>
              <a:rPr sz="2325" b="1" i="0">
                <a:solidFill>
                  <a:srgbClr val="3E5F9D"/>
                </a:solidFill>
                <a:latin typeface="Georgia"/>
                <a:ea typeface="Georgia"/>
                <a:cs typeface="Georgia"/>
              </a:rPr>
              <a:t>What am I missing that could change my answer?</a:t>
            </a:r>
          </a:p>
        </p:txBody>
      </p:sp>
      <p:sp>
        <p:nvSpPr>
          <p:cNvPr id="11" name="s2-closing">
            <a:extLst xmlns:a="http://schemas.openxmlformats.org/drawingml/2006/main">
              <a:ext uri="{FF2B5EF4-FFF2-40B4-BE49-F238E27FC236}">
                <a16:creationId xmlns:a16="http://schemas.microsoft.com/office/drawing/2014/main" id="{481FC3AD-5A98-4CDA-8BDC-A06F1541B792}"/>
              </a:ext>
            </a:extLst>
          </p:cNvPr>
          <p:cNvSpPr>
            <a:spLocks xmlns:a="http://schemas.openxmlformats.org/drawingml/2006/main" noGrp="1"/>
          </p:cNvSpPr>
          <p:nvPr/>
        </p:nvSpPr>
        <p:spPr>
          <a:xfrm xmlns:a="http://schemas.openxmlformats.org/drawingml/2006/main">
            <a:off x="514350" y="4991100"/>
            <a:ext cx="5715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238" b="1" i="0">
                <a:solidFill>
                  <a:srgbClr val="16233F"/>
                </a:solidFill>
                <a:latin typeface="Arial"/>
                <a:ea typeface="Arial"/>
                <a:cs typeface="Arial"/>
              </a:defRPr>
            </a:pPr>
            <a:r>
              <a:rPr sz="1238" b="1" i="0">
                <a:solidFill>
                  <a:srgbClr val="16233F"/>
                </a:solidFill>
                <a:latin typeface="Arial"/>
                <a:ea typeface="Arial"/>
                <a:cs typeface="Arial"/>
              </a:rPr>
              <a:t>The emotional burden is not simple darkness or a lack of information. It is the responsibility of making a consequential decision while knowing that something important may remain outside the beam.</a:t>
            </a:r>
          </a:p>
        </p:txBody>
      </p:sp>
      <p:sp>
        <p:nvSpPr>
          <p:cNvPr id="12" name="s2-implication">
            <a:extLst xmlns:a="http://schemas.openxmlformats.org/drawingml/2006/main">
              <a:ext uri="{FF2B5EF4-FFF2-40B4-BE49-F238E27FC236}">
                <a16:creationId xmlns:a16="http://schemas.microsoft.com/office/drawing/2014/main" id="{ED613EEC-55EB-40F2-8AE3-BCFFDA902F36}"/>
              </a:ext>
            </a:extLst>
          </p:cNvPr>
          <p:cNvSpPr>
            <a:spLocks xmlns:a="http://schemas.openxmlformats.org/drawingml/2006/main" noGrp="1"/>
          </p:cNvSpPr>
          <p:nvPr/>
        </p:nvSpPr>
        <p:spPr>
          <a:xfrm xmlns:a="http://schemas.openxmlformats.org/drawingml/2006/main">
            <a:off x="514350" y="5924550"/>
            <a:ext cx="5715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088" b="0" i="0">
                <a:solidFill>
                  <a:srgbClr val="606878"/>
                </a:solidFill>
                <a:latin typeface="Arial"/>
                <a:ea typeface="Arial"/>
                <a:cs typeface="Arial"/>
              </a:defRPr>
            </a:pPr>
            <a:r>
              <a:rPr sz="1088" b="0" i="0">
                <a:solidFill>
                  <a:srgbClr val="606878"/>
                </a:solidFill>
                <a:latin typeface="Arial"/>
                <a:ea typeface="Arial"/>
                <a:cs typeface="Arial"/>
              </a:rPr>
              <a:t>Faster research and drafting can reduce effort. They do not remove the lawyer's responsibility for deciding whether the analysis is complete enough to act. That is the burden Themis is designed to support.</a:t>
            </a:r>
          </a:p>
        </p:txBody>
      </p:sp>
      <p:sp>
        <p:nvSpPr>
          <p:cNvPr id="13" name="s2-source-ground">
            <a:extLst xmlns:a="http://schemas.openxmlformats.org/drawingml/2006/main">
              <a:ext uri="{FF2B5EF4-FFF2-40B4-BE49-F238E27FC236}">
                <a16:creationId xmlns:a16="http://schemas.microsoft.com/office/drawing/2014/main" id="{AF77E113-2C34-4AC9-8213-F2D3EE03BBD5}"/>
              </a:ext>
            </a:extLst>
          </p:cNvPr>
          <p:cNvSpPr>
            <a:spLocks xmlns:a="http://schemas.openxmlformats.org/drawingml/2006/main" noGrp="1"/>
          </p:cNvSpPr>
          <p:nvPr/>
        </p:nvSpPr>
        <p:spPr>
          <a:xfrm xmlns:a="http://schemas.openxmlformats.org/drawingml/2006/main">
            <a:off x="7048500" y="5124450"/>
            <a:ext cx="4857750" cy="1390650"/>
          </a:xfrm>
          <a:prstGeom xmlns:a="http://schemas.openxmlformats.org/drawingml/2006/main" prst="roundRect">
            <a:avLst>
              <a:gd name="adj" fmla="val 5479"/>
            </a:avLst>
          </a:prstGeom>
          <a:solidFill xmlns:a="http://schemas.openxmlformats.org/drawingml/2006/main">
            <a:srgbClr val="16233F">
              <a:alpha val="90980"/>
            </a:srgbClr>
          </a:solidFill>
          <a:ln xmlns:a="http://schemas.openxmlformats.org/drawingml/2006/main" w="0">
            <a:noFill/>
            <a:prstDash val="solid"/>
          </a:ln>
        </p:spPr>
      </p:sp>
      <p:sp>
        <p:nvSpPr>
          <p:cNvPr id="14" name="s2-source">
            <a:extLst xmlns:a="http://schemas.openxmlformats.org/drawingml/2006/main">
              <a:ext uri="{FF2B5EF4-FFF2-40B4-BE49-F238E27FC236}">
                <a16:creationId xmlns:a16="http://schemas.microsoft.com/office/drawing/2014/main" id="{8A5B24C1-9E16-4E9F-9AE7-236A35B6DA82}"/>
              </a:ext>
            </a:extLst>
          </p:cNvPr>
          <p:cNvSpPr>
            <a:spLocks xmlns:a="http://schemas.openxmlformats.org/drawingml/2006/main" noGrp="1"/>
          </p:cNvSpPr>
          <p:nvPr/>
        </p:nvSpPr>
        <p:spPr>
          <a:xfrm xmlns:a="http://schemas.openxmlformats.org/drawingml/2006/main">
            <a:off x="7277100" y="5353050"/>
            <a:ext cx="4400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088">
                <a:solidFill>
                  <a:srgbClr val="FCFAF4"/>
                </a:solidFill>
                <a:latin typeface="Arial"/>
                <a:ea typeface="Arial"/>
                <a:cs typeface="Arial"/>
              </a:defRPr>
            </a:pPr>
            <a:r>
              <a:rPr sz="1088" b="1">
                <a:solidFill>
                  <a:srgbClr val="FCFAF4"/>
                </a:solidFill>
                <a:latin typeface="Arial"/>
                <a:ea typeface="Arial"/>
                <a:cs typeface="Arial"/>
              </a:rPr>
              <a:t>Research signal: </a:t>
            </a:r>
            <a:r>
              <a:rPr sz="1088">
                <a:solidFill>
                  <a:srgbClr val="FCFAF4"/>
                </a:solidFill>
                <a:latin typeface="Arial"/>
                <a:ea typeface="Arial"/>
                <a:cs typeface="Arial"/>
              </a:rPr>
              <a:t>In four discovery interviews, in-house lawyers described feeling “on an island,” wanting another lawyer nearby, seeking a gut check, and wanting help finding blind spots. These are themes from auto-generated interview notes, not verified quotations.</a:t>
            </a:r>
          </a:p>
        </p:txBody>
      </p:sp>
    </p:spTree>
    <p:extLst>
      <p:ext uri="{BB962C8B-B14F-4D97-AF65-F5344CB8AC3E}">
        <p14:creationId xmlns:p14="http://schemas.microsoft.com/office/powerpoint/2010/main" val="574177475"/>
      </p:ext>
    </p:extLst>
  </p:cSld>
</p:sld>
</file>

<file path=ppt/slides/slide3.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30" name="s3-top-accent">
            <a:extLst xmlns:a="http://schemas.openxmlformats.org/drawingml/2006/main">
              <a:ext uri="{FF2B5EF4-FFF2-40B4-BE49-F238E27FC236}">
                <a16:creationId xmlns:a16="http://schemas.microsoft.com/office/drawing/2014/main" id="{ABBAB8E1-19D4-4929-B1B0-C554E8269670}"/>
              </a:ext>
            </a:extLst>
          </p:cNvPr>
          <p:cNvSpPr>
            <a:spLocks xmlns:a="http://schemas.openxmlformats.org/drawingml/2006/main" noGrp="1"/>
          </p:cNvSpPr>
          <p:nvPr/>
        </p:nvSpPr>
        <p:spPr>
          <a:xfrm xmlns:a="http://schemas.openxmlformats.org/drawingml/2006/main">
            <a:off x="0" y="0"/>
            <a:ext cx="171450" cy="4953000"/>
          </a:xfrm>
          <a:prstGeom xmlns:a="http://schemas.openxmlformats.org/drawingml/2006/main" prst="rect">
            <a:avLst/>
          </a:prstGeom>
          <a:solidFill xmlns:a="http://schemas.openxmlformats.org/drawingml/2006/main">
            <a:srgbClr val="C86449"/>
          </a:solidFill>
          <a:ln xmlns:a="http://schemas.openxmlformats.org/drawingml/2006/main" w="0">
            <a:noFill/>
            <a:prstDash val="solid"/>
          </a:ln>
        </p:spPr>
      </p:sp>
      <p:sp>
        <p:nvSpPr>
          <p:cNvPr id="2" name="kicker-3">
            <a:extLst xmlns:a="http://schemas.openxmlformats.org/drawingml/2006/main">
              <a:ext uri="{FF2B5EF4-FFF2-40B4-BE49-F238E27FC236}">
                <a16:creationId xmlns:a16="http://schemas.microsoft.com/office/drawing/2014/main" id="{BA578BF1-9263-4E70-BDCD-374A9445787C}"/>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THEMIS THESIS  /  03</a:t>
            </a:r>
          </a:p>
        </p:txBody>
      </p:sp>
      <p:sp>
        <p:nvSpPr>
          <p:cNvPr id="3" name="title-3">
            <a:extLst xmlns:a="http://schemas.openxmlformats.org/drawingml/2006/main">
              <a:ext uri="{FF2B5EF4-FFF2-40B4-BE49-F238E27FC236}">
                <a16:creationId xmlns:a16="http://schemas.microsoft.com/office/drawing/2014/main" id="{ED81C346-4DF8-4619-8FBE-BD5D991695EB}"/>
              </a:ext>
            </a:extLst>
          </p:cNvPr>
          <p:cNvSpPr>
            <a:spLocks xmlns:a="http://schemas.openxmlformats.org/drawingml/2006/main" noGrp="1"/>
          </p:cNvSpPr>
          <p:nvPr/>
        </p:nvSpPr>
        <p:spPr>
          <a:xfrm xmlns:a="http://schemas.openxmlformats.org/drawingml/2006/main">
            <a:off x="514350" y="609600"/>
            <a:ext cx="11163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925" b="1" i="0">
                <a:solidFill>
                  <a:srgbClr val="16233F"/>
                </a:solidFill>
                <a:latin typeface="Georgia"/>
                <a:ea typeface="Georgia"/>
                <a:cs typeface="Georgia"/>
              </a:defRPr>
            </a:pPr>
            <a:r>
              <a:rPr sz="2925" b="1" i="0">
                <a:solidFill>
                  <a:srgbClr val="16233F"/>
                </a:solidFill>
                <a:latin typeface="Georgia"/>
                <a:ea typeface="Georgia"/>
                <a:cs typeface="Georgia"/>
              </a:rPr>
              <a:t>Themis makes uncertainty visible enough for the lawyer to exercise judgment.</a:t>
            </a:r>
          </a:p>
        </p:txBody>
      </p:sp>
      <p:sp>
        <p:nvSpPr>
          <p:cNvPr id="4" name="rule-54-150">
            <a:extLst xmlns:a="http://schemas.openxmlformats.org/drawingml/2006/main">
              <a:ext uri="{FF2B5EF4-FFF2-40B4-BE49-F238E27FC236}">
                <a16:creationId xmlns:a16="http://schemas.microsoft.com/office/drawing/2014/main" id="{1687AFBB-7998-4354-89F3-B46AB6DA1F64}"/>
              </a:ext>
            </a:extLst>
          </p:cNvPr>
          <p:cNvSpPr>
            <a:spLocks xmlns:a="http://schemas.openxmlformats.org/drawingml/2006/main" noGrp="1"/>
          </p:cNvSpPr>
          <p:nvPr/>
        </p:nvSpPr>
        <p:spPr>
          <a:xfrm xmlns:a="http://schemas.openxmlformats.org/drawingml/2006/main">
            <a:off x="514350" y="1428750"/>
            <a:ext cx="11163300" cy="28575"/>
          </a:xfrm>
          <a:prstGeom xmlns:a="http://schemas.openxmlformats.org/drawingml/2006/main" prst="rect">
            <a:avLst/>
          </a:prstGeom>
          <a:solidFill xmlns:a="http://schemas.openxmlformats.org/drawingml/2006/main">
            <a:srgbClr val="16233F"/>
          </a:solidFill>
          <a:ln xmlns:a="http://schemas.openxmlformats.org/drawingml/2006/main" w="0">
            <a:noFill/>
            <a:prstDash val="solid"/>
          </a:ln>
        </p:spPr>
      </p:sp>
      <p:sp>
        <p:nvSpPr>
          <p:cNvPr id="5" name="s3-context1">
            <a:extLst xmlns:a="http://schemas.openxmlformats.org/drawingml/2006/main">
              <a:ext uri="{FF2B5EF4-FFF2-40B4-BE49-F238E27FC236}">
                <a16:creationId xmlns:a16="http://schemas.microsoft.com/office/drawing/2014/main" id="{4C547D6B-1348-4811-863E-DA126CFBDC75}"/>
              </a:ext>
            </a:extLst>
          </p:cNvPr>
          <p:cNvSpPr>
            <a:spLocks xmlns:a="http://schemas.openxmlformats.org/drawingml/2006/main" noGrp="1"/>
          </p:cNvSpPr>
          <p:nvPr/>
        </p:nvSpPr>
        <p:spPr>
          <a:xfrm xmlns:a="http://schemas.openxmlformats.org/drawingml/2006/main">
            <a:off x="514350" y="1695450"/>
            <a:ext cx="3810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425" b="1" i="0">
                <a:solidFill>
                  <a:srgbClr val="16233F"/>
                </a:solidFill>
                <a:latin typeface="Georgia"/>
                <a:ea typeface="Georgia"/>
                <a:cs typeface="Georgia"/>
              </a:defRPr>
            </a:pPr>
            <a:r>
              <a:rPr sz="1425" b="1" i="0">
                <a:solidFill>
                  <a:srgbClr val="16233F"/>
                </a:solidFill>
                <a:latin typeface="Georgia"/>
                <a:ea typeface="Georgia"/>
                <a:cs typeface="Georgia"/>
              </a:rPr>
              <a:t>Themis is the flashlight in the darkness of uncertainty. It illuminates the legal terrain—the law, facts, assumptions, and unknowns—so the lawyer can chart their own path forward.</a:t>
            </a:r>
          </a:p>
        </p:txBody>
      </p:sp>
      <p:sp>
        <p:nvSpPr>
          <p:cNvPr id="6" name="s3-context2">
            <a:extLst xmlns:a="http://schemas.openxmlformats.org/drawingml/2006/main">
              <a:ext uri="{FF2B5EF4-FFF2-40B4-BE49-F238E27FC236}">
                <a16:creationId xmlns:a16="http://schemas.microsoft.com/office/drawing/2014/main" id="{5E3A4F48-9289-41FA-AE62-A7BCA8C97FD0}"/>
              </a:ext>
            </a:extLst>
          </p:cNvPr>
          <p:cNvSpPr>
            <a:spLocks xmlns:a="http://schemas.openxmlformats.org/drawingml/2006/main" noGrp="1"/>
          </p:cNvSpPr>
          <p:nvPr/>
        </p:nvSpPr>
        <p:spPr>
          <a:xfrm xmlns:a="http://schemas.openxmlformats.org/drawingml/2006/main">
            <a:off x="514350" y="3105150"/>
            <a:ext cx="381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16233F"/>
                </a:solidFill>
                <a:latin typeface="Arial"/>
                <a:ea typeface="Arial"/>
                <a:cs typeface="Arial"/>
              </a:defRPr>
            </a:pPr>
            <a:r>
              <a:rPr sz="1350" b="0" i="0">
                <a:solidFill>
                  <a:srgbClr val="16233F"/>
                </a:solidFill>
                <a:latin typeface="Arial"/>
                <a:ea typeface="Arial"/>
                <a:cs typeface="Arial"/>
              </a:rPr>
              <a:t>Themis helps lawyers see the question clearly, test their thinking, and move forward with confidence.</a:t>
            </a:r>
          </a:p>
        </p:txBody>
      </p:sp>
      <p:sp>
        <p:nvSpPr>
          <p:cNvPr id="7" name="s3-closing-ground">
            <a:extLst xmlns:a="http://schemas.openxmlformats.org/drawingml/2006/main">
              <a:ext uri="{FF2B5EF4-FFF2-40B4-BE49-F238E27FC236}">
                <a16:creationId xmlns:a16="http://schemas.microsoft.com/office/drawing/2014/main" id="{8FDA3BBB-67FA-4A28-A566-991CC45678FB}"/>
              </a:ext>
            </a:extLst>
          </p:cNvPr>
          <p:cNvSpPr>
            <a:spLocks xmlns:a="http://schemas.openxmlformats.org/drawingml/2006/main" noGrp="1"/>
          </p:cNvSpPr>
          <p:nvPr/>
        </p:nvSpPr>
        <p:spPr>
          <a:xfrm xmlns:a="http://schemas.openxmlformats.org/drawingml/2006/main">
            <a:off x="514350" y="3962400"/>
            <a:ext cx="3810000" cy="800100"/>
          </a:xfrm>
          <a:prstGeom xmlns:a="http://schemas.openxmlformats.org/drawingml/2006/main" prst="roundRect">
            <a:avLst>
              <a:gd name="adj" fmla="val 9524"/>
            </a:avLst>
          </a:prstGeom>
          <a:solidFill xmlns:a="http://schemas.openxmlformats.org/drawingml/2006/main">
            <a:srgbClr val="C86449"/>
          </a:solidFill>
          <a:ln xmlns:a="http://schemas.openxmlformats.org/drawingml/2006/main" w="0">
            <a:noFill/>
            <a:prstDash val="solid"/>
          </a:ln>
        </p:spPr>
      </p:sp>
      <p:sp>
        <p:nvSpPr>
          <p:cNvPr id="8" name="s3-closing">
            <a:extLst xmlns:a="http://schemas.openxmlformats.org/drawingml/2006/main">
              <a:ext uri="{FF2B5EF4-FFF2-40B4-BE49-F238E27FC236}">
                <a16:creationId xmlns:a16="http://schemas.microsoft.com/office/drawing/2014/main" id="{7C7E86E9-396A-400D-86D1-827D6AD35EE3}"/>
              </a:ext>
            </a:extLst>
          </p:cNvPr>
          <p:cNvSpPr>
            <a:spLocks xmlns:a="http://schemas.openxmlformats.org/drawingml/2006/main" noGrp="1"/>
          </p:cNvSpPr>
          <p:nvPr/>
        </p:nvSpPr>
        <p:spPr>
          <a:xfrm xmlns:a="http://schemas.openxmlformats.org/drawingml/2006/main">
            <a:off x="704850" y="4114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16233F"/>
                </a:solidFill>
                <a:latin typeface="Georgia"/>
                <a:ea typeface="Georgia"/>
                <a:cs typeface="Georgia"/>
              </a:defRPr>
            </a:pPr>
            <a:r>
              <a:rPr sz="1500" b="1" i="0">
                <a:solidFill>
                  <a:srgbClr val="16233F"/>
                </a:solidFill>
                <a:latin typeface="Georgia"/>
                <a:ea typeface="Georgia"/>
                <a:cs typeface="Georgia"/>
              </a:rPr>
              <a:t>The answer remains the lawyer's. Themis strengthens the path to it.</a:t>
            </a:r>
          </a:p>
        </p:txBody>
      </p:sp>
      <p:sp>
        <p:nvSpPr>
          <p:cNvPr id="9" name="s3-help">
            <a:extLst xmlns:a="http://schemas.openxmlformats.org/drawingml/2006/main">
              <a:ext uri="{FF2B5EF4-FFF2-40B4-BE49-F238E27FC236}">
                <a16:creationId xmlns:a16="http://schemas.microsoft.com/office/drawing/2014/main" id="{C6D70185-C578-4018-9851-8C7E044171A0}"/>
              </a:ext>
            </a:extLst>
          </p:cNvPr>
          <p:cNvSpPr>
            <a:spLocks xmlns:a="http://schemas.openxmlformats.org/drawingml/2006/main" noGrp="1"/>
          </p:cNvSpPr>
          <p:nvPr/>
        </p:nvSpPr>
        <p:spPr>
          <a:xfrm xmlns:a="http://schemas.openxmlformats.org/drawingml/2006/main">
            <a:off x="4762500" y="167640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3E5F9D"/>
                </a:solidFill>
                <a:latin typeface="Arial"/>
                <a:ea typeface="Arial"/>
                <a:cs typeface="Arial"/>
              </a:defRPr>
            </a:pPr>
            <a:r>
              <a:rPr sz="1275" b="1" i="0">
                <a:solidFill>
                  <a:srgbClr val="3E5F9D"/>
                </a:solidFill>
                <a:latin typeface="Arial"/>
                <a:ea typeface="Arial"/>
                <a:cs typeface="Arial"/>
              </a:rPr>
              <a:t>It helps the lawyer:</a:t>
            </a:r>
          </a:p>
        </p:txBody>
      </p:sp>
      <p:sp>
        <p:nvSpPr>
          <p:cNvPr id="10" name="s3-num-0">
            <a:extLst xmlns:a="http://schemas.openxmlformats.org/drawingml/2006/main">
              <a:ext uri="{FF2B5EF4-FFF2-40B4-BE49-F238E27FC236}">
                <a16:creationId xmlns:a16="http://schemas.microsoft.com/office/drawing/2014/main" id="{3B93244B-8165-43FB-B519-B55745BAA0A4}"/>
              </a:ext>
            </a:extLst>
          </p:cNvPr>
          <p:cNvSpPr>
            <a:spLocks xmlns:a="http://schemas.openxmlformats.org/drawingml/2006/main" noGrp="1"/>
          </p:cNvSpPr>
          <p:nvPr/>
        </p:nvSpPr>
        <p:spPr>
          <a:xfrm xmlns:a="http://schemas.openxmlformats.org/drawingml/2006/main">
            <a:off x="4762500" y="21050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01</a:t>
            </a:r>
          </a:p>
        </p:txBody>
      </p:sp>
      <p:sp>
        <p:nvSpPr>
          <p:cNvPr id="11" name="s3-bullet-0">
            <a:extLst xmlns:a="http://schemas.openxmlformats.org/drawingml/2006/main">
              <a:ext uri="{FF2B5EF4-FFF2-40B4-BE49-F238E27FC236}">
                <a16:creationId xmlns:a16="http://schemas.microsoft.com/office/drawing/2014/main" id="{6D0BB010-B3FA-4BBE-B5BF-472E4FDF3E52}"/>
              </a:ext>
            </a:extLst>
          </p:cNvPr>
          <p:cNvSpPr>
            <a:spLocks xmlns:a="http://schemas.openxmlformats.org/drawingml/2006/main" noGrp="1"/>
          </p:cNvSpPr>
          <p:nvPr/>
        </p:nvSpPr>
        <p:spPr>
          <a:xfrm xmlns:a="http://schemas.openxmlformats.org/drawingml/2006/main">
            <a:off x="5162550" y="20574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16233F"/>
                </a:solidFill>
                <a:latin typeface="Arial"/>
                <a:ea typeface="Arial"/>
                <a:cs typeface="Arial"/>
              </a:defRPr>
            </a:pPr>
            <a:r>
              <a:rPr sz="1238" b="0" i="0">
                <a:solidFill>
                  <a:srgbClr val="16233F"/>
                </a:solidFill>
                <a:latin typeface="Arial"/>
                <a:ea typeface="Arial"/>
                <a:cs typeface="Arial"/>
              </a:rPr>
              <a:t>dissect the question to reveal what is known, assumed, and still unknown;</a:t>
            </a:r>
          </a:p>
        </p:txBody>
      </p:sp>
      <p:sp>
        <p:nvSpPr>
          <p:cNvPr id="12" name="rule-500-260">
            <a:extLst xmlns:a="http://schemas.openxmlformats.org/drawingml/2006/main">
              <a:ext uri="{FF2B5EF4-FFF2-40B4-BE49-F238E27FC236}">
                <a16:creationId xmlns:a16="http://schemas.microsoft.com/office/drawing/2014/main" id="{C3148E2A-0E35-47EB-8417-E4DA1488A360}"/>
              </a:ext>
            </a:extLst>
          </p:cNvPr>
          <p:cNvSpPr>
            <a:spLocks xmlns:a="http://schemas.openxmlformats.org/drawingml/2006/main" noGrp="1"/>
          </p:cNvSpPr>
          <p:nvPr/>
        </p:nvSpPr>
        <p:spPr>
          <a:xfrm xmlns:a="http://schemas.openxmlformats.org/drawingml/2006/main">
            <a:off x="4762500" y="2476500"/>
            <a:ext cx="6591300" cy="9525"/>
          </a:xfrm>
          <a:prstGeom xmlns:a="http://schemas.openxmlformats.org/drawingml/2006/main" prst="rect">
            <a:avLst/>
          </a:prstGeom>
          <a:solidFill xmlns:a="http://schemas.openxmlformats.org/drawingml/2006/main">
            <a:srgbClr val="16233F">
              <a:alpha val="20000"/>
            </a:srgbClr>
          </a:solidFill>
          <a:ln xmlns:a="http://schemas.openxmlformats.org/drawingml/2006/main" w="0">
            <a:noFill/>
            <a:prstDash val="solid"/>
          </a:ln>
        </p:spPr>
      </p:sp>
      <p:sp>
        <p:nvSpPr>
          <p:cNvPr id="13" name="s3-num-1">
            <a:extLst xmlns:a="http://schemas.openxmlformats.org/drawingml/2006/main">
              <a:ext uri="{FF2B5EF4-FFF2-40B4-BE49-F238E27FC236}">
                <a16:creationId xmlns:a16="http://schemas.microsoft.com/office/drawing/2014/main" id="{090B25C8-1208-40AB-96C8-1295605168EB}"/>
              </a:ext>
            </a:extLst>
          </p:cNvPr>
          <p:cNvSpPr>
            <a:spLocks xmlns:a="http://schemas.openxmlformats.org/drawingml/2006/main" noGrp="1"/>
          </p:cNvSpPr>
          <p:nvPr/>
        </p:nvSpPr>
        <p:spPr>
          <a:xfrm xmlns:a="http://schemas.openxmlformats.org/drawingml/2006/main">
            <a:off x="4762500" y="26193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02</a:t>
            </a:r>
          </a:p>
        </p:txBody>
      </p:sp>
      <p:sp>
        <p:nvSpPr>
          <p:cNvPr id="14" name="s3-bullet-1">
            <a:extLst xmlns:a="http://schemas.openxmlformats.org/drawingml/2006/main">
              <a:ext uri="{FF2B5EF4-FFF2-40B4-BE49-F238E27FC236}">
                <a16:creationId xmlns:a16="http://schemas.microsoft.com/office/drawing/2014/main" id="{F4CB2F1A-C61C-441E-886C-1CB57912D6A9}"/>
              </a:ext>
            </a:extLst>
          </p:cNvPr>
          <p:cNvSpPr>
            <a:spLocks xmlns:a="http://schemas.openxmlformats.org/drawingml/2006/main" noGrp="1"/>
          </p:cNvSpPr>
          <p:nvPr/>
        </p:nvSpPr>
        <p:spPr>
          <a:xfrm xmlns:a="http://schemas.openxmlformats.org/drawingml/2006/main">
            <a:off x="5162550" y="25717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16233F"/>
                </a:solidFill>
                <a:latin typeface="Arial"/>
                <a:ea typeface="Arial"/>
                <a:cs typeface="Arial"/>
              </a:defRPr>
            </a:pPr>
            <a:r>
              <a:rPr sz="1238" b="0" i="0">
                <a:solidFill>
                  <a:srgbClr val="16233F"/>
                </a:solidFill>
                <a:latin typeface="Arial"/>
                <a:ea typeface="Arial"/>
                <a:cs typeface="Arial"/>
              </a:rPr>
              <a:t>illuminate the issues, facts, laws, assumptions, and unknowns that shape the decision;</a:t>
            </a:r>
          </a:p>
        </p:txBody>
      </p:sp>
      <p:sp>
        <p:nvSpPr>
          <p:cNvPr id="15" name="rule-500-314">
            <a:extLst xmlns:a="http://schemas.openxmlformats.org/drawingml/2006/main">
              <a:ext uri="{FF2B5EF4-FFF2-40B4-BE49-F238E27FC236}">
                <a16:creationId xmlns:a16="http://schemas.microsoft.com/office/drawing/2014/main" id="{6AF30A55-E3FB-4F85-8BC0-3B39ACA94481}"/>
              </a:ext>
            </a:extLst>
          </p:cNvPr>
          <p:cNvSpPr>
            <a:spLocks xmlns:a="http://schemas.openxmlformats.org/drawingml/2006/main" noGrp="1"/>
          </p:cNvSpPr>
          <p:nvPr/>
        </p:nvSpPr>
        <p:spPr>
          <a:xfrm xmlns:a="http://schemas.openxmlformats.org/drawingml/2006/main">
            <a:off x="4762500" y="2990850"/>
            <a:ext cx="6591300" cy="9525"/>
          </a:xfrm>
          <a:prstGeom xmlns:a="http://schemas.openxmlformats.org/drawingml/2006/main" prst="rect">
            <a:avLst/>
          </a:prstGeom>
          <a:solidFill xmlns:a="http://schemas.openxmlformats.org/drawingml/2006/main">
            <a:srgbClr val="16233F">
              <a:alpha val="20000"/>
            </a:srgbClr>
          </a:solidFill>
          <a:ln xmlns:a="http://schemas.openxmlformats.org/drawingml/2006/main" w="0">
            <a:noFill/>
            <a:prstDash val="solid"/>
          </a:ln>
        </p:spPr>
      </p:sp>
      <p:sp>
        <p:nvSpPr>
          <p:cNvPr id="16" name="s3-num-2">
            <a:extLst xmlns:a="http://schemas.openxmlformats.org/drawingml/2006/main">
              <a:ext uri="{FF2B5EF4-FFF2-40B4-BE49-F238E27FC236}">
                <a16:creationId xmlns:a16="http://schemas.microsoft.com/office/drawing/2014/main" id="{4D864EA6-0C44-4D97-8341-F81E78D0A0CE}"/>
              </a:ext>
            </a:extLst>
          </p:cNvPr>
          <p:cNvSpPr>
            <a:spLocks xmlns:a="http://schemas.openxmlformats.org/drawingml/2006/main" noGrp="1"/>
          </p:cNvSpPr>
          <p:nvPr/>
        </p:nvSpPr>
        <p:spPr>
          <a:xfrm xmlns:a="http://schemas.openxmlformats.org/drawingml/2006/main">
            <a:off x="4762500" y="31337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03</a:t>
            </a:r>
          </a:p>
        </p:txBody>
      </p:sp>
      <p:sp>
        <p:nvSpPr>
          <p:cNvPr id="17" name="s3-bullet-2">
            <a:extLst xmlns:a="http://schemas.openxmlformats.org/drawingml/2006/main">
              <a:ext uri="{FF2B5EF4-FFF2-40B4-BE49-F238E27FC236}">
                <a16:creationId xmlns:a16="http://schemas.microsoft.com/office/drawing/2014/main" id="{639FD389-A61D-4FF3-BBA4-4D241660EA10}"/>
              </a:ext>
            </a:extLst>
          </p:cNvPr>
          <p:cNvSpPr>
            <a:spLocks xmlns:a="http://schemas.openxmlformats.org/drawingml/2006/main" noGrp="1"/>
          </p:cNvSpPr>
          <p:nvPr/>
        </p:nvSpPr>
        <p:spPr>
          <a:xfrm xmlns:a="http://schemas.openxmlformats.org/drawingml/2006/main">
            <a:off x="5162550" y="30861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16233F"/>
                </a:solidFill>
                <a:latin typeface="Arial"/>
                <a:ea typeface="Arial"/>
                <a:cs typeface="Arial"/>
              </a:defRPr>
            </a:pPr>
            <a:r>
              <a:rPr sz="1238" b="0" i="0">
                <a:solidFill>
                  <a:srgbClr val="16233F"/>
                </a:solidFill>
                <a:latin typeface="Arial"/>
                <a:ea typeface="Arial"/>
                <a:cs typeface="Arial"/>
              </a:rPr>
              <a:t>test the path they are taking;</a:t>
            </a:r>
          </a:p>
        </p:txBody>
      </p:sp>
      <p:sp>
        <p:nvSpPr>
          <p:cNvPr id="18" name="rule-500-368">
            <a:extLst xmlns:a="http://schemas.openxmlformats.org/drawingml/2006/main">
              <a:ext uri="{FF2B5EF4-FFF2-40B4-BE49-F238E27FC236}">
                <a16:creationId xmlns:a16="http://schemas.microsoft.com/office/drawing/2014/main" id="{6C99D572-1820-4236-A57E-E597DEEDCE55}"/>
              </a:ext>
            </a:extLst>
          </p:cNvPr>
          <p:cNvSpPr>
            <a:spLocks xmlns:a="http://schemas.openxmlformats.org/drawingml/2006/main" noGrp="1"/>
          </p:cNvSpPr>
          <p:nvPr/>
        </p:nvSpPr>
        <p:spPr>
          <a:xfrm xmlns:a="http://schemas.openxmlformats.org/drawingml/2006/main">
            <a:off x="4762500" y="3505200"/>
            <a:ext cx="6591300" cy="9525"/>
          </a:xfrm>
          <a:prstGeom xmlns:a="http://schemas.openxmlformats.org/drawingml/2006/main" prst="rect">
            <a:avLst/>
          </a:prstGeom>
          <a:solidFill xmlns:a="http://schemas.openxmlformats.org/drawingml/2006/main">
            <a:srgbClr val="16233F">
              <a:alpha val="20000"/>
            </a:srgbClr>
          </a:solidFill>
          <a:ln xmlns:a="http://schemas.openxmlformats.org/drawingml/2006/main" w="0">
            <a:noFill/>
            <a:prstDash val="solid"/>
          </a:ln>
        </p:spPr>
      </p:sp>
      <p:sp>
        <p:nvSpPr>
          <p:cNvPr id="19" name="s3-num-3">
            <a:extLst xmlns:a="http://schemas.openxmlformats.org/drawingml/2006/main">
              <a:ext uri="{FF2B5EF4-FFF2-40B4-BE49-F238E27FC236}">
                <a16:creationId xmlns:a16="http://schemas.microsoft.com/office/drawing/2014/main" id="{64DA733F-CEAF-474D-94E4-7D0AE618C5F8}"/>
              </a:ext>
            </a:extLst>
          </p:cNvPr>
          <p:cNvSpPr>
            <a:spLocks xmlns:a="http://schemas.openxmlformats.org/drawingml/2006/main" noGrp="1"/>
          </p:cNvSpPr>
          <p:nvPr/>
        </p:nvSpPr>
        <p:spPr>
          <a:xfrm xmlns:a="http://schemas.openxmlformats.org/drawingml/2006/main">
            <a:off x="4762500" y="36480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04</a:t>
            </a:r>
          </a:p>
        </p:txBody>
      </p:sp>
      <p:sp>
        <p:nvSpPr>
          <p:cNvPr id="20" name="s3-bullet-3">
            <a:extLst xmlns:a="http://schemas.openxmlformats.org/drawingml/2006/main">
              <a:ext uri="{FF2B5EF4-FFF2-40B4-BE49-F238E27FC236}">
                <a16:creationId xmlns:a16="http://schemas.microsoft.com/office/drawing/2014/main" id="{8E0A8750-283E-4DEA-9D97-79F4A18D7341}"/>
              </a:ext>
            </a:extLst>
          </p:cNvPr>
          <p:cNvSpPr>
            <a:spLocks xmlns:a="http://schemas.openxmlformats.org/drawingml/2006/main" noGrp="1"/>
          </p:cNvSpPr>
          <p:nvPr/>
        </p:nvSpPr>
        <p:spPr>
          <a:xfrm xmlns:a="http://schemas.openxmlformats.org/drawingml/2006/main">
            <a:off x="5162550" y="36004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16233F"/>
                </a:solidFill>
                <a:latin typeface="Arial"/>
                <a:ea typeface="Arial"/>
                <a:cs typeface="Arial"/>
              </a:defRPr>
            </a:pPr>
            <a:r>
              <a:rPr sz="1238" b="0" i="0">
                <a:solidFill>
                  <a:srgbClr val="16233F"/>
                </a:solidFill>
                <a:latin typeface="Arial"/>
                <a:ea typeface="Arial"/>
                <a:cs typeface="Arial"/>
              </a:rPr>
              <a:t>uncover blind spots that could change the answer; and</a:t>
            </a:r>
          </a:p>
        </p:txBody>
      </p:sp>
      <p:sp>
        <p:nvSpPr>
          <p:cNvPr id="21" name="rule-500-422">
            <a:extLst xmlns:a="http://schemas.openxmlformats.org/drawingml/2006/main">
              <a:ext uri="{FF2B5EF4-FFF2-40B4-BE49-F238E27FC236}">
                <a16:creationId xmlns:a16="http://schemas.microsoft.com/office/drawing/2014/main" id="{0FAC0728-87DA-40EA-85A3-6F8FBE26F17B}"/>
              </a:ext>
            </a:extLst>
          </p:cNvPr>
          <p:cNvSpPr>
            <a:spLocks xmlns:a="http://schemas.openxmlformats.org/drawingml/2006/main" noGrp="1"/>
          </p:cNvSpPr>
          <p:nvPr/>
        </p:nvSpPr>
        <p:spPr>
          <a:xfrm xmlns:a="http://schemas.openxmlformats.org/drawingml/2006/main">
            <a:off x="4762500" y="4019550"/>
            <a:ext cx="6591300" cy="9525"/>
          </a:xfrm>
          <a:prstGeom xmlns:a="http://schemas.openxmlformats.org/drawingml/2006/main" prst="rect">
            <a:avLst/>
          </a:prstGeom>
          <a:solidFill xmlns:a="http://schemas.openxmlformats.org/drawingml/2006/main">
            <a:srgbClr val="16233F">
              <a:alpha val="20000"/>
            </a:srgbClr>
          </a:solidFill>
          <a:ln xmlns:a="http://schemas.openxmlformats.org/drawingml/2006/main" w="0">
            <a:noFill/>
            <a:prstDash val="solid"/>
          </a:ln>
        </p:spPr>
      </p:sp>
      <p:sp>
        <p:nvSpPr>
          <p:cNvPr id="22" name="s3-num-4">
            <a:extLst xmlns:a="http://schemas.openxmlformats.org/drawingml/2006/main">
              <a:ext uri="{FF2B5EF4-FFF2-40B4-BE49-F238E27FC236}">
                <a16:creationId xmlns:a16="http://schemas.microsoft.com/office/drawing/2014/main" id="{B4CCD6D2-589B-404E-ADBD-17CC22147B17}"/>
              </a:ext>
            </a:extLst>
          </p:cNvPr>
          <p:cNvSpPr>
            <a:spLocks xmlns:a="http://schemas.openxmlformats.org/drawingml/2006/main" noGrp="1"/>
          </p:cNvSpPr>
          <p:nvPr/>
        </p:nvSpPr>
        <p:spPr>
          <a:xfrm xmlns:a="http://schemas.openxmlformats.org/drawingml/2006/main">
            <a:off x="4762500" y="41624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05</a:t>
            </a:r>
          </a:p>
        </p:txBody>
      </p:sp>
      <p:sp>
        <p:nvSpPr>
          <p:cNvPr id="23" name="s3-bullet-4">
            <a:extLst xmlns:a="http://schemas.openxmlformats.org/drawingml/2006/main">
              <a:ext uri="{FF2B5EF4-FFF2-40B4-BE49-F238E27FC236}">
                <a16:creationId xmlns:a16="http://schemas.microsoft.com/office/drawing/2014/main" id="{E86BBBA8-4353-4FDD-AEF7-BD42590B5148}"/>
              </a:ext>
            </a:extLst>
          </p:cNvPr>
          <p:cNvSpPr>
            <a:spLocks xmlns:a="http://schemas.openxmlformats.org/drawingml/2006/main" noGrp="1"/>
          </p:cNvSpPr>
          <p:nvPr/>
        </p:nvSpPr>
        <p:spPr>
          <a:xfrm xmlns:a="http://schemas.openxmlformats.org/drawingml/2006/main">
            <a:off x="5162550" y="41148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16233F"/>
                </a:solidFill>
                <a:latin typeface="Arial"/>
                <a:ea typeface="Arial"/>
                <a:cs typeface="Arial"/>
              </a:defRPr>
            </a:pPr>
            <a:r>
              <a:rPr sz="1238" b="0" i="0">
                <a:solidFill>
                  <a:srgbClr val="16233F"/>
                </a:solidFill>
                <a:latin typeface="Arial"/>
                <a:ea typeface="Arial"/>
                <a:cs typeface="Arial"/>
              </a:rPr>
              <a:t>preserve the context and reasoning that support the final call.</a:t>
            </a:r>
          </a:p>
        </p:txBody>
      </p:sp>
      <p:sp>
        <p:nvSpPr>
          <p:cNvPr id="24" name="rule-500-476">
            <a:extLst xmlns:a="http://schemas.openxmlformats.org/drawingml/2006/main">
              <a:ext uri="{FF2B5EF4-FFF2-40B4-BE49-F238E27FC236}">
                <a16:creationId xmlns:a16="http://schemas.microsoft.com/office/drawing/2014/main" id="{3D4074C2-B5DC-4809-9C26-7E7693EADF34}"/>
              </a:ext>
            </a:extLst>
          </p:cNvPr>
          <p:cNvSpPr>
            <a:spLocks xmlns:a="http://schemas.openxmlformats.org/drawingml/2006/main" noGrp="1"/>
          </p:cNvSpPr>
          <p:nvPr/>
        </p:nvSpPr>
        <p:spPr>
          <a:xfrm xmlns:a="http://schemas.openxmlformats.org/drawingml/2006/main">
            <a:off x="4762500" y="4533900"/>
            <a:ext cx="6591300" cy="9525"/>
          </a:xfrm>
          <a:prstGeom xmlns:a="http://schemas.openxmlformats.org/drawingml/2006/main" prst="rect">
            <a:avLst/>
          </a:prstGeom>
          <a:solidFill xmlns:a="http://schemas.openxmlformats.org/drawingml/2006/main">
            <a:srgbClr val="16233F">
              <a:alpha val="20000"/>
            </a:srgbClr>
          </a:solidFill>
          <a:ln xmlns:a="http://schemas.openxmlformats.org/drawingml/2006/main" w="0">
            <a:noFill/>
            <a:prstDash val="solid"/>
          </a:ln>
        </p:spPr>
      </p:sp>
      <p:sp>
        <p:nvSpPr>
          <p:cNvPr id="25" name="s3-bottom">
            <a:extLst xmlns:a="http://schemas.openxmlformats.org/drawingml/2006/main">
              <a:ext uri="{FF2B5EF4-FFF2-40B4-BE49-F238E27FC236}">
                <a16:creationId xmlns:a16="http://schemas.microsoft.com/office/drawing/2014/main" id="{E380892F-1818-48CE-8FA3-1BEB9BD25044}"/>
              </a:ext>
            </a:extLst>
          </p:cNvPr>
          <p:cNvSpPr>
            <a:spLocks xmlns:a="http://schemas.openxmlformats.org/drawingml/2006/main" noGrp="1"/>
          </p:cNvSpPr>
          <p:nvPr/>
        </p:nvSpPr>
        <p:spPr>
          <a:xfrm xmlns:a="http://schemas.openxmlformats.org/drawingml/2006/main">
            <a:off x="0" y="4953000"/>
            <a:ext cx="12192000" cy="1905000"/>
          </a:xfrm>
          <a:prstGeom xmlns:a="http://schemas.openxmlformats.org/drawingml/2006/main" prst="rect">
            <a:avLst/>
          </a:prstGeom>
          <a:solidFill xmlns:a="http://schemas.openxmlformats.org/drawingml/2006/main">
            <a:srgbClr val="16233F"/>
          </a:solidFill>
          <a:ln xmlns:a="http://schemas.openxmlformats.org/drawingml/2006/main" w="0">
            <a:noFill/>
            <a:prstDash val="solid"/>
          </a:ln>
        </p:spPr>
      </p:sp>
      <p:sp>
        <p:nvSpPr>
          <p:cNvPr id="26" name="s3-confidence-kicker">
            <a:extLst xmlns:a="http://schemas.openxmlformats.org/drawingml/2006/main">
              <a:ext uri="{FF2B5EF4-FFF2-40B4-BE49-F238E27FC236}">
                <a16:creationId xmlns:a16="http://schemas.microsoft.com/office/drawing/2014/main" id="{07431DC6-A759-4341-8517-5F810FBB39E2}"/>
              </a:ext>
            </a:extLst>
          </p:cNvPr>
          <p:cNvSpPr>
            <a:spLocks xmlns:a="http://schemas.openxmlformats.org/drawingml/2006/main" noGrp="1"/>
          </p:cNvSpPr>
          <p:nvPr/>
        </p:nvSpPr>
        <p:spPr>
          <a:xfrm xmlns:a="http://schemas.openxmlformats.org/drawingml/2006/main">
            <a:off x="514350" y="52197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2E8984"/>
                </a:solidFill>
                <a:latin typeface="Arial"/>
                <a:ea typeface="Arial"/>
                <a:cs typeface="Arial"/>
              </a:defRPr>
            </a:pPr>
            <a:r>
              <a:rPr sz="900" b="1" i="0">
                <a:solidFill>
                  <a:srgbClr val="2E8984"/>
                </a:solidFill>
                <a:latin typeface="Arial"/>
                <a:ea typeface="Arial"/>
                <a:cs typeface="Arial"/>
              </a:rPr>
              <a:t>WHAT “CONFIDENCE” MEANS</a:t>
            </a:r>
          </a:p>
        </p:txBody>
      </p:sp>
      <p:sp>
        <p:nvSpPr>
          <p:cNvPr id="27" name="s3-confidence">
            <a:extLst xmlns:a="http://schemas.openxmlformats.org/drawingml/2006/main">
              <a:ext uri="{FF2B5EF4-FFF2-40B4-BE49-F238E27FC236}">
                <a16:creationId xmlns:a16="http://schemas.microsoft.com/office/drawing/2014/main" id="{5F7A64E6-3073-4962-8C71-13CAFFD5C900}"/>
              </a:ext>
            </a:extLst>
          </p:cNvPr>
          <p:cNvSpPr>
            <a:spLocks xmlns:a="http://schemas.openxmlformats.org/drawingml/2006/main" noGrp="1"/>
          </p:cNvSpPr>
          <p:nvPr/>
        </p:nvSpPr>
        <p:spPr>
          <a:xfrm xmlns:a="http://schemas.openxmlformats.org/drawingml/2006/main">
            <a:off x="514350" y="5505450"/>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38" b="0" i="0">
                <a:solidFill>
                  <a:srgbClr val="FCFAF4"/>
                </a:solidFill>
                <a:latin typeface="Arial"/>
                <a:ea typeface="Arial"/>
                <a:cs typeface="Arial"/>
              </a:defRPr>
            </a:pPr>
            <a:r>
              <a:rPr sz="1238" b="0" i="0">
                <a:solidFill>
                  <a:srgbClr val="FCFAF4"/>
                </a:solidFill>
                <a:latin typeface="Arial"/>
                <a:ea typeface="Arial"/>
                <a:cs typeface="Arial"/>
              </a:rPr>
              <a:t>Confidence is not certainty. It comes from seeing the terrain more clearly: the questions, risks, assumptions, sources, alternatives, and remaining unknowns. The lawyer can then explain why they chose the path they did.</a:t>
            </a:r>
          </a:p>
        </p:txBody>
      </p:sp>
      <p:sp>
        <p:nvSpPr>
          <p:cNvPr id="28" name="s3-implication-kicker">
            <a:extLst xmlns:a="http://schemas.openxmlformats.org/drawingml/2006/main">
              <a:ext uri="{FF2B5EF4-FFF2-40B4-BE49-F238E27FC236}">
                <a16:creationId xmlns:a16="http://schemas.microsoft.com/office/drawing/2014/main" id="{EB7B9D84-AA3D-4499-BC4C-AD98AFDFA0C3}"/>
              </a:ext>
            </a:extLst>
          </p:cNvPr>
          <p:cNvSpPr>
            <a:spLocks xmlns:a="http://schemas.openxmlformats.org/drawingml/2006/main" noGrp="1"/>
          </p:cNvSpPr>
          <p:nvPr/>
        </p:nvSpPr>
        <p:spPr>
          <a:xfrm xmlns:a="http://schemas.openxmlformats.org/drawingml/2006/main">
            <a:off x="6381750" y="5219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IMPLICATION</a:t>
            </a:r>
          </a:p>
        </p:txBody>
      </p:sp>
      <p:sp>
        <p:nvSpPr>
          <p:cNvPr id="29" name="s3-implication">
            <a:extLst xmlns:a="http://schemas.openxmlformats.org/drawingml/2006/main">
              <a:ext uri="{FF2B5EF4-FFF2-40B4-BE49-F238E27FC236}">
                <a16:creationId xmlns:a16="http://schemas.microsoft.com/office/drawing/2014/main" id="{F240131E-A1A0-48E1-9F58-3EDA59F3BD41}"/>
              </a:ext>
            </a:extLst>
          </p:cNvPr>
          <p:cNvSpPr>
            <a:spLocks xmlns:a="http://schemas.openxmlformats.org/drawingml/2006/main" noGrp="1"/>
          </p:cNvSpPr>
          <p:nvPr/>
        </p:nvSpPr>
        <p:spPr>
          <a:xfrm xmlns:a="http://schemas.openxmlformats.org/drawingml/2006/main">
            <a:off x="6381750" y="550545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1" i="0">
                <a:solidFill>
                  <a:srgbClr val="FCFAF4"/>
                </a:solidFill>
                <a:latin typeface="Georgia"/>
                <a:ea typeface="Georgia"/>
                <a:cs typeface="Georgia"/>
              </a:defRPr>
            </a:pPr>
            <a:r>
              <a:rPr sz="1425" b="1" i="0">
                <a:solidFill>
                  <a:srgbClr val="FCFAF4"/>
                </a:solidFill>
                <a:latin typeface="Georgia"/>
                <a:ea typeface="Georgia"/>
                <a:cs typeface="Georgia"/>
              </a:rPr>
              <a:t>The product's job is not to perform legal authority. It is to improve the conditions under which the lawyer exercises it.</a:t>
            </a:r>
          </a:p>
        </p:txBody>
      </p:sp>
    </p:spTree>
    <p:extLst>
      <p:ext uri="{BB962C8B-B14F-4D97-AF65-F5344CB8AC3E}">
        <p14:creationId xmlns:p14="http://schemas.microsoft.com/office/powerpoint/2010/main" val="794460595"/>
      </p:ext>
    </p:extLst>
  </p:cSld>
</p:sld>
</file>

<file path=ppt/slides/slide4.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20" name="kicker-4">
            <a:extLst xmlns:a="http://schemas.openxmlformats.org/drawingml/2006/main">
              <a:ext uri="{FF2B5EF4-FFF2-40B4-BE49-F238E27FC236}">
                <a16:creationId xmlns:a16="http://schemas.microsoft.com/office/drawing/2014/main" id="{E84225B9-25C9-48D5-8D2F-F57E7D5840A5}"/>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THEMIS THESIS  /  04</a:t>
            </a:r>
          </a:p>
        </p:txBody>
      </p:sp>
      <p:sp>
        <p:nvSpPr>
          <p:cNvPr id="2" name="title-4">
            <a:extLst xmlns:a="http://schemas.openxmlformats.org/drawingml/2006/main">
              <a:ext uri="{FF2B5EF4-FFF2-40B4-BE49-F238E27FC236}">
                <a16:creationId xmlns:a16="http://schemas.microsoft.com/office/drawing/2014/main" id="{D64DDA2A-FD96-4D7F-A196-002B28E80B5A}"/>
              </a:ext>
            </a:extLst>
          </p:cNvPr>
          <p:cNvSpPr>
            <a:spLocks xmlns:a="http://schemas.openxmlformats.org/drawingml/2006/main" noGrp="1"/>
          </p:cNvSpPr>
          <p:nvPr/>
        </p:nvSpPr>
        <p:spPr>
          <a:xfrm xmlns:a="http://schemas.openxmlformats.org/drawingml/2006/main">
            <a:off x="514350" y="60960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700" b="1" i="0">
                <a:solidFill>
                  <a:srgbClr val="16233F"/>
                </a:solidFill>
                <a:latin typeface="Georgia"/>
                <a:ea typeface="Georgia"/>
                <a:cs typeface="Georgia"/>
              </a:defRPr>
            </a:pPr>
            <a:r>
              <a:rPr sz="2700" b="1" i="0">
                <a:solidFill>
                  <a:srgbClr val="16233F"/>
                </a:solidFill>
                <a:latin typeface="Georgia"/>
                <a:ea typeface="Georgia"/>
                <a:cs typeface="Georgia"/>
              </a:rPr>
              <a:t>Lawyers are not only asking for faster work. They want a second perspective as they work through the decision.</a:t>
            </a:r>
          </a:p>
        </p:txBody>
      </p:sp>
      <p:sp>
        <p:nvSpPr>
          <p:cNvPr id="3" name="s4-context-ground">
            <a:extLst xmlns:a="http://schemas.openxmlformats.org/drawingml/2006/main">
              <a:ext uri="{FF2B5EF4-FFF2-40B4-BE49-F238E27FC236}">
                <a16:creationId xmlns:a16="http://schemas.microsoft.com/office/drawing/2014/main" id="{994E0951-ED80-4F43-BE9D-13E7559058A7}"/>
              </a:ext>
            </a:extLst>
          </p:cNvPr>
          <p:cNvSpPr>
            <a:spLocks xmlns:a="http://schemas.openxmlformats.org/drawingml/2006/main" noGrp="1"/>
          </p:cNvSpPr>
          <p:nvPr/>
        </p:nvSpPr>
        <p:spPr>
          <a:xfrm xmlns:a="http://schemas.openxmlformats.org/drawingml/2006/main">
            <a:off x="514350" y="1581150"/>
            <a:ext cx="11163300" cy="838200"/>
          </a:xfrm>
          <a:prstGeom xmlns:a="http://schemas.openxmlformats.org/drawingml/2006/main" prst="roundRect">
            <a:avLst>
              <a:gd name="adj" fmla="val 9091"/>
            </a:avLst>
          </a:prstGeom>
          <a:solidFill xmlns:a="http://schemas.openxmlformats.org/drawingml/2006/main">
            <a:srgbClr val="FCFAF4"/>
          </a:solidFill>
          <a:ln xmlns:a="http://schemas.openxmlformats.org/drawingml/2006/main" w="0">
            <a:noFill/>
            <a:prstDash val="solid"/>
          </a:ln>
        </p:spPr>
      </p:sp>
      <p:sp>
        <p:nvSpPr>
          <p:cNvPr id="4" name="s4-context">
            <a:extLst xmlns:a="http://schemas.openxmlformats.org/drawingml/2006/main">
              <a:ext uri="{FF2B5EF4-FFF2-40B4-BE49-F238E27FC236}">
                <a16:creationId xmlns:a16="http://schemas.microsoft.com/office/drawing/2014/main" id="{C21A5DCE-5EEB-4772-B680-989B3F9B89BF}"/>
              </a:ext>
            </a:extLst>
          </p:cNvPr>
          <p:cNvSpPr>
            <a:spLocks xmlns:a="http://schemas.openxmlformats.org/drawingml/2006/main" noGrp="1"/>
          </p:cNvSpPr>
          <p:nvPr/>
        </p:nvSpPr>
        <p:spPr>
          <a:xfrm xmlns:a="http://schemas.openxmlformats.org/drawingml/2006/main">
            <a:off x="742950" y="1733550"/>
            <a:ext cx="10706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38" b="0" i="0">
                <a:solidFill>
                  <a:srgbClr val="16233F"/>
                </a:solidFill>
                <a:latin typeface="Arial"/>
                <a:ea typeface="Arial"/>
                <a:cs typeface="Arial"/>
              </a:defRPr>
            </a:pPr>
            <a:r>
              <a:rPr sz="1238" b="0" i="0">
                <a:solidFill>
                  <a:srgbClr val="16233F"/>
                </a:solidFill>
                <a:latin typeface="Arial"/>
                <a:ea typeface="Arial"/>
                <a:cs typeface="Arial"/>
              </a:rPr>
              <a:t>Across four interviews with in-house lawyers and 203 de-duplicated Reddit discussions about legal AI, the requested tasks and features varied. The recurring need was more consistent: a capable second perspective that helps the lawyer examine the question, test their reasoning, and decide with confidence.</a:t>
            </a:r>
          </a:p>
        </p:txBody>
      </p:sp>
      <p:sp>
        <p:nvSpPr>
          <p:cNvPr id="5" name="rule-54-286">
            <a:extLst xmlns:a="http://schemas.openxmlformats.org/drawingml/2006/main">
              <a:ext uri="{FF2B5EF4-FFF2-40B4-BE49-F238E27FC236}">
                <a16:creationId xmlns:a16="http://schemas.microsoft.com/office/drawing/2014/main" id="{8172F34C-1F1A-4CAA-83D1-792E4BCB068E}"/>
              </a:ext>
            </a:extLst>
          </p:cNvPr>
          <p:cNvSpPr>
            <a:spLocks xmlns:a="http://schemas.openxmlformats.org/drawingml/2006/main" noGrp="1"/>
          </p:cNvSpPr>
          <p:nvPr/>
        </p:nvSpPr>
        <p:spPr>
          <a:xfrm xmlns:a="http://schemas.openxmlformats.org/drawingml/2006/main">
            <a:off x="514350" y="2724150"/>
            <a:ext cx="5105400" cy="47625"/>
          </a:xfrm>
          <a:prstGeom xmlns:a="http://schemas.openxmlformats.org/drawingml/2006/main" prst="rect">
            <a:avLst/>
          </a:prstGeom>
          <a:solidFill xmlns:a="http://schemas.openxmlformats.org/drawingml/2006/main">
            <a:srgbClr val="16233F"/>
          </a:solidFill>
          <a:ln xmlns:a="http://schemas.openxmlformats.org/drawingml/2006/main" w="0">
            <a:noFill/>
            <a:prstDash val="solid"/>
          </a:ln>
        </p:spPr>
      </p:sp>
      <p:sp>
        <p:nvSpPr>
          <p:cNvPr id="6" name="s4-quote-0">
            <a:extLst xmlns:a="http://schemas.openxmlformats.org/drawingml/2006/main">
              <a:ext uri="{FF2B5EF4-FFF2-40B4-BE49-F238E27FC236}">
                <a16:creationId xmlns:a16="http://schemas.microsoft.com/office/drawing/2014/main" id="{D5570554-4DA8-4B7D-95B6-24F98E6532FC}"/>
              </a:ext>
            </a:extLst>
          </p:cNvPr>
          <p:cNvSpPr>
            <a:spLocks xmlns:a="http://schemas.openxmlformats.org/drawingml/2006/main" noGrp="1"/>
          </p:cNvSpPr>
          <p:nvPr/>
        </p:nvSpPr>
        <p:spPr>
          <a:xfrm xmlns:a="http://schemas.openxmlformats.org/drawingml/2006/main">
            <a:off x="514350" y="2876550"/>
            <a:ext cx="510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16233F"/>
                </a:solidFill>
                <a:latin typeface="Georgia"/>
                <a:ea typeface="Georgia"/>
                <a:cs typeface="Georgia"/>
              </a:defRPr>
            </a:pPr>
            <a:r>
              <a:rPr sz="1650" b="1" i="0">
                <a:solidFill>
                  <a:srgbClr val="16233F"/>
                </a:solidFill>
                <a:latin typeface="Georgia"/>
                <a:ea typeface="Georgia"/>
                <a:cs typeface="Georgia"/>
              </a:rPr>
              <a:t>“I need someone to think with.”</a:t>
            </a:r>
          </a:p>
        </p:txBody>
      </p:sp>
      <p:sp>
        <p:nvSpPr>
          <p:cNvPr id="7" name="s4-voice-0">
            <a:extLst xmlns:a="http://schemas.openxmlformats.org/drawingml/2006/main">
              <a:ext uri="{FF2B5EF4-FFF2-40B4-BE49-F238E27FC236}">
                <a16:creationId xmlns:a16="http://schemas.microsoft.com/office/drawing/2014/main" id="{78BF23B8-23DF-4113-8B47-C265892A3163}"/>
              </a:ext>
            </a:extLst>
          </p:cNvPr>
          <p:cNvSpPr>
            <a:spLocks xmlns:a="http://schemas.openxmlformats.org/drawingml/2006/main" noGrp="1"/>
          </p:cNvSpPr>
          <p:nvPr/>
        </p:nvSpPr>
        <p:spPr>
          <a:xfrm xmlns:a="http://schemas.openxmlformats.org/drawingml/2006/main">
            <a:off x="514350" y="3276600"/>
            <a:ext cx="5105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16233F"/>
                </a:solidFill>
                <a:latin typeface="Arial"/>
                <a:ea typeface="Arial"/>
                <a:cs typeface="Arial"/>
              </a:defRPr>
            </a:pPr>
            <a:r>
              <a:rPr sz="1163" b="0" i="0">
                <a:solidFill>
                  <a:srgbClr val="16233F"/>
                </a:solidFill>
                <a:latin typeface="Arial"/>
                <a:ea typeface="Arial"/>
                <a:cs typeface="Arial"/>
              </a:rPr>
              <a:t>A second legal perspective helps the lawyer work through ambiguity instead of facing a blank page or a finished answer.</a:t>
            </a:r>
          </a:p>
        </p:txBody>
      </p:sp>
      <p:sp>
        <p:nvSpPr>
          <p:cNvPr id="8" name="rule-654-286">
            <a:extLst xmlns:a="http://schemas.openxmlformats.org/drawingml/2006/main">
              <a:ext uri="{FF2B5EF4-FFF2-40B4-BE49-F238E27FC236}">
                <a16:creationId xmlns:a16="http://schemas.microsoft.com/office/drawing/2014/main" id="{4E6463F2-04B5-4C63-9D69-72ADBEDA41F3}"/>
              </a:ext>
            </a:extLst>
          </p:cNvPr>
          <p:cNvSpPr>
            <a:spLocks xmlns:a="http://schemas.openxmlformats.org/drawingml/2006/main" noGrp="1"/>
          </p:cNvSpPr>
          <p:nvPr/>
        </p:nvSpPr>
        <p:spPr>
          <a:xfrm xmlns:a="http://schemas.openxmlformats.org/drawingml/2006/main">
            <a:off x="6229350" y="2724150"/>
            <a:ext cx="5105400" cy="47625"/>
          </a:xfrm>
          <a:prstGeom xmlns:a="http://schemas.openxmlformats.org/drawingml/2006/main" prst="rect">
            <a:avLst/>
          </a:prstGeom>
          <a:solidFill xmlns:a="http://schemas.openxmlformats.org/drawingml/2006/main">
            <a:srgbClr val="C79A2B"/>
          </a:solidFill>
          <a:ln xmlns:a="http://schemas.openxmlformats.org/drawingml/2006/main" w="0">
            <a:noFill/>
            <a:prstDash val="solid"/>
          </a:ln>
        </p:spPr>
      </p:sp>
      <p:sp>
        <p:nvSpPr>
          <p:cNvPr id="9" name="s4-quote-1">
            <a:extLst xmlns:a="http://schemas.openxmlformats.org/drawingml/2006/main">
              <a:ext uri="{FF2B5EF4-FFF2-40B4-BE49-F238E27FC236}">
                <a16:creationId xmlns:a16="http://schemas.microsoft.com/office/drawing/2014/main" id="{B623237B-1CFE-4702-9F1A-15226922BAAA}"/>
              </a:ext>
            </a:extLst>
          </p:cNvPr>
          <p:cNvSpPr>
            <a:spLocks xmlns:a="http://schemas.openxmlformats.org/drawingml/2006/main" noGrp="1"/>
          </p:cNvSpPr>
          <p:nvPr/>
        </p:nvSpPr>
        <p:spPr>
          <a:xfrm xmlns:a="http://schemas.openxmlformats.org/drawingml/2006/main">
            <a:off x="6229350" y="2876550"/>
            <a:ext cx="510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16233F"/>
                </a:solidFill>
                <a:latin typeface="Georgia"/>
                <a:ea typeface="Georgia"/>
                <a:cs typeface="Georgia"/>
              </a:defRPr>
            </a:pPr>
            <a:r>
              <a:rPr sz="1650" b="1" i="0">
                <a:solidFill>
                  <a:srgbClr val="16233F"/>
                </a:solidFill>
                <a:latin typeface="Georgia"/>
                <a:ea typeface="Georgia"/>
                <a:cs typeface="Georgia"/>
              </a:rPr>
              <a:t>“I need to know what I may have missed.”</a:t>
            </a:r>
          </a:p>
        </p:txBody>
      </p:sp>
      <p:sp>
        <p:nvSpPr>
          <p:cNvPr id="10" name="s4-voice-1">
            <a:extLst xmlns:a="http://schemas.openxmlformats.org/drawingml/2006/main">
              <a:ext uri="{FF2B5EF4-FFF2-40B4-BE49-F238E27FC236}">
                <a16:creationId xmlns:a16="http://schemas.microsoft.com/office/drawing/2014/main" id="{835466BF-DBC7-4E24-BA9D-55D8785C271D}"/>
              </a:ext>
            </a:extLst>
          </p:cNvPr>
          <p:cNvSpPr>
            <a:spLocks xmlns:a="http://schemas.openxmlformats.org/drawingml/2006/main" noGrp="1"/>
          </p:cNvSpPr>
          <p:nvPr/>
        </p:nvSpPr>
        <p:spPr>
          <a:xfrm xmlns:a="http://schemas.openxmlformats.org/drawingml/2006/main">
            <a:off x="6229350" y="3276600"/>
            <a:ext cx="5105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16233F"/>
                </a:solidFill>
                <a:latin typeface="Arial"/>
                <a:ea typeface="Arial"/>
                <a:cs typeface="Arial"/>
              </a:defRPr>
            </a:pPr>
            <a:r>
              <a:rPr sz="1163" b="0" i="0">
                <a:solidFill>
                  <a:srgbClr val="16233F"/>
                </a:solidFill>
                <a:latin typeface="Arial"/>
                <a:ea typeface="Arial"/>
                <a:cs typeface="Arial"/>
              </a:rPr>
              <a:t>The lawyer wants thoughtful challenge: another issue, another fact, another interpretation, or another consequence that could change the path.</a:t>
            </a:r>
          </a:p>
        </p:txBody>
      </p:sp>
      <p:sp>
        <p:nvSpPr>
          <p:cNvPr id="11" name="rule-54-424">
            <a:extLst xmlns:a="http://schemas.openxmlformats.org/drawingml/2006/main">
              <a:ext uri="{FF2B5EF4-FFF2-40B4-BE49-F238E27FC236}">
                <a16:creationId xmlns:a16="http://schemas.microsoft.com/office/drawing/2014/main" id="{91FD3884-AB0D-4B11-8489-38FD1DC912E1}"/>
              </a:ext>
            </a:extLst>
          </p:cNvPr>
          <p:cNvSpPr>
            <a:spLocks xmlns:a="http://schemas.openxmlformats.org/drawingml/2006/main" noGrp="1"/>
          </p:cNvSpPr>
          <p:nvPr/>
        </p:nvSpPr>
        <p:spPr>
          <a:xfrm xmlns:a="http://schemas.openxmlformats.org/drawingml/2006/main">
            <a:off x="514350" y="4038600"/>
            <a:ext cx="5105400" cy="47625"/>
          </a:xfrm>
          <a:prstGeom xmlns:a="http://schemas.openxmlformats.org/drawingml/2006/main" prst="rect">
            <a:avLst/>
          </a:prstGeom>
          <a:solidFill xmlns:a="http://schemas.openxmlformats.org/drawingml/2006/main">
            <a:srgbClr val="16233F"/>
          </a:solidFill>
          <a:ln xmlns:a="http://schemas.openxmlformats.org/drawingml/2006/main" w="0">
            <a:noFill/>
            <a:prstDash val="solid"/>
          </a:ln>
        </p:spPr>
      </p:sp>
      <p:sp>
        <p:nvSpPr>
          <p:cNvPr id="12" name="s4-quote-2">
            <a:extLst xmlns:a="http://schemas.openxmlformats.org/drawingml/2006/main">
              <a:ext uri="{FF2B5EF4-FFF2-40B4-BE49-F238E27FC236}">
                <a16:creationId xmlns:a16="http://schemas.microsoft.com/office/drawing/2014/main" id="{52E70A37-A798-48C4-9C81-6BB96B8E1327}"/>
              </a:ext>
            </a:extLst>
          </p:cNvPr>
          <p:cNvSpPr>
            <a:spLocks xmlns:a="http://schemas.openxmlformats.org/drawingml/2006/main" noGrp="1"/>
          </p:cNvSpPr>
          <p:nvPr/>
        </p:nvSpPr>
        <p:spPr>
          <a:xfrm xmlns:a="http://schemas.openxmlformats.org/drawingml/2006/main">
            <a:off x="514350" y="4191000"/>
            <a:ext cx="510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16233F"/>
                </a:solidFill>
                <a:latin typeface="Georgia"/>
                <a:ea typeface="Georgia"/>
                <a:cs typeface="Georgia"/>
              </a:defRPr>
            </a:pPr>
            <a:r>
              <a:rPr sz="1650" b="1" i="0">
                <a:solidFill>
                  <a:srgbClr val="16233F"/>
                </a:solidFill>
                <a:latin typeface="Georgia"/>
                <a:ea typeface="Georgia"/>
                <a:cs typeface="Georgia"/>
              </a:rPr>
              <a:t>“I need support that respects my judgment.”</a:t>
            </a:r>
          </a:p>
        </p:txBody>
      </p:sp>
      <p:sp>
        <p:nvSpPr>
          <p:cNvPr id="13" name="s4-voice-2">
            <a:extLst xmlns:a="http://schemas.openxmlformats.org/drawingml/2006/main">
              <a:ext uri="{FF2B5EF4-FFF2-40B4-BE49-F238E27FC236}">
                <a16:creationId xmlns:a16="http://schemas.microsoft.com/office/drawing/2014/main" id="{5D9921BE-240E-4D10-8B9F-043314E8B48C}"/>
              </a:ext>
            </a:extLst>
          </p:cNvPr>
          <p:cNvSpPr>
            <a:spLocks xmlns:a="http://schemas.openxmlformats.org/drawingml/2006/main" noGrp="1"/>
          </p:cNvSpPr>
          <p:nvPr/>
        </p:nvSpPr>
        <p:spPr>
          <a:xfrm xmlns:a="http://schemas.openxmlformats.org/drawingml/2006/main">
            <a:off x="514350" y="4591050"/>
            <a:ext cx="5105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16233F"/>
                </a:solidFill>
                <a:latin typeface="Arial"/>
                <a:ea typeface="Arial"/>
                <a:cs typeface="Arial"/>
              </a:defRPr>
            </a:pPr>
            <a:r>
              <a:rPr sz="1163" b="0" i="0">
                <a:solidFill>
                  <a:srgbClr val="16233F"/>
                </a:solidFill>
                <a:latin typeface="Arial"/>
                <a:ea typeface="Arial"/>
                <a:cs typeface="Arial"/>
              </a:rPr>
              <a:t>The system can inform, question, and test. The lawyer must remain the author of the decision.</a:t>
            </a:r>
          </a:p>
        </p:txBody>
      </p:sp>
      <p:sp>
        <p:nvSpPr>
          <p:cNvPr id="14" name="rule-654-424">
            <a:extLst xmlns:a="http://schemas.openxmlformats.org/drawingml/2006/main">
              <a:ext uri="{FF2B5EF4-FFF2-40B4-BE49-F238E27FC236}">
                <a16:creationId xmlns:a16="http://schemas.microsoft.com/office/drawing/2014/main" id="{1CDA2B67-459D-4AC6-B774-40B234F1603A}"/>
              </a:ext>
            </a:extLst>
          </p:cNvPr>
          <p:cNvSpPr>
            <a:spLocks xmlns:a="http://schemas.openxmlformats.org/drawingml/2006/main" noGrp="1"/>
          </p:cNvSpPr>
          <p:nvPr/>
        </p:nvSpPr>
        <p:spPr>
          <a:xfrm xmlns:a="http://schemas.openxmlformats.org/drawingml/2006/main">
            <a:off x="6229350" y="4038600"/>
            <a:ext cx="5105400" cy="47625"/>
          </a:xfrm>
          <a:prstGeom xmlns:a="http://schemas.openxmlformats.org/drawingml/2006/main" prst="rect">
            <a:avLst/>
          </a:prstGeom>
          <a:solidFill xmlns:a="http://schemas.openxmlformats.org/drawingml/2006/main">
            <a:srgbClr val="C79A2B"/>
          </a:solidFill>
          <a:ln xmlns:a="http://schemas.openxmlformats.org/drawingml/2006/main" w="0">
            <a:noFill/>
            <a:prstDash val="solid"/>
          </a:ln>
        </p:spPr>
      </p:sp>
      <p:sp>
        <p:nvSpPr>
          <p:cNvPr id="15" name="s4-quote-3">
            <a:extLst xmlns:a="http://schemas.openxmlformats.org/drawingml/2006/main">
              <a:ext uri="{FF2B5EF4-FFF2-40B4-BE49-F238E27FC236}">
                <a16:creationId xmlns:a16="http://schemas.microsoft.com/office/drawing/2014/main" id="{43CDB193-E2DD-442E-AE93-C67033E8EAD3}"/>
              </a:ext>
            </a:extLst>
          </p:cNvPr>
          <p:cNvSpPr>
            <a:spLocks xmlns:a="http://schemas.openxmlformats.org/drawingml/2006/main" noGrp="1"/>
          </p:cNvSpPr>
          <p:nvPr/>
        </p:nvSpPr>
        <p:spPr>
          <a:xfrm xmlns:a="http://schemas.openxmlformats.org/drawingml/2006/main">
            <a:off x="6229350" y="4191000"/>
            <a:ext cx="510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16233F"/>
                </a:solidFill>
                <a:latin typeface="Georgia"/>
                <a:ea typeface="Georgia"/>
                <a:cs typeface="Georgia"/>
              </a:defRPr>
            </a:pPr>
            <a:r>
              <a:rPr sz="1650" b="1" i="0">
                <a:solidFill>
                  <a:srgbClr val="16233F"/>
                </a:solidFill>
                <a:latin typeface="Georgia"/>
                <a:ea typeface="Georgia"/>
                <a:cs typeface="Georgia"/>
              </a:rPr>
              <a:t>“I need my reasoning tested before I rely on it.”</a:t>
            </a:r>
          </a:p>
        </p:txBody>
      </p:sp>
      <p:sp>
        <p:nvSpPr>
          <p:cNvPr id="16" name="s4-voice-3">
            <a:extLst xmlns:a="http://schemas.openxmlformats.org/drawingml/2006/main">
              <a:ext uri="{FF2B5EF4-FFF2-40B4-BE49-F238E27FC236}">
                <a16:creationId xmlns:a16="http://schemas.microsoft.com/office/drawing/2014/main" id="{7A5C9C74-3DBF-49DF-9158-E7000D610E50}"/>
              </a:ext>
            </a:extLst>
          </p:cNvPr>
          <p:cNvSpPr>
            <a:spLocks xmlns:a="http://schemas.openxmlformats.org/drawingml/2006/main" noGrp="1"/>
          </p:cNvSpPr>
          <p:nvPr/>
        </p:nvSpPr>
        <p:spPr>
          <a:xfrm xmlns:a="http://schemas.openxmlformats.org/drawingml/2006/main">
            <a:off x="6229350" y="4591050"/>
            <a:ext cx="5105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16233F"/>
                </a:solidFill>
                <a:latin typeface="Arial"/>
                <a:ea typeface="Arial"/>
                <a:cs typeface="Arial"/>
              </a:defRPr>
            </a:pPr>
            <a:r>
              <a:rPr sz="1163" b="0" i="0">
                <a:solidFill>
                  <a:srgbClr val="16233F"/>
                </a:solidFill>
                <a:latin typeface="Arial"/>
                <a:ea typeface="Arial"/>
                <a:cs typeface="Arial"/>
              </a:rPr>
              <a:t>Confidence becomes fragile when material counterexamples, conflicting facts, or overlooked problems remain outside the lawyer's view. Themis should surface them before the decision is made.</a:t>
            </a:r>
          </a:p>
        </p:txBody>
      </p:sp>
      <p:sp>
        <p:nvSpPr>
          <p:cNvPr id="17" name="s4-bottom">
            <a:extLst xmlns:a="http://schemas.openxmlformats.org/drawingml/2006/main">
              <a:ext uri="{FF2B5EF4-FFF2-40B4-BE49-F238E27FC236}">
                <a16:creationId xmlns:a16="http://schemas.microsoft.com/office/drawing/2014/main" id="{C0DA2281-8E28-42C7-AE5C-70C8CF99E218}"/>
              </a:ext>
            </a:extLst>
          </p:cNvPr>
          <p:cNvSpPr>
            <a:spLocks xmlns:a="http://schemas.openxmlformats.org/drawingml/2006/main" noGrp="1"/>
          </p:cNvSpPr>
          <p:nvPr/>
        </p:nvSpPr>
        <p:spPr>
          <a:xfrm xmlns:a="http://schemas.openxmlformats.org/drawingml/2006/main">
            <a:off x="0" y="5467350"/>
            <a:ext cx="12192000" cy="1390650"/>
          </a:xfrm>
          <a:prstGeom xmlns:a="http://schemas.openxmlformats.org/drawingml/2006/main" prst="rect">
            <a:avLst/>
          </a:prstGeom>
          <a:solidFill xmlns:a="http://schemas.openxmlformats.org/drawingml/2006/main">
            <a:srgbClr val="16233F"/>
          </a:solidFill>
          <a:ln xmlns:a="http://schemas.openxmlformats.org/drawingml/2006/main" w="0">
            <a:noFill/>
            <a:prstDash val="solid"/>
          </a:ln>
        </p:spPr>
      </p:sp>
      <p:sp>
        <p:nvSpPr>
          <p:cNvPr id="18" name="s4-implication">
            <a:extLst xmlns:a="http://schemas.openxmlformats.org/drawingml/2006/main">
              <a:ext uri="{FF2B5EF4-FFF2-40B4-BE49-F238E27FC236}">
                <a16:creationId xmlns:a16="http://schemas.microsoft.com/office/drawing/2014/main" id="{2A2A8292-A59F-48B9-8809-5DDD6B2D4AC3}"/>
              </a:ext>
            </a:extLst>
          </p:cNvPr>
          <p:cNvSpPr>
            <a:spLocks xmlns:a="http://schemas.openxmlformats.org/drawingml/2006/main" noGrp="1"/>
          </p:cNvSpPr>
          <p:nvPr/>
        </p:nvSpPr>
        <p:spPr>
          <a:xfrm xmlns:a="http://schemas.openxmlformats.org/drawingml/2006/main">
            <a:off x="514350" y="5676900"/>
            <a:ext cx="4629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i="0">
                <a:solidFill>
                  <a:srgbClr val="FCFAF4"/>
                </a:solidFill>
                <a:latin typeface="Georgia"/>
                <a:ea typeface="Georgia"/>
                <a:cs typeface="Georgia"/>
              </a:defRPr>
            </a:pPr>
            <a:r>
              <a:rPr sz="1275" b="1" i="0">
                <a:solidFill>
                  <a:srgbClr val="FCFAF4"/>
                </a:solidFill>
                <a:latin typeface="Georgia"/>
                <a:ea typeface="Georgia"/>
                <a:cs typeface="Georgia"/>
              </a:rPr>
              <a:t>The adoption opportunity may not be another feature bundle. It may be a product relationship in which the lawyer receives useful challenge without giving up control.</a:t>
            </a:r>
          </a:p>
        </p:txBody>
      </p:sp>
      <p:sp>
        <p:nvSpPr>
          <p:cNvPr id="19" name="s4-source">
            <a:extLst xmlns:a="http://schemas.openxmlformats.org/drawingml/2006/main">
              <a:ext uri="{FF2B5EF4-FFF2-40B4-BE49-F238E27FC236}">
                <a16:creationId xmlns:a16="http://schemas.microsoft.com/office/drawing/2014/main" id="{281B070B-5A79-487C-8F5E-3175B6E8ED30}"/>
              </a:ext>
            </a:extLst>
          </p:cNvPr>
          <p:cNvSpPr>
            <a:spLocks xmlns:a="http://schemas.openxmlformats.org/drawingml/2006/main" noGrp="1"/>
          </p:cNvSpPr>
          <p:nvPr/>
        </p:nvSpPr>
        <p:spPr>
          <a:xfrm xmlns:a="http://schemas.openxmlformats.org/drawingml/2006/main">
            <a:off x="5734050" y="5676900"/>
            <a:ext cx="5943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13">
                <a:solidFill>
                  <a:srgbClr val="FCFAF4"/>
                </a:solidFill>
                <a:latin typeface="Arial"/>
                <a:ea typeface="Arial"/>
                <a:cs typeface="Arial"/>
              </a:defRPr>
            </a:pPr>
            <a:r>
              <a:rPr sz="1013" b="1">
                <a:solidFill>
                  <a:srgbClr val="FCFAF4"/>
                </a:solidFill>
                <a:latin typeface="Arial"/>
                <a:ea typeface="Arial"/>
                <a:cs typeface="Arial"/>
              </a:rPr>
              <a:t>Source: </a:t>
            </a:r>
            <a:r>
              <a:rPr sz="1013">
                <a:solidFill>
                  <a:srgbClr val="FCFAF4"/>
                </a:solidFill>
                <a:latin typeface="Arial"/>
                <a:ea typeface="Arial"/>
                <a:cs typeface="Arial"/>
              </a:rPr>
              <a:t>Themis analysis of 203 de-duplicated Reddit discussions about legal AI and four discovery interviews with in-house lawyers, August 2026. The statements above synthesize recurring themes; they are not direct quotations. Interview quotations should not appear externally without approval and verification against the recordings.</a:t>
            </a:r>
          </a:p>
        </p:txBody>
      </p:sp>
    </p:spTree>
    <p:extLst>
      <p:ext uri="{BB962C8B-B14F-4D97-AF65-F5344CB8AC3E}">
        <p14:creationId xmlns:p14="http://schemas.microsoft.com/office/powerpoint/2010/main" val="1582555045"/>
      </p:ext>
    </p:extLst>
  </p:cSld>
</p:sld>
</file>

<file path=ppt/slides/slide5.xml><?xml version="1.0" encoding="utf-8"?>
<p:sld xmlns:p="http://schemas.openxmlformats.org/presentationml/2006/main">
  <p:cSld>
    <p:bg>
      <p:bgPr>
        <a:solidFill xmlns:a="http://schemas.openxmlformats.org/drawingml/2006/main">
          <a:srgbClr val="16233F"/>
        </a:solidFill>
      </p:bgPr>
    </p:bg>
    <p:spTree>
      <p:nvGrpSpPr>
        <p:cNvPr id="1" name=""/>
        <p:cNvGrpSpPr/>
        <p:nvPr/>
      </p:nvGrpSpPr>
      <p:grpSpPr>
        <a:xfrm xmlns:a="http://schemas.openxmlformats.org/drawingml/2006/main"/>
      </p:grpSpPr>
      <p:sp>
        <p:nvSpPr>
          <p:cNvPr id="22" name="kicker-5">
            <a:extLst xmlns:a="http://schemas.openxmlformats.org/drawingml/2006/main">
              <a:ext uri="{FF2B5EF4-FFF2-40B4-BE49-F238E27FC236}">
                <a16:creationId xmlns:a16="http://schemas.microsoft.com/office/drawing/2014/main" id="{24996BFB-2D8D-4D44-8602-DB2215CD3979}"/>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2E8984"/>
                </a:solidFill>
                <a:latin typeface="Arial"/>
                <a:ea typeface="Arial"/>
                <a:cs typeface="Arial"/>
              </a:defRPr>
            </a:pPr>
            <a:r>
              <a:rPr sz="900" b="1" i="0">
                <a:solidFill>
                  <a:srgbClr val="2E8984"/>
                </a:solidFill>
                <a:latin typeface="Arial"/>
                <a:ea typeface="Arial"/>
                <a:cs typeface="Arial"/>
              </a:rPr>
              <a:t>THEMIS THESIS  /  05</a:t>
            </a:r>
          </a:p>
        </p:txBody>
      </p:sp>
      <p:sp>
        <p:nvSpPr>
          <p:cNvPr id="2" name="title-5">
            <a:extLst xmlns:a="http://schemas.openxmlformats.org/drawingml/2006/main">
              <a:ext uri="{FF2B5EF4-FFF2-40B4-BE49-F238E27FC236}">
                <a16:creationId xmlns:a16="http://schemas.microsoft.com/office/drawing/2014/main" id="{A0DE4443-333B-4941-8C29-FC073BC3F5C1}"/>
              </a:ext>
            </a:extLst>
          </p:cNvPr>
          <p:cNvSpPr>
            <a:spLocks xmlns:a="http://schemas.openxmlformats.org/drawingml/2006/main" noGrp="1"/>
          </p:cNvSpPr>
          <p:nvPr/>
        </p:nvSpPr>
        <p:spPr>
          <a:xfrm xmlns:a="http://schemas.openxmlformats.org/drawingml/2006/main">
            <a:off x="514350" y="60960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850" b="1" i="0">
                <a:solidFill>
                  <a:srgbClr val="FCFAF4"/>
                </a:solidFill>
                <a:latin typeface="Georgia"/>
                <a:ea typeface="Georgia"/>
                <a:cs typeface="Georgia"/>
              </a:defRPr>
            </a:pPr>
            <a:r>
              <a:rPr sz="2850" b="1" i="0">
                <a:solidFill>
                  <a:srgbClr val="FCFAF4"/>
                </a:solidFill>
                <a:latin typeface="Georgia"/>
                <a:ea typeface="Georgia"/>
                <a:cs typeface="Georgia"/>
              </a:rPr>
              <a:t>Most legal AI competes to produce the work. The harder problem is helping the lawyer own the judgment.</a:t>
            </a:r>
          </a:p>
        </p:txBody>
      </p:sp>
      <p:sp>
        <p:nvSpPr>
          <p:cNvPr id="3" name="s5-context">
            <a:extLst xmlns:a="http://schemas.openxmlformats.org/drawingml/2006/main">
              <a:ext uri="{FF2B5EF4-FFF2-40B4-BE49-F238E27FC236}">
                <a16:creationId xmlns:a16="http://schemas.microsoft.com/office/drawing/2014/main" id="{426CBA19-E671-426F-B067-D2EA4385BDEC}"/>
              </a:ext>
            </a:extLst>
          </p:cNvPr>
          <p:cNvSpPr>
            <a:spLocks xmlns:a="http://schemas.openxmlformats.org/drawingml/2006/main" noGrp="1"/>
          </p:cNvSpPr>
          <p:nvPr/>
        </p:nvSpPr>
        <p:spPr>
          <a:xfrm xmlns:a="http://schemas.openxmlformats.org/drawingml/2006/main">
            <a:off x="514350" y="1695450"/>
            <a:ext cx="4857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FCFAF4"/>
                </a:solidFill>
                <a:latin typeface="Arial"/>
                <a:ea typeface="Arial"/>
                <a:cs typeface="Arial"/>
              </a:defRPr>
            </a:pPr>
            <a:r>
              <a:rPr sz="1350" b="0" i="0">
                <a:solidFill>
                  <a:srgbClr val="FCFAF4"/>
                </a:solidFill>
                <a:latin typeface="Arial"/>
                <a:ea typeface="Arial"/>
                <a:cs typeface="Arial"/>
              </a:rPr>
              <a:t>The market is improving quickly at search, summarization, drafting, and task automation. Those capabilities are useful, but they do not resolve the lawyer's deeper burden.</a:t>
            </a:r>
          </a:p>
        </p:txBody>
      </p:sp>
      <p:sp>
        <p:nvSpPr>
          <p:cNvPr id="4" name="s5-lead">
            <a:extLst xmlns:a="http://schemas.openxmlformats.org/drawingml/2006/main">
              <a:ext uri="{FF2B5EF4-FFF2-40B4-BE49-F238E27FC236}">
                <a16:creationId xmlns:a16="http://schemas.microsoft.com/office/drawing/2014/main" id="{BF945AC7-5762-4135-B33C-67A9303BD27C}"/>
              </a:ext>
            </a:extLst>
          </p:cNvPr>
          <p:cNvSpPr>
            <a:spLocks xmlns:a="http://schemas.openxmlformats.org/drawingml/2006/main" noGrp="1"/>
          </p:cNvSpPr>
          <p:nvPr/>
        </p:nvSpPr>
        <p:spPr>
          <a:xfrm xmlns:a="http://schemas.openxmlformats.org/drawingml/2006/main">
            <a:off x="6191250" y="16573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C79A2B"/>
                </a:solidFill>
                <a:latin typeface="Arial"/>
                <a:ea typeface="Arial"/>
                <a:cs typeface="Arial"/>
              </a:defRPr>
            </a:pPr>
            <a:r>
              <a:rPr sz="1275" b="1" i="0">
                <a:solidFill>
                  <a:srgbClr val="C79A2B"/>
                </a:solidFill>
                <a:latin typeface="Arial"/>
                <a:ea typeface="Arial"/>
                <a:cs typeface="Arial"/>
              </a:rPr>
              <a:t>A generated answer can still leave the lawyer asking:</a:t>
            </a:r>
          </a:p>
        </p:txBody>
      </p:sp>
      <p:sp>
        <p:nvSpPr>
          <p:cNvPr id="5" name="s5-qnum-0">
            <a:extLst xmlns:a="http://schemas.openxmlformats.org/drawingml/2006/main">
              <a:ext uri="{FF2B5EF4-FFF2-40B4-BE49-F238E27FC236}">
                <a16:creationId xmlns:a16="http://schemas.microsoft.com/office/drawing/2014/main" id="{D7D56D6A-1176-4719-8E33-925846EC0298}"/>
              </a:ext>
            </a:extLst>
          </p:cNvPr>
          <p:cNvSpPr>
            <a:spLocks xmlns:a="http://schemas.openxmlformats.org/drawingml/2006/main" noGrp="1"/>
          </p:cNvSpPr>
          <p:nvPr/>
        </p:nvSpPr>
        <p:spPr>
          <a:xfrm xmlns:a="http://schemas.openxmlformats.org/drawingml/2006/main">
            <a:off x="6191250" y="21717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C86449"/>
                </a:solidFill>
                <a:latin typeface="Arial"/>
                <a:ea typeface="Arial"/>
                <a:cs typeface="Arial"/>
              </a:defRPr>
            </a:pPr>
            <a:r>
              <a:rPr sz="975" b="1" i="0">
                <a:solidFill>
                  <a:srgbClr val="C86449"/>
                </a:solidFill>
                <a:latin typeface="Arial"/>
                <a:ea typeface="Arial"/>
                <a:cs typeface="Arial"/>
              </a:rPr>
              <a:t>1</a:t>
            </a:r>
          </a:p>
        </p:txBody>
      </p:sp>
      <p:sp>
        <p:nvSpPr>
          <p:cNvPr id="6" name="s5-q-0">
            <a:extLst xmlns:a="http://schemas.openxmlformats.org/drawingml/2006/main">
              <a:ext uri="{FF2B5EF4-FFF2-40B4-BE49-F238E27FC236}">
                <a16:creationId xmlns:a16="http://schemas.microsoft.com/office/drawing/2014/main" id="{5FC04922-3C75-4935-8610-F9400443DF10}"/>
              </a:ext>
            </a:extLst>
          </p:cNvPr>
          <p:cNvSpPr>
            <a:spLocks xmlns:a="http://schemas.openxmlformats.org/drawingml/2006/main" noGrp="1"/>
          </p:cNvSpPr>
          <p:nvPr/>
        </p:nvSpPr>
        <p:spPr>
          <a:xfrm xmlns:a="http://schemas.openxmlformats.org/drawingml/2006/main">
            <a:off x="6553200" y="2114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FCFAF4"/>
                </a:solidFill>
                <a:latin typeface="Georgia"/>
                <a:ea typeface="Georgia"/>
                <a:cs typeface="Georgia"/>
              </a:defRPr>
            </a:pPr>
            <a:r>
              <a:rPr sz="1350" b="1" i="0">
                <a:solidFill>
                  <a:srgbClr val="FCFAF4"/>
                </a:solidFill>
                <a:latin typeface="Georgia"/>
                <a:ea typeface="Georgia"/>
                <a:cs typeface="Georgia"/>
              </a:rPr>
              <a:t>What assumptions did it make?</a:t>
            </a:r>
          </a:p>
        </p:txBody>
      </p:sp>
      <p:sp>
        <p:nvSpPr>
          <p:cNvPr id="7" name="s5-qnum-1">
            <a:extLst xmlns:a="http://schemas.openxmlformats.org/drawingml/2006/main">
              <a:ext uri="{FF2B5EF4-FFF2-40B4-BE49-F238E27FC236}">
                <a16:creationId xmlns:a16="http://schemas.microsoft.com/office/drawing/2014/main" id="{111FFA65-BFEF-415D-9D54-E67BDF8E98E0}"/>
              </a:ext>
            </a:extLst>
          </p:cNvPr>
          <p:cNvSpPr>
            <a:spLocks xmlns:a="http://schemas.openxmlformats.org/drawingml/2006/main" noGrp="1"/>
          </p:cNvSpPr>
          <p:nvPr/>
        </p:nvSpPr>
        <p:spPr>
          <a:xfrm xmlns:a="http://schemas.openxmlformats.org/drawingml/2006/main">
            <a:off x="6191250" y="26860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C86449"/>
                </a:solidFill>
                <a:latin typeface="Arial"/>
                <a:ea typeface="Arial"/>
                <a:cs typeface="Arial"/>
              </a:defRPr>
            </a:pPr>
            <a:r>
              <a:rPr sz="975" b="1" i="0">
                <a:solidFill>
                  <a:srgbClr val="C86449"/>
                </a:solidFill>
                <a:latin typeface="Arial"/>
                <a:ea typeface="Arial"/>
                <a:cs typeface="Arial"/>
              </a:rPr>
              <a:t>2</a:t>
            </a:r>
          </a:p>
        </p:txBody>
      </p:sp>
      <p:sp>
        <p:nvSpPr>
          <p:cNvPr id="8" name="s5-q-1">
            <a:extLst xmlns:a="http://schemas.openxmlformats.org/drawingml/2006/main">
              <a:ext uri="{FF2B5EF4-FFF2-40B4-BE49-F238E27FC236}">
                <a16:creationId xmlns:a16="http://schemas.microsoft.com/office/drawing/2014/main" id="{1B314E7F-1A90-4550-A76B-969578BEECB4}"/>
              </a:ext>
            </a:extLst>
          </p:cNvPr>
          <p:cNvSpPr>
            <a:spLocks xmlns:a="http://schemas.openxmlformats.org/drawingml/2006/main" noGrp="1"/>
          </p:cNvSpPr>
          <p:nvPr/>
        </p:nvSpPr>
        <p:spPr>
          <a:xfrm xmlns:a="http://schemas.openxmlformats.org/drawingml/2006/main">
            <a:off x="6553200" y="2628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FCFAF4"/>
                </a:solidFill>
                <a:latin typeface="Georgia"/>
                <a:ea typeface="Georgia"/>
                <a:cs typeface="Georgia"/>
              </a:defRPr>
            </a:pPr>
            <a:r>
              <a:rPr sz="1350" b="1" i="0">
                <a:solidFill>
                  <a:srgbClr val="FCFAF4"/>
                </a:solidFill>
                <a:latin typeface="Georgia"/>
                <a:ea typeface="Georgia"/>
                <a:cs typeface="Georgia"/>
              </a:rPr>
              <a:t>What did it fail to consider?</a:t>
            </a:r>
          </a:p>
        </p:txBody>
      </p:sp>
      <p:sp>
        <p:nvSpPr>
          <p:cNvPr id="9" name="s5-qnum-2">
            <a:extLst xmlns:a="http://schemas.openxmlformats.org/drawingml/2006/main">
              <a:ext uri="{FF2B5EF4-FFF2-40B4-BE49-F238E27FC236}">
                <a16:creationId xmlns:a16="http://schemas.microsoft.com/office/drawing/2014/main" id="{77969610-154B-4A8C-BFFD-ACA3FE2958C2}"/>
              </a:ext>
            </a:extLst>
          </p:cNvPr>
          <p:cNvSpPr>
            <a:spLocks xmlns:a="http://schemas.openxmlformats.org/drawingml/2006/main" noGrp="1"/>
          </p:cNvSpPr>
          <p:nvPr/>
        </p:nvSpPr>
        <p:spPr>
          <a:xfrm xmlns:a="http://schemas.openxmlformats.org/drawingml/2006/main">
            <a:off x="6191250" y="32004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C86449"/>
                </a:solidFill>
                <a:latin typeface="Arial"/>
                <a:ea typeface="Arial"/>
                <a:cs typeface="Arial"/>
              </a:defRPr>
            </a:pPr>
            <a:r>
              <a:rPr sz="975" b="1" i="0">
                <a:solidFill>
                  <a:srgbClr val="C86449"/>
                </a:solidFill>
                <a:latin typeface="Arial"/>
                <a:ea typeface="Arial"/>
                <a:cs typeface="Arial"/>
              </a:rPr>
              <a:t>3</a:t>
            </a:r>
          </a:p>
        </p:txBody>
      </p:sp>
      <p:sp>
        <p:nvSpPr>
          <p:cNvPr id="10" name="s5-q-2">
            <a:extLst xmlns:a="http://schemas.openxmlformats.org/drawingml/2006/main">
              <a:ext uri="{FF2B5EF4-FFF2-40B4-BE49-F238E27FC236}">
                <a16:creationId xmlns:a16="http://schemas.microsoft.com/office/drawing/2014/main" id="{3AFCC1EA-1BC3-43B3-87CE-FAB367D79049}"/>
              </a:ext>
            </a:extLst>
          </p:cNvPr>
          <p:cNvSpPr>
            <a:spLocks xmlns:a="http://schemas.openxmlformats.org/drawingml/2006/main" noGrp="1"/>
          </p:cNvSpPr>
          <p:nvPr/>
        </p:nvSpPr>
        <p:spPr>
          <a:xfrm xmlns:a="http://schemas.openxmlformats.org/drawingml/2006/main">
            <a:off x="6553200" y="31432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FCFAF4"/>
                </a:solidFill>
                <a:latin typeface="Georgia"/>
                <a:ea typeface="Georgia"/>
                <a:cs typeface="Georgia"/>
              </a:defRPr>
            </a:pPr>
            <a:r>
              <a:rPr sz="1350" b="1" i="0">
                <a:solidFill>
                  <a:srgbClr val="FCFAF4"/>
                </a:solidFill>
                <a:latin typeface="Georgia"/>
                <a:ea typeface="Georgia"/>
                <a:cs typeface="Georgia"/>
              </a:rPr>
              <a:t>How does this fit the facts and history of this matter?</a:t>
            </a:r>
          </a:p>
        </p:txBody>
      </p:sp>
      <p:sp>
        <p:nvSpPr>
          <p:cNvPr id="11" name="s5-qnum-3">
            <a:extLst xmlns:a="http://schemas.openxmlformats.org/drawingml/2006/main">
              <a:ext uri="{FF2B5EF4-FFF2-40B4-BE49-F238E27FC236}">
                <a16:creationId xmlns:a16="http://schemas.microsoft.com/office/drawing/2014/main" id="{BF2C076B-DCF2-4C55-9266-A40A4472F04B}"/>
              </a:ext>
            </a:extLst>
          </p:cNvPr>
          <p:cNvSpPr>
            <a:spLocks xmlns:a="http://schemas.openxmlformats.org/drawingml/2006/main" noGrp="1"/>
          </p:cNvSpPr>
          <p:nvPr/>
        </p:nvSpPr>
        <p:spPr>
          <a:xfrm xmlns:a="http://schemas.openxmlformats.org/drawingml/2006/main">
            <a:off x="6191250" y="37147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C86449"/>
                </a:solidFill>
                <a:latin typeface="Arial"/>
                <a:ea typeface="Arial"/>
                <a:cs typeface="Arial"/>
              </a:defRPr>
            </a:pPr>
            <a:r>
              <a:rPr sz="975" b="1" i="0">
                <a:solidFill>
                  <a:srgbClr val="C86449"/>
                </a:solidFill>
                <a:latin typeface="Arial"/>
                <a:ea typeface="Arial"/>
                <a:cs typeface="Arial"/>
              </a:rPr>
              <a:t>4</a:t>
            </a:r>
          </a:p>
        </p:txBody>
      </p:sp>
      <p:sp>
        <p:nvSpPr>
          <p:cNvPr id="12" name="s5-q-3">
            <a:extLst xmlns:a="http://schemas.openxmlformats.org/drawingml/2006/main">
              <a:ext uri="{FF2B5EF4-FFF2-40B4-BE49-F238E27FC236}">
                <a16:creationId xmlns:a16="http://schemas.microsoft.com/office/drawing/2014/main" id="{8699BD0A-C478-45A2-82B3-3A3F0534B59B}"/>
              </a:ext>
            </a:extLst>
          </p:cNvPr>
          <p:cNvSpPr>
            <a:spLocks xmlns:a="http://schemas.openxmlformats.org/drawingml/2006/main" noGrp="1"/>
          </p:cNvSpPr>
          <p:nvPr/>
        </p:nvSpPr>
        <p:spPr>
          <a:xfrm xmlns:a="http://schemas.openxmlformats.org/drawingml/2006/main">
            <a:off x="6553200" y="36576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FCFAF4"/>
                </a:solidFill>
                <a:latin typeface="Georgia"/>
                <a:ea typeface="Georgia"/>
                <a:cs typeface="Georgia"/>
              </a:defRPr>
            </a:pPr>
            <a:r>
              <a:rPr sz="1350" b="1" i="0">
                <a:solidFill>
                  <a:srgbClr val="FCFAF4"/>
                </a:solidFill>
                <a:latin typeface="Georgia"/>
                <a:ea typeface="Georgia"/>
                <a:cs typeface="Georgia"/>
              </a:rPr>
              <a:t>Can I explain and defend this decision later?</a:t>
            </a:r>
          </a:p>
        </p:txBody>
      </p:sp>
      <p:sp>
        <p:nvSpPr>
          <p:cNvPr id="13" name="s5-contrast">
            <a:extLst xmlns:a="http://schemas.openxmlformats.org/drawingml/2006/main">
              <a:ext uri="{FF2B5EF4-FFF2-40B4-BE49-F238E27FC236}">
                <a16:creationId xmlns:a16="http://schemas.microsoft.com/office/drawing/2014/main" id="{49C29431-117C-457D-80E6-6B2ED45AFB2F}"/>
              </a:ext>
            </a:extLst>
          </p:cNvPr>
          <p:cNvSpPr>
            <a:spLocks xmlns:a="http://schemas.openxmlformats.org/drawingml/2006/main" noGrp="1"/>
          </p:cNvSpPr>
          <p:nvPr/>
        </p:nvSpPr>
        <p:spPr>
          <a:xfrm xmlns:a="http://schemas.openxmlformats.org/drawingml/2006/main">
            <a:off x="514350" y="2800350"/>
            <a:ext cx="4857750" cy="1257300"/>
          </a:xfrm>
          <a:prstGeom xmlns:a="http://schemas.openxmlformats.org/drawingml/2006/main" prst="roundRect">
            <a:avLst>
              <a:gd name="adj" fmla="val 6061"/>
            </a:avLst>
          </a:prstGeom>
          <a:solidFill xmlns:a="http://schemas.openxmlformats.org/drawingml/2006/main">
            <a:srgbClr val="3E5F9D"/>
          </a:solidFill>
          <a:ln xmlns:a="http://schemas.openxmlformats.org/drawingml/2006/main" w="0">
            <a:noFill/>
            <a:prstDash val="solid"/>
          </a:ln>
        </p:spPr>
      </p:sp>
      <p:sp>
        <p:nvSpPr>
          <p:cNvPr id="14" name="s5-contrast-kicker">
            <a:extLst xmlns:a="http://schemas.openxmlformats.org/drawingml/2006/main">
              <a:ext uri="{FF2B5EF4-FFF2-40B4-BE49-F238E27FC236}">
                <a16:creationId xmlns:a16="http://schemas.microsoft.com/office/drawing/2014/main" id="{B8BE4029-E09C-4E4A-9164-0B68CAF9EE6E}"/>
              </a:ext>
            </a:extLst>
          </p:cNvPr>
          <p:cNvSpPr>
            <a:spLocks xmlns:a="http://schemas.openxmlformats.org/drawingml/2006/main" noGrp="1"/>
          </p:cNvSpPr>
          <p:nvPr/>
        </p:nvSpPr>
        <p:spPr>
          <a:xfrm xmlns:a="http://schemas.openxmlformats.org/drawingml/2006/main">
            <a:off x="742950" y="3009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79A2B"/>
                </a:solidFill>
                <a:latin typeface="Arial"/>
                <a:ea typeface="Arial"/>
                <a:cs typeface="Arial"/>
              </a:defRPr>
            </a:pPr>
            <a:r>
              <a:rPr sz="900" b="1" i="0">
                <a:solidFill>
                  <a:srgbClr val="C79A2B"/>
                </a:solidFill>
                <a:latin typeface="Arial"/>
                <a:ea typeface="Arial"/>
                <a:cs typeface="Arial"/>
              </a:rPr>
              <a:t>CONTRAST</a:t>
            </a:r>
          </a:p>
        </p:txBody>
      </p:sp>
      <p:sp>
        <p:nvSpPr>
          <p:cNvPr id="15" name="s5-contrast-text">
            <a:extLst xmlns:a="http://schemas.openxmlformats.org/drawingml/2006/main">
              <a:ext uri="{FF2B5EF4-FFF2-40B4-BE49-F238E27FC236}">
                <a16:creationId xmlns:a16="http://schemas.microsoft.com/office/drawing/2014/main" id="{200E3026-8911-4DC4-B5AD-E3DC5214A438}"/>
              </a:ext>
            </a:extLst>
          </p:cNvPr>
          <p:cNvSpPr>
            <a:spLocks xmlns:a="http://schemas.openxmlformats.org/drawingml/2006/main" noGrp="1"/>
          </p:cNvSpPr>
          <p:nvPr/>
        </p:nvSpPr>
        <p:spPr>
          <a:xfrm xmlns:a="http://schemas.openxmlformats.org/drawingml/2006/main">
            <a:off x="742950" y="3276600"/>
            <a:ext cx="4400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00" b="0" i="0">
                <a:solidFill>
                  <a:srgbClr val="FCFAF4"/>
                </a:solidFill>
                <a:latin typeface="Arial"/>
                <a:ea typeface="Arial"/>
                <a:cs typeface="Arial"/>
              </a:defRPr>
            </a:pPr>
            <a:r>
              <a:rPr sz="1200" b="0" i="0">
                <a:solidFill>
                  <a:srgbClr val="FCFAF4"/>
                </a:solidFill>
                <a:latin typeface="Arial"/>
                <a:ea typeface="Arial"/>
                <a:cs typeface="Arial"/>
              </a:rPr>
              <a:t>Many products ask the lawyer to evaluate and trust an output. Themis is designed to drive the process that helps the lawyer examine the question, test their reasoning, and gain confidence in their decision.</a:t>
            </a:r>
          </a:p>
        </p:txBody>
      </p:sp>
      <p:sp>
        <p:nvSpPr>
          <p:cNvPr id="16" name="s5-bottom">
            <a:extLst xmlns:a="http://schemas.openxmlformats.org/drawingml/2006/main">
              <a:ext uri="{FF2B5EF4-FFF2-40B4-BE49-F238E27FC236}">
                <a16:creationId xmlns:a16="http://schemas.microsoft.com/office/drawing/2014/main" id="{027F42CD-C78B-4500-AFA4-5A0C84417E0D}"/>
              </a:ext>
            </a:extLst>
          </p:cNvPr>
          <p:cNvSpPr>
            <a:spLocks xmlns:a="http://schemas.openxmlformats.org/drawingml/2006/main" noGrp="1"/>
          </p:cNvSpPr>
          <p:nvPr/>
        </p:nvSpPr>
        <p:spPr>
          <a:xfrm xmlns:a="http://schemas.openxmlformats.org/drawingml/2006/main">
            <a:off x="0" y="4400550"/>
            <a:ext cx="12192000" cy="2457450"/>
          </a:xfrm>
          <a:prstGeom xmlns:a="http://schemas.openxmlformats.org/drawingml/2006/main" prst="rect">
            <a:avLst/>
          </a:prstGeom>
          <a:solidFill xmlns:a="http://schemas.openxmlformats.org/drawingml/2006/main">
            <a:srgbClr val="FCFAF4"/>
          </a:solidFill>
          <a:ln xmlns:a="http://schemas.openxmlformats.org/drawingml/2006/main" w="0">
            <a:noFill/>
            <a:prstDash val="solid"/>
          </a:ln>
        </p:spPr>
      </p:sp>
      <p:sp>
        <p:nvSpPr>
          <p:cNvPr id="17" name="s5-investor-kicker">
            <a:extLst xmlns:a="http://schemas.openxmlformats.org/drawingml/2006/main">
              <a:ext uri="{FF2B5EF4-FFF2-40B4-BE49-F238E27FC236}">
                <a16:creationId xmlns:a16="http://schemas.microsoft.com/office/drawing/2014/main" id="{429B44C9-9F3D-4D09-96B7-512BBB9517CF}"/>
              </a:ext>
            </a:extLst>
          </p:cNvPr>
          <p:cNvSpPr>
            <a:spLocks xmlns:a="http://schemas.openxmlformats.org/drawingml/2006/main" noGrp="1"/>
          </p:cNvSpPr>
          <p:nvPr/>
        </p:nvSpPr>
        <p:spPr>
          <a:xfrm xmlns:a="http://schemas.openxmlformats.org/drawingml/2006/main">
            <a:off x="514350" y="4667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INVESTOR IMPLICATION</a:t>
            </a:r>
          </a:p>
        </p:txBody>
      </p:sp>
      <p:sp>
        <p:nvSpPr>
          <p:cNvPr id="18" name="s5-investor">
            <a:extLst xmlns:a="http://schemas.openxmlformats.org/drawingml/2006/main">
              <a:ext uri="{FF2B5EF4-FFF2-40B4-BE49-F238E27FC236}">
                <a16:creationId xmlns:a16="http://schemas.microsoft.com/office/drawing/2014/main" id="{0D610D1F-B78B-45B4-A72F-9C7C67849284}"/>
              </a:ext>
            </a:extLst>
          </p:cNvPr>
          <p:cNvSpPr>
            <a:spLocks xmlns:a="http://schemas.openxmlformats.org/drawingml/2006/main" noGrp="1"/>
          </p:cNvSpPr>
          <p:nvPr/>
        </p:nvSpPr>
        <p:spPr>
          <a:xfrm xmlns:a="http://schemas.openxmlformats.org/drawingml/2006/main">
            <a:off x="514350" y="495300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38" b="1" i="0">
                <a:solidFill>
                  <a:srgbClr val="16233F"/>
                </a:solidFill>
                <a:latin typeface="Georgia"/>
                <a:ea typeface="Georgia"/>
                <a:cs typeface="Georgia"/>
              </a:defRPr>
            </a:pPr>
            <a:r>
              <a:rPr sz="1238" b="1" i="0">
                <a:solidFill>
                  <a:srgbClr val="16233F"/>
                </a:solidFill>
                <a:latin typeface="Georgia"/>
                <a:ea typeface="Georgia"/>
                <a:cs typeface="Georgia"/>
              </a:rPr>
              <a:t>The distinction is not “better intelligence.” It is a different role in the lawyer's work. A product that only produces an output competes on capability. A product that helps the lawyer reach and preserve a defensible judgment can compete on trust, context, and repeated use.</a:t>
            </a:r>
          </a:p>
        </p:txBody>
      </p:sp>
      <p:sp>
        <p:nvSpPr>
          <p:cNvPr id="19" name="s5-thesis-kicker">
            <a:extLst xmlns:a="http://schemas.openxmlformats.org/drawingml/2006/main">
              <a:ext uri="{FF2B5EF4-FFF2-40B4-BE49-F238E27FC236}">
                <a16:creationId xmlns:a16="http://schemas.microsoft.com/office/drawing/2014/main" id="{B7078E23-7B2D-4D62-A467-F6AB5505830A}"/>
              </a:ext>
            </a:extLst>
          </p:cNvPr>
          <p:cNvSpPr>
            <a:spLocks xmlns:a="http://schemas.openxmlformats.org/drawingml/2006/main" noGrp="1"/>
          </p:cNvSpPr>
          <p:nvPr/>
        </p:nvSpPr>
        <p:spPr>
          <a:xfrm xmlns:a="http://schemas.openxmlformats.org/drawingml/2006/main">
            <a:off x="6191250" y="4667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THEMIS THESIS</a:t>
            </a:r>
          </a:p>
        </p:txBody>
      </p:sp>
      <p:sp>
        <p:nvSpPr>
          <p:cNvPr id="20" name="s5-thesis">
            <a:extLst xmlns:a="http://schemas.openxmlformats.org/drawingml/2006/main">
              <a:ext uri="{FF2B5EF4-FFF2-40B4-BE49-F238E27FC236}">
                <a16:creationId xmlns:a16="http://schemas.microsoft.com/office/drawing/2014/main" id="{05FFFF3D-79AB-4F87-A010-4D4D67C14287}"/>
              </a:ext>
            </a:extLst>
          </p:cNvPr>
          <p:cNvSpPr>
            <a:spLocks xmlns:a="http://schemas.openxmlformats.org/drawingml/2006/main" noGrp="1"/>
          </p:cNvSpPr>
          <p:nvPr/>
        </p:nvSpPr>
        <p:spPr>
          <a:xfrm xmlns:a="http://schemas.openxmlformats.org/drawingml/2006/main">
            <a:off x="6191250" y="4953000"/>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00" b="0" i="0">
                <a:solidFill>
                  <a:srgbClr val="16233F"/>
                </a:solidFill>
                <a:latin typeface="Arial"/>
                <a:ea typeface="Arial"/>
                <a:cs typeface="Arial"/>
              </a:defRPr>
            </a:pPr>
            <a:r>
              <a:rPr sz="1200" b="0" i="0">
                <a:solidFill>
                  <a:srgbClr val="16233F"/>
                </a:solidFill>
                <a:latin typeface="Arial"/>
                <a:ea typeface="Arial"/>
                <a:cs typeface="Arial"/>
              </a:rPr>
              <a:t>This market gap is our interpretation of the interview and research corpus. It is not yet proof that buyers will select or retain Themis for this reason.</a:t>
            </a:r>
          </a:p>
        </p:txBody>
      </p:sp>
      <p:sp>
        <p:nvSpPr>
          <p:cNvPr id="21" name="s5-source">
            <a:extLst xmlns:a="http://schemas.openxmlformats.org/drawingml/2006/main">
              <a:ext uri="{FF2B5EF4-FFF2-40B4-BE49-F238E27FC236}">
                <a16:creationId xmlns:a16="http://schemas.microsoft.com/office/drawing/2014/main" id="{875910BC-3AC1-42B5-8EAC-ACD8B17451B2}"/>
              </a:ext>
            </a:extLst>
          </p:cNvPr>
          <p:cNvSpPr>
            <a:spLocks xmlns:a="http://schemas.openxmlformats.org/drawingml/2006/main" noGrp="1"/>
          </p:cNvSpPr>
          <p:nvPr/>
        </p:nvSpPr>
        <p:spPr>
          <a:xfrm xmlns:a="http://schemas.openxmlformats.org/drawingml/2006/main">
            <a:off x="6191250" y="569595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013">
                <a:solidFill>
                  <a:srgbClr val="606878"/>
                </a:solidFill>
                <a:latin typeface="Arial"/>
                <a:ea typeface="Arial"/>
                <a:cs typeface="Arial"/>
              </a:defRPr>
            </a:pPr>
            <a:r>
              <a:rPr sz="1013" b="1">
                <a:solidFill>
                  <a:srgbClr val="606878"/>
                </a:solidFill>
                <a:latin typeface="Arial"/>
                <a:ea typeface="Arial"/>
                <a:cs typeface="Arial"/>
              </a:rPr>
              <a:t>Source: </a:t>
            </a:r>
            <a:r>
              <a:rPr sz="1013">
                <a:solidFill>
                  <a:srgbClr val="606878"/>
                </a:solidFill>
                <a:latin typeface="Arial"/>
                <a:ea typeface="Arial"/>
                <a:cs typeface="Arial"/>
              </a:rPr>
              <a:t>Themis analysis of 203 de-duplicated Reddit discussions about legal AI, combined with four in-house counsel discovery interviews. See appendix for source files and limits.</a:t>
            </a:r>
          </a:p>
        </p:txBody>
      </p:sp>
    </p:spTree>
    <p:extLst>
      <p:ext uri="{BB962C8B-B14F-4D97-AF65-F5344CB8AC3E}">
        <p14:creationId xmlns:p14="http://schemas.microsoft.com/office/powerpoint/2010/main" val="8233370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53ee54ee5a940c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6-title-ground">
            <a:extLst xmlns:a="http://schemas.openxmlformats.org/drawingml/2006/main">
              <a:ext uri="{FF2B5EF4-FFF2-40B4-BE49-F238E27FC236}">
                <a16:creationId xmlns:a16="http://schemas.microsoft.com/office/drawing/2014/main" id="{6F4DAD8F-E15F-4F3E-B5DE-081C29E2643F}"/>
              </a:ext>
            </a:extLst>
          </p:cNvPr>
          <p:cNvSpPr>
            <a:spLocks xmlns:a="http://schemas.openxmlformats.org/drawingml/2006/main" noGrp="1"/>
          </p:cNvSpPr>
          <p:nvPr/>
        </p:nvSpPr>
        <p:spPr>
          <a:xfrm xmlns:a="http://schemas.openxmlformats.org/drawingml/2006/main">
            <a:off x="285750" y="228600"/>
            <a:ext cx="11620500" cy="1524000"/>
          </a:xfrm>
          <a:prstGeom xmlns:a="http://schemas.openxmlformats.org/drawingml/2006/main" prst="roundRect">
            <a:avLst>
              <a:gd name="adj" fmla="val 5000"/>
            </a:avLst>
          </a:prstGeom>
          <a:solidFill xmlns:a="http://schemas.openxmlformats.org/drawingml/2006/main">
            <a:srgbClr val="FCFAF4">
              <a:alpha val="94902"/>
            </a:srgbClr>
          </a:solidFill>
          <a:ln xmlns:a="http://schemas.openxmlformats.org/drawingml/2006/main" w="0">
            <a:noFill/>
            <a:prstDash val="solid"/>
          </a:ln>
        </p:spPr>
      </p:sp>
      <p:sp>
        <p:nvSpPr>
          <p:cNvPr id="3" name="s6-kicker">
            <a:extLst xmlns:a="http://schemas.openxmlformats.org/drawingml/2006/main">
              <a:ext uri="{FF2B5EF4-FFF2-40B4-BE49-F238E27FC236}">
                <a16:creationId xmlns:a16="http://schemas.microsoft.com/office/drawing/2014/main" id="{A8024078-15BA-4864-B188-8D535A5DD5DC}"/>
              </a:ext>
            </a:extLst>
          </p:cNvPr>
          <p:cNvSpPr>
            <a:spLocks xmlns:a="http://schemas.openxmlformats.org/drawingml/2006/main" noGrp="1"/>
          </p:cNvSpPr>
          <p:nvPr/>
        </p:nvSpPr>
        <p:spPr>
          <a:xfrm xmlns:a="http://schemas.openxmlformats.org/drawingml/2006/main">
            <a:off x="514350" y="400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THEMIS THESIS  /  06</a:t>
            </a:r>
          </a:p>
        </p:txBody>
      </p:sp>
      <p:sp>
        <p:nvSpPr>
          <p:cNvPr id="4" name="s6-title">
            <a:extLst xmlns:a="http://schemas.openxmlformats.org/drawingml/2006/main">
              <a:ext uri="{FF2B5EF4-FFF2-40B4-BE49-F238E27FC236}">
                <a16:creationId xmlns:a16="http://schemas.microsoft.com/office/drawing/2014/main" id="{7F4EF505-684E-415A-946C-5BFD366C771A}"/>
              </a:ext>
            </a:extLst>
          </p:cNvPr>
          <p:cNvSpPr>
            <a:spLocks xmlns:a="http://schemas.openxmlformats.org/drawingml/2006/main" noGrp="1"/>
          </p:cNvSpPr>
          <p:nvPr/>
        </p:nvSpPr>
        <p:spPr>
          <a:xfrm xmlns:a="http://schemas.openxmlformats.org/drawingml/2006/main">
            <a:off x="514350" y="647700"/>
            <a:ext cx="111252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550" b="1" i="0">
                <a:solidFill>
                  <a:srgbClr val="16233F"/>
                </a:solidFill>
                <a:latin typeface="Georgia"/>
                <a:ea typeface="Georgia"/>
                <a:cs typeface="Georgia"/>
              </a:defRPr>
            </a:pPr>
            <a:r>
              <a:rPr sz="2550" b="1" i="0">
                <a:solidFill>
                  <a:srgbClr val="16233F"/>
                </a:solidFill>
                <a:latin typeface="Georgia"/>
                <a:ea typeface="Georgia"/>
                <a:cs typeface="Georgia"/>
              </a:rPr>
              <a:t>Themis illuminates the terrain and stays beside the lawyer through the climb.</a:t>
            </a:r>
          </a:p>
        </p:txBody>
      </p:sp>
      <p:sp>
        <p:nvSpPr>
          <p:cNvPr id="5" name="s6-context">
            <a:extLst xmlns:a="http://schemas.openxmlformats.org/drawingml/2006/main">
              <a:ext uri="{FF2B5EF4-FFF2-40B4-BE49-F238E27FC236}">
                <a16:creationId xmlns:a16="http://schemas.microsoft.com/office/drawing/2014/main" id="{B96B098E-DDC3-42DD-A7BF-E5A779D75C09}"/>
              </a:ext>
            </a:extLst>
          </p:cNvPr>
          <p:cNvSpPr>
            <a:spLocks xmlns:a="http://schemas.openxmlformats.org/drawingml/2006/main" noGrp="1"/>
          </p:cNvSpPr>
          <p:nvPr/>
        </p:nvSpPr>
        <p:spPr>
          <a:xfrm xmlns:a="http://schemas.openxmlformats.org/drawingml/2006/main">
            <a:off x="514350" y="1428750"/>
            <a:ext cx="1112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13" b="0" i="0">
                <a:solidFill>
                  <a:srgbClr val="16233F"/>
                </a:solidFill>
                <a:latin typeface="Arial"/>
                <a:ea typeface="Arial"/>
                <a:cs typeface="Arial"/>
              </a:defRPr>
            </a:pPr>
            <a:r>
              <a:rPr sz="1013" b="0" i="0">
                <a:solidFill>
                  <a:srgbClr val="16233F"/>
                </a:solidFill>
                <a:latin typeface="Arial"/>
                <a:ea typeface="Arial"/>
                <a:cs typeface="Arial"/>
              </a:rPr>
              <a:t>Themis treats legal work as a continuing matter, not a series of isolated prompts. It helps the lawyer move from an incomplete request to an organized view of the decision, while keeping uncertainty and ownership visible.</a:t>
            </a:r>
          </a:p>
        </p:txBody>
      </p:sp>
      <p:sp>
        <p:nvSpPr>
          <p:cNvPr id="6" name="s6-item-ground-0">
            <a:extLst xmlns:a="http://schemas.openxmlformats.org/drawingml/2006/main">
              <a:ext uri="{FF2B5EF4-FFF2-40B4-BE49-F238E27FC236}">
                <a16:creationId xmlns:a16="http://schemas.microsoft.com/office/drawing/2014/main" id="{83348197-5ADE-4795-93A8-87F60835E22E}"/>
              </a:ext>
            </a:extLst>
          </p:cNvPr>
          <p:cNvSpPr>
            <a:spLocks xmlns:a="http://schemas.openxmlformats.org/drawingml/2006/main" noGrp="1"/>
          </p:cNvSpPr>
          <p:nvPr/>
        </p:nvSpPr>
        <p:spPr>
          <a:xfrm xmlns:a="http://schemas.openxmlformats.org/drawingml/2006/main">
            <a:off x="323850" y="1924050"/>
            <a:ext cx="1809750" cy="1485900"/>
          </a:xfrm>
          <a:prstGeom xmlns:a="http://schemas.openxmlformats.org/drawingml/2006/main" prst="roundRect">
            <a:avLst>
              <a:gd name="adj" fmla="val 5128"/>
            </a:avLst>
          </a:prstGeom>
          <a:solidFill xmlns:a="http://schemas.openxmlformats.org/drawingml/2006/main">
            <a:srgbClr val="16233F">
              <a:alpha val="91765"/>
            </a:srgbClr>
          </a:solidFill>
          <a:ln xmlns:a="http://schemas.openxmlformats.org/drawingml/2006/main" w="0">
            <a:noFill/>
            <a:prstDash val="solid"/>
          </a:ln>
        </p:spPr>
      </p:sp>
      <p:sp>
        <p:nvSpPr>
          <p:cNvPr id="7" name="s6-item-num-0">
            <a:extLst xmlns:a="http://schemas.openxmlformats.org/drawingml/2006/main">
              <a:ext uri="{FF2B5EF4-FFF2-40B4-BE49-F238E27FC236}">
                <a16:creationId xmlns:a16="http://schemas.microsoft.com/office/drawing/2014/main" id="{E3387F87-11B6-4C5D-B8D7-7771D469EFE5}"/>
              </a:ext>
            </a:extLst>
          </p:cNvPr>
          <p:cNvSpPr>
            <a:spLocks xmlns:a="http://schemas.openxmlformats.org/drawingml/2006/main" noGrp="1"/>
          </p:cNvSpPr>
          <p:nvPr/>
        </p:nvSpPr>
        <p:spPr>
          <a:xfrm xmlns:a="http://schemas.openxmlformats.org/drawingml/2006/main">
            <a:off x="457200" y="20574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79A2B"/>
                </a:solidFill>
                <a:latin typeface="Arial"/>
                <a:ea typeface="Arial"/>
                <a:cs typeface="Arial"/>
              </a:defRPr>
            </a:pPr>
            <a:r>
              <a:rPr sz="900" b="1" i="0">
                <a:solidFill>
                  <a:srgbClr val="C79A2B"/>
                </a:solidFill>
                <a:latin typeface="Arial"/>
                <a:ea typeface="Arial"/>
                <a:cs typeface="Arial"/>
              </a:rPr>
              <a:t>01</a:t>
            </a:r>
          </a:p>
        </p:txBody>
      </p:sp>
      <p:sp>
        <p:nvSpPr>
          <p:cNvPr id="8" name="s6-item-head-0">
            <a:extLst xmlns:a="http://schemas.openxmlformats.org/drawingml/2006/main">
              <a:ext uri="{FF2B5EF4-FFF2-40B4-BE49-F238E27FC236}">
                <a16:creationId xmlns:a16="http://schemas.microsoft.com/office/drawing/2014/main" id="{91C26F60-F6BB-4E38-B342-4D88A979C071}"/>
              </a:ext>
            </a:extLst>
          </p:cNvPr>
          <p:cNvSpPr>
            <a:spLocks xmlns:a="http://schemas.openxmlformats.org/drawingml/2006/main" noGrp="1"/>
          </p:cNvSpPr>
          <p:nvPr/>
        </p:nvSpPr>
        <p:spPr>
          <a:xfrm xmlns:a="http://schemas.openxmlformats.org/drawingml/2006/main">
            <a:off x="457200" y="2305050"/>
            <a:ext cx="1543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FCFAF4"/>
                </a:solidFill>
                <a:latin typeface="Georgia"/>
                <a:ea typeface="Georgia"/>
                <a:cs typeface="Georgia"/>
              </a:defRPr>
            </a:pPr>
            <a:r>
              <a:rPr sz="1125" b="1" i="0">
                <a:solidFill>
                  <a:srgbClr val="FCFAF4"/>
                </a:solidFill>
                <a:latin typeface="Georgia"/>
                <a:ea typeface="Georgia"/>
                <a:cs typeface="Georgia"/>
              </a:rPr>
              <a:t>Enter uncertain terrain</a:t>
            </a:r>
          </a:p>
        </p:txBody>
      </p:sp>
      <p:sp>
        <p:nvSpPr>
          <p:cNvPr id="9" name="s6-item-body-0">
            <a:extLst xmlns:a="http://schemas.openxmlformats.org/drawingml/2006/main">
              <a:ext uri="{FF2B5EF4-FFF2-40B4-BE49-F238E27FC236}">
                <a16:creationId xmlns:a16="http://schemas.microsoft.com/office/drawing/2014/main" id="{27F87384-3CE1-4EF5-A3A2-DC5812C09C41}"/>
              </a:ext>
            </a:extLst>
          </p:cNvPr>
          <p:cNvSpPr>
            <a:spLocks xmlns:a="http://schemas.openxmlformats.org/drawingml/2006/main" noGrp="1"/>
          </p:cNvSpPr>
          <p:nvPr/>
        </p:nvSpPr>
        <p:spPr>
          <a:xfrm xmlns:a="http://schemas.openxmlformats.org/drawingml/2006/main">
            <a:off x="457200" y="2667000"/>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FCFAF4"/>
                </a:solidFill>
                <a:latin typeface="Arial"/>
                <a:ea typeface="Arial"/>
                <a:cs typeface="Arial"/>
              </a:defRPr>
            </a:pPr>
            <a:r>
              <a:rPr sz="863" b="0" i="0">
                <a:solidFill>
                  <a:srgbClr val="FCFAF4"/>
                </a:solidFill>
                <a:latin typeface="Arial"/>
                <a:ea typeface="Arial"/>
                <a:cs typeface="Arial"/>
              </a:rPr>
              <a:t>A request comes in with incomplete facts, hidden assumptions, and pressure to respond.</a:t>
            </a:r>
          </a:p>
        </p:txBody>
      </p:sp>
      <p:sp>
        <p:nvSpPr>
          <p:cNvPr id="10" name="s6-item-ground-1">
            <a:extLst xmlns:a="http://schemas.openxmlformats.org/drawingml/2006/main">
              <a:ext uri="{FF2B5EF4-FFF2-40B4-BE49-F238E27FC236}">
                <a16:creationId xmlns:a16="http://schemas.microsoft.com/office/drawing/2014/main" id="{86DCCC50-F204-4D6F-9544-A913D6F3FBDF}"/>
              </a:ext>
            </a:extLst>
          </p:cNvPr>
          <p:cNvSpPr>
            <a:spLocks xmlns:a="http://schemas.openxmlformats.org/drawingml/2006/main" noGrp="1"/>
          </p:cNvSpPr>
          <p:nvPr/>
        </p:nvSpPr>
        <p:spPr>
          <a:xfrm xmlns:a="http://schemas.openxmlformats.org/drawingml/2006/main">
            <a:off x="2286000" y="3467100"/>
            <a:ext cx="1809750" cy="1485900"/>
          </a:xfrm>
          <a:prstGeom xmlns:a="http://schemas.openxmlformats.org/drawingml/2006/main" prst="roundRect">
            <a:avLst>
              <a:gd name="adj" fmla="val 5128"/>
            </a:avLst>
          </a:prstGeom>
          <a:solidFill xmlns:a="http://schemas.openxmlformats.org/drawingml/2006/main">
            <a:srgbClr val="FCFAF4">
              <a:alpha val="94118"/>
            </a:srgbClr>
          </a:solidFill>
          <a:ln xmlns:a="http://schemas.openxmlformats.org/drawingml/2006/main" w="0">
            <a:noFill/>
            <a:prstDash val="solid"/>
          </a:ln>
        </p:spPr>
      </p:sp>
      <p:sp>
        <p:nvSpPr>
          <p:cNvPr id="11" name="s6-item-num-1">
            <a:extLst xmlns:a="http://schemas.openxmlformats.org/drawingml/2006/main">
              <a:ext uri="{FF2B5EF4-FFF2-40B4-BE49-F238E27FC236}">
                <a16:creationId xmlns:a16="http://schemas.microsoft.com/office/drawing/2014/main" id="{CD0070E9-E88F-4839-8866-90208E9E49F6}"/>
              </a:ext>
            </a:extLst>
          </p:cNvPr>
          <p:cNvSpPr>
            <a:spLocks xmlns:a="http://schemas.openxmlformats.org/drawingml/2006/main" noGrp="1"/>
          </p:cNvSpPr>
          <p:nvPr/>
        </p:nvSpPr>
        <p:spPr>
          <a:xfrm xmlns:a="http://schemas.openxmlformats.org/drawingml/2006/main">
            <a:off x="2419350" y="36004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02</a:t>
            </a:r>
          </a:p>
        </p:txBody>
      </p:sp>
      <p:sp>
        <p:nvSpPr>
          <p:cNvPr id="12" name="s6-item-head-1">
            <a:extLst xmlns:a="http://schemas.openxmlformats.org/drawingml/2006/main">
              <a:ext uri="{FF2B5EF4-FFF2-40B4-BE49-F238E27FC236}">
                <a16:creationId xmlns:a16="http://schemas.microsoft.com/office/drawing/2014/main" id="{117B138E-6D4A-463A-A307-9123E0A5ADA6}"/>
              </a:ext>
            </a:extLst>
          </p:cNvPr>
          <p:cNvSpPr>
            <a:spLocks xmlns:a="http://schemas.openxmlformats.org/drawingml/2006/main" noGrp="1"/>
          </p:cNvSpPr>
          <p:nvPr/>
        </p:nvSpPr>
        <p:spPr>
          <a:xfrm xmlns:a="http://schemas.openxmlformats.org/drawingml/2006/main">
            <a:off x="2419350" y="3848100"/>
            <a:ext cx="1543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16233F"/>
                </a:solidFill>
                <a:latin typeface="Georgia"/>
                <a:ea typeface="Georgia"/>
                <a:cs typeface="Georgia"/>
              </a:defRPr>
            </a:pPr>
            <a:r>
              <a:rPr sz="1125" b="1" i="0">
                <a:solidFill>
                  <a:srgbClr val="16233F"/>
                </a:solidFill>
                <a:latin typeface="Georgia"/>
                <a:ea typeface="Georgia"/>
                <a:cs typeface="Georgia"/>
              </a:rPr>
              <a:t>Illuminate what is known</a:t>
            </a:r>
          </a:p>
        </p:txBody>
      </p:sp>
      <p:sp>
        <p:nvSpPr>
          <p:cNvPr id="13" name="s6-item-body-1">
            <a:extLst xmlns:a="http://schemas.openxmlformats.org/drawingml/2006/main">
              <a:ext uri="{FF2B5EF4-FFF2-40B4-BE49-F238E27FC236}">
                <a16:creationId xmlns:a16="http://schemas.microsoft.com/office/drawing/2014/main" id="{B54C1A81-8ABA-4952-83D3-DEC303550443}"/>
              </a:ext>
            </a:extLst>
          </p:cNvPr>
          <p:cNvSpPr>
            <a:spLocks xmlns:a="http://schemas.openxmlformats.org/drawingml/2006/main" noGrp="1"/>
          </p:cNvSpPr>
          <p:nvPr/>
        </p:nvSpPr>
        <p:spPr>
          <a:xfrm xmlns:a="http://schemas.openxmlformats.org/drawingml/2006/main">
            <a:off x="2419350" y="4210050"/>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16233F"/>
                </a:solidFill>
                <a:latin typeface="Arial"/>
                <a:ea typeface="Arial"/>
                <a:cs typeface="Arial"/>
              </a:defRPr>
            </a:pPr>
            <a:r>
              <a:rPr sz="863" b="0" i="0">
                <a:solidFill>
                  <a:srgbClr val="16233F"/>
                </a:solidFill>
                <a:latin typeface="Arial"/>
                <a:ea typeface="Arial"/>
                <a:cs typeface="Arial"/>
              </a:rPr>
              <a:t>Themis organizes the matter so the lawyer can see the legal space, the business context, and what is at stake.</a:t>
            </a:r>
          </a:p>
        </p:txBody>
      </p:sp>
      <p:sp>
        <p:nvSpPr>
          <p:cNvPr id="14" name="s6-item-ground-2">
            <a:extLst xmlns:a="http://schemas.openxmlformats.org/drawingml/2006/main">
              <a:ext uri="{FF2B5EF4-FFF2-40B4-BE49-F238E27FC236}">
                <a16:creationId xmlns:a16="http://schemas.microsoft.com/office/drawing/2014/main" id="{DE1EF085-DD43-4E55-8872-362D2029DFD6}"/>
              </a:ext>
            </a:extLst>
          </p:cNvPr>
          <p:cNvSpPr>
            <a:spLocks xmlns:a="http://schemas.openxmlformats.org/drawingml/2006/main" noGrp="1"/>
          </p:cNvSpPr>
          <p:nvPr/>
        </p:nvSpPr>
        <p:spPr>
          <a:xfrm xmlns:a="http://schemas.openxmlformats.org/drawingml/2006/main">
            <a:off x="4248150" y="1924050"/>
            <a:ext cx="1809750" cy="1485900"/>
          </a:xfrm>
          <a:prstGeom xmlns:a="http://schemas.openxmlformats.org/drawingml/2006/main" prst="roundRect">
            <a:avLst>
              <a:gd name="adj" fmla="val 5128"/>
            </a:avLst>
          </a:prstGeom>
          <a:solidFill xmlns:a="http://schemas.openxmlformats.org/drawingml/2006/main">
            <a:srgbClr val="16233F">
              <a:alpha val="91765"/>
            </a:srgbClr>
          </a:solidFill>
          <a:ln xmlns:a="http://schemas.openxmlformats.org/drawingml/2006/main" w="0">
            <a:noFill/>
            <a:prstDash val="solid"/>
          </a:ln>
        </p:spPr>
      </p:sp>
      <p:sp>
        <p:nvSpPr>
          <p:cNvPr id="15" name="s6-item-num-2">
            <a:extLst xmlns:a="http://schemas.openxmlformats.org/drawingml/2006/main">
              <a:ext uri="{FF2B5EF4-FFF2-40B4-BE49-F238E27FC236}">
                <a16:creationId xmlns:a16="http://schemas.microsoft.com/office/drawing/2014/main" id="{F703B41D-8D3A-4BFA-9240-77341050C80D}"/>
              </a:ext>
            </a:extLst>
          </p:cNvPr>
          <p:cNvSpPr>
            <a:spLocks xmlns:a="http://schemas.openxmlformats.org/drawingml/2006/main" noGrp="1"/>
          </p:cNvSpPr>
          <p:nvPr/>
        </p:nvSpPr>
        <p:spPr>
          <a:xfrm xmlns:a="http://schemas.openxmlformats.org/drawingml/2006/main">
            <a:off x="4381500" y="20574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79A2B"/>
                </a:solidFill>
                <a:latin typeface="Arial"/>
                <a:ea typeface="Arial"/>
                <a:cs typeface="Arial"/>
              </a:defRPr>
            </a:pPr>
            <a:r>
              <a:rPr sz="900" b="1" i="0">
                <a:solidFill>
                  <a:srgbClr val="C79A2B"/>
                </a:solidFill>
                <a:latin typeface="Arial"/>
                <a:ea typeface="Arial"/>
                <a:cs typeface="Arial"/>
              </a:rPr>
              <a:t>03</a:t>
            </a:r>
          </a:p>
        </p:txBody>
      </p:sp>
      <p:sp>
        <p:nvSpPr>
          <p:cNvPr id="16" name="s6-item-head-2">
            <a:extLst xmlns:a="http://schemas.openxmlformats.org/drawingml/2006/main">
              <a:ext uri="{FF2B5EF4-FFF2-40B4-BE49-F238E27FC236}">
                <a16:creationId xmlns:a16="http://schemas.microsoft.com/office/drawing/2014/main" id="{FB44E735-3AD7-45C8-AB19-66377F1BFCBB}"/>
              </a:ext>
            </a:extLst>
          </p:cNvPr>
          <p:cNvSpPr>
            <a:spLocks xmlns:a="http://schemas.openxmlformats.org/drawingml/2006/main" noGrp="1"/>
          </p:cNvSpPr>
          <p:nvPr/>
        </p:nvSpPr>
        <p:spPr>
          <a:xfrm xmlns:a="http://schemas.openxmlformats.org/drawingml/2006/main">
            <a:off x="4381500" y="2305050"/>
            <a:ext cx="1543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FCFAF4"/>
                </a:solidFill>
                <a:latin typeface="Georgia"/>
                <a:ea typeface="Georgia"/>
                <a:cs typeface="Georgia"/>
              </a:defRPr>
            </a:pPr>
            <a:r>
              <a:rPr sz="1125" b="1" i="0">
                <a:solidFill>
                  <a:srgbClr val="FCFAF4"/>
                </a:solidFill>
                <a:latin typeface="Georgia"/>
                <a:ea typeface="Georgia"/>
                <a:cs typeface="Georgia"/>
              </a:rPr>
              <a:t>Reveal forks and hazards</a:t>
            </a:r>
          </a:p>
        </p:txBody>
      </p:sp>
      <p:sp>
        <p:nvSpPr>
          <p:cNvPr id="17" name="s6-item-body-2">
            <a:extLst xmlns:a="http://schemas.openxmlformats.org/drawingml/2006/main">
              <a:ext uri="{FF2B5EF4-FFF2-40B4-BE49-F238E27FC236}">
                <a16:creationId xmlns:a16="http://schemas.microsoft.com/office/drawing/2014/main" id="{008BFCFA-3024-42A8-84B0-2062CC512E1C}"/>
              </a:ext>
            </a:extLst>
          </p:cNvPr>
          <p:cNvSpPr>
            <a:spLocks xmlns:a="http://schemas.openxmlformats.org/drawingml/2006/main" noGrp="1"/>
          </p:cNvSpPr>
          <p:nvPr/>
        </p:nvSpPr>
        <p:spPr>
          <a:xfrm xmlns:a="http://schemas.openxmlformats.org/drawingml/2006/main">
            <a:off x="4381500" y="2667000"/>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FCFAF4"/>
                </a:solidFill>
                <a:latin typeface="Arial"/>
                <a:ea typeface="Arial"/>
                <a:cs typeface="Arial"/>
              </a:defRPr>
            </a:pPr>
            <a:r>
              <a:rPr sz="863" b="0" i="0">
                <a:solidFill>
                  <a:srgbClr val="FCFAF4"/>
                </a:solidFill>
                <a:latin typeface="Arial"/>
                <a:ea typeface="Arial"/>
                <a:cs typeface="Arial"/>
              </a:rPr>
              <a:t>It surfaces questions, competing interpretations, missing facts, and consequences that could change the path.</a:t>
            </a:r>
          </a:p>
        </p:txBody>
      </p:sp>
      <p:sp>
        <p:nvSpPr>
          <p:cNvPr id="18" name="s6-item-ground-3">
            <a:extLst xmlns:a="http://schemas.openxmlformats.org/drawingml/2006/main">
              <a:ext uri="{FF2B5EF4-FFF2-40B4-BE49-F238E27FC236}">
                <a16:creationId xmlns:a16="http://schemas.microsoft.com/office/drawing/2014/main" id="{32E3D8AD-0EF4-4FC9-A9D0-35266290EB08}"/>
              </a:ext>
            </a:extLst>
          </p:cNvPr>
          <p:cNvSpPr>
            <a:spLocks xmlns:a="http://schemas.openxmlformats.org/drawingml/2006/main" noGrp="1"/>
          </p:cNvSpPr>
          <p:nvPr/>
        </p:nvSpPr>
        <p:spPr>
          <a:xfrm xmlns:a="http://schemas.openxmlformats.org/drawingml/2006/main">
            <a:off x="6210300" y="3467100"/>
            <a:ext cx="1809750" cy="1485900"/>
          </a:xfrm>
          <a:prstGeom xmlns:a="http://schemas.openxmlformats.org/drawingml/2006/main" prst="roundRect">
            <a:avLst>
              <a:gd name="adj" fmla="val 5128"/>
            </a:avLst>
          </a:prstGeom>
          <a:solidFill xmlns:a="http://schemas.openxmlformats.org/drawingml/2006/main">
            <a:srgbClr val="FCFAF4">
              <a:alpha val="94118"/>
            </a:srgbClr>
          </a:solidFill>
          <a:ln xmlns:a="http://schemas.openxmlformats.org/drawingml/2006/main" w="0">
            <a:noFill/>
            <a:prstDash val="solid"/>
          </a:ln>
        </p:spPr>
      </p:sp>
      <p:sp>
        <p:nvSpPr>
          <p:cNvPr id="19" name="s6-item-num-3">
            <a:extLst xmlns:a="http://schemas.openxmlformats.org/drawingml/2006/main">
              <a:ext uri="{FF2B5EF4-FFF2-40B4-BE49-F238E27FC236}">
                <a16:creationId xmlns:a16="http://schemas.microsoft.com/office/drawing/2014/main" id="{3A83B5E5-4F0F-44D0-8AB0-266FBD439864}"/>
              </a:ext>
            </a:extLst>
          </p:cNvPr>
          <p:cNvSpPr>
            <a:spLocks xmlns:a="http://schemas.openxmlformats.org/drawingml/2006/main" noGrp="1"/>
          </p:cNvSpPr>
          <p:nvPr/>
        </p:nvSpPr>
        <p:spPr>
          <a:xfrm xmlns:a="http://schemas.openxmlformats.org/drawingml/2006/main">
            <a:off x="6343650" y="36004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04</a:t>
            </a:r>
          </a:p>
        </p:txBody>
      </p:sp>
      <p:sp>
        <p:nvSpPr>
          <p:cNvPr id="20" name="s6-item-head-3">
            <a:extLst xmlns:a="http://schemas.openxmlformats.org/drawingml/2006/main">
              <a:ext uri="{FF2B5EF4-FFF2-40B4-BE49-F238E27FC236}">
                <a16:creationId xmlns:a16="http://schemas.microsoft.com/office/drawing/2014/main" id="{13D99F9A-5EC5-4C43-B4B3-7E606C7A4B5D}"/>
              </a:ext>
            </a:extLst>
          </p:cNvPr>
          <p:cNvSpPr>
            <a:spLocks xmlns:a="http://schemas.openxmlformats.org/drawingml/2006/main" noGrp="1"/>
          </p:cNvSpPr>
          <p:nvPr/>
        </p:nvSpPr>
        <p:spPr>
          <a:xfrm xmlns:a="http://schemas.openxmlformats.org/drawingml/2006/main">
            <a:off x="6343650" y="3848100"/>
            <a:ext cx="1543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16233F"/>
                </a:solidFill>
                <a:latin typeface="Georgia"/>
                <a:ea typeface="Georgia"/>
                <a:cs typeface="Georgia"/>
              </a:defRPr>
            </a:pPr>
            <a:r>
              <a:rPr sz="1125" b="1" i="0">
                <a:solidFill>
                  <a:srgbClr val="16233F"/>
                </a:solidFill>
                <a:latin typeface="Georgia"/>
                <a:ea typeface="Georgia"/>
                <a:cs typeface="Georgia"/>
              </a:rPr>
              <a:t>Show the edge of the beam</a:t>
            </a:r>
          </a:p>
        </p:txBody>
      </p:sp>
      <p:sp>
        <p:nvSpPr>
          <p:cNvPr id="21" name="s6-item-body-3">
            <a:extLst xmlns:a="http://schemas.openxmlformats.org/drawingml/2006/main">
              <a:ext uri="{FF2B5EF4-FFF2-40B4-BE49-F238E27FC236}">
                <a16:creationId xmlns:a16="http://schemas.microsoft.com/office/drawing/2014/main" id="{AE0C7D93-9FEB-4B17-B7D1-00CDE02DC6F0}"/>
              </a:ext>
            </a:extLst>
          </p:cNvPr>
          <p:cNvSpPr>
            <a:spLocks xmlns:a="http://schemas.openxmlformats.org/drawingml/2006/main" noGrp="1"/>
          </p:cNvSpPr>
          <p:nvPr/>
        </p:nvSpPr>
        <p:spPr>
          <a:xfrm xmlns:a="http://schemas.openxmlformats.org/drawingml/2006/main">
            <a:off x="6343650" y="4210050"/>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16233F"/>
                </a:solidFill>
                <a:latin typeface="Arial"/>
                <a:ea typeface="Arial"/>
                <a:cs typeface="Arial"/>
              </a:defRPr>
            </a:pPr>
            <a:r>
              <a:rPr sz="863" b="0" i="0">
                <a:solidFill>
                  <a:srgbClr val="16233F"/>
                </a:solidFill>
                <a:latin typeface="Arial"/>
                <a:ea typeface="Arial"/>
                <a:cs typeface="Arial"/>
              </a:rPr>
              <a:t>It distinguishes what is known, assumed, supported, unresolved, or uncertain. It does not pretend that the entire terrain is visible.</a:t>
            </a:r>
          </a:p>
        </p:txBody>
      </p:sp>
      <p:sp>
        <p:nvSpPr>
          <p:cNvPr id="22" name="s6-item-ground-4">
            <a:extLst xmlns:a="http://schemas.openxmlformats.org/drawingml/2006/main">
              <a:ext uri="{FF2B5EF4-FFF2-40B4-BE49-F238E27FC236}">
                <a16:creationId xmlns:a16="http://schemas.microsoft.com/office/drawing/2014/main" id="{788558DB-EB0B-4ED0-B02E-BE4C68A41145}"/>
              </a:ext>
            </a:extLst>
          </p:cNvPr>
          <p:cNvSpPr>
            <a:spLocks xmlns:a="http://schemas.openxmlformats.org/drawingml/2006/main" noGrp="1"/>
          </p:cNvSpPr>
          <p:nvPr/>
        </p:nvSpPr>
        <p:spPr>
          <a:xfrm xmlns:a="http://schemas.openxmlformats.org/drawingml/2006/main">
            <a:off x="8172450" y="1924050"/>
            <a:ext cx="1809750" cy="1485900"/>
          </a:xfrm>
          <a:prstGeom xmlns:a="http://schemas.openxmlformats.org/drawingml/2006/main" prst="roundRect">
            <a:avLst>
              <a:gd name="adj" fmla="val 5128"/>
            </a:avLst>
          </a:prstGeom>
          <a:solidFill xmlns:a="http://schemas.openxmlformats.org/drawingml/2006/main">
            <a:srgbClr val="16233F">
              <a:alpha val="91765"/>
            </a:srgbClr>
          </a:solidFill>
          <a:ln xmlns:a="http://schemas.openxmlformats.org/drawingml/2006/main" w="0">
            <a:noFill/>
            <a:prstDash val="solid"/>
          </a:ln>
        </p:spPr>
      </p:sp>
      <p:sp>
        <p:nvSpPr>
          <p:cNvPr id="23" name="s6-item-num-4">
            <a:extLst xmlns:a="http://schemas.openxmlformats.org/drawingml/2006/main">
              <a:ext uri="{FF2B5EF4-FFF2-40B4-BE49-F238E27FC236}">
                <a16:creationId xmlns:a16="http://schemas.microsoft.com/office/drawing/2014/main" id="{AF2FBA93-7276-4B7E-931B-43CD7E7B53A3}"/>
              </a:ext>
            </a:extLst>
          </p:cNvPr>
          <p:cNvSpPr>
            <a:spLocks xmlns:a="http://schemas.openxmlformats.org/drawingml/2006/main" noGrp="1"/>
          </p:cNvSpPr>
          <p:nvPr/>
        </p:nvSpPr>
        <p:spPr>
          <a:xfrm xmlns:a="http://schemas.openxmlformats.org/drawingml/2006/main">
            <a:off x="8305800" y="20574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79A2B"/>
                </a:solidFill>
                <a:latin typeface="Arial"/>
                <a:ea typeface="Arial"/>
                <a:cs typeface="Arial"/>
              </a:defRPr>
            </a:pPr>
            <a:r>
              <a:rPr sz="900" b="1" i="0">
                <a:solidFill>
                  <a:srgbClr val="C79A2B"/>
                </a:solidFill>
                <a:latin typeface="Arial"/>
                <a:ea typeface="Arial"/>
                <a:cs typeface="Arial"/>
              </a:rPr>
              <a:t>05</a:t>
            </a:r>
          </a:p>
        </p:txBody>
      </p:sp>
      <p:sp>
        <p:nvSpPr>
          <p:cNvPr id="24" name="s6-item-head-4">
            <a:extLst xmlns:a="http://schemas.openxmlformats.org/drawingml/2006/main">
              <a:ext uri="{FF2B5EF4-FFF2-40B4-BE49-F238E27FC236}">
                <a16:creationId xmlns:a16="http://schemas.microsoft.com/office/drawing/2014/main" id="{6368028C-6D8F-4728-B86F-8971D050D698}"/>
              </a:ext>
            </a:extLst>
          </p:cNvPr>
          <p:cNvSpPr>
            <a:spLocks xmlns:a="http://schemas.openxmlformats.org/drawingml/2006/main" noGrp="1"/>
          </p:cNvSpPr>
          <p:nvPr/>
        </p:nvSpPr>
        <p:spPr>
          <a:xfrm xmlns:a="http://schemas.openxmlformats.org/drawingml/2006/main">
            <a:off x="8305800" y="2305050"/>
            <a:ext cx="1543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FCFAF4"/>
                </a:solidFill>
                <a:latin typeface="Georgia"/>
                <a:ea typeface="Georgia"/>
                <a:cs typeface="Georgia"/>
              </a:defRPr>
            </a:pPr>
            <a:r>
              <a:rPr sz="1125" b="1" i="0">
                <a:solidFill>
                  <a:srgbClr val="FCFAF4"/>
                </a:solidFill>
                <a:latin typeface="Georgia"/>
                <a:ea typeface="Georgia"/>
                <a:cs typeface="Georgia"/>
              </a:rPr>
              <a:t>Leave the route to the lawyer</a:t>
            </a:r>
          </a:p>
        </p:txBody>
      </p:sp>
      <p:sp>
        <p:nvSpPr>
          <p:cNvPr id="25" name="s6-item-body-4">
            <a:extLst xmlns:a="http://schemas.openxmlformats.org/drawingml/2006/main">
              <a:ext uri="{FF2B5EF4-FFF2-40B4-BE49-F238E27FC236}">
                <a16:creationId xmlns:a16="http://schemas.microsoft.com/office/drawing/2014/main" id="{C0424135-25C8-4EC8-AE3F-6435D17E2423}"/>
              </a:ext>
            </a:extLst>
          </p:cNvPr>
          <p:cNvSpPr>
            <a:spLocks xmlns:a="http://schemas.openxmlformats.org/drawingml/2006/main" noGrp="1"/>
          </p:cNvSpPr>
          <p:nvPr/>
        </p:nvSpPr>
        <p:spPr>
          <a:xfrm xmlns:a="http://schemas.openxmlformats.org/drawingml/2006/main">
            <a:off x="8305800" y="2667000"/>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FCFAF4"/>
                </a:solidFill>
                <a:latin typeface="Arial"/>
                <a:ea typeface="Arial"/>
                <a:cs typeface="Arial"/>
              </a:defRPr>
            </a:pPr>
            <a:r>
              <a:rPr sz="863" b="0" i="0">
                <a:solidFill>
                  <a:srgbClr val="FCFAF4"/>
                </a:solidFill>
                <a:latin typeface="Arial"/>
                <a:ea typeface="Arial"/>
                <a:cs typeface="Arial"/>
              </a:rPr>
              <a:t>It helps the lawyer test and form a recommendation while keeping the final judgment with the lawyer.</a:t>
            </a:r>
          </a:p>
        </p:txBody>
      </p:sp>
      <p:sp>
        <p:nvSpPr>
          <p:cNvPr id="26" name="s6-item-ground-5">
            <a:extLst xmlns:a="http://schemas.openxmlformats.org/drawingml/2006/main">
              <a:ext uri="{FF2B5EF4-FFF2-40B4-BE49-F238E27FC236}">
                <a16:creationId xmlns:a16="http://schemas.microsoft.com/office/drawing/2014/main" id="{BD90AAB8-D6FC-47FE-9C0C-6F17952C88AB}"/>
              </a:ext>
            </a:extLst>
          </p:cNvPr>
          <p:cNvSpPr>
            <a:spLocks xmlns:a="http://schemas.openxmlformats.org/drawingml/2006/main" noGrp="1"/>
          </p:cNvSpPr>
          <p:nvPr/>
        </p:nvSpPr>
        <p:spPr>
          <a:xfrm xmlns:a="http://schemas.openxmlformats.org/drawingml/2006/main">
            <a:off x="10134600" y="3467100"/>
            <a:ext cx="1809750" cy="1485900"/>
          </a:xfrm>
          <a:prstGeom xmlns:a="http://schemas.openxmlformats.org/drawingml/2006/main" prst="roundRect">
            <a:avLst>
              <a:gd name="adj" fmla="val 5128"/>
            </a:avLst>
          </a:prstGeom>
          <a:solidFill xmlns:a="http://schemas.openxmlformats.org/drawingml/2006/main">
            <a:srgbClr val="FCFAF4">
              <a:alpha val="94118"/>
            </a:srgbClr>
          </a:solidFill>
          <a:ln xmlns:a="http://schemas.openxmlformats.org/drawingml/2006/main" w="0">
            <a:noFill/>
            <a:prstDash val="solid"/>
          </a:ln>
        </p:spPr>
      </p:sp>
      <p:sp>
        <p:nvSpPr>
          <p:cNvPr id="27" name="s6-item-num-5">
            <a:extLst xmlns:a="http://schemas.openxmlformats.org/drawingml/2006/main">
              <a:ext uri="{FF2B5EF4-FFF2-40B4-BE49-F238E27FC236}">
                <a16:creationId xmlns:a16="http://schemas.microsoft.com/office/drawing/2014/main" id="{856F1028-D668-4FCA-9A68-D143DA90C1EB}"/>
              </a:ext>
            </a:extLst>
          </p:cNvPr>
          <p:cNvSpPr>
            <a:spLocks xmlns:a="http://schemas.openxmlformats.org/drawingml/2006/main" noGrp="1"/>
          </p:cNvSpPr>
          <p:nvPr/>
        </p:nvSpPr>
        <p:spPr>
          <a:xfrm xmlns:a="http://schemas.openxmlformats.org/drawingml/2006/main">
            <a:off x="10267950" y="36004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06</a:t>
            </a:r>
          </a:p>
        </p:txBody>
      </p:sp>
      <p:sp>
        <p:nvSpPr>
          <p:cNvPr id="28" name="s6-item-head-5">
            <a:extLst xmlns:a="http://schemas.openxmlformats.org/drawingml/2006/main">
              <a:ext uri="{FF2B5EF4-FFF2-40B4-BE49-F238E27FC236}">
                <a16:creationId xmlns:a16="http://schemas.microsoft.com/office/drawing/2014/main" id="{F74559C5-9291-4CA9-AFCC-DDC9F5BC2E0D}"/>
              </a:ext>
            </a:extLst>
          </p:cNvPr>
          <p:cNvSpPr>
            <a:spLocks xmlns:a="http://schemas.openxmlformats.org/drawingml/2006/main" noGrp="1"/>
          </p:cNvSpPr>
          <p:nvPr/>
        </p:nvSpPr>
        <p:spPr>
          <a:xfrm xmlns:a="http://schemas.openxmlformats.org/drawingml/2006/main">
            <a:off x="10267950" y="3848100"/>
            <a:ext cx="1543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16233F"/>
                </a:solidFill>
                <a:latin typeface="Georgia"/>
                <a:ea typeface="Georgia"/>
                <a:cs typeface="Georgia"/>
              </a:defRPr>
            </a:pPr>
            <a:r>
              <a:rPr sz="1125" b="1" i="0">
                <a:solidFill>
                  <a:srgbClr val="16233F"/>
                </a:solidFill>
                <a:latin typeface="Georgia"/>
                <a:ea typeface="Georgia"/>
                <a:cs typeface="Georgia"/>
              </a:rPr>
              <a:t>Remember the route taken</a:t>
            </a:r>
          </a:p>
        </p:txBody>
      </p:sp>
      <p:sp>
        <p:nvSpPr>
          <p:cNvPr id="29" name="s6-item-body-5">
            <a:extLst xmlns:a="http://schemas.openxmlformats.org/drawingml/2006/main">
              <a:ext uri="{FF2B5EF4-FFF2-40B4-BE49-F238E27FC236}">
                <a16:creationId xmlns:a16="http://schemas.microsoft.com/office/drawing/2014/main" id="{A8C5420E-12E4-4C81-9A2D-042891110489}"/>
              </a:ext>
            </a:extLst>
          </p:cNvPr>
          <p:cNvSpPr>
            <a:spLocks xmlns:a="http://schemas.openxmlformats.org/drawingml/2006/main" noGrp="1"/>
          </p:cNvSpPr>
          <p:nvPr/>
        </p:nvSpPr>
        <p:spPr>
          <a:xfrm xmlns:a="http://schemas.openxmlformats.org/drawingml/2006/main">
            <a:off x="10267950" y="4210050"/>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16233F"/>
                </a:solidFill>
                <a:latin typeface="Arial"/>
                <a:ea typeface="Arial"/>
                <a:cs typeface="Arial"/>
              </a:defRPr>
            </a:pPr>
            <a:r>
              <a:rPr sz="863" b="0" i="0">
                <a:solidFill>
                  <a:srgbClr val="16233F"/>
                </a:solidFill>
                <a:latin typeface="Arial"/>
                <a:ea typeface="Arial"/>
                <a:cs typeface="Arial"/>
              </a:rPr>
              <a:t>It preserves the context, reasoning, sources, and recorded decision when the matter returns.</a:t>
            </a:r>
          </a:p>
        </p:txBody>
      </p:sp>
      <p:sp>
        <p:nvSpPr>
          <p:cNvPr id="30" name="s6-bottom">
            <a:extLst xmlns:a="http://schemas.openxmlformats.org/drawingml/2006/main">
              <a:ext uri="{FF2B5EF4-FFF2-40B4-BE49-F238E27FC236}">
                <a16:creationId xmlns:a16="http://schemas.microsoft.com/office/drawing/2014/main" id="{452B2AF8-288D-4BC7-88E4-AFA584DDCDA0}"/>
              </a:ext>
            </a:extLst>
          </p:cNvPr>
          <p:cNvSpPr>
            <a:spLocks xmlns:a="http://schemas.openxmlformats.org/drawingml/2006/main" noGrp="1"/>
          </p:cNvSpPr>
          <p:nvPr/>
        </p:nvSpPr>
        <p:spPr>
          <a:xfrm xmlns:a="http://schemas.openxmlformats.org/drawingml/2006/main">
            <a:off x="0" y="5657850"/>
            <a:ext cx="12192000" cy="1200150"/>
          </a:xfrm>
          <a:prstGeom xmlns:a="http://schemas.openxmlformats.org/drawingml/2006/main" prst="rect">
            <a:avLst/>
          </a:prstGeom>
          <a:solidFill xmlns:a="http://schemas.openxmlformats.org/drawingml/2006/main">
            <a:srgbClr val="16233F"/>
          </a:solidFill>
          <a:ln xmlns:a="http://schemas.openxmlformats.org/drawingml/2006/main" w="0">
            <a:noFill/>
            <a:prstDash val="solid"/>
          </a:ln>
        </p:spPr>
      </p:sp>
      <p:sp>
        <p:nvSpPr>
          <p:cNvPr id="31" name="s6-closing">
            <a:extLst xmlns:a="http://schemas.openxmlformats.org/drawingml/2006/main">
              <a:ext uri="{FF2B5EF4-FFF2-40B4-BE49-F238E27FC236}">
                <a16:creationId xmlns:a16="http://schemas.microsoft.com/office/drawing/2014/main" id="{967B4D21-C99C-4795-BBB3-D20835E3912A}"/>
              </a:ext>
            </a:extLst>
          </p:cNvPr>
          <p:cNvSpPr>
            <a:spLocks xmlns:a="http://schemas.openxmlformats.org/drawingml/2006/main" noGrp="1"/>
          </p:cNvSpPr>
          <p:nvPr/>
        </p:nvSpPr>
        <p:spPr>
          <a:xfrm xmlns:a="http://schemas.openxmlformats.org/drawingml/2006/main">
            <a:off x="514350" y="586740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1" i="0">
                <a:solidFill>
                  <a:srgbClr val="C79A2B"/>
                </a:solidFill>
                <a:latin typeface="Georgia"/>
                <a:ea typeface="Georgia"/>
                <a:cs typeface="Georgia"/>
              </a:defRPr>
            </a:pPr>
            <a:r>
              <a:rPr sz="1425" b="1" i="0">
                <a:solidFill>
                  <a:srgbClr val="C79A2B"/>
                </a:solidFill>
                <a:latin typeface="Georgia"/>
                <a:ea typeface="Georgia"/>
                <a:cs typeface="Georgia"/>
              </a:rPr>
              <a:t>Themis helps the lawyer see the climb. The lawyer still chooses the path and takes the final step.</a:t>
            </a:r>
          </a:p>
        </p:txBody>
      </p:sp>
      <p:sp>
        <p:nvSpPr>
          <p:cNvPr id="32" name="s6-product">
            <a:extLst xmlns:a="http://schemas.openxmlformats.org/drawingml/2006/main">
              <a:ext uri="{FF2B5EF4-FFF2-40B4-BE49-F238E27FC236}">
                <a16:creationId xmlns:a16="http://schemas.microsoft.com/office/drawing/2014/main" id="{42026872-CC88-4CBE-8A67-52018E584032}"/>
              </a:ext>
            </a:extLst>
          </p:cNvPr>
          <p:cNvSpPr>
            <a:spLocks xmlns:a="http://schemas.openxmlformats.org/drawingml/2006/main" noGrp="1"/>
          </p:cNvSpPr>
          <p:nvPr/>
        </p:nvSpPr>
        <p:spPr>
          <a:xfrm xmlns:a="http://schemas.openxmlformats.org/drawingml/2006/main">
            <a:off x="6305550" y="5848350"/>
            <a:ext cx="5295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088" b="0" i="0">
                <a:solidFill>
                  <a:srgbClr val="FCFAF4"/>
                </a:solidFill>
                <a:latin typeface="Arial"/>
                <a:ea typeface="Arial"/>
                <a:cs typeface="Arial"/>
              </a:defRPr>
            </a:pPr>
            <a:r>
              <a:rPr sz="1088" b="0" i="0">
                <a:solidFill>
                  <a:srgbClr val="FCFAF4"/>
                </a:solidFill>
                <a:latin typeface="Arial"/>
                <a:ea typeface="Arial"/>
                <a:cs typeface="Arial"/>
              </a:rPr>
              <a:t>The workflow matters because it gives the companion role a durable form. Themis does not disappear after producing an answer; it stays with the matter through questions, research, recommendations, decisions, and later review.</a:t>
            </a:r>
          </a:p>
        </p:txBody>
      </p:sp>
    </p:spTree>
    <p:extLst>
      <p:ext uri="{BB962C8B-B14F-4D97-AF65-F5344CB8AC3E}">
        <p14:creationId xmlns:p14="http://schemas.microsoft.com/office/powerpoint/2010/main" val="1502359660"/>
      </p:ext>
    </p:extLst>
  </p:cSld>
</p:sld>
</file>

<file path=ppt/slides/slide7.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24" name="s7-cobalt-field">
            <a:extLst xmlns:a="http://schemas.openxmlformats.org/drawingml/2006/main">
              <a:ext uri="{FF2B5EF4-FFF2-40B4-BE49-F238E27FC236}">
                <a16:creationId xmlns:a16="http://schemas.microsoft.com/office/drawing/2014/main" id="{914049AC-0935-4470-AB44-5BF93E706944}"/>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3E5F9D"/>
          </a:solidFill>
          <a:ln xmlns:a="http://schemas.openxmlformats.org/drawingml/2006/main" w="0">
            <a:noFill/>
            <a:prstDash val="solid"/>
          </a:ln>
        </p:spPr>
      </p:sp>
      <p:sp>
        <p:nvSpPr>
          <p:cNvPr id="2" name="kicker-7">
            <a:extLst xmlns:a="http://schemas.openxmlformats.org/drawingml/2006/main">
              <a:ext uri="{FF2B5EF4-FFF2-40B4-BE49-F238E27FC236}">
                <a16:creationId xmlns:a16="http://schemas.microsoft.com/office/drawing/2014/main" id="{5B2FF3DD-0734-4DC8-8C97-25962C1E0CC3}"/>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THEMIS THESIS  /  07</a:t>
            </a:r>
          </a:p>
        </p:txBody>
      </p:sp>
      <p:sp>
        <p:nvSpPr>
          <p:cNvPr id="3" name="title-7">
            <a:extLst xmlns:a="http://schemas.openxmlformats.org/drawingml/2006/main">
              <a:ext uri="{FF2B5EF4-FFF2-40B4-BE49-F238E27FC236}">
                <a16:creationId xmlns:a16="http://schemas.microsoft.com/office/drawing/2014/main" id="{47D0C085-B2B7-46C3-9000-E8B0B99A6391}"/>
              </a:ext>
            </a:extLst>
          </p:cNvPr>
          <p:cNvSpPr>
            <a:spLocks xmlns:a="http://schemas.openxmlformats.org/drawingml/2006/main" noGrp="1"/>
          </p:cNvSpPr>
          <p:nvPr/>
        </p:nvSpPr>
        <p:spPr>
          <a:xfrm xmlns:a="http://schemas.openxmlformats.org/drawingml/2006/main">
            <a:off x="514350" y="609600"/>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850" b="1" i="0">
                <a:solidFill>
                  <a:srgbClr val="16233F"/>
                </a:solidFill>
                <a:latin typeface="Georgia"/>
                <a:ea typeface="Georgia"/>
                <a:cs typeface="Georgia"/>
              </a:defRPr>
            </a:pPr>
            <a:r>
              <a:rPr sz="2850" b="1" i="0">
                <a:solidFill>
                  <a:srgbClr val="16233F"/>
                </a:solidFill>
                <a:latin typeface="Georgia"/>
                <a:ea typeface="Georgia"/>
                <a:cs typeface="Georgia"/>
              </a:rPr>
              <a:t>A matter is not a chat. It is a durable record of how the lawyer reached the call.</a:t>
            </a:r>
          </a:p>
        </p:txBody>
      </p:sp>
      <p:sp>
        <p:nvSpPr>
          <p:cNvPr id="4" name="s7-context">
            <a:extLst xmlns:a="http://schemas.openxmlformats.org/drawingml/2006/main">
              <a:ext uri="{FF2B5EF4-FFF2-40B4-BE49-F238E27FC236}">
                <a16:creationId xmlns:a16="http://schemas.microsoft.com/office/drawing/2014/main" id="{A2E78652-A40A-4902-8113-7A4FAD90C8AD}"/>
              </a:ext>
            </a:extLst>
          </p:cNvPr>
          <p:cNvSpPr>
            <a:spLocks xmlns:a="http://schemas.openxmlformats.org/drawingml/2006/main" noGrp="1"/>
          </p:cNvSpPr>
          <p:nvPr/>
        </p:nvSpPr>
        <p:spPr>
          <a:xfrm xmlns:a="http://schemas.openxmlformats.org/drawingml/2006/main">
            <a:off x="514350" y="1428750"/>
            <a:ext cx="111633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63" b="0" i="0">
                <a:solidFill>
                  <a:srgbClr val="16233F"/>
                </a:solidFill>
                <a:latin typeface="Arial"/>
                <a:ea typeface="Arial"/>
                <a:cs typeface="Arial"/>
              </a:defRPr>
            </a:pPr>
            <a:r>
              <a:rPr sz="1163" b="0" i="0">
                <a:solidFill>
                  <a:srgbClr val="16233F"/>
                </a:solidFill>
                <a:latin typeface="Arial"/>
                <a:ea typeface="Arial"/>
                <a:cs typeface="Arial"/>
              </a:rPr>
              <a:t>Legal work is not a sequence of isolated answers. It is a matter moving toward a legal and business objective.</a:t>
            </a:r>
          </a:p>
          <a:p xmlns:a="http://schemas.openxmlformats.org/drawingml/2006/main">
            <a:r>
              <a:t/>
            </a:r>
          </a:p>
          <a:p xmlns:a="http://schemas.openxmlformats.org/drawingml/2006/main">
            <a:pPr algn="l">
              <a:lnSpc>
                <a:spcPct val="110000"/>
              </a:lnSpc>
              <a:buNone/>
              <a:defRPr sz="1163" b="0" i="0">
                <a:solidFill>
                  <a:srgbClr val="16233F"/>
                </a:solidFill>
                <a:latin typeface="Arial"/>
                <a:ea typeface="Arial"/>
                <a:cs typeface="Arial"/>
              </a:defRPr>
            </a:pPr>
            <a:r>
              <a:rPr sz="1163" b="0" i="0">
                <a:solidFill>
                  <a:srgbClr val="16233F"/>
                </a:solidFill>
                <a:latin typeface="Arial"/>
                <a:ea typeface="Arial"/>
                <a:cs typeface="Arial"/>
              </a:rPr>
              <a:t>Themis organizes the work around that objective. It synthesizes the request, facts, issues, sources, open questions, recommendations, and recorded decisions so the lawyer can understand the whole matter and move it toward a sound decision.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443caba147a4e44"/>
          <a:stretch xmlns:a="http://schemas.openxmlformats.org/drawingml/2006/main"/>
        </p:blipFill>
        <p:spPr>
          <a:xfrm xmlns:a="http://schemas.openxmlformats.org/drawingml/2006/main">
            <a:off x="1836420" y="2247900"/>
            <a:ext cx="4480560" cy="2800350"/>
          </a:xfrm>
          <a:prstGeom xmlns:a="http://schemas.openxmlformats.org/drawingml/2006/main" prst="rect">
            <a:avLst/>
          </a:prstGeom>
        </p:spPr>
      </p:pic>
      <p:sp>
        <p:nvSpPr>
          <p:cNvPr id="6" name="rule-54-536">
            <a:extLst xmlns:a="http://schemas.openxmlformats.org/drawingml/2006/main">
              <a:ext uri="{FF2B5EF4-FFF2-40B4-BE49-F238E27FC236}">
                <a16:creationId xmlns:a16="http://schemas.microsoft.com/office/drawing/2014/main" id="{25DF41F2-D53F-41C2-B4D2-3C6D48985455}"/>
              </a:ext>
            </a:extLst>
          </p:cNvPr>
          <p:cNvSpPr>
            <a:spLocks xmlns:a="http://schemas.openxmlformats.org/drawingml/2006/main" noGrp="1"/>
          </p:cNvSpPr>
          <p:nvPr/>
        </p:nvSpPr>
        <p:spPr>
          <a:xfrm xmlns:a="http://schemas.openxmlformats.org/drawingml/2006/main">
            <a:off x="514350" y="5105400"/>
            <a:ext cx="7124700" cy="38100"/>
          </a:xfrm>
          <a:prstGeom xmlns:a="http://schemas.openxmlformats.org/drawingml/2006/main" prst="rect">
            <a:avLst/>
          </a:prstGeom>
          <a:solidFill xmlns:a="http://schemas.openxmlformats.org/drawingml/2006/main">
            <a:srgbClr val="3E5F9D"/>
          </a:solidFill>
          <a:ln xmlns:a="http://schemas.openxmlformats.org/drawingml/2006/main" w="0">
            <a:noFill/>
            <a:prstDash val="solid"/>
          </a:ln>
        </p:spPr>
      </p:sp>
      <p:sp>
        <p:nvSpPr>
          <p:cNvPr id="7" name="s7-proof-head-0">
            <a:extLst xmlns:a="http://schemas.openxmlformats.org/drawingml/2006/main">
              <a:ext uri="{FF2B5EF4-FFF2-40B4-BE49-F238E27FC236}">
                <a16:creationId xmlns:a16="http://schemas.microsoft.com/office/drawing/2014/main" id="{7BE51762-CB5B-470E-B87D-C8FCAF40415E}"/>
              </a:ext>
            </a:extLst>
          </p:cNvPr>
          <p:cNvSpPr>
            <a:spLocks xmlns:a="http://schemas.openxmlformats.org/drawingml/2006/main" noGrp="1"/>
          </p:cNvSpPr>
          <p:nvPr/>
        </p:nvSpPr>
        <p:spPr>
          <a:xfrm xmlns:a="http://schemas.openxmlformats.org/drawingml/2006/main">
            <a:off x="8020050" y="224790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3E5F9D"/>
                </a:solidFill>
                <a:latin typeface="Arial"/>
                <a:ea typeface="Arial"/>
                <a:cs typeface="Arial"/>
              </a:defRPr>
            </a:pPr>
            <a:r>
              <a:rPr sz="1088" b="1" i="0">
                <a:solidFill>
                  <a:srgbClr val="3E5F9D"/>
                </a:solidFill>
                <a:latin typeface="Arial"/>
                <a:ea typeface="Arial"/>
                <a:cs typeface="Arial"/>
              </a:rPr>
              <a:t>It listened.</a:t>
            </a:r>
          </a:p>
        </p:txBody>
      </p:sp>
      <p:sp>
        <p:nvSpPr>
          <p:cNvPr id="8" name="s7-proof-body-0">
            <a:extLst xmlns:a="http://schemas.openxmlformats.org/drawingml/2006/main">
              <a:ext uri="{FF2B5EF4-FFF2-40B4-BE49-F238E27FC236}">
                <a16:creationId xmlns:a16="http://schemas.microsoft.com/office/drawing/2014/main" id="{E18177D9-4100-4548-8950-D863744B3058}"/>
              </a:ext>
            </a:extLst>
          </p:cNvPr>
          <p:cNvSpPr>
            <a:spLocks xmlns:a="http://schemas.openxmlformats.org/drawingml/2006/main" noGrp="1"/>
          </p:cNvSpPr>
          <p:nvPr/>
        </p:nvSpPr>
        <p:spPr>
          <a:xfrm xmlns:a="http://schemas.openxmlformats.org/drawingml/2006/main">
            <a:off x="8020050" y="245745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The request, facts, and business context remain visible.</a:t>
            </a:r>
          </a:p>
        </p:txBody>
      </p:sp>
      <p:sp>
        <p:nvSpPr>
          <p:cNvPr id="9" name="s7-proof-head-1">
            <a:extLst xmlns:a="http://schemas.openxmlformats.org/drawingml/2006/main">
              <a:ext uri="{FF2B5EF4-FFF2-40B4-BE49-F238E27FC236}">
                <a16:creationId xmlns:a16="http://schemas.microsoft.com/office/drawing/2014/main" id="{31F6284F-69D9-4AFF-B828-AE72A2187F4F}"/>
              </a:ext>
            </a:extLst>
          </p:cNvPr>
          <p:cNvSpPr>
            <a:spLocks xmlns:a="http://schemas.openxmlformats.org/drawingml/2006/main" noGrp="1"/>
          </p:cNvSpPr>
          <p:nvPr/>
        </p:nvSpPr>
        <p:spPr>
          <a:xfrm xmlns:a="http://schemas.openxmlformats.org/drawingml/2006/main">
            <a:off x="8020050" y="280035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C86449"/>
                </a:solidFill>
                <a:latin typeface="Arial"/>
                <a:ea typeface="Arial"/>
                <a:cs typeface="Arial"/>
              </a:defRPr>
            </a:pPr>
            <a:r>
              <a:rPr sz="1088" b="1" i="0">
                <a:solidFill>
                  <a:srgbClr val="C86449"/>
                </a:solidFill>
                <a:latin typeface="Arial"/>
                <a:ea typeface="Arial"/>
                <a:cs typeface="Arial"/>
              </a:rPr>
              <a:t>It understood what is at stake.</a:t>
            </a:r>
          </a:p>
        </p:txBody>
      </p:sp>
      <p:sp>
        <p:nvSpPr>
          <p:cNvPr id="10" name="s7-proof-body-1">
            <a:extLst xmlns:a="http://schemas.openxmlformats.org/drawingml/2006/main">
              <a:ext uri="{FF2B5EF4-FFF2-40B4-BE49-F238E27FC236}">
                <a16:creationId xmlns:a16="http://schemas.microsoft.com/office/drawing/2014/main" id="{ACD807DB-3544-44A4-92FC-80A9ECBAA7E9}"/>
              </a:ext>
            </a:extLst>
          </p:cNvPr>
          <p:cNvSpPr>
            <a:spLocks xmlns:a="http://schemas.openxmlformats.org/drawingml/2006/main" noGrp="1"/>
          </p:cNvSpPr>
          <p:nvPr/>
        </p:nvSpPr>
        <p:spPr>
          <a:xfrm xmlns:a="http://schemas.openxmlformats.org/drawingml/2006/main">
            <a:off x="8020050" y="300990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The issues and implications are organized around the matter.</a:t>
            </a:r>
          </a:p>
        </p:txBody>
      </p:sp>
      <p:sp>
        <p:nvSpPr>
          <p:cNvPr id="11" name="s7-proof-head-2">
            <a:extLst xmlns:a="http://schemas.openxmlformats.org/drawingml/2006/main">
              <a:ext uri="{FF2B5EF4-FFF2-40B4-BE49-F238E27FC236}">
                <a16:creationId xmlns:a16="http://schemas.microsoft.com/office/drawing/2014/main" id="{84E043FF-B155-4554-9281-42ED00008E88}"/>
              </a:ext>
            </a:extLst>
          </p:cNvPr>
          <p:cNvSpPr>
            <a:spLocks xmlns:a="http://schemas.openxmlformats.org/drawingml/2006/main" noGrp="1"/>
          </p:cNvSpPr>
          <p:nvPr/>
        </p:nvSpPr>
        <p:spPr>
          <a:xfrm xmlns:a="http://schemas.openxmlformats.org/drawingml/2006/main">
            <a:off x="8020050" y="335280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3E5F9D"/>
                </a:solidFill>
                <a:latin typeface="Arial"/>
                <a:ea typeface="Arial"/>
                <a:cs typeface="Arial"/>
              </a:defRPr>
            </a:pPr>
            <a:r>
              <a:rPr sz="1088" b="1" i="0">
                <a:solidFill>
                  <a:srgbClr val="3E5F9D"/>
                </a:solidFill>
                <a:latin typeface="Arial"/>
                <a:ea typeface="Arial"/>
                <a:cs typeface="Arial"/>
              </a:rPr>
              <a:t>It illuminates.</a:t>
            </a:r>
          </a:p>
        </p:txBody>
      </p:sp>
      <p:sp>
        <p:nvSpPr>
          <p:cNvPr id="12" name="s7-proof-body-2">
            <a:extLst xmlns:a="http://schemas.openxmlformats.org/drawingml/2006/main">
              <a:ext uri="{FF2B5EF4-FFF2-40B4-BE49-F238E27FC236}">
                <a16:creationId xmlns:a16="http://schemas.microsoft.com/office/drawing/2014/main" id="{3DA90D1F-33E7-4E51-B619-1B838C033E2B}"/>
              </a:ext>
            </a:extLst>
          </p:cNvPr>
          <p:cNvSpPr>
            <a:spLocks xmlns:a="http://schemas.openxmlformats.org/drawingml/2006/main" noGrp="1"/>
          </p:cNvSpPr>
          <p:nvPr/>
        </p:nvSpPr>
        <p:spPr>
          <a:xfrm xmlns:a="http://schemas.openxmlformats.org/drawingml/2006/main">
            <a:off x="8020050" y="356235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Questions, gaps, assumptions, and uncertainty stay in view.</a:t>
            </a:r>
          </a:p>
        </p:txBody>
      </p:sp>
      <p:sp>
        <p:nvSpPr>
          <p:cNvPr id="13" name="s7-proof-head-3">
            <a:extLst xmlns:a="http://schemas.openxmlformats.org/drawingml/2006/main">
              <a:ext uri="{FF2B5EF4-FFF2-40B4-BE49-F238E27FC236}">
                <a16:creationId xmlns:a16="http://schemas.microsoft.com/office/drawing/2014/main" id="{F878BA12-C6C8-4722-A2AE-72E7E0AC4412}"/>
              </a:ext>
            </a:extLst>
          </p:cNvPr>
          <p:cNvSpPr>
            <a:spLocks xmlns:a="http://schemas.openxmlformats.org/drawingml/2006/main" noGrp="1"/>
          </p:cNvSpPr>
          <p:nvPr/>
        </p:nvSpPr>
        <p:spPr>
          <a:xfrm xmlns:a="http://schemas.openxmlformats.org/drawingml/2006/main">
            <a:off x="8020050" y="390525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C86449"/>
                </a:solidFill>
                <a:latin typeface="Arial"/>
                <a:ea typeface="Arial"/>
                <a:cs typeface="Arial"/>
              </a:defRPr>
            </a:pPr>
            <a:r>
              <a:rPr sz="1088" b="1" i="0">
                <a:solidFill>
                  <a:srgbClr val="C86449"/>
                </a:solidFill>
                <a:latin typeface="Arial"/>
                <a:ea typeface="Arial"/>
                <a:cs typeface="Arial"/>
              </a:rPr>
              <a:t>It supports the judgment.</a:t>
            </a:r>
          </a:p>
        </p:txBody>
      </p:sp>
      <p:sp>
        <p:nvSpPr>
          <p:cNvPr id="14" name="s7-proof-body-3">
            <a:extLst xmlns:a="http://schemas.openxmlformats.org/drawingml/2006/main">
              <a:ext uri="{FF2B5EF4-FFF2-40B4-BE49-F238E27FC236}">
                <a16:creationId xmlns:a16="http://schemas.microsoft.com/office/drawing/2014/main" id="{134E1AC6-EB63-4915-BFE3-FAA2BE0D7FB1}"/>
              </a:ext>
            </a:extLst>
          </p:cNvPr>
          <p:cNvSpPr>
            <a:spLocks xmlns:a="http://schemas.openxmlformats.org/drawingml/2006/main" noGrp="1"/>
          </p:cNvSpPr>
          <p:nvPr/>
        </p:nvSpPr>
        <p:spPr>
          <a:xfrm xmlns:a="http://schemas.openxmlformats.org/drawingml/2006/main">
            <a:off x="8020050" y="411480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Recommendations can develop without becoming recorded decisions.</a:t>
            </a:r>
          </a:p>
        </p:txBody>
      </p:sp>
      <p:sp>
        <p:nvSpPr>
          <p:cNvPr id="15" name="s7-proof-head-4">
            <a:extLst xmlns:a="http://schemas.openxmlformats.org/drawingml/2006/main">
              <a:ext uri="{FF2B5EF4-FFF2-40B4-BE49-F238E27FC236}">
                <a16:creationId xmlns:a16="http://schemas.microsoft.com/office/drawing/2014/main" id="{4095F1CE-E820-488C-84A0-B8F30191083C}"/>
              </a:ext>
            </a:extLst>
          </p:cNvPr>
          <p:cNvSpPr>
            <a:spLocks xmlns:a="http://schemas.openxmlformats.org/drawingml/2006/main" noGrp="1"/>
          </p:cNvSpPr>
          <p:nvPr/>
        </p:nvSpPr>
        <p:spPr>
          <a:xfrm xmlns:a="http://schemas.openxmlformats.org/drawingml/2006/main">
            <a:off x="8020050" y="445770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3E5F9D"/>
                </a:solidFill>
                <a:latin typeface="Arial"/>
                <a:ea typeface="Arial"/>
                <a:cs typeface="Arial"/>
              </a:defRPr>
            </a:pPr>
            <a:r>
              <a:rPr sz="1088" b="1" i="0">
                <a:solidFill>
                  <a:srgbClr val="3E5F9D"/>
                </a:solidFill>
                <a:latin typeface="Arial"/>
                <a:ea typeface="Arial"/>
                <a:cs typeface="Arial"/>
              </a:rPr>
              <a:t>It remembers the path.</a:t>
            </a:r>
          </a:p>
        </p:txBody>
      </p:sp>
      <p:sp>
        <p:nvSpPr>
          <p:cNvPr id="16" name="s7-proof-body-4">
            <a:extLst xmlns:a="http://schemas.openxmlformats.org/drawingml/2006/main">
              <a:ext uri="{FF2B5EF4-FFF2-40B4-BE49-F238E27FC236}">
                <a16:creationId xmlns:a16="http://schemas.microsoft.com/office/drawing/2014/main" id="{EA04E8F6-207F-4F42-BCAF-8AFF610B2102}"/>
              </a:ext>
            </a:extLst>
          </p:cNvPr>
          <p:cNvSpPr>
            <a:spLocks xmlns:a="http://schemas.openxmlformats.org/drawingml/2006/main" noGrp="1"/>
          </p:cNvSpPr>
          <p:nvPr/>
        </p:nvSpPr>
        <p:spPr>
          <a:xfrm xmlns:a="http://schemas.openxmlformats.org/drawingml/2006/main">
            <a:off x="8020050" y="466725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The sources, reasoning, open work, and decision persist over time.</a:t>
            </a:r>
          </a:p>
        </p:txBody>
      </p:sp>
      <p:sp>
        <p:nvSpPr>
          <p:cNvPr id="17" name="s7-bottom">
            <a:extLst xmlns:a="http://schemas.openxmlformats.org/drawingml/2006/main">
              <a:ext uri="{FF2B5EF4-FFF2-40B4-BE49-F238E27FC236}">
                <a16:creationId xmlns:a16="http://schemas.microsoft.com/office/drawing/2014/main" id="{39A00694-1A3E-4EDF-9CA6-EA5349B752A2}"/>
              </a:ext>
            </a:extLst>
          </p:cNvPr>
          <p:cNvSpPr>
            <a:spLocks xmlns:a="http://schemas.openxmlformats.org/drawingml/2006/main" noGrp="1"/>
          </p:cNvSpPr>
          <p:nvPr/>
        </p:nvSpPr>
        <p:spPr>
          <a:xfrm xmlns:a="http://schemas.openxmlformats.org/drawingml/2006/main">
            <a:off x="514350" y="5219700"/>
            <a:ext cx="11163300" cy="1295400"/>
          </a:xfrm>
          <a:prstGeom xmlns:a="http://schemas.openxmlformats.org/drawingml/2006/main" prst="roundRect">
            <a:avLst>
              <a:gd name="adj" fmla="val 5882"/>
            </a:avLst>
          </a:prstGeom>
          <a:solidFill xmlns:a="http://schemas.openxmlformats.org/drawingml/2006/main">
            <a:srgbClr val="EDF1F6"/>
          </a:solidFill>
          <a:ln xmlns:a="http://schemas.openxmlformats.org/drawingml/2006/main" w="0">
            <a:noFill/>
            <a:prstDash val="solid"/>
          </a:ln>
        </p:spPr>
      </p:sp>
      <p:sp>
        <p:nvSpPr>
          <p:cNvPr id="18" name="s7-support">
            <a:extLst xmlns:a="http://schemas.openxmlformats.org/drawingml/2006/main">
              <a:ext uri="{FF2B5EF4-FFF2-40B4-BE49-F238E27FC236}">
                <a16:creationId xmlns:a16="http://schemas.microsoft.com/office/drawing/2014/main" id="{B8A5C58C-7F31-41F5-B14F-0C37B2F8C4BC}"/>
              </a:ext>
            </a:extLst>
          </p:cNvPr>
          <p:cNvSpPr>
            <a:spLocks xmlns:a="http://schemas.openxmlformats.org/drawingml/2006/main" noGrp="1"/>
          </p:cNvSpPr>
          <p:nvPr/>
        </p:nvSpPr>
        <p:spPr>
          <a:xfrm xmlns:a="http://schemas.openxmlformats.org/drawingml/2006/main">
            <a:off x="723900" y="54102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650" b="1" i="0">
                <a:solidFill>
                  <a:srgbClr val="3E5F9D"/>
                </a:solidFill>
                <a:latin typeface="Georgia"/>
                <a:ea typeface="Georgia"/>
                <a:cs typeface="Georgia"/>
              </a:defRPr>
            </a:pPr>
            <a:r>
              <a:rPr sz="1650" b="1" i="0">
                <a:solidFill>
                  <a:srgbClr val="3E5F9D"/>
                </a:solidFill>
                <a:latin typeface="Georgia"/>
                <a:ea typeface="Georgia"/>
                <a:cs typeface="Georgia"/>
              </a:rPr>
              <a:t>The model can change. The matter remembers.</a:t>
            </a:r>
          </a:p>
        </p:txBody>
      </p:sp>
      <p:sp>
        <p:nvSpPr>
          <p:cNvPr id="19" name="s7-implication">
            <a:extLst xmlns:a="http://schemas.openxmlformats.org/drawingml/2006/main">
              <a:ext uri="{FF2B5EF4-FFF2-40B4-BE49-F238E27FC236}">
                <a16:creationId xmlns:a16="http://schemas.microsoft.com/office/drawing/2014/main" id="{450E2FED-FA98-421F-A279-C3F9D21BE244}"/>
              </a:ext>
            </a:extLst>
          </p:cNvPr>
          <p:cNvSpPr>
            <a:spLocks xmlns:a="http://schemas.openxmlformats.org/drawingml/2006/main" noGrp="1"/>
          </p:cNvSpPr>
          <p:nvPr/>
        </p:nvSpPr>
        <p:spPr>
          <a:xfrm xmlns:a="http://schemas.openxmlformats.org/drawingml/2006/main">
            <a:off x="723900" y="59055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Persistent context lets Themis become more useful each time the matter returns. It also lets the lawyer see the basis for prior work instead of reconstructing the reasoning from chat history.</a:t>
            </a:r>
          </a:p>
        </p:txBody>
      </p:sp>
      <p:sp>
        <p:nvSpPr>
          <p:cNvPr id="20" name="s7-grounding">
            <a:extLst xmlns:a="http://schemas.openxmlformats.org/drawingml/2006/main">
              <a:ext uri="{FF2B5EF4-FFF2-40B4-BE49-F238E27FC236}">
                <a16:creationId xmlns:a16="http://schemas.microsoft.com/office/drawing/2014/main" id="{A1F0BD04-21E5-42B4-955F-A69A9DAB43C8}"/>
              </a:ext>
            </a:extLst>
          </p:cNvPr>
          <p:cNvSpPr>
            <a:spLocks xmlns:a="http://schemas.openxmlformats.org/drawingml/2006/main" noGrp="1"/>
          </p:cNvSpPr>
          <p:nvPr/>
        </p:nvSpPr>
        <p:spPr>
          <a:xfrm xmlns:a="http://schemas.openxmlformats.org/drawingml/2006/main">
            <a:off x="4362450" y="54102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38" b="0" i="0">
                <a:solidFill>
                  <a:srgbClr val="16233F"/>
                </a:solidFill>
                <a:latin typeface="Arial"/>
                <a:ea typeface="Arial"/>
                <a:cs typeface="Arial"/>
              </a:defRPr>
            </a:pPr>
            <a:r>
              <a:rPr sz="938" b="0" i="0">
                <a:solidFill>
                  <a:srgbClr val="16233F"/>
                </a:solidFill>
                <a:latin typeface="Arial"/>
                <a:ea typeface="Arial"/>
                <a:cs typeface="Arial"/>
              </a:rPr>
              <a:t>The current system uses Markdown as the durable source of truth and SQLite as a replaceable index. It keeps recommendations separate from explicitly recorded decisions and can work across multiple model providers.</a:t>
            </a:r>
          </a:p>
        </p:txBody>
      </p:sp>
      <p:sp>
        <p:nvSpPr>
          <p:cNvPr id="21" name="s7-source">
            <a:extLst xmlns:a="http://schemas.openxmlformats.org/drawingml/2006/main">
              <a:ext uri="{FF2B5EF4-FFF2-40B4-BE49-F238E27FC236}">
                <a16:creationId xmlns:a16="http://schemas.microsoft.com/office/drawing/2014/main" id="{A2B93E61-52C3-451F-A015-B72EEB14E4FF}"/>
              </a:ext>
            </a:extLst>
          </p:cNvPr>
          <p:cNvSpPr>
            <a:spLocks xmlns:a="http://schemas.openxmlformats.org/drawingml/2006/main" noGrp="1"/>
          </p:cNvSpPr>
          <p:nvPr/>
        </p:nvSpPr>
        <p:spPr>
          <a:xfrm xmlns:a="http://schemas.openxmlformats.org/drawingml/2006/main">
            <a:off x="8077200" y="5410200"/>
            <a:ext cx="3219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a:solidFill>
                  <a:srgbClr val="606878"/>
                </a:solidFill>
                <a:latin typeface="Arial"/>
                <a:ea typeface="Arial"/>
                <a:cs typeface="Arial"/>
              </a:defRPr>
            </a:pPr>
            <a:r>
              <a:rPr sz="938" b="1">
                <a:solidFill>
                  <a:srgbClr val="606878"/>
                </a:solidFill>
                <a:latin typeface="Arial"/>
                <a:ea typeface="Arial"/>
                <a:cs typeface="Arial"/>
              </a:rPr>
              <a:t>Source: </a:t>
            </a:r>
            <a:r>
              <a:rPr sz="938">
                <a:solidFill>
                  <a:srgbClr val="606878"/>
                </a:solidFill>
                <a:latin typeface="Arial"/>
                <a:ea typeface="Arial"/>
                <a:cs typeface="Arial"/>
              </a:rPr>
              <a:t>Current Themis product build and repository documentation, September 2026.</a:t>
            </a:r>
          </a:p>
        </p:txBody>
      </p:sp>
      <p:sp>
        <p:nvSpPr>
          <p:cNvPr id="22" name="footer-brand-7">
            <a:extLst xmlns:a="http://schemas.openxmlformats.org/drawingml/2006/main">
              <a:ext uri="{FF2B5EF4-FFF2-40B4-BE49-F238E27FC236}">
                <a16:creationId xmlns:a16="http://schemas.microsoft.com/office/drawing/2014/main" id="{11DF78FD-9003-4E64-B4E7-4CF7BAA4426C}"/>
              </a:ext>
            </a:extLst>
          </p:cNvPr>
          <p:cNvSpPr>
            <a:spLocks xmlns:a="http://schemas.openxmlformats.org/drawingml/2006/main" noGrp="1"/>
          </p:cNvSpPr>
          <p:nvPr/>
        </p:nvSpPr>
        <p:spPr>
          <a:xfrm xmlns:a="http://schemas.openxmlformats.org/drawingml/2006/main">
            <a:off x="419100" y="65722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i="0">
                <a:solidFill>
                  <a:srgbClr val="16233F"/>
                </a:solidFill>
                <a:latin typeface="Arial"/>
                <a:ea typeface="Arial"/>
                <a:cs typeface="Arial"/>
              </a:defRPr>
            </a:pPr>
            <a:r>
              <a:rPr sz="750" b="1" i="0">
                <a:solidFill>
                  <a:srgbClr val="16233F"/>
                </a:solidFill>
                <a:latin typeface="Arial"/>
                <a:ea typeface="Arial"/>
                <a:cs typeface="Arial"/>
              </a:rPr>
              <a:t>THEMIS.AI</a:t>
            </a:r>
          </a:p>
        </p:txBody>
      </p:sp>
      <p:sp>
        <p:nvSpPr>
          <p:cNvPr id="23" name="footer-number-7">
            <a:extLst xmlns:a="http://schemas.openxmlformats.org/drawingml/2006/main">
              <a:ext uri="{FF2B5EF4-FFF2-40B4-BE49-F238E27FC236}">
                <a16:creationId xmlns:a16="http://schemas.microsoft.com/office/drawing/2014/main" id="{AABB1E63-813A-4758-911E-8A4AA939B6BE}"/>
              </a:ext>
            </a:extLst>
          </p:cNvPr>
          <p:cNvSpPr>
            <a:spLocks xmlns:a="http://schemas.openxmlformats.org/drawingml/2006/main" noGrp="1"/>
          </p:cNvSpPr>
          <p:nvPr/>
        </p:nvSpPr>
        <p:spPr>
          <a:xfrm xmlns:a="http://schemas.openxmlformats.org/drawingml/2006/main">
            <a:off x="11372850" y="65532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1" i="0">
                <a:solidFill>
                  <a:srgbClr val="16233F"/>
                </a:solidFill>
                <a:latin typeface="Arial"/>
                <a:ea typeface="Arial"/>
                <a:cs typeface="Arial"/>
              </a:defRPr>
            </a:pPr>
            <a:r>
              <a:rPr sz="825" b="1" i="0">
                <a:solidFill>
                  <a:srgbClr val="16233F"/>
                </a:solidFill>
                <a:latin typeface="Arial"/>
                <a:ea typeface="Arial"/>
                <a:cs typeface="Arial"/>
              </a:rPr>
              <a:t>07</a:t>
            </a:r>
          </a:p>
        </p:txBody>
      </p:sp>
    </p:spTree>
    <p:extLst>
      <p:ext uri="{BB962C8B-B14F-4D97-AF65-F5344CB8AC3E}">
        <p14:creationId xmlns:p14="http://schemas.microsoft.com/office/powerpoint/2010/main" val="1332719951"/>
      </p:ext>
    </p:extLst>
  </p:cSld>
</p:sld>
</file>

<file path=ppt/slides/slide8.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32" name="kicker-8">
            <a:extLst xmlns:a="http://schemas.openxmlformats.org/drawingml/2006/main">
              <a:ext uri="{FF2B5EF4-FFF2-40B4-BE49-F238E27FC236}">
                <a16:creationId xmlns:a16="http://schemas.microsoft.com/office/drawing/2014/main" id="{588C7C95-F1B9-4C6D-9F8E-53008046D97D}"/>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THEMIS THESIS  /  08</a:t>
            </a:r>
          </a:p>
        </p:txBody>
      </p:sp>
      <p:sp>
        <p:nvSpPr>
          <p:cNvPr id="2" name="title-8">
            <a:extLst xmlns:a="http://schemas.openxmlformats.org/drawingml/2006/main">
              <a:ext uri="{FF2B5EF4-FFF2-40B4-BE49-F238E27FC236}">
                <a16:creationId xmlns:a16="http://schemas.microsoft.com/office/drawing/2014/main" id="{CB11BF14-8729-4E4E-BF12-99CB5E852804}"/>
              </a:ext>
            </a:extLst>
          </p:cNvPr>
          <p:cNvSpPr>
            <a:spLocks xmlns:a="http://schemas.openxmlformats.org/drawingml/2006/main" noGrp="1"/>
          </p:cNvSpPr>
          <p:nvPr/>
        </p:nvSpPr>
        <p:spPr>
          <a:xfrm xmlns:a="http://schemas.openxmlformats.org/drawingml/2006/main">
            <a:off x="514350" y="609600"/>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300" b="1" i="0">
                <a:solidFill>
                  <a:srgbClr val="16233F"/>
                </a:solidFill>
                <a:latin typeface="Georgia"/>
                <a:ea typeface="Georgia"/>
                <a:cs typeface="Georgia"/>
              </a:defRPr>
            </a:pPr>
            <a:r>
              <a:rPr sz="3300" b="1" i="0">
                <a:solidFill>
                  <a:srgbClr val="16233F"/>
                </a:solidFill>
                <a:latin typeface="Georgia"/>
                <a:ea typeface="Georgia"/>
                <a:cs typeface="Georgia"/>
              </a:rPr>
              <a:t>Trust is earned by how the product behaves.</a:t>
            </a:r>
          </a:p>
        </p:txBody>
      </p:sp>
      <p:sp>
        <p:nvSpPr>
          <p:cNvPr id="3" name="s8-context">
            <a:extLst xmlns:a="http://schemas.openxmlformats.org/drawingml/2006/main">
              <a:ext uri="{FF2B5EF4-FFF2-40B4-BE49-F238E27FC236}">
                <a16:creationId xmlns:a16="http://schemas.microsoft.com/office/drawing/2014/main" id="{755F67E4-1686-4958-8663-4CCCAAD56356}"/>
              </a:ext>
            </a:extLst>
          </p:cNvPr>
          <p:cNvSpPr>
            <a:spLocks xmlns:a="http://schemas.openxmlformats.org/drawingml/2006/main" noGrp="1"/>
          </p:cNvSpPr>
          <p:nvPr/>
        </p:nvSpPr>
        <p:spPr>
          <a:xfrm xmlns:a="http://schemas.openxmlformats.org/drawingml/2006/main">
            <a:off x="514350" y="133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16233F"/>
                </a:solidFill>
                <a:latin typeface="Georgia"/>
                <a:ea typeface="Georgia"/>
                <a:cs typeface="Georgia"/>
              </a:defRPr>
            </a:pPr>
            <a:r>
              <a:rPr sz="1500" b="1" i="0">
                <a:solidFill>
                  <a:srgbClr val="16233F"/>
                </a:solidFill>
                <a:latin typeface="Georgia"/>
                <a:ea typeface="Georgia"/>
                <a:cs typeface="Georgia"/>
              </a:rPr>
              <a:t>Themis should feel like a capable colleague whose conduct makes the lawyer stronger.</a:t>
            </a:r>
          </a:p>
        </p:txBody>
      </p:sp>
      <p:sp>
        <p:nvSpPr>
          <p:cNvPr id="4" name="s8-index-0">
            <a:extLst xmlns:a="http://schemas.openxmlformats.org/drawingml/2006/main">
              <a:ext uri="{FF2B5EF4-FFF2-40B4-BE49-F238E27FC236}">
                <a16:creationId xmlns:a16="http://schemas.microsoft.com/office/drawing/2014/main" id="{C31A915D-8810-4B88-8D2D-7AE32D64FEF7}"/>
              </a:ext>
            </a:extLst>
          </p:cNvPr>
          <p:cNvSpPr>
            <a:spLocks xmlns:a="http://schemas.openxmlformats.org/drawingml/2006/main" noGrp="1"/>
          </p:cNvSpPr>
          <p:nvPr/>
        </p:nvSpPr>
        <p:spPr>
          <a:xfrm xmlns:a="http://schemas.openxmlformats.org/drawingml/2006/main">
            <a:off x="514350" y="19240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01</a:t>
            </a:r>
          </a:p>
        </p:txBody>
      </p:sp>
      <p:sp>
        <p:nvSpPr>
          <p:cNvPr id="5" name="s8-head-0">
            <a:extLst xmlns:a="http://schemas.openxmlformats.org/drawingml/2006/main">
              <a:ext uri="{FF2B5EF4-FFF2-40B4-BE49-F238E27FC236}">
                <a16:creationId xmlns:a16="http://schemas.microsoft.com/office/drawing/2014/main" id="{CFB235F7-AF49-4BEA-A6C6-3F09EAB7DA29}"/>
              </a:ext>
            </a:extLst>
          </p:cNvPr>
          <p:cNvSpPr>
            <a:spLocks xmlns:a="http://schemas.openxmlformats.org/drawingml/2006/main" noGrp="1"/>
          </p:cNvSpPr>
          <p:nvPr/>
        </p:nvSpPr>
        <p:spPr>
          <a:xfrm xmlns:a="http://schemas.openxmlformats.org/drawingml/2006/main">
            <a:off x="914400" y="1905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16233F"/>
                </a:solidFill>
                <a:latin typeface="Georgia"/>
                <a:ea typeface="Georgia"/>
                <a:cs typeface="Georgia"/>
              </a:defRPr>
            </a:pPr>
            <a:r>
              <a:rPr sz="1350" b="1" i="0">
                <a:solidFill>
                  <a:srgbClr val="16233F"/>
                </a:solidFill>
                <a:latin typeface="Georgia"/>
                <a:ea typeface="Georgia"/>
                <a:cs typeface="Georgia"/>
              </a:rPr>
              <a:t>Humble, not performative.</a:t>
            </a:r>
          </a:p>
        </p:txBody>
      </p:sp>
      <p:sp>
        <p:nvSpPr>
          <p:cNvPr id="6" name="s8-body-0">
            <a:extLst xmlns:a="http://schemas.openxmlformats.org/drawingml/2006/main">
              <a:ext uri="{FF2B5EF4-FFF2-40B4-BE49-F238E27FC236}">
                <a16:creationId xmlns:a16="http://schemas.microsoft.com/office/drawing/2014/main" id="{A5707510-B629-4EB2-A162-F40461A32E0B}"/>
              </a:ext>
            </a:extLst>
          </p:cNvPr>
          <p:cNvSpPr>
            <a:spLocks xmlns:a="http://schemas.openxmlformats.org/drawingml/2006/main" noGrp="1"/>
          </p:cNvSpPr>
          <p:nvPr/>
        </p:nvSpPr>
        <p:spPr>
          <a:xfrm xmlns:a="http://schemas.openxmlformats.org/drawingml/2006/main">
            <a:off x="914400" y="22288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16233F"/>
                </a:solidFill>
                <a:latin typeface="Arial"/>
                <a:ea typeface="Arial"/>
                <a:cs typeface="Arial"/>
              </a:defRPr>
            </a:pPr>
            <a:r>
              <a:rPr sz="1088" b="0" i="0">
                <a:solidFill>
                  <a:srgbClr val="16233F"/>
                </a:solidFill>
                <a:latin typeface="Arial"/>
                <a:ea typeface="Arial"/>
                <a:cs typeface="Arial"/>
              </a:rPr>
              <a:t>It shows uncertainty and does not pretend that ambiguity has disappeared.</a:t>
            </a:r>
          </a:p>
        </p:txBody>
      </p:sp>
      <p:sp>
        <p:nvSpPr>
          <p:cNvPr id="7" name="rule-96-290">
            <a:extLst xmlns:a="http://schemas.openxmlformats.org/drawingml/2006/main">
              <a:ext uri="{FF2B5EF4-FFF2-40B4-BE49-F238E27FC236}">
                <a16:creationId xmlns:a16="http://schemas.microsoft.com/office/drawing/2014/main" id="{5C03F251-D832-4B7F-BED5-AC6EB48EFD4F}"/>
              </a:ext>
            </a:extLst>
          </p:cNvPr>
          <p:cNvSpPr>
            <a:spLocks xmlns:a="http://schemas.openxmlformats.org/drawingml/2006/main" noGrp="1"/>
          </p:cNvSpPr>
          <p:nvPr/>
        </p:nvSpPr>
        <p:spPr>
          <a:xfrm xmlns:a="http://schemas.openxmlformats.org/drawingml/2006/main">
            <a:off x="914400" y="2762250"/>
            <a:ext cx="4953000" cy="9525"/>
          </a:xfrm>
          <a:prstGeom xmlns:a="http://schemas.openxmlformats.org/drawingml/2006/main" prst="rect">
            <a:avLst/>
          </a:prstGeom>
          <a:solidFill xmlns:a="http://schemas.openxmlformats.org/drawingml/2006/main">
            <a:srgbClr val="16233F">
              <a:alpha val="22745"/>
            </a:srgbClr>
          </a:solidFill>
          <a:ln xmlns:a="http://schemas.openxmlformats.org/drawingml/2006/main" w="0">
            <a:noFill/>
            <a:prstDash val="solid"/>
          </a:ln>
        </p:spPr>
      </p:sp>
      <p:sp>
        <p:nvSpPr>
          <p:cNvPr id="8" name="s8-index-1">
            <a:extLst xmlns:a="http://schemas.openxmlformats.org/drawingml/2006/main">
              <a:ext uri="{FF2B5EF4-FFF2-40B4-BE49-F238E27FC236}">
                <a16:creationId xmlns:a16="http://schemas.microsoft.com/office/drawing/2014/main" id="{C165C132-A86D-455B-849B-2371F54454D3}"/>
              </a:ext>
            </a:extLst>
          </p:cNvPr>
          <p:cNvSpPr>
            <a:spLocks xmlns:a="http://schemas.openxmlformats.org/drawingml/2006/main" noGrp="1"/>
          </p:cNvSpPr>
          <p:nvPr/>
        </p:nvSpPr>
        <p:spPr>
          <a:xfrm xmlns:a="http://schemas.openxmlformats.org/drawingml/2006/main">
            <a:off x="6267450" y="19240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02</a:t>
            </a:r>
          </a:p>
        </p:txBody>
      </p:sp>
      <p:sp>
        <p:nvSpPr>
          <p:cNvPr id="9" name="s8-head-1">
            <a:extLst xmlns:a="http://schemas.openxmlformats.org/drawingml/2006/main">
              <a:ext uri="{FF2B5EF4-FFF2-40B4-BE49-F238E27FC236}">
                <a16:creationId xmlns:a16="http://schemas.microsoft.com/office/drawing/2014/main" id="{46CB053E-BF5A-48D8-B3A5-39FB42A16450}"/>
              </a:ext>
            </a:extLst>
          </p:cNvPr>
          <p:cNvSpPr>
            <a:spLocks xmlns:a="http://schemas.openxmlformats.org/drawingml/2006/main" noGrp="1"/>
          </p:cNvSpPr>
          <p:nvPr/>
        </p:nvSpPr>
        <p:spPr>
          <a:xfrm xmlns:a="http://schemas.openxmlformats.org/drawingml/2006/main">
            <a:off x="6667500" y="1905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16233F"/>
                </a:solidFill>
                <a:latin typeface="Georgia"/>
                <a:ea typeface="Georgia"/>
                <a:cs typeface="Georgia"/>
              </a:defRPr>
            </a:pPr>
            <a:r>
              <a:rPr sz="1350" b="1" i="0">
                <a:solidFill>
                  <a:srgbClr val="16233F"/>
                </a:solidFill>
                <a:latin typeface="Georgia"/>
                <a:ea typeface="Georgia"/>
                <a:cs typeface="Georgia"/>
              </a:rPr>
              <a:t>Curious, not merely declarative.</a:t>
            </a:r>
          </a:p>
        </p:txBody>
      </p:sp>
      <p:sp>
        <p:nvSpPr>
          <p:cNvPr id="10" name="s8-body-1">
            <a:extLst xmlns:a="http://schemas.openxmlformats.org/drawingml/2006/main">
              <a:ext uri="{FF2B5EF4-FFF2-40B4-BE49-F238E27FC236}">
                <a16:creationId xmlns:a16="http://schemas.microsoft.com/office/drawing/2014/main" id="{021C892A-87D5-4998-9D0B-B840590B83F0}"/>
              </a:ext>
            </a:extLst>
          </p:cNvPr>
          <p:cNvSpPr>
            <a:spLocks xmlns:a="http://schemas.openxmlformats.org/drawingml/2006/main" noGrp="1"/>
          </p:cNvSpPr>
          <p:nvPr/>
        </p:nvSpPr>
        <p:spPr>
          <a:xfrm xmlns:a="http://schemas.openxmlformats.org/drawingml/2006/main">
            <a:off x="6667500" y="22288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16233F"/>
                </a:solidFill>
                <a:latin typeface="Arial"/>
                <a:ea typeface="Arial"/>
                <a:cs typeface="Arial"/>
              </a:defRPr>
            </a:pPr>
            <a:r>
              <a:rPr sz="1088" b="0" i="0">
                <a:solidFill>
                  <a:srgbClr val="16233F"/>
                </a:solidFill>
                <a:latin typeface="Arial"/>
                <a:ea typeface="Arial"/>
                <a:cs typeface="Arial"/>
              </a:rPr>
              <a:t>It asks the question that exposes the missing fact or untested assumption.</a:t>
            </a:r>
          </a:p>
        </p:txBody>
      </p:sp>
      <p:sp>
        <p:nvSpPr>
          <p:cNvPr id="11" name="rule-700-290">
            <a:extLst xmlns:a="http://schemas.openxmlformats.org/drawingml/2006/main">
              <a:ext uri="{FF2B5EF4-FFF2-40B4-BE49-F238E27FC236}">
                <a16:creationId xmlns:a16="http://schemas.microsoft.com/office/drawing/2014/main" id="{27484E76-6B41-4BD1-B4E2-FC1BDE003D69}"/>
              </a:ext>
            </a:extLst>
          </p:cNvPr>
          <p:cNvSpPr>
            <a:spLocks xmlns:a="http://schemas.openxmlformats.org/drawingml/2006/main" noGrp="1"/>
          </p:cNvSpPr>
          <p:nvPr/>
        </p:nvSpPr>
        <p:spPr>
          <a:xfrm xmlns:a="http://schemas.openxmlformats.org/drawingml/2006/main">
            <a:off x="6667500" y="2762250"/>
            <a:ext cx="4953000" cy="9525"/>
          </a:xfrm>
          <a:prstGeom xmlns:a="http://schemas.openxmlformats.org/drawingml/2006/main" prst="rect">
            <a:avLst/>
          </a:prstGeom>
          <a:solidFill xmlns:a="http://schemas.openxmlformats.org/drawingml/2006/main">
            <a:srgbClr val="16233F">
              <a:alpha val="22745"/>
            </a:srgbClr>
          </a:solidFill>
          <a:ln xmlns:a="http://schemas.openxmlformats.org/drawingml/2006/main" w="0">
            <a:noFill/>
            <a:prstDash val="solid"/>
          </a:ln>
        </p:spPr>
      </p:sp>
      <p:sp>
        <p:nvSpPr>
          <p:cNvPr id="12" name="s8-index-2">
            <a:extLst xmlns:a="http://schemas.openxmlformats.org/drawingml/2006/main">
              <a:ext uri="{FF2B5EF4-FFF2-40B4-BE49-F238E27FC236}">
                <a16:creationId xmlns:a16="http://schemas.microsoft.com/office/drawing/2014/main" id="{78854DE4-F06D-49BE-9FAC-369168AE3F9A}"/>
              </a:ext>
            </a:extLst>
          </p:cNvPr>
          <p:cNvSpPr>
            <a:spLocks xmlns:a="http://schemas.openxmlformats.org/drawingml/2006/main" noGrp="1"/>
          </p:cNvSpPr>
          <p:nvPr/>
        </p:nvSpPr>
        <p:spPr>
          <a:xfrm xmlns:a="http://schemas.openxmlformats.org/drawingml/2006/main">
            <a:off x="514350" y="29527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03</a:t>
            </a:r>
          </a:p>
        </p:txBody>
      </p:sp>
      <p:sp>
        <p:nvSpPr>
          <p:cNvPr id="13" name="s8-head-2">
            <a:extLst xmlns:a="http://schemas.openxmlformats.org/drawingml/2006/main">
              <a:ext uri="{FF2B5EF4-FFF2-40B4-BE49-F238E27FC236}">
                <a16:creationId xmlns:a16="http://schemas.microsoft.com/office/drawing/2014/main" id="{FB7E13F1-D8BE-41BE-81C3-5476CC9ED6A8}"/>
              </a:ext>
            </a:extLst>
          </p:cNvPr>
          <p:cNvSpPr>
            <a:spLocks xmlns:a="http://schemas.openxmlformats.org/drawingml/2006/main" noGrp="1"/>
          </p:cNvSpPr>
          <p:nvPr/>
        </p:nvSpPr>
        <p:spPr>
          <a:xfrm xmlns:a="http://schemas.openxmlformats.org/drawingml/2006/main">
            <a:off x="914400" y="2933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16233F"/>
                </a:solidFill>
                <a:latin typeface="Georgia"/>
                <a:ea typeface="Georgia"/>
                <a:cs typeface="Georgia"/>
              </a:defRPr>
            </a:pPr>
            <a:r>
              <a:rPr sz="1350" b="1" i="0">
                <a:solidFill>
                  <a:srgbClr val="16233F"/>
                </a:solidFill>
                <a:latin typeface="Georgia"/>
                <a:ea typeface="Georgia"/>
                <a:cs typeface="Georgia"/>
              </a:rPr>
              <a:t>Present, not intrusive.</a:t>
            </a:r>
          </a:p>
        </p:txBody>
      </p:sp>
      <p:sp>
        <p:nvSpPr>
          <p:cNvPr id="14" name="s8-body-2">
            <a:extLst xmlns:a="http://schemas.openxmlformats.org/drawingml/2006/main">
              <a:ext uri="{FF2B5EF4-FFF2-40B4-BE49-F238E27FC236}">
                <a16:creationId xmlns:a16="http://schemas.microsoft.com/office/drawing/2014/main" id="{671BBF74-D6A7-46D8-8434-C09A2B80C317}"/>
              </a:ext>
            </a:extLst>
          </p:cNvPr>
          <p:cNvSpPr>
            <a:spLocks xmlns:a="http://schemas.openxmlformats.org/drawingml/2006/main" noGrp="1"/>
          </p:cNvSpPr>
          <p:nvPr/>
        </p:nvSpPr>
        <p:spPr>
          <a:xfrm xmlns:a="http://schemas.openxmlformats.org/drawingml/2006/main">
            <a:off x="914400" y="32575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16233F"/>
                </a:solidFill>
                <a:latin typeface="Arial"/>
                <a:ea typeface="Arial"/>
                <a:cs typeface="Arial"/>
              </a:defRPr>
            </a:pPr>
            <a:r>
              <a:rPr sz="1088" b="0" i="0">
                <a:solidFill>
                  <a:srgbClr val="16233F"/>
                </a:solidFill>
                <a:latin typeface="Arial"/>
                <a:ea typeface="Arial"/>
                <a:cs typeface="Arial"/>
              </a:rPr>
              <a:t>It is available throughout the matter without taking control of the decision.</a:t>
            </a:r>
          </a:p>
        </p:txBody>
      </p:sp>
      <p:sp>
        <p:nvSpPr>
          <p:cNvPr id="15" name="rule-96-398">
            <a:extLst xmlns:a="http://schemas.openxmlformats.org/drawingml/2006/main">
              <a:ext uri="{FF2B5EF4-FFF2-40B4-BE49-F238E27FC236}">
                <a16:creationId xmlns:a16="http://schemas.microsoft.com/office/drawing/2014/main" id="{D97FF08A-F492-4CD4-9FB4-9A971CDB8CFE}"/>
              </a:ext>
            </a:extLst>
          </p:cNvPr>
          <p:cNvSpPr>
            <a:spLocks xmlns:a="http://schemas.openxmlformats.org/drawingml/2006/main" noGrp="1"/>
          </p:cNvSpPr>
          <p:nvPr/>
        </p:nvSpPr>
        <p:spPr>
          <a:xfrm xmlns:a="http://schemas.openxmlformats.org/drawingml/2006/main">
            <a:off x="914400" y="3790950"/>
            <a:ext cx="4953000" cy="9525"/>
          </a:xfrm>
          <a:prstGeom xmlns:a="http://schemas.openxmlformats.org/drawingml/2006/main" prst="rect">
            <a:avLst/>
          </a:prstGeom>
          <a:solidFill xmlns:a="http://schemas.openxmlformats.org/drawingml/2006/main">
            <a:srgbClr val="16233F">
              <a:alpha val="22745"/>
            </a:srgbClr>
          </a:solidFill>
          <a:ln xmlns:a="http://schemas.openxmlformats.org/drawingml/2006/main" w="0">
            <a:noFill/>
            <a:prstDash val="solid"/>
          </a:ln>
        </p:spPr>
      </p:sp>
      <p:sp>
        <p:nvSpPr>
          <p:cNvPr id="16" name="s8-index-3">
            <a:extLst xmlns:a="http://schemas.openxmlformats.org/drawingml/2006/main">
              <a:ext uri="{FF2B5EF4-FFF2-40B4-BE49-F238E27FC236}">
                <a16:creationId xmlns:a16="http://schemas.microsoft.com/office/drawing/2014/main" id="{6F693E28-8395-4E05-870E-C9A6EDF4C92C}"/>
              </a:ext>
            </a:extLst>
          </p:cNvPr>
          <p:cNvSpPr>
            <a:spLocks xmlns:a="http://schemas.openxmlformats.org/drawingml/2006/main" noGrp="1"/>
          </p:cNvSpPr>
          <p:nvPr/>
        </p:nvSpPr>
        <p:spPr>
          <a:xfrm xmlns:a="http://schemas.openxmlformats.org/drawingml/2006/main">
            <a:off x="6267450" y="29527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04</a:t>
            </a:r>
          </a:p>
        </p:txBody>
      </p:sp>
      <p:sp>
        <p:nvSpPr>
          <p:cNvPr id="17" name="s8-head-3">
            <a:extLst xmlns:a="http://schemas.openxmlformats.org/drawingml/2006/main">
              <a:ext uri="{FF2B5EF4-FFF2-40B4-BE49-F238E27FC236}">
                <a16:creationId xmlns:a16="http://schemas.microsoft.com/office/drawing/2014/main" id="{B951299D-6983-4292-B7C0-8354414F3840}"/>
              </a:ext>
            </a:extLst>
          </p:cNvPr>
          <p:cNvSpPr>
            <a:spLocks xmlns:a="http://schemas.openxmlformats.org/drawingml/2006/main" noGrp="1"/>
          </p:cNvSpPr>
          <p:nvPr/>
        </p:nvSpPr>
        <p:spPr>
          <a:xfrm xmlns:a="http://schemas.openxmlformats.org/drawingml/2006/main">
            <a:off x="6667500" y="2933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16233F"/>
                </a:solidFill>
                <a:latin typeface="Georgia"/>
                <a:ea typeface="Georgia"/>
                <a:cs typeface="Georgia"/>
              </a:defRPr>
            </a:pPr>
            <a:r>
              <a:rPr sz="1350" b="1" i="0">
                <a:solidFill>
                  <a:srgbClr val="16233F"/>
                </a:solidFill>
                <a:latin typeface="Georgia"/>
                <a:ea typeface="Georgia"/>
                <a:cs typeface="Georgia"/>
              </a:rPr>
              <a:t>Persistent, not forgetful.</a:t>
            </a:r>
          </a:p>
        </p:txBody>
      </p:sp>
      <p:sp>
        <p:nvSpPr>
          <p:cNvPr id="18" name="s8-body-3">
            <a:extLst xmlns:a="http://schemas.openxmlformats.org/drawingml/2006/main">
              <a:ext uri="{FF2B5EF4-FFF2-40B4-BE49-F238E27FC236}">
                <a16:creationId xmlns:a16="http://schemas.microsoft.com/office/drawing/2014/main" id="{672DE0DC-67B5-48BE-A185-F3AF421C344D}"/>
              </a:ext>
            </a:extLst>
          </p:cNvPr>
          <p:cNvSpPr>
            <a:spLocks xmlns:a="http://schemas.openxmlformats.org/drawingml/2006/main" noGrp="1"/>
          </p:cNvSpPr>
          <p:nvPr/>
        </p:nvSpPr>
        <p:spPr>
          <a:xfrm xmlns:a="http://schemas.openxmlformats.org/drawingml/2006/main">
            <a:off x="6667500" y="32575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16233F"/>
                </a:solidFill>
                <a:latin typeface="Arial"/>
                <a:ea typeface="Arial"/>
                <a:cs typeface="Arial"/>
              </a:defRPr>
            </a:pPr>
            <a:r>
              <a:rPr sz="1088" b="0" i="0">
                <a:solidFill>
                  <a:srgbClr val="16233F"/>
                </a:solidFill>
                <a:latin typeface="Arial"/>
                <a:ea typeface="Arial"/>
                <a:cs typeface="Arial"/>
              </a:rPr>
              <a:t>It carries context forward so the lawyer does not have to reconstruct the matter each time.</a:t>
            </a:r>
          </a:p>
        </p:txBody>
      </p:sp>
      <p:sp>
        <p:nvSpPr>
          <p:cNvPr id="19" name="rule-700-398">
            <a:extLst xmlns:a="http://schemas.openxmlformats.org/drawingml/2006/main">
              <a:ext uri="{FF2B5EF4-FFF2-40B4-BE49-F238E27FC236}">
                <a16:creationId xmlns:a16="http://schemas.microsoft.com/office/drawing/2014/main" id="{285196E3-1F59-4C5E-8C93-0EA8BDDBDA06}"/>
              </a:ext>
            </a:extLst>
          </p:cNvPr>
          <p:cNvSpPr>
            <a:spLocks xmlns:a="http://schemas.openxmlformats.org/drawingml/2006/main" noGrp="1"/>
          </p:cNvSpPr>
          <p:nvPr/>
        </p:nvSpPr>
        <p:spPr>
          <a:xfrm xmlns:a="http://schemas.openxmlformats.org/drawingml/2006/main">
            <a:off x="6667500" y="3790950"/>
            <a:ext cx="4953000" cy="9525"/>
          </a:xfrm>
          <a:prstGeom xmlns:a="http://schemas.openxmlformats.org/drawingml/2006/main" prst="rect">
            <a:avLst/>
          </a:prstGeom>
          <a:solidFill xmlns:a="http://schemas.openxmlformats.org/drawingml/2006/main">
            <a:srgbClr val="16233F">
              <a:alpha val="22745"/>
            </a:srgbClr>
          </a:solidFill>
          <a:ln xmlns:a="http://schemas.openxmlformats.org/drawingml/2006/main" w="0">
            <a:noFill/>
            <a:prstDash val="solid"/>
          </a:ln>
        </p:spPr>
      </p:sp>
      <p:sp>
        <p:nvSpPr>
          <p:cNvPr id="20" name="s8-index-4">
            <a:extLst xmlns:a="http://schemas.openxmlformats.org/drawingml/2006/main">
              <a:ext uri="{FF2B5EF4-FFF2-40B4-BE49-F238E27FC236}">
                <a16:creationId xmlns:a16="http://schemas.microsoft.com/office/drawing/2014/main" id="{405E4F1D-291C-48CF-A2FE-1D968A88F9FA}"/>
              </a:ext>
            </a:extLst>
          </p:cNvPr>
          <p:cNvSpPr>
            <a:spLocks xmlns:a="http://schemas.openxmlformats.org/drawingml/2006/main" noGrp="1"/>
          </p:cNvSpPr>
          <p:nvPr/>
        </p:nvSpPr>
        <p:spPr>
          <a:xfrm xmlns:a="http://schemas.openxmlformats.org/drawingml/2006/main">
            <a:off x="514350" y="39814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05</a:t>
            </a:r>
          </a:p>
        </p:txBody>
      </p:sp>
      <p:sp>
        <p:nvSpPr>
          <p:cNvPr id="21" name="s8-head-4">
            <a:extLst xmlns:a="http://schemas.openxmlformats.org/drawingml/2006/main">
              <a:ext uri="{FF2B5EF4-FFF2-40B4-BE49-F238E27FC236}">
                <a16:creationId xmlns:a16="http://schemas.microsoft.com/office/drawing/2014/main" id="{273E1C52-1B8C-4DE8-B64F-A9D9ABC600F7}"/>
              </a:ext>
            </a:extLst>
          </p:cNvPr>
          <p:cNvSpPr>
            <a:spLocks xmlns:a="http://schemas.openxmlformats.org/drawingml/2006/main" noGrp="1"/>
          </p:cNvSpPr>
          <p:nvPr/>
        </p:nvSpPr>
        <p:spPr>
          <a:xfrm xmlns:a="http://schemas.openxmlformats.org/drawingml/2006/main">
            <a:off x="914400" y="396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16233F"/>
                </a:solidFill>
                <a:latin typeface="Georgia"/>
                <a:ea typeface="Georgia"/>
                <a:cs typeface="Georgia"/>
              </a:defRPr>
            </a:pPr>
            <a:r>
              <a:rPr sz="1350" b="1" i="0">
                <a:solidFill>
                  <a:srgbClr val="16233F"/>
                </a:solidFill>
                <a:latin typeface="Georgia"/>
                <a:ea typeface="Georgia"/>
                <a:cs typeface="Georgia"/>
              </a:rPr>
              <a:t>Supportive, not substitutive.</a:t>
            </a:r>
          </a:p>
        </p:txBody>
      </p:sp>
      <p:sp>
        <p:nvSpPr>
          <p:cNvPr id="22" name="s8-body-4">
            <a:extLst xmlns:a="http://schemas.openxmlformats.org/drawingml/2006/main">
              <a:ext uri="{FF2B5EF4-FFF2-40B4-BE49-F238E27FC236}">
                <a16:creationId xmlns:a16="http://schemas.microsoft.com/office/drawing/2014/main" id="{D231A079-7D35-4E16-BAE7-55B0E77E08F3}"/>
              </a:ext>
            </a:extLst>
          </p:cNvPr>
          <p:cNvSpPr>
            <a:spLocks xmlns:a="http://schemas.openxmlformats.org/drawingml/2006/main" noGrp="1"/>
          </p:cNvSpPr>
          <p:nvPr/>
        </p:nvSpPr>
        <p:spPr>
          <a:xfrm xmlns:a="http://schemas.openxmlformats.org/drawingml/2006/main">
            <a:off x="914400" y="42862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16233F"/>
                </a:solidFill>
                <a:latin typeface="Arial"/>
                <a:ea typeface="Arial"/>
                <a:cs typeface="Arial"/>
              </a:defRPr>
            </a:pPr>
            <a:r>
              <a:rPr sz="1088" b="0" i="0">
                <a:solidFill>
                  <a:srgbClr val="16233F"/>
                </a:solidFill>
                <a:latin typeface="Arial"/>
                <a:ea typeface="Arial"/>
                <a:cs typeface="Arial"/>
              </a:rPr>
              <a:t>It strengthens the lawyer's judgment instead of presenting itself as the legal authority.</a:t>
            </a:r>
          </a:p>
        </p:txBody>
      </p:sp>
      <p:sp>
        <p:nvSpPr>
          <p:cNvPr id="23" name="rule-96-506">
            <a:extLst xmlns:a="http://schemas.openxmlformats.org/drawingml/2006/main">
              <a:ext uri="{FF2B5EF4-FFF2-40B4-BE49-F238E27FC236}">
                <a16:creationId xmlns:a16="http://schemas.microsoft.com/office/drawing/2014/main" id="{F0CBBE67-756C-4224-8825-7ED9A888E7F3}"/>
              </a:ext>
            </a:extLst>
          </p:cNvPr>
          <p:cNvSpPr>
            <a:spLocks xmlns:a="http://schemas.openxmlformats.org/drawingml/2006/main" noGrp="1"/>
          </p:cNvSpPr>
          <p:nvPr/>
        </p:nvSpPr>
        <p:spPr>
          <a:xfrm xmlns:a="http://schemas.openxmlformats.org/drawingml/2006/main">
            <a:off x="914400" y="4819650"/>
            <a:ext cx="4953000" cy="9525"/>
          </a:xfrm>
          <a:prstGeom xmlns:a="http://schemas.openxmlformats.org/drawingml/2006/main" prst="rect">
            <a:avLst/>
          </a:prstGeom>
          <a:solidFill xmlns:a="http://schemas.openxmlformats.org/drawingml/2006/main">
            <a:srgbClr val="16233F">
              <a:alpha val="22745"/>
            </a:srgbClr>
          </a:solidFill>
          <a:ln xmlns:a="http://schemas.openxmlformats.org/drawingml/2006/main" w="0">
            <a:noFill/>
            <a:prstDash val="solid"/>
          </a:ln>
        </p:spPr>
      </p:sp>
      <p:sp>
        <p:nvSpPr>
          <p:cNvPr id="24" name="s8-index-5">
            <a:extLst xmlns:a="http://schemas.openxmlformats.org/drawingml/2006/main">
              <a:ext uri="{FF2B5EF4-FFF2-40B4-BE49-F238E27FC236}">
                <a16:creationId xmlns:a16="http://schemas.microsoft.com/office/drawing/2014/main" id="{084EC9F4-216D-4059-9332-2D141BFEAA6D}"/>
              </a:ext>
            </a:extLst>
          </p:cNvPr>
          <p:cNvSpPr>
            <a:spLocks xmlns:a="http://schemas.openxmlformats.org/drawingml/2006/main" noGrp="1"/>
          </p:cNvSpPr>
          <p:nvPr/>
        </p:nvSpPr>
        <p:spPr>
          <a:xfrm xmlns:a="http://schemas.openxmlformats.org/drawingml/2006/main">
            <a:off x="6267450" y="39814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06</a:t>
            </a:r>
          </a:p>
        </p:txBody>
      </p:sp>
      <p:sp>
        <p:nvSpPr>
          <p:cNvPr id="25" name="s8-head-5">
            <a:extLst xmlns:a="http://schemas.openxmlformats.org/drawingml/2006/main">
              <a:ext uri="{FF2B5EF4-FFF2-40B4-BE49-F238E27FC236}">
                <a16:creationId xmlns:a16="http://schemas.microsoft.com/office/drawing/2014/main" id="{627F465B-8950-4405-9DFA-D2DC1B29A940}"/>
              </a:ext>
            </a:extLst>
          </p:cNvPr>
          <p:cNvSpPr>
            <a:spLocks xmlns:a="http://schemas.openxmlformats.org/drawingml/2006/main" noGrp="1"/>
          </p:cNvSpPr>
          <p:nvPr/>
        </p:nvSpPr>
        <p:spPr>
          <a:xfrm xmlns:a="http://schemas.openxmlformats.org/drawingml/2006/main">
            <a:off x="6667500" y="396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16233F"/>
                </a:solidFill>
                <a:latin typeface="Georgia"/>
                <a:ea typeface="Georgia"/>
                <a:cs typeface="Georgia"/>
              </a:defRPr>
            </a:pPr>
            <a:r>
              <a:rPr sz="1350" b="1" i="0">
                <a:solidFill>
                  <a:srgbClr val="16233F"/>
                </a:solidFill>
                <a:latin typeface="Georgia"/>
                <a:ea typeface="Georgia"/>
                <a:cs typeface="Georgia"/>
              </a:rPr>
              <a:t>Faithful, not revisionist.</a:t>
            </a:r>
          </a:p>
        </p:txBody>
      </p:sp>
      <p:sp>
        <p:nvSpPr>
          <p:cNvPr id="26" name="s8-body-5">
            <a:extLst xmlns:a="http://schemas.openxmlformats.org/drawingml/2006/main">
              <a:ext uri="{FF2B5EF4-FFF2-40B4-BE49-F238E27FC236}">
                <a16:creationId xmlns:a16="http://schemas.microsoft.com/office/drawing/2014/main" id="{D84A87F6-718C-4F89-9433-E5E179D3DB3B}"/>
              </a:ext>
            </a:extLst>
          </p:cNvPr>
          <p:cNvSpPr>
            <a:spLocks xmlns:a="http://schemas.openxmlformats.org/drawingml/2006/main" noGrp="1"/>
          </p:cNvSpPr>
          <p:nvPr/>
        </p:nvSpPr>
        <p:spPr>
          <a:xfrm xmlns:a="http://schemas.openxmlformats.org/drawingml/2006/main">
            <a:off x="6667500" y="42862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16233F"/>
                </a:solidFill>
                <a:latin typeface="Arial"/>
                <a:ea typeface="Arial"/>
                <a:cs typeface="Arial"/>
              </a:defRPr>
            </a:pPr>
            <a:r>
              <a:rPr sz="1088" b="0" i="0">
                <a:solidFill>
                  <a:srgbClr val="16233F"/>
                </a:solidFill>
                <a:latin typeface="Arial"/>
                <a:ea typeface="Arial"/>
                <a:cs typeface="Arial"/>
              </a:rPr>
              <a:t>It records the lawyer's decision without silently turning a model recommendation into that decision.</a:t>
            </a:r>
          </a:p>
        </p:txBody>
      </p:sp>
      <p:sp>
        <p:nvSpPr>
          <p:cNvPr id="27" name="rule-700-506">
            <a:extLst xmlns:a="http://schemas.openxmlformats.org/drawingml/2006/main">
              <a:ext uri="{FF2B5EF4-FFF2-40B4-BE49-F238E27FC236}">
                <a16:creationId xmlns:a16="http://schemas.microsoft.com/office/drawing/2014/main" id="{E80BA98D-34CF-4AD6-8CB4-5FE51A5183E6}"/>
              </a:ext>
            </a:extLst>
          </p:cNvPr>
          <p:cNvSpPr>
            <a:spLocks xmlns:a="http://schemas.openxmlformats.org/drawingml/2006/main" noGrp="1"/>
          </p:cNvSpPr>
          <p:nvPr/>
        </p:nvSpPr>
        <p:spPr>
          <a:xfrm xmlns:a="http://schemas.openxmlformats.org/drawingml/2006/main">
            <a:off x="6667500" y="4819650"/>
            <a:ext cx="4953000" cy="9525"/>
          </a:xfrm>
          <a:prstGeom xmlns:a="http://schemas.openxmlformats.org/drawingml/2006/main" prst="rect">
            <a:avLst/>
          </a:prstGeom>
          <a:solidFill xmlns:a="http://schemas.openxmlformats.org/drawingml/2006/main">
            <a:srgbClr val="16233F">
              <a:alpha val="22745"/>
            </a:srgbClr>
          </a:solidFill>
          <a:ln xmlns:a="http://schemas.openxmlformats.org/drawingml/2006/main" w="0">
            <a:noFill/>
            <a:prstDash val="solid"/>
          </a:ln>
        </p:spPr>
      </p:sp>
      <p:sp>
        <p:nvSpPr>
          <p:cNvPr id="28" name="s8-bottom">
            <a:extLst xmlns:a="http://schemas.openxmlformats.org/drawingml/2006/main">
              <a:ext uri="{FF2B5EF4-FFF2-40B4-BE49-F238E27FC236}">
                <a16:creationId xmlns:a16="http://schemas.microsoft.com/office/drawing/2014/main" id="{5CE4CB0C-B17A-4C9E-9C87-DDC186456CD4}"/>
              </a:ext>
            </a:extLst>
          </p:cNvPr>
          <p:cNvSpPr>
            <a:spLocks xmlns:a="http://schemas.openxmlformats.org/drawingml/2006/main" noGrp="1"/>
          </p:cNvSpPr>
          <p:nvPr/>
        </p:nvSpPr>
        <p:spPr>
          <a:xfrm xmlns:a="http://schemas.openxmlformats.org/drawingml/2006/main">
            <a:off x="0" y="5143500"/>
            <a:ext cx="12192000" cy="1714500"/>
          </a:xfrm>
          <a:prstGeom xmlns:a="http://schemas.openxmlformats.org/drawingml/2006/main" prst="rect">
            <a:avLst/>
          </a:prstGeom>
          <a:solidFill xmlns:a="http://schemas.openxmlformats.org/drawingml/2006/main">
            <a:srgbClr val="16233F"/>
          </a:solidFill>
          <a:ln xmlns:a="http://schemas.openxmlformats.org/drawingml/2006/main" w="0">
            <a:noFill/>
            <a:prstDash val="solid"/>
          </a:ln>
        </p:spPr>
      </p:sp>
      <p:sp>
        <p:nvSpPr>
          <p:cNvPr id="29" name="s8-closing">
            <a:extLst xmlns:a="http://schemas.openxmlformats.org/drawingml/2006/main">
              <a:ext uri="{FF2B5EF4-FFF2-40B4-BE49-F238E27FC236}">
                <a16:creationId xmlns:a16="http://schemas.microsoft.com/office/drawing/2014/main" id="{CEEB7B54-ACC1-4953-9E27-E2E8D1D2F7CB}"/>
              </a:ext>
            </a:extLst>
          </p:cNvPr>
          <p:cNvSpPr>
            <a:spLocks xmlns:a="http://schemas.openxmlformats.org/drawingml/2006/main" noGrp="1"/>
          </p:cNvSpPr>
          <p:nvPr/>
        </p:nvSpPr>
        <p:spPr>
          <a:xfrm xmlns:a="http://schemas.openxmlformats.org/drawingml/2006/main">
            <a:off x="514350" y="5410200"/>
            <a:ext cx="5334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i="0">
                <a:solidFill>
                  <a:srgbClr val="FCFAF4"/>
                </a:solidFill>
                <a:latin typeface="Georgia"/>
                <a:ea typeface="Georgia"/>
                <a:cs typeface="Georgia"/>
              </a:defRPr>
            </a:pPr>
            <a:r>
              <a:rPr sz="1650" b="1" i="0">
                <a:solidFill>
                  <a:srgbClr val="FCFAF4"/>
                </a:solidFill>
                <a:latin typeface="Georgia"/>
                <a:ea typeface="Georgia"/>
                <a:cs typeface="Georgia"/>
              </a:rPr>
              <a:t>This is what it means for Themis not to be a soulless product: its values appear in repeated, observable behavior.</a:t>
            </a:r>
          </a:p>
        </p:txBody>
      </p:sp>
      <p:sp>
        <p:nvSpPr>
          <p:cNvPr id="30" name="s8-investor-kicker">
            <a:extLst xmlns:a="http://schemas.openxmlformats.org/drawingml/2006/main">
              <a:ext uri="{FF2B5EF4-FFF2-40B4-BE49-F238E27FC236}">
                <a16:creationId xmlns:a16="http://schemas.microsoft.com/office/drawing/2014/main" id="{CCF60039-DD43-4039-8DBE-E9C3129FEE9F}"/>
              </a:ext>
            </a:extLst>
          </p:cNvPr>
          <p:cNvSpPr>
            <a:spLocks xmlns:a="http://schemas.openxmlformats.org/drawingml/2006/main" noGrp="1"/>
          </p:cNvSpPr>
          <p:nvPr/>
        </p:nvSpPr>
        <p:spPr>
          <a:xfrm xmlns:a="http://schemas.openxmlformats.org/drawingml/2006/main">
            <a:off x="6515100" y="542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79A2B"/>
                </a:solidFill>
                <a:latin typeface="Arial"/>
                <a:ea typeface="Arial"/>
                <a:cs typeface="Arial"/>
              </a:defRPr>
            </a:pPr>
            <a:r>
              <a:rPr sz="900" b="1" i="0">
                <a:solidFill>
                  <a:srgbClr val="C79A2B"/>
                </a:solidFill>
                <a:latin typeface="Arial"/>
                <a:ea typeface="Arial"/>
                <a:cs typeface="Arial"/>
              </a:rPr>
              <a:t>INVESTOR IMPLICATION</a:t>
            </a:r>
          </a:p>
        </p:txBody>
      </p:sp>
      <p:sp>
        <p:nvSpPr>
          <p:cNvPr id="31" name="s8-investor">
            <a:extLst xmlns:a="http://schemas.openxmlformats.org/drawingml/2006/main">
              <a:ext uri="{FF2B5EF4-FFF2-40B4-BE49-F238E27FC236}">
                <a16:creationId xmlns:a16="http://schemas.microsoft.com/office/drawing/2014/main" id="{B2876BDC-EBCE-4801-B568-420326CE305B}"/>
              </a:ext>
            </a:extLst>
          </p:cNvPr>
          <p:cNvSpPr>
            <a:spLocks xmlns:a="http://schemas.openxmlformats.org/drawingml/2006/main" noGrp="1"/>
          </p:cNvSpPr>
          <p:nvPr/>
        </p:nvSpPr>
        <p:spPr>
          <a:xfrm xmlns:a="http://schemas.openxmlformats.org/drawingml/2006/main">
            <a:off x="6515100" y="573405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63" b="0" i="0">
                <a:solidFill>
                  <a:srgbClr val="FCFAF4"/>
                </a:solidFill>
                <a:latin typeface="Arial"/>
                <a:ea typeface="Arial"/>
                <a:cs typeface="Arial"/>
              </a:defRPr>
            </a:pPr>
            <a:r>
              <a:rPr sz="1163" b="0" i="0">
                <a:solidFill>
                  <a:srgbClr val="FCFAF4"/>
                </a:solidFill>
                <a:latin typeface="Arial"/>
                <a:ea typeface="Arial"/>
                <a:cs typeface="Arial"/>
              </a:rPr>
              <a:t>These behaviors turn the emotional promise into product requirements. If they remain consistent across models and matters, the ethos can become part of the user experience rather than branding placed on top of it.</a:t>
            </a:r>
          </a:p>
        </p:txBody>
      </p:sp>
    </p:spTree>
    <p:extLst>
      <p:ext uri="{BB962C8B-B14F-4D97-AF65-F5344CB8AC3E}">
        <p14:creationId xmlns:p14="http://schemas.microsoft.com/office/powerpoint/2010/main" val="5497245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3367703cfa3472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9-left">
            <a:extLst xmlns:a="http://schemas.openxmlformats.org/drawingml/2006/main">
              <a:ext uri="{FF2B5EF4-FFF2-40B4-BE49-F238E27FC236}">
                <a16:creationId xmlns:a16="http://schemas.microsoft.com/office/drawing/2014/main" id="{69145FD5-8E92-478A-8CE0-8BEDC1765158}"/>
              </a:ext>
            </a:extLst>
          </p:cNvPr>
          <p:cNvSpPr>
            <a:spLocks xmlns:a="http://schemas.openxmlformats.org/drawingml/2006/main" noGrp="1"/>
          </p:cNvSpPr>
          <p:nvPr/>
        </p:nvSpPr>
        <p:spPr>
          <a:xfrm xmlns:a="http://schemas.openxmlformats.org/drawingml/2006/main">
            <a:off x="0" y="0"/>
            <a:ext cx="6953250" cy="6858000"/>
          </a:xfrm>
          <a:prstGeom xmlns:a="http://schemas.openxmlformats.org/drawingml/2006/main" prst="rect">
            <a:avLst/>
          </a:prstGeom>
          <a:gradFill xmlns:a="http://schemas.openxmlformats.org/drawingml/2006/main">
            <a:gsLst>
              <a:gs pos="0">
                <a:srgbClr val="16233F">
                  <a:alpha val="96863"/>
                </a:srgbClr>
              </a:gs>
              <a:gs pos="84000">
                <a:srgbClr val="16233F">
                  <a:alpha val="92549"/>
                </a:srgbClr>
              </a:gs>
              <a:gs pos="100000">
                <a:srgbClr val="16233F">
                  <a:alpha val="0"/>
                </a:srgbClr>
              </a:gs>
            </a:gsLst>
            <a:lin ang="0"/>
          </a:gradFill>
          <a:ln xmlns:a="http://schemas.openxmlformats.org/drawingml/2006/main" w="0">
            <a:noFill/>
            <a:prstDash val="solid"/>
          </a:ln>
        </p:spPr>
      </p:sp>
      <p:sp>
        <p:nvSpPr>
          <p:cNvPr id="3" name="s9-kicker">
            <a:extLst xmlns:a="http://schemas.openxmlformats.org/drawingml/2006/main">
              <a:ext uri="{FF2B5EF4-FFF2-40B4-BE49-F238E27FC236}">
                <a16:creationId xmlns:a16="http://schemas.microsoft.com/office/drawing/2014/main" id="{D75ED373-CA65-455D-B76A-E51FCD268869}"/>
              </a:ext>
            </a:extLst>
          </p:cNvPr>
          <p:cNvSpPr>
            <a:spLocks xmlns:a="http://schemas.openxmlformats.org/drawingml/2006/main" noGrp="1"/>
          </p:cNvSpPr>
          <p:nvPr/>
        </p:nvSpPr>
        <p:spPr>
          <a:xfrm xmlns:a="http://schemas.openxmlformats.org/drawingml/2006/main">
            <a:off x="514350" y="400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2E8984"/>
                </a:solidFill>
                <a:latin typeface="Arial"/>
                <a:ea typeface="Arial"/>
                <a:cs typeface="Arial"/>
              </a:defRPr>
            </a:pPr>
            <a:r>
              <a:rPr sz="900" b="1" i="0">
                <a:solidFill>
                  <a:srgbClr val="2E8984"/>
                </a:solidFill>
                <a:latin typeface="Arial"/>
                <a:ea typeface="Arial"/>
                <a:cs typeface="Arial"/>
              </a:rPr>
              <a:t>THEMIS THESIS  /  09</a:t>
            </a:r>
          </a:p>
        </p:txBody>
      </p:sp>
      <p:sp>
        <p:nvSpPr>
          <p:cNvPr id="4" name="s9-title">
            <a:extLst xmlns:a="http://schemas.openxmlformats.org/drawingml/2006/main">
              <a:ext uri="{FF2B5EF4-FFF2-40B4-BE49-F238E27FC236}">
                <a16:creationId xmlns:a16="http://schemas.microsoft.com/office/drawing/2014/main" id="{4CDDE02A-45EC-4B35-990A-B7487AC7A173}"/>
              </a:ext>
            </a:extLst>
          </p:cNvPr>
          <p:cNvSpPr>
            <a:spLocks xmlns:a="http://schemas.openxmlformats.org/drawingml/2006/main" noGrp="1"/>
          </p:cNvSpPr>
          <p:nvPr/>
        </p:nvSpPr>
        <p:spPr>
          <a:xfrm xmlns:a="http://schemas.openxmlformats.org/drawingml/2006/main">
            <a:off x="514350" y="666750"/>
            <a:ext cx="5905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9000"/>
              </a:lnSpc>
              <a:buNone/>
              <a:defRPr sz="2850" b="1" i="0">
                <a:solidFill>
                  <a:srgbClr val="FCFAF4"/>
                </a:solidFill>
                <a:latin typeface="Georgia"/>
                <a:ea typeface="Georgia"/>
                <a:cs typeface="Georgia"/>
              </a:defRPr>
            </a:pPr>
            <a:r>
              <a:rPr sz="2850" b="1" i="0">
                <a:solidFill>
                  <a:srgbClr val="FCFAF4"/>
                </a:solidFill>
                <a:latin typeface="Georgia"/>
                <a:ea typeface="Georgia"/>
                <a:cs typeface="Georgia"/>
              </a:rPr>
              <a:t>The durable position is inside the lawyer's process of reaching confidence.</a:t>
            </a:r>
          </a:p>
        </p:txBody>
      </p:sp>
      <p:sp>
        <p:nvSpPr>
          <p:cNvPr id="5" name="rule-54-211">
            <a:extLst xmlns:a="http://schemas.openxmlformats.org/drawingml/2006/main">
              <a:ext uri="{FF2B5EF4-FFF2-40B4-BE49-F238E27FC236}">
                <a16:creationId xmlns:a16="http://schemas.microsoft.com/office/drawing/2014/main" id="{4785F8BF-3486-4A6B-8CC7-C520D6538B2E}"/>
              </a:ext>
            </a:extLst>
          </p:cNvPr>
          <p:cNvSpPr>
            <a:spLocks xmlns:a="http://schemas.openxmlformats.org/drawingml/2006/main" noGrp="1"/>
          </p:cNvSpPr>
          <p:nvPr/>
        </p:nvSpPr>
        <p:spPr>
          <a:xfrm xmlns:a="http://schemas.openxmlformats.org/drawingml/2006/main">
            <a:off x="514350" y="2009775"/>
            <a:ext cx="1143000" cy="57150"/>
          </a:xfrm>
          <a:prstGeom xmlns:a="http://schemas.openxmlformats.org/drawingml/2006/main" prst="rect">
            <a:avLst/>
          </a:prstGeom>
          <a:solidFill xmlns:a="http://schemas.openxmlformats.org/drawingml/2006/main">
            <a:srgbClr val="C79A2B"/>
          </a:solidFill>
          <a:ln xmlns:a="http://schemas.openxmlformats.org/drawingml/2006/main" w="0">
            <a:noFill/>
            <a:prstDash val="solid"/>
          </a:ln>
        </p:spPr>
      </p:sp>
      <p:sp>
        <p:nvSpPr>
          <p:cNvPr id="6" name="s9-quote">
            <a:extLst xmlns:a="http://schemas.openxmlformats.org/drawingml/2006/main">
              <a:ext uri="{FF2B5EF4-FFF2-40B4-BE49-F238E27FC236}">
                <a16:creationId xmlns:a16="http://schemas.microsoft.com/office/drawing/2014/main" id="{18F682C4-D0EA-4840-A67B-762B71430386}"/>
              </a:ext>
            </a:extLst>
          </p:cNvPr>
          <p:cNvSpPr>
            <a:spLocks xmlns:a="http://schemas.openxmlformats.org/drawingml/2006/main" noGrp="1"/>
          </p:cNvSpPr>
          <p:nvPr/>
        </p:nvSpPr>
        <p:spPr>
          <a:xfrm xmlns:a="http://schemas.openxmlformats.org/drawingml/2006/main">
            <a:off x="514350" y="2114550"/>
            <a:ext cx="5905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i="0">
                <a:solidFill>
                  <a:srgbClr val="FCFAF4"/>
                </a:solidFill>
                <a:latin typeface="Georgia"/>
                <a:ea typeface="Georgia"/>
                <a:cs typeface="Georgia"/>
              </a:defRPr>
            </a:pPr>
            <a:r>
              <a:rPr sz="2025" b="1" i="0">
                <a:solidFill>
                  <a:srgbClr val="FCFAF4"/>
                </a:solidFill>
                <a:latin typeface="Georgia"/>
                <a:ea typeface="Georgia"/>
                <a:cs typeface="Georgia"/>
              </a:rPr>
              <a:t>But this is the more important and defensible leap. Intelligence will become common. Workflows can be copied. A product that earns a place inside the lawyer’s process of reaching confidence in their decision can become much harder to replace.</a:t>
            </a:r>
          </a:p>
        </p:txBody>
      </p:sp>
      <p:sp>
        <p:nvSpPr>
          <p:cNvPr id="7" name="s9-context">
            <a:extLst xmlns:a="http://schemas.openxmlformats.org/drawingml/2006/main">
              <a:ext uri="{FF2B5EF4-FFF2-40B4-BE49-F238E27FC236}">
                <a16:creationId xmlns:a16="http://schemas.microsoft.com/office/drawing/2014/main" id="{BB0753F1-3529-420B-90B6-29A0F780C588}"/>
              </a:ext>
            </a:extLst>
          </p:cNvPr>
          <p:cNvSpPr>
            <a:spLocks xmlns:a="http://schemas.openxmlformats.org/drawingml/2006/main" noGrp="1"/>
          </p:cNvSpPr>
          <p:nvPr/>
        </p:nvSpPr>
        <p:spPr>
          <a:xfrm xmlns:a="http://schemas.openxmlformats.org/drawingml/2006/main">
            <a:off x="514350" y="4457700"/>
            <a:ext cx="590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i="0">
                <a:solidFill>
                  <a:srgbClr val="FCFAF4"/>
                </a:solidFill>
                <a:latin typeface="Arial"/>
                <a:ea typeface="Arial"/>
                <a:cs typeface="Arial"/>
              </a:defRPr>
            </a:pPr>
            <a:r>
              <a:rPr sz="1200" b="0" i="0">
                <a:solidFill>
                  <a:srgbClr val="FCFAF4"/>
                </a:solidFill>
                <a:latin typeface="Arial"/>
                <a:ea typeface="Arial"/>
                <a:cs typeface="Arial"/>
              </a:rPr>
              <a:t>The market will make strong AI capabilities more available. The investor question is not only which product can generate the best answer today. It is which product can earn a lasting role in the professional process around that answer.</a:t>
            </a:r>
          </a:p>
        </p:txBody>
      </p:sp>
      <p:sp>
        <p:nvSpPr>
          <p:cNvPr id="8" name="s9-right-panel">
            <a:extLst xmlns:a="http://schemas.openxmlformats.org/drawingml/2006/main">
              <a:ext uri="{FF2B5EF4-FFF2-40B4-BE49-F238E27FC236}">
                <a16:creationId xmlns:a16="http://schemas.microsoft.com/office/drawing/2014/main" id="{FFFB59DF-A999-43FC-BAD4-92E9ED4B9B9E}"/>
              </a:ext>
            </a:extLst>
          </p:cNvPr>
          <p:cNvSpPr>
            <a:spLocks xmlns:a="http://schemas.openxmlformats.org/drawingml/2006/main" noGrp="1"/>
          </p:cNvSpPr>
          <p:nvPr/>
        </p:nvSpPr>
        <p:spPr>
          <a:xfrm xmlns:a="http://schemas.openxmlformats.org/drawingml/2006/main">
            <a:off x="7239000" y="323850"/>
            <a:ext cx="4572000" cy="6172200"/>
          </a:xfrm>
          <a:prstGeom xmlns:a="http://schemas.openxmlformats.org/drawingml/2006/main" prst="roundRect">
            <a:avLst>
              <a:gd name="adj" fmla="val 1667"/>
            </a:avLst>
          </a:prstGeom>
          <a:solidFill xmlns:a="http://schemas.openxmlformats.org/drawingml/2006/main">
            <a:srgbClr val="FCFAF4"/>
          </a:solidFill>
          <a:ln xmlns:a="http://schemas.openxmlformats.org/drawingml/2006/main" w="0">
            <a:noFill/>
            <a:prstDash val="solid"/>
          </a:ln>
        </p:spPr>
      </p:sp>
      <p:sp>
        <p:nvSpPr>
          <p:cNvPr id="9" name="s9-why">
            <a:extLst xmlns:a="http://schemas.openxmlformats.org/drawingml/2006/main">
              <a:ext uri="{FF2B5EF4-FFF2-40B4-BE49-F238E27FC236}">
                <a16:creationId xmlns:a16="http://schemas.microsoft.com/office/drawing/2014/main" id="{BD4CE35E-193F-4EFD-AF3B-303C69BE3C77}"/>
              </a:ext>
            </a:extLst>
          </p:cNvPr>
          <p:cNvSpPr>
            <a:spLocks xmlns:a="http://schemas.openxmlformats.org/drawingml/2006/main" noGrp="1"/>
          </p:cNvSpPr>
          <p:nvPr/>
        </p:nvSpPr>
        <p:spPr>
          <a:xfrm xmlns:a="http://schemas.openxmlformats.org/drawingml/2006/main">
            <a:off x="7524750" y="5905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WHY THIS COULD MATTER</a:t>
            </a:r>
          </a:p>
        </p:txBody>
      </p:sp>
      <p:sp>
        <p:nvSpPr>
          <p:cNvPr id="10" name="s9-why-num-0">
            <a:extLst xmlns:a="http://schemas.openxmlformats.org/drawingml/2006/main">
              <a:ext uri="{FF2B5EF4-FFF2-40B4-BE49-F238E27FC236}">
                <a16:creationId xmlns:a16="http://schemas.microsoft.com/office/drawing/2014/main" id="{56C6134B-C585-4290-9F19-784EC3154570}"/>
              </a:ext>
            </a:extLst>
          </p:cNvPr>
          <p:cNvSpPr>
            <a:spLocks xmlns:a="http://schemas.openxmlformats.org/drawingml/2006/main" noGrp="1"/>
          </p:cNvSpPr>
          <p:nvPr/>
        </p:nvSpPr>
        <p:spPr>
          <a:xfrm xmlns:a="http://schemas.openxmlformats.org/drawingml/2006/main">
            <a:off x="7524750" y="9144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i="0">
                <a:solidFill>
                  <a:srgbClr val="C86449"/>
                </a:solidFill>
                <a:latin typeface="Arial"/>
                <a:ea typeface="Arial"/>
                <a:cs typeface="Arial"/>
              </a:defRPr>
            </a:pPr>
            <a:r>
              <a:rPr sz="900" b="1" i="0">
                <a:solidFill>
                  <a:srgbClr val="C86449"/>
                </a:solidFill>
                <a:latin typeface="Arial"/>
                <a:ea typeface="Arial"/>
                <a:cs typeface="Arial"/>
              </a:rPr>
              <a:t>1</a:t>
            </a:r>
          </a:p>
        </p:txBody>
      </p:sp>
      <p:sp>
        <p:nvSpPr>
          <p:cNvPr id="11" name="s9-why-text-0">
            <a:extLst xmlns:a="http://schemas.openxmlformats.org/drawingml/2006/main">
              <a:ext uri="{FF2B5EF4-FFF2-40B4-BE49-F238E27FC236}">
                <a16:creationId xmlns:a16="http://schemas.microsoft.com/office/drawing/2014/main" id="{0172FF59-828D-4C5D-B5B0-2BC973D42357}"/>
              </a:ext>
            </a:extLst>
          </p:cNvPr>
          <p:cNvSpPr>
            <a:spLocks xmlns:a="http://schemas.openxmlformats.org/drawingml/2006/main" noGrp="1"/>
          </p:cNvSpPr>
          <p:nvPr/>
        </p:nvSpPr>
        <p:spPr>
          <a:xfrm xmlns:a="http://schemas.openxmlformats.org/drawingml/2006/main">
            <a:off x="7848600" y="876300"/>
            <a:ext cx="3600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013" b="0" i="0">
                <a:solidFill>
                  <a:srgbClr val="16233F"/>
                </a:solidFill>
                <a:latin typeface="Arial"/>
                <a:ea typeface="Arial"/>
                <a:cs typeface="Arial"/>
              </a:defRPr>
            </a:pPr>
            <a:r>
              <a:rPr sz="1013" b="0" i="0">
                <a:solidFill>
                  <a:srgbClr val="16233F"/>
                </a:solidFill>
                <a:latin typeface="Arial"/>
                <a:ea typeface="Arial"/>
                <a:cs typeface="Arial"/>
              </a:rPr>
              <a:t>Model quality will improve and useful workflow patterns will spread across products.</a:t>
            </a:r>
          </a:p>
        </p:txBody>
      </p:sp>
      <p:sp>
        <p:nvSpPr>
          <p:cNvPr id="12" name="s9-why-num-1">
            <a:extLst xmlns:a="http://schemas.openxmlformats.org/drawingml/2006/main">
              <a:ext uri="{FF2B5EF4-FFF2-40B4-BE49-F238E27FC236}">
                <a16:creationId xmlns:a16="http://schemas.microsoft.com/office/drawing/2014/main" id="{E742FB97-C2FD-4CEF-84D5-0352D7865C17}"/>
              </a:ext>
            </a:extLst>
          </p:cNvPr>
          <p:cNvSpPr>
            <a:spLocks xmlns:a="http://schemas.openxmlformats.org/drawingml/2006/main" noGrp="1"/>
          </p:cNvSpPr>
          <p:nvPr/>
        </p:nvSpPr>
        <p:spPr>
          <a:xfrm xmlns:a="http://schemas.openxmlformats.org/drawingml/2006/main">
            <a:off x="7524750" y="1524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i="0">
                <a:solidFill>
                  <a:srgbClr val="C86449"/>
                </a:solidFill>
                <a:latin typeface="Arial"/>
                <a:ea typeface="Arial"/>
                <a:cs typeface="Arial"/>
              </a:defRPr>
            </a:pPr>
            <a:r>
              <a:rPr sz="900" b="1" i="0">
                <a:solidFill>
                  <a:srgbClr val="C86449"/>
                </a:solidFill>
                <a:latin typeface="Arial"/>
                <a:ea typeface="Arial"/>
                <a:cs typeface="Arial"/>
              </a:rPr>
              <a:t>2</a:t>
            </a:r>
          </a:p>
        </p:txBody>
      </p:sp>
      <p:sp>
        <p:nvSpPr>
          <p:cNvPr id="13" name="s9-why-text-1">
            <a:extLst xmlns:a="http://schemas.openxmlformats.org/drawingml/2006/main">
              <a:ext uri="{FF2B5EF4-FFF2-40B4-BE49-F238E27FC236}">
                <a16:creationId xmlns:a16="http://schemas.microsoft.com/office/drawing/2014/main" id="{41E7F1C1-EF3F-4AB0-A38F-492F9E6E8082}"/>
              </a:ext>
            </a:extLst>
          </p:cNvPr>
          <p:cNvSpPr>
            <a:spLocks xmlns:a="http://schemas.openxmlformats.org/drawingml/2006/main" noGrp="1"/>
          </p:cNvSpPr>
          <p:nvPr/>
        </p:nvSpPr>
        <p:spPr>
          <a:xfrm xmlns:a="http://schemas.openxmlformats.org/drawingml/2006/main">
            <a:off x="7848600" y="1485900"/>
            <a:ext cx="3600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013" b="0" i="0">
                <a:solidFill>
                  <a:srgbClr val="16233F"/>
                </a:solidFill>
                <a:latin typeface="Arial"/>
                <a:ea typeface="Arial"/>
                <a:cs typeface="Arial"/>
              </a:defRPr>
            </a:pPr>
            <a:r>
              <a:rPr sz="1013" b="0" i="0">
                <a:solidFill>
                  <a:srgbClr val="16233F"/>
                </a:solidFill>
                <a:latin typeface="Arial"/>
                <a:ea typeface="Arial"/>
                <a:cs typeface="Arial"/>
              </a:rPr>
              <a:t>Matter history can deepen Themis's role because the system retains how the lawyer and organization reached prior decisions.</a:t>
            </a:r>
          </a:p>
        </p:txBody>
      </p:sp>
      <p:sp>
        <p:nvSpPr>
          <p:cNvPr id="14" name="s9-why-num-2">
            <a:extLst xmlns:a="http://schemas.openxmlformats.org/drawingml/2006/main">
              <a:ext uri="{FF2B5EF4-FFF2-40B4-BE49-F238E27FC236}">
                <a16:creationId xmlns:a16="http://schemas.microsoft.com/office/drawing/2014/main" id="{B2B0BA62-51CC-4FDB-B416-769A49C59F30}"/>
              </a:ext>
            </a:extLst>
          </p:cNvPr>
          <p:cNvSpPr>
            <a:spLocks xmlns:a="http://schemas.openxmlformats.org/drawingml/2006/main" noGrp="1"/>
          </p:cNvSpPr>
          <p:nvPr/>
        </p:nvSpPr>
        <p:spPr>
          <a:xfrm xmlns:a="http://schemas.openxmlformats.org/drawingml/2006/main">
            <a:off x="7524750" y="21336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i="0">
                <a:solidFill>
                  <a:srgbClr val="C86449"/>
                </a:solidFill>
                <a:latin typeface="Arial"/>
                <a:ea typeface="Arial"/>
                <a:cs typeface="Arial"/>
              </a:defRPr>
            </a:pPr>
            <a:r>
              <a:rPr sz="900" b="1" i="0">
                <a:solidFill>
                  <a:srgbClr val="C86449"/>
                </a:solidFill>
                <a:latin typeface="Arial"/>
                <a:ea typeface="Arial"/>
                <a:cs typeface="Arial"/>
              </a:rPr>
              <a:t>3</a:t>
            </a:r>
          </a:p>
        </p:txBody>
      </p:sp>
      <p:sp>
        <p:nvSpPr>
          <p:cNvPr id="15" name="s9-why-text-2">
            <a:extLst xmlns:a="http://schemas.openxmlformats.org/drawingml/2006/main">
              <a:ext uri="{FF2B5EF4-FFF2-40B4-BE49-F238E27FC236}">
                <a16:creationId xmlns:a16="http://schemas.microsoft.com/office/drawing/2014/main" id="{06A98831-D8FD-45AF-9189-E1A4DDC92CED}"/>
              </a:ext>
            </a:extLst>
          </p:cNvPr>
          <p:cNvSpPr>
            <a:spLocks xmlns:a="http://schemas.openxmlformats.org/drawingml/2006/main" noGrp="1"/>
          </p:cNvSpPr>
          <p:nvPr/>
        </p:nvSpPr>
        <p:spPr>
          <a:xfrm xmlns:a="http://schemas.openxmlformats.org/drawingml/2006/main">
            <a:off x="7848600" y="2095500"/>
            <a:ext cx="3600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013" b="0" i="0">
                <a:solidFill>
                  <a:srgbClr val="16233F"/>
                </a:solidFill>
                <a:latin typeface="Arial"/>
                <a:ea typeface="Arial"/>
                <a:cs typeface="Arial"/>
              </a:defRPr>
            </a:pPr>
            <a:r>
              <a:rPr sz="1013" b="0" i="0">
                <a:solidFill>
                  <a:srgbClr val="16233F"/>
                </a:solidFill>
                <a:latin typeface="Arial"/>
                <a:ea typeface="Arial"/>
                <a:cs typeface="Arial"/>
              </a:rPr>
              <a:t>Repeated moments of useful challenge, honest uncertainty, and faithful memory can build trust that a feature checklist does not capture.</a:t>
            </a:r>
          </a:p>
        </p:txBody>
      </p:sp>
      <p:sp>
        <p:nvSpPr>
          <p:cNvPr id="16" name="rule-790-292">
            <a:extLst xmlns:a="http://schemas.openxmlformats.org/drawingml/2006/main">
              <a:ext uri="{FF2B5EF4-FFF2-40B4-BE49-F238E27FC236}">
                <a16:creationId xmlns:a16="http://schemas.microsoft.com/office/drawing/2014/main" id="{EEE93BE2-69CA-4CFC-97AF-258C9EAA210A}"/>
              </a:ext>
            </a:extLst>
          </p:cNvPr>
          <p:cNvSpPr>
            <a:spLocks xmlns:a="http://schemas.openxmlformats.org/drawingml/2006/main" noGrp="1"/>
          </p:cNvSpPr>
          <p:nvPr/>
        </p:nvSpPr>
        <p:spPr>
          <a:xfrm xmlns:a="http://schemas.openxmlformats.org/drawingml/2006/main">
            <a:off x="7524750" y="2781300"/>
            <a:ext cx="3905250" cy="19050"/>
          </a:xfrm>
          <a:prstGeom xmlns:a="http://schemas.openxmlformats.org/drawingml/2006/main" prst="rect">
            <a:avLst/>
          </a:prstGeom>
          <a:solidFill xmlns:a="http://schemas.openxmlformats.org/drawingml/2006/main">
            <a:srgbClr val="D5D9DF"/>
          </a:solidFill>
          <a:ln xmlns:a="http://schemas.openxmlformats.org/drawingml/2006/main" w="0">
            <a:noFill/>
            <a:prstDash val="solid"/>
          </a:ln>
        </p:spPr>
      </p:sp>
      <p:sp>
        <p:nvSpPr>
          <p:cNvPr id="17" name="s9-not-kicker">
            <a:extLst xmlns:a="http://schemas.openxmlformats.org/drawingml/2006/main">
              <a:ext uri="{FF2B5EF4-FFF2-40B4-BE49-F238E27FC236}">
                <a16:creationId xmlns:a16="http://schemas.microsoft.com/office/drawing/2014/main" id="{1090BA66-CA15-4FB6-BFE6-F9F8700FB8F6}"/>
              </a:ext>
            </a:extLst>
          </p:cNvPr>
          <p:cNvSpPr>
            <a:spLocks xmlns:a="http://schemas.openxmlformats.org/drawingml/2006/main" noGrp="1"/>
          </p:cNvSpPr>
          <p:nvPr/>
        </p:nvSpPr>
        <p:spPr>
          <a:xfrm xmlns:a="http://schemas.openxmlformats.org/drawingml/2006/main">
            <a:off x="752475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WHAT THE MOAT IS NOT</a:t>
            </a:r>
          </a:p>
        </p:txBody>
      </p:sp>
      <p:sp>
        <p:nvSpPr>
          <p:cNvPr id="18" name="s9-not">
            <a:extLst xmlns:a="http://schemas.openxmlformats.org/drawingml/2006/main">
              <a:ext uri="{FF2B5EF4-FFF2-40B4-BE49-F238E27FC236}">
                <a16:creationId xmlns:a16="http://schemas.microsoft.com/office/drawing/2014/main" id="{FE31D8D0-C87B-4B54-BBE1-FCA38CD436B6}"/>
              </a:ext>
            </a:extLst>
          </p:cNvPr>
          <p:cNvSpPr>
            <a:spLocks xmlns:a="http://schemas.openxmlformats.org/drawingml/2006/main" noGrp="1"/>
          </p:cNvSpPr>
          <p:nvPr/>
        </p:nvSpPr>
        <p:spPr>
          <a:xfrm xmlns:a="http://schemas.openxmlformats.org/drawingml/2006/main">
            <a:off x="7524750" y="3276600"/>
            <a:ext cx="390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16233F"/>
                </a:solidFill>
                <a:latin typeface="Arial"/>
                <a:ea typeface="Arial"/>
                <a:cs typeface="Arial"/>
              </a:defRPr>
            </a:pPr>
            <a:r>
              <a:rPr sz="1088" b="0" i="0">
                <a:solidFill>
                  <a:srgbClr val="16233F"/>
                </a:solidFill>
                <a:latin typeface="Arial"/>
                <a:ea typeface="Arial"/>
                <a:cs typeface="Arial"/>
              </a:rPr>
              <a:t>It is not exclusive intelligence, a fixed workflow, or a claim that lawyers will hand judgment to software.</a:t>
            </a:r>
          </a:p>
        </p:txBody>
      </p:sp>
      <p:sp>
        <p:nvSpPr>
          <p:cNvPr id="19" name="s9-could-kicker">
            <a:extLst xmlns:a="http://schemas.openxmlformats.org/drawingml/2006/main">
              <a:ext uri="{FF2B5EF4-FFF2-40B4-BE49-F238E27FC236}">
                <a16:creationId xmlns:a16="http://schemas.microsoft.com/office/drawing/2014/main" id="{6E5C6048-91D6-427A-B50F-0DD5374B8F3C}"/>
              </a:ext>
            </a:extLst>
          </p:cNvPr>
          <p:cNvSpPr>
            <a:spLocks xmlns:a="http://schemas.openxmlformats.org/drawingml/2006/main" noGrp="1"/>
          </p:cNvSpPr>
          <p:nvPr/>
        </p:nvSpPr>
        <p:spPr>
          <a:xfrm xmlns:a="http://schemas.openxmlformats.org/drawingml/2006/main">
            <a:off x="7524750" y="39433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WHAT THE MOAT COULD BECOME</a:t>
            </a:r>
          </a:p>
        </p:txBody>
      </p:sp>
      <p:sp>
        <p:nvSpPr>
          <p:cNvPr id="20" name="s9-could">
            <a:extLst xmlns:a="http://schemas.openxmlformats.org/drawingml/2006/main">
              <a:ext uri="{FF2B5EF4-FFF2-40B4-BE49-F238E27FC236}">
                <a16:creationId xmlns:a16="http://schemas.microsoft.com/office/drawing/2014/main" id="{E3F0F2AE-C74D-416D-B74F-784B95511E6E}"/>
              </a:ext>
            </a:extLst>
          </p:cNvPr>
          <p:cNvSpPr>
            <a:spLocks xmlns:a="http://schemas.openxmlformats.org/drawingml/2006/main" noGrp="1"/>
          </p:cNvSpPr>
          <p:nvPr/>
        </p:nvSpPr>
        <p:spPr>
          <a:xfrm xmlns:a="http://schemas.openxmlformats.org/drawingml/2006/main">
            <a:off x="7524750" y="419100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1" i="0">
                <a:solidFill>
                  <a:srgbClr val="16233F"/>
                </a:solidFill>
                <a:latin typeface="Georgia"/>
                <a:ea typeface="Georgia"/>
                <a:cs typeface="Georgia"/>
              </a:defRPr>
            </a:pPr>
            <a:r>
              <a:rPr sz="1088" b="1" i="0">
                <a:solidFill>
                  <a:srgbClr val="16233F"/>
                </a:solidFill>
                <a:latin typeface="Georgia"/>
                <a:ea typeface="Georgia"/>
                <a:cs typeface="Georgia"/>
              </a:rPr>
              <a:t>A trusted place beside the lawyer, reinforced by accumulated context, product behavior, and repeated proof that Themis illuminates what matters without taking the decision away.</a:t>
            </a:r>
          </a:p>
        </p:txBody>
      </p:sp>
      <p:sp>
        <p:nvSpPr>
          <p:cNvPr id="21" name="s9-investor-kicker">
            <a:extLst xmlns:a="http://schemas.openxmlformats.org/drawingml/2006/main">
              <a:ext uri="{FF2B5EF4-FFF2-40B4-BE49-F238E27FC236}">
                <a16:creationId xmlns:a16="http://schemas.microsoft.com/office/drawing/2014/main" id="{95751043-14F9-4007-9B9A-65F7389A36F1}"/>
              </a:ext>
            </a:extLst>
          </p:cNvPr>
          <p:cNvSpPr>
            <a:spLocks xmlns:a="http://schemas.openxmlformats.org/drawingml/2006/main" noGrp="1"/>
          </p:cNvSpPr>
          <p:nvPr/>
        </p:nvSpPr>
        <p:spPr>
          <a:xfrm xmlns:a="http://schemas.openxmlformats.org/drawingml/2006/main">
            <a:off x="7524750" y="50482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INVESTOR IMPLICATION</a:t>
            </a:r>
          </a:p>
        </p:txBody>
      </p:sp>
      <p:sp>
        <p:nvSpPr>
          <p:cNvPr id="22" name="s9-investor">
            <a:extLst xmlns:a="http://schemas.openxmlformats.org/drawingml/2006/main">
              <a:ext uri="{FF2B5EF4-FFF2-40B4-BE49-F238E27FC236}">
                <a16:creationId xmlns:a16="http://schemas.microsoft.com/office/drawing/2014/main" id="{AD3DB756-13D5-4734-80EA-8ADA04138200}"/>
              </a:ext>
            </a:extLst>
          </p:cNvPr>
          <p:cNvSpPr>
            <a:spLocks xmlns:a="http://schemas.openxmlformats.org/drawingml/2006/main" noGrp="1"/>
          </p:cNvSpPr>
          <p:nvPr/>
        </p:nvSpPr>
        <p:spPr>
          <a:xfrm xmlns:a="http://schemas.openxmlformats.org/drawingml/2006/main">
            <a:off x="7524750" y="533400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013" b="0" i="0">
                <a:solidFill>
                  <a:srgbClr val="16233F"/>
                </a:solidFill>
                <a:latin typeface="Arial"/>
                <a:ea typeface="Arial"/>
                <a:cs typeface="Arial"/>
              </a:defRPr>
            </a:pPr>
            <a:r>
              <a:rPr sz="1013" b="0" i="0">
                <a:solidFill>
                  <a:srgbClr val="16233F"/>
                </a:solidFill>
                <a:latin typeface="Arial"/>
                <a:ea typeface="Arial"/>
                <a:cs typeface="Arial"/>
              </a:rPr>
              <a:t>The emotional thesis is the proposed source of defensibility: a trusted role strengthened by matter history, repeated use, and behavior that respects the lawyer's responsibility.</a:t>
            </a:r>
          </a:p>
        </p:txBody>
      </p:sp>
      <p:sp>
        <p:nvSpPr>
          <p:cNvPr id="23" name="s9-thesis">
            <a:extLst xmlns:a="http://schemas.openxmlformats.org/drawingml/2006/main">
              <a:ext uri="{FF2B5EF4-FFF2-40B4-BE49-F238E27FC236}">
                <a16:creationId xmlns:a16="http://schemas.microsoft.com/office/drawing/2014/main" id="{FC340FAA-49B1-4282-A970-31E2C78B0C08}"/>
              </a:ext>
            </a:extLst>
          </p:cNvPr>
          <p:cNvSpPr>
            <a:spLocks xmlns:a="http://schemas.openxmlformats.org/drawingml/2006/main" noGrp="1"/>
          </p:cNvSpPr>
          <p:nvPr/>
        </p:nvSpPr>
        <p:spPr>
          <a:xfrm xmlns:a="http://schemas.openxmlformats.org/drawingml/2006/main">
            <a:off x="7524750" y="60198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863">
                <a:solidFill>
                  <a:srgbClr val="606878"/>
                </a:solidFill>
                <a:latin typeface="Arial"/>
                <a:ea typeface="Arial"/>
                <a:cs typeface="Arial"/>
              </a:defRPr>
            </a:pPr>
            <a:r>
              <a:rPr sz="863" b="1">
                <a:solidFill>
                  <a:srgbClr val="606878"/>
                </a:solidFill>
                <a:latin typeface="Arial"/>
                <a:ea typeface="Arial"/>
                <a:cs typeface="Arial"/>
              </a:rPr>
              <a:t>Themis thesis: </a:t>
            </a:r>
            <a:r>
              <a:rPr sz="863">
                <a:solidFill>
                  <a:srgbClr val="606878"/>
                </a:solidFill>
                <a:latin typeface="Arial"/>
                <a:ea typeface="Arial"/>
                <a:cs typeface="Arial"/>
              </a:rPr>
              <a:t>This is the central strategic leap. It is plausible and supported by interview signals, but it is not yet proven by adoption or retention data.</a:t>
            </a:r>
          </a:p>
        </p:txBody>
      </p:sp>
    </p:spTree>
    <p:extLst>
      <p:ext uri="{BB962C8B-B14F-4D97-AF65-F5344CB8AC3E}">
        <p14:creationId xmlns:p14="http://schemas.microsoft.com/office/powerpoint/2010/main" val="605184663"/>
      </p:ext>
    </p:extLst>
  </p:cSld>
</p:sld>
</file>

<file path=ppt/slides/slide10.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32" name="kicker-10">
            <a:extLst xmlns:a="http://schemas.openxmlformats.org/drawingml/2006/main">
              <a:ext uri="{FF2B5EF4-FFF2-40B4-BE49-F238E27FC236}">
                <a16:creationId xmlns:a16="http://schemas.microsoft.com/office/drawing/2014/main" id="{47480472-F32B-446B-8B0A-9E0336F62CC1}"/>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THEMIS THESIS  /  10</a:t>
            </a:r>
          </a:p>
        </p:txBody>
      </p:sp>
      <p:sp>
        <p:nvSpPr>
          <p:cNvPr id="2" name="title-10">
            <a:extLst xmlns:a="http://schemas.openxmlformats.org/drawingml/2006/main">
              <a:ext uri="{FF2B5EF4-FFF2-40B4-BE49-F238E27FC236}">
                <a16:creationId xmlns:a16="http://schemas.microsoft.com/office/drawing/2014/main" id="{5BEE708B-F765-441F-9026-CA361393610F}"/>
              </a:ext>
            </a:extLst>
          </p:cNvPr>
          <p:cNvSpPr>
            <a:spLocks xmlns:a="http://schemas.openxmlformats.org/drawingml/2006/main" noGrp="1"/>
          </p:cNvSpPr>
          <p:nvPr/>
        </p:nvSpPr>
        <p:spPr>
          <a:xfrm xmlns:a="http://schemas.openxmlformats.org/drawingml/2006/main">
            <a:off x="514350" y="609600"/>
            <a:ext cx="11163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075" b="1" i="0">
                <a:solidFill>
                  <a:srgbClr val="16233F"/>
                </a:solidFill>
                <a:latin typeface="Georgia"/>
                <a:ea typeface="Georgia"/>
                <a:cs typeface="Georgia"/>
              </a:defRPr>
            </a:pPr>
            <a:r>
              <a:rPr sz="3075" b="1" i="0">
                <a:solidFill>
                  <a:srgbClr val="16233F"/>
                </a:solidFill>
                <a:latin typeface="Georgia"/>
                <a:ea typeface="Georgia"/>
                <a:cs typeface="Georgia"/>
              </a:rPr>
              <a:t>We are building on a human thesis, and we should test it directly.</a:t>
            </a:r>
          </a:p>
        </p:txBody>
      </p:sp>
      <p:sp>
        <p:nvSpPr>
          <p:cNvPr id="3" name="s10-assumption-ground">
            <a:extLst xmlns:a="http://schemas.openxmlformats.org/drawingml/2006/main">
              <a:ext uri="{FF2B5EF4-FFF2-40B4-BE49-F238E27FC236}">
                <a16:creationId xmlns:a16="http://schemas.microsoft.com/office/drawing/2014/main" id="{CE25D091-0FEE-4FEB-AF35-9029F23CE6D6}"/>
              </a:ext>
            </a:extLst>
          </p:cNvPr>
          <p:cNvSpPr>
            <a:spLocks xmlns:a="http://schemas.openxmlformats.org/drawingml/2006/main" noGrp="1"/>
          </p:cNvSpPr>
          <p:nvPr/>
        </p:nvSpPr>
        <p:spPr>
          <a:xfrm xmlns:a="http://schemas.openxmlformats.org/drawingml/2006/main">
            <a:off x="514350" y="1466850"/>
            <a:ext cx="11163300" cy="857250"/>
          </a:xfrm>
          <a:prstGeom xmlns:a="http://schemas.openxmlformats.org/drawingml/2006/main" prst="roundRect">
            <a:avLst>
              <a:gd name="adj" fmla="val 8889"/>
            </a:avLst>
          </a:prstGeom>
          <a:solidFill xmlns:a="http://schemas.openxmlformats.org/drawingml/2006/main">
            <a:srgbClr val="3E5F9D"/>
          </a:solidFill>
          <a:ln xmlns:a="http://schemas.openxmlformats.org/drawingml/2006/main" w="0">
            <a:noFill/>
            <a:prstDash val="solid"/>
          </a:ln>
        </p:spPr>
      </p:sp>
      <p:sp>
        <p:nvSpPr>
          <p:cNvPr id="4" name="s10-central-kicker">
            <a:extLst xmlns:a="http://schemas.openxmlformats.org/drawingml/2006/main">
              <a:ext uri="{FF2B5EF4-FFF2-40B4-BE49-F238E27FC236}">
                <a16:creationId xmlns:a16="http://schemas.microsoft.com/office/drawing/2014/main" id="{3F942C8D-351D-4E87-88D9-0E0FCD71F081}"/>
              </a:ext>
            </a:extLst>
          </p:cNvPr>
          <p:cNvSpPr>
            <a:spLocks xmlns:a="http://schemas.openxmlformats.org/drawingml/2006/main" noGrp="1"/>
          </p:cNvSpPr>
          <p:nvPr/>
        </p:nvSpPr>
        <p:spPr>
          <a:xfrm xmlns:a="http://schemas.openxmlformats.org/drawingml/2006/main">
            <a:off x="762000" y="16573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79A2B"/>
                </a:solidFill>
                <a:latin typeface="Arial"/>
                <a:ea typeface="Arial"/>
                <a:cs typeface="Arial"/>
              </a:defRPr>
            </a:pPr>
            <a:r>
              <a:rPr sz="900" b="1" i="0">
                <a:solidFill>
                  <a:srgbClr val="C79A2B"/>
                </a:solidFill>
                <a:latin typeface="Arial"/>
                <a:ea typeface="Arial"/>
                <a:cs typeface="Arial"/>
              </a:rPr>
              <a:t>CENTRAL ASSUMPTION</a:t>
            </a:r>
          </a:p>
        </p:txBody>
      </p:sp>
      <p:sp>
        <p:nvSpPr>
          <p:cNvPr id="5" name="s10-central">
            <a:extLst xmlns:a="http://schemas.openxmlformats.org/drawingml/2006/main">
              <a:ext uri="{FF2B5EF4-FFF2-40B4-BE49-F238E27FC236}">
                <a16:creationId xmlns:a16="http://schemas.microsoft.com/office/drawing/2014/main" id="{1D92932E-78AA-4DFA-AD63-9DACAE9EEB6F}"/>
              </a:ext>
            </a:extLst>
          </p:cNvPr>
          <p:cNvSpPr>
            <a:spLocks xmlns:a="http://schemas.openxmlformats.org/drawingml/2006/main" noGrp="1"/>
          </p:cNvSpPr>
          <p:nvPr/>
        </p:nvSpPr>
        <p:spPr>
          <a:xfrm xmlns:a="http://schemas.openxmlformats.org/drawingml/2006/main">
            <a:off x="2895600" y="1581150"/>
            <a:ext cx="838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i="0">
                <a:solidFill>
                  <a:srgbClr val="FCFAF4"/>
                </a:solidFill>
                <a:latin typeface="Georgia"/>
                <a:ea typeface="Georgia"/>
                <a:cs typeface="Georgia"/>
              </a:defRPr>
            </a:pPr>
            <a:r>
              <a:rPr sz="2025" b="1" i="0">
                <a:solidFill>
                  <a:srgbClr val="FCFAF4"/>
                </a:solidFill>
                <a:latin typeface="Georgia"/>
                <a:ea typeface="Georgia"/>
                <a:cs typeface="Georgia"/>
              </a:rPr>
              <a:t>Lawyers will form trust with software that helps them trust their own judgment.</a:t>
            </a:r>
          </a:p>
        </p:txBody>
      </p:sp>
      <p:sp>
        <p:nvSpPr>
          <p:cNvPr id="6" name="s10-support-kicker">
            <a:extLst xmlns:a="http://schemas.openxmlformats.org/drawingml/2006/main">
              <a:ext uri="{FF2B5EF4-FFF2-40B4-BE49-F238E27FC236}">
                <a16:creationId xmlns:a16="http://schemas.microsoft.com/office/drawing/2014/main" id="{3177DD45-2F13-4F31-A69D-AED1CAF2B2E2}"/>
              </a:ext>
            </a:extLst>
          </p:cNvPr>
          <p:cNvSpPr>
            <a:spLocks xmlns:a="http://schemas.openxmlformats.org/drawingml/2006/main" noGrp="1"/>
          </p:cNvSpPr>
          <p:nvPr/>
        </p:nvSpPr>
        <p:spPr>
          <a:xfrm xmlns:a="http://schemas.openxmlformats.org/drawingml/2006/main">
            <a:off x="514350" y="26098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3E5F9D"/>
                </a:solidFill>
                <a:latin typeface="Arial"/>
                <a:ea typeface="Arial"/>
                <a:cs typeface="Arial"/>
              </a:defRPr>
            </a:pPr>
            <a:r>
              <a:rPr sz="900" b="1" i="0">
                <a:solidFill>
                  <a:srgbClr val="3E5F9D"/>
                </a:solidFill>
                <a:latin typeface="Arial"/>
                <a:ea typeface="Arial"/>
                <a:cs typeface="Arial"/>
              </a:rPr>
              <a:t>SUPPORTING ASSUMPTIONS</a:t>
            </a:r>
          </a:p>
        </p:txBody>
      </p:sp>
      <p:sp>
        <p:nvSpPr>
          <p:cNvPr id="7" name="s10-wrong-kicker">
            <a:extLst xmlns:a="http://schemas.openxmlformats.org/drawingml/2006/main">
              <a:ext uri="{FF2B5EF4-FFF2-40B4-BE49-F238E27FC236}">
                <a16:creationId xmlns:a16="http://schemas.microsoft.com/office/drawing/2014/main" id="{280C80E7-CCF2-4C90-BD9B-9E62ABB31ECE}"/>
              </a:ext>
            </a:extLst>
          </p:cNvPr>
          <p:cNvSpPr>
            <a:spLocks xmlns:a="http://schemas.openxmlformats.org/drawingml/2006/main" noGrp="1"/>
          </p:cNvSpPr>
          <p:nvPr/>
        </p:nvSpPr>
        <p:spPr>
          <a:xfrm xmlns:a="http://schemas.openxmlformats.org/drawingml/2006/main">
            <a:off x="6324600" y="260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86449"/>
                </a:solidFill>
                <a:latin typeface="Arial"/>
                <a:ea typeface="Arial"/>
                <a:cs typeface="Arial"/>
              </a:defRPr>
            </a:pPr>
            <a:r>
              <a:rPr sz="900" b="1" i="0">
                <a:solidFill>
                  <a:srgbClr val="C86449"/>
                </a:solidFill>
                <a:latin typeface="Arial"/>
                <a:ea typeface="Arial"/>
                <a:cs typeface="Arial"/>
              </a:rPr>
              <a:t>WHAT WOULD PROVE THE THESIS WRONG</a:t>
            </a:r>
          </a:p>
        </p:txBody>
      </p:sp>
      <p:sp>
        <p:nvSpPr>
          <p:cNvPr id="8" name="s10-a-0-num">
            <a:extLst xmlns:a="http://schemas.openxmlformats.org/drawingml/2006/main">
              <a:ext uri="{FF2B5EF4-FFF2-40B4-BE49-F238E27FC236}">
                <a16:creationId xmlns:a16="http://schemas.microsoft.com/office/drawing/2014/main" id="{50615932-FED2-43C4-AB1A-D2A4B6FD6EC2}"/>
              </a:ext>
            </a:extLst>
          </p:cNvPr>
          <p:cNvSpPr>
            <a:spLocks xmlns:a="http://schemas.openxmlformats.org/drawingml/2006/main" noGrp="1"/>
          </p:cNvSpPr>
          <p:nvPr/>
        </p:nvSpPr>
        <p:spPr>
          <a:xfrm xmlns:a="http://schemas.openxmlformats.org/drawingml/2006/main">
            <a:off x="514350" y="29527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C86449"/>
                </a:solidFill>
                <a:latin typeface="Arial"/>
                <a:ea typeface="Arial"/>
                <a:cs typeface="Arial"/>
              </a:defRPr>
            </a:pPr>
            <a:r>
              <a:rPr sz="975" b="1" i="0">
                <a:solidFill>
                  <a:srgbClr val="C86449"/>
                </a:solidFill>
                <a:latin typeface="Arial"/>
                <a:ea typeface="Arial"/>
                <a:cs typeface="Arial"/>
              </a:rPr>
              <a:t>01</a:t>
            </a:r>
          </a:p>
        </p:txBody>
      </p:sp>
      <p:sp>
        <p:nvSpPr>
          <p:cNvPr id="9" name="s10-a-0-head">
            <a:extLst xmlns:a="http://schemas.openxmlformats.org/drawingml/2006/main">
              <a:ext uri="{FF2B5EF4-FFF2-40B4-BE49-F238E27FC236}">
                <a16:creationId xmlns:a16="http://schemas.microsoft.com/office/drawing/2014/main" id="{E7959933-4CF2-4BB1-999F-B80BD53DC3F2}"/>
              </a:ext>
            </a:extLst>
          </p:cNvPr>
          <p:cNvSpPr>
            <a:spLocks xmlns:a="http://schemas.openxmlformats.org/drawingml/2006/main" noGrp="1"/>
          </p:cNvSpPr>
          <p:nvPr/>
        </p:nvSpPr>
        <p:spPr>
          <a:xfrm xmlns:a="http://schemas.openxmlformats.org/drawingml/2006/main">
            <a:off x="895350" y="2943225"/>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0" name="s10-a-0-body">
            <a:extLst xmlns:a="http://schemas.openxmlformats.org/drawingml/2006/main">
              <a:ext uri="{FF2B5EF4-FFF2-40B4-BE49-F238E27FC236}">
                <a16:creationId xmlns:a16="http://schemas.microsoft.com/office/drawing/2014/main" id="{77DD394E-05D4-4AF3-8D65-DA87EC274F33}"/>
              </a:ext>
            </a:extLst>
          </p:cNvPr>
          <p:cNvSpPr>
            <a:spLocks xmlns:a="http://schemas.openxmlformats.org/drawingml/2006/main" noGrp="1"/>
          </p:cNvSpPr>
          <p:nvPr/>
        </p:nvSpPr>
        <p:spPr>
          <a:xfrm xmlns:a="http://schemas.openxmlformats.org/drawingml/2006/main">
            <a:off x="895350" y="321945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16233F"/>
                </a:solidFill>
                <a:latin typeface="Arial"/>
                <a:ea typeface="Arial"/>
                <a:cs typeface="Arial"/>
              </a:defRPr>
            </a:pPr>
            <a:r>
              <a:rPr sz="1163" b="0" i="0">
                <a:solidFill>
                  <a:srgbClr val="16233F"/>
                </a:solidFill>
                <a:latin typeface="Arial"/>
                <a:ea typeface="Arial"/>
                <a:cs typeface="Arial"/>
              </a:rPr>
              <a:t>The burden of legal judgment often feels lonely, even for experienced lawyers.</a:t>
            </a:r>
          </a:p>
        </p:txBody>
      </p:sp>
      <p:sp>
        <p:nvSpPr>
          <p:cNvPr id="11" name="s10-a-1-num">
            <a:extLst xmlns:a="http://schemas.openxmlformats.org/drawingml/2006/main">
              <a:ext uri="{FF2B5EF4-FFF2-40B4-BE49-F238E27FC236}">
                <a16:creationId xmlns:a16="http://schemas.microsoft.com/office/drawing/2014/main" id="{D09C611B-4712-4830-94BB-CB3E8C9BC00D}"/>
              </a:ext>
            </a:extLst>
          </p:cNvPr>
          <p:cNvSpPr>
            <a:spLocks xmlns:a="http://schemas.openxmlformats.org/drawingml/2006/main" noGrp="1"/>
          </p:cNvSpPr>
          <p:nvPr/>
        </p:nvSpPr>
        <p:spPr>
          <a:xfrm xmlns:a="http://schemas.openxmlformats.org/drawingml/2006/main">
            <a:off x="514350" y="3505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C86449"/>
                </a:solidFill>
                <a:latin typeface="Arial"/>
                <a:ea typeface="Arial"/>
                <a:cs typeface="Arial"/>
              </a:defRPr>
            </a:pPr>
            <a:r>
              <a:rPr sz="975" b="1" i="0">
                <a:solidFill>
                  <a:srgbClr val="C86449"/>
                </a:solidFill>
                <a:latin typeface="Arial"/>
                <a:ea typeface="Arial"/>
                <a:cs typeface="Arial"/>
              </a:rPr>
              <a:t>02</a:t>
            </a:r>
          </a:p>
        </p:txBody>
      </p:sp>
      <p:sp>
        <p:nvSpPr>
          <p:cNvPr id="12" name="s10-a-1-head">
            <a:extLst xmlns:a="http://schemas.openxmlformats.org/drawingml/2006/main">
              <a:ext uri="{FF2B5EF4-FFF2-40B4-BE49-F238E27FC236}">
                <a16:creationId xmlns:a16="http://schemas.microsoft.com/office/drawing/2014/main" id="{EB37A918-B321-424B-87C1-03BE895230A5}"/>
              </a:ext>
            </a:extLst>
          </p:cNvPr>
          <p:cNvSpPr>
            <a:spLocks xmlns:a="http://schemas.openxmlformats.org/drawingml/2006/main" noGrp="1"/>
          </p:cNvSpPr>
          <p:nvPr/>
        </p:nvSpPr>
        <p:spPr>
          <a:xfrm xmlns:a="http://schemas.openxmlformats.org/drawingml/2006/main">
            <a:off x="895350" y="3495675"/>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3" name="s10-a-1-body">
            <a:extLst xmlns:a="http://schemas.openxmlformats.org/drawingml/2006/main">
              <a:ext uri="{FF2B5EF4-FFF2-40B4-BE49-F238E27FC236}">
                <a16:creationId xmlns:a16="http://schemas.microsoft.com/office/drawing/2014/main" id="{8D32E0BD-9ACB-4934-8789-BEE6A1008EEC}"/>
              </a:ext>
            </a:extLst>
          </p:cNvPr>
          <p:cNvSpPr>
            <a:spLocks xmlns:a="http://schemas.openxmlformats.org/drawingml/2006/main" noGrp="1"/>
          </p:cNvSpPr>
          <p:nvPr/>
        </p:nvSpPr>
        <p:spPr>
          <a:xfrm xmlns:a="http://schemas.openxmlformats.org/drawingml/2006/main">
            <a:off x="895350" y="377190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16233F"/>
                </a:solidFill>
                <a:latin typeface="Arial"/>
                <a:ea typeface="Arial"/>
                <a:cs typeface="Arial"/>
              </a:defRPr>
            </a:pPr>
            <a:r>
              <a:rPr sz="1163" b="0" i="0">
                <a:solidFill>
                  <a:srgbClr val="16233F"/>
                </a:solidFill>
                <a:latin typeface="Arial"/>
                <a:ea typeface="Arial"/>
                <a:cs typeface="Arial"/>
              </a:rPr>
              <a:t>Lawyers value help finding blind spots more than another system that simply states an answer.</a:t>
            </a:r>
          </a:p>
        </p:txBody>
      </p:sp>
      <p:sp>
        <p:nvSpPr>
          <p:cNvPr id="14" name="s10-a-2-num">
            <a:extLst xmlns:a="http://schemas.openxmlformats.org/drawingml/2006/main">
              <a:ext uri="{FF2B5EF4-FFF2-40B4-BE49-F238E27FC236}">
                <a16:creationId xmlns:a16="http://schemas.microsoft.com/office/drawing/2014/main" id="{70160512-60D3-446B-B1DB-58C01B1A9C90}"/>
              </a:ext>
            </a:extLst>
          </p:cNvPr>
          <p:cNvSpPr>
            <a:spLocks xmlns:a="http://schemas.openxmlformats.org/drawingml/2006/main" noGrp="1"/>
          </p:cNvSpPr>
          <p:nvPr/>
        </p:nvSpPr>
        <p:spPr>
          <a:xfrm xmlns:a="http://schemas.openxmlformats.org/drawingml/2006/main">
            <a:off x="514350" y="40576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C86449"/>
                </a:solidFill>
                <a:latin typeface="Arial"/>
                <a:ea typeface="Arial"/>
                <a:cs typeface="Arial"/>
              </a:defRPr>
            </a:pPr>
            <a:r>
              <a:rPr sz="975" b="1" i="0">
                <a:solidFill>
                  <a:srgbClr val="C86449"/>
                </a:solidFill>
                <a:latin typeface="Arial"/>
                <a:ea typeface="Arial"/>
                <a:cs typeface="Arial"/>
              </a:rPr>
              <a:t>03</a:t>
            </a:r>
          </a:p>
        </p:txBody>
      </p:sp>
      <p:sp>
        <p:nvSpPr>
          <p:cNvPr id="15" name="s10-a-2-head">
            <a:extLst xmlns:a="http://schemas.openxmlformats.org/drawingml/2006/main">
              <a:ext uri="{FF2B5EF4-FFF2-40B4-BE49-F238E27FC236}">
                <a16:creationId xmlns:a16="http://schemas.microsoft.com/office/drawing/2014/main" id="{6ADB3D58-0833-494B-B968-1F9F781564D2}"/>
              </a:ext>
            </a:extLst>
          </p:cNvPr>
          <p:cNvSpPr>
            <a:spLocks xmlns:a="http://schemas.openxmlformats.org/drawingml/2006/main" noGrp="1"/>
          </p:cNvSpPr>
          <p:nvPr/>
        </p:nvSpPr>
        <p:spPr>
          <a:xfrm xmlns:a="http://schemas.openxmlformats.org/drawingml/2006/main">
            <a:off x="895350" y="4048125"/>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 name="s10-a-2-body">
            <a:extLst xmlns:a="http://schemas.openxmlformats.org/drawingml/2006/main">
              <a:ext uri="{FF2B5EF4-FFF2-40B4-BE49-F238E27FC236}">
                <a16:creationId xmlns:a16="http://schemas.microsoft.com/office/drawing/2014/main" id="{AB4B2300-A180-4E79-B9AF-E6D4FE845DE3}"/>
              </a:ext>
            </a:extLst>
          </p:cNvPr>
          <p:cNvSpPr>
            <a:spLocks xmlns:a="http://schemas.openxmlformats.org/drawingml/2006/main" noGrp="1"/>
          </p:cNvSpPr>
          <p:nvPr/>
        </p:nvSpPr>
        <p:spPr>
          <a:xfrm xmlns:a="http://schemas.openxmlformats.org/drawingml/2006/main">
            <a:off x="895350" y="432435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16233F"/>
                </a:solidFill>
                <a:latin typeface="Arial"/>
                <a:ea typeface="Arial"/>
                <a:cs typeface="Arial"/>
              </a:defRPr>
            </a:pPr>
            <a:r>
              <a:rPr sz="1163" b="0" i="0">
                <a:solidFill>
                  <a:srgbClr val="16233F"/>
                </a:solidFill>
                <a:latin typeface="Arial"/>
                <a:ea typeface="Arial"/>
                <a:cs typeface="Arial"/>
              </a:rPr>
              <a:t>Confidence grows when the lawyer can see the reasoning, assumptions, sources, and remaining uncertainty.</a:t>
            </a:r>
          </a:p>
        </p:txBody>
      </p:sp>
      <p:sp>
        <p:nvSpPr>
          <p:cNvPr id="17" name="s10-a-3-num">
            <a:extLst xmlns:a="http://schemas.openxmlformats.org/drawingml/2006/main">
              <a:ext uri="{FF2B5EF4-FFF2-40B4-BE49-F238E27FC236}">
                <a16:creationId xmlns:a16="http://schemas.microsoft.com/office/drawing/2014/main" id="{F28689E5-465B-4CBA-A45F-52DA2AF12B82}"/>
              </a:ext>
            </a:extLst>
          </p:cNvPr>
          <p:cNvSpPr>
            <a:spLocks xmlns:a="http://schemas.openxmlformats.org/drawingml/2006/main" noGrp="1"/>
          </p:cNvSpPr>
          <p:nvPr/>
        </p:nvSpPr>
        <p:spPr>
          <a:xfrm xmlns:a="http://schemas.openxmlformats.org/drawingml/2006/main">
            <a:off x="514350" y="46101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C86449"/>
                </a:solidFill>
                <a:latin typeface="Arial"/>
                <a:ea typeface="Arial"/>
                <a:cs typeface="Arial"/>
              </a:defRPr>
            </a:pPr>
            <a:r>
              <a:rPr sz="975" b="1" i="0">
                <a:solidFill>
                  <a:srgbClr val="C86449"/>
                </a:solidFill>
                <a:latin typeface="Arial"/>
                <a:ea typeface="Arial"/>
                <a:cs typeface="Arial"/>
              </a:rPr>
              <a:t>04</a:t>
            </a:r>
          </a:p>
        </p:txBody>
      </p:sp>
      <p:sp>
        <p:nvSpPr>
          <p:cNvPr id="18" name="s10-a-3-head">
            <a:extLst xmlns:a="http://schemas.openxmlformats.org/drawingml/2006/main">
              <a:ext uri="{FF2B5EF4-FFF2-40B4-BE49-F238E27FC236}">
                <a16:creationId xmlns:a16="http://schemas.microsoft.com/office/drawing/2014/main" id="{01A92B38-561A-431D-B260-6A51024B3110}"/>
              </a:ext>
            </a:extLst>
          </p:cNvPr>
          <p:cNvSpPr>
            <a:spLocks xmlns:a="http://schemas.openxmlformats.org/drawingml/2006/main" noGrp="1"/>
          </p:cNvSpPr>
          <p:nvPr/>
        </p:nvSpPr>
        <p:spPr>
          <a:xfrm xmlns:a="http://schemas.openxmlformats.org/drawingml/2006/main">
            <a:off x="895350" y="4600575"/>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9" name="s10-a-3-body">
            <a:extLst xmlns:a="http://schemas.openxmlformats.org/drawingml/2006/main">
              <a:ext uri="{FF2B5EF4-FFF2-40B4-BE49-F238E27FC236}">
                <a16:creationId xmlns:a16="http://schemas.microsoft.com/office/drawing/2014/main" id="{F9767D24-3125-480C-A226-8048D57B31B9}"/>
              </a:ext>
            </a:extLst>
          </p:cNvPr>
          <p:cNvSpPr>
            <a:spLocks xmlns:a="http://schemas.openxmlformats.org/drawingml/2006/main" noGrp="1"/>
          </p:cNvSpPr>
          <p:nvPr/>
        </p:nvSpPr>
        <p:spPr>
          <a:xfrm xmlns:a="http://schemas.openxmlformats.org/drawingml/2006/main">
            <a:off x="895350" y="487680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16233F"/>
                </a:solidFill>
                <a:latin typeface="Arial"/>
                <a:ea typeface="Arial"/>
                <a:cs typeface="Arial"/>
              </a:defRPr>
            </a:pPr>
            <a:r>
              <a:rPr sz="1163" b="0" i="0">
                <a:solidFill>
                  <a:srgbClr val="16233F"/>
                </a:solidFill>
                <a:latin typeface="Arial"/>
                <a:ea typeface="Arial"/>
                <a:cs typeface="Arial"/>
              </a:rPr>
              <a:t>Persistent matter context and reflective dialogue can turn usefulness into repeat use and trust.</a:t>
            </a:r>
          </a:p>
        </p:txBody>
      </p:sp>
      <p:sp>
        <p:nvSpPr>
          <p:cNvPr id="20" name="s10-wrong-mark-0">
            <a:extLst xmlns:a="http://schemas.openxmlformats.org/drawingml/2006/main">
              <a:ext uri="{FF2B5EF4-FFF2-40B4-BE49-F238E27FC236}">
                <a16:creationId xmlns:a16="http://schemas.microsoft.com/office/drawing/2014/main" id="{3A603FB7-AC77-4942-86BA-855C575C4BA5}"/>
              </a:ext>
            </a:extLst>
          </p:cNvPr>
          <p:cNvSpPr>
            <a:spLocks xmlns:a="http://schemas.openxmlformats.org/drawingml/2006/main" noGrp="1"/>
          </p:cNvSpPr>
          <p:nvPr/>
        </p:nvSpPr>
        <p:spPr>
          <a:xfrm xmlns:a="http://schemas.openxmlformats.org/drawingml/2006/main">
            <a:off x="6324600" y="29718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86449"/>
                </a:solidFill>
                <a:latin typeface="Arial"/>
                <a:ea typeface="Arial"/>
                <a:cs typeface="Arial"/>
              </a:defRPr>
            </a:pPr>
            <a:r>
              <a:rPr sz="1200" b="1" i="0">
                <a:solidFill>
                  <a:srgbClr val="C86449"/>
                </a:solidFill>
                <a:latin typeface="Arial"/>
                <a:ea typeface="Arial"/>
                <a:cs typeface="Arial"/>
              </a:rPr>
              <a:t>—</a:t>
            </a:r>
          </a:p>
        </p:txBody>
      </p:sp>
      <p:sp>
        <p:nvSpPr>
          <p:cNvPr id="21" name="s10-wrong-0">
            <a:extLst xmlns:a="http://schemas.openxmlformats.org/drawingml/2006/main">
              <a:ext uri="{FF2B5EF4-FFF2-40B4-BE49-F238E27FC236}">
                <a16:creationId xmlns:a16="http://schemas.microsoft.com/office/drawing/2014/main" id="{F9016BEB-7E29-4602-8DE2-2C10C53BD3F7}"/>
              </a:ext>
            </a:extLst>
          </p:cNvPr>
          <p:cNvSpPr>
            <a:spLocks xmlns:a="http://schemas.openxmlformats.org/drawingml/2006/main" noGrp="1"/>
          </p:cNvSpPr>
          <p:nvPr/>
        </p:nvSpPr>
        <p:spPr>
          <a:xfrm xmlns:a="http://schemas.openxmlformats.org/drawingml/2006/main">
            <a:off x="6648450" y="29241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163" b="0" i="0">
                <a:solidFill>
                  <a:srgbClr val="16233F"/>
                </a:solidFill>
                <a:latin typeface="Arial"/>
                <a:ea typeface="Arial"/>
                <a:cs typeface="Arial"/>
              </a:defRPr>
            </a:pPr>
            <a:r>
              <a:rPr sz="1163" b="0" i="0">
                <a:solidFill>
                  <a:srgbClr val="16233F"/>
                </a:solidFill>
                <a:latin typeface="Arial"/>
                <a:ea typeface="Arial"/>
                <a:cs typeface="Arial"/>
              </a:rPr>
              <a:t>Users value output speed but do not value the process that supports judgment.</a:t>
            </a:r>
          </a:p>
        </p:txBody>
      </p:sp>
      <p:sp>
        <p:nvSpPr>
          <p:cNvPr id="22" name="s10-wrong-mark-1">
            <a:extLst xmlns:a="http://schemas.openxmlformats.org/drawingml/2006/main">
              <a:ext uri="{FF2B5EF4-FFF2-40B4-BE49-F238E27FC236}">
                <a16:creationId xmlns:a16="http://schemas.microsoft.com/office/drawing/2014/main" id="{98F0D16F-9C8C-4E99-A1CC-D4D58B8C3DDA}"/>
              </a:ext>
            </a:extLst>
          </p:cNvPr>
          <p:cNvSpPr>
            <a:spLocks xmlns:a="http://schemas.openxmlformats.org/drawingml/2006/main" noGrp="1"/>
          </p:cNvSpPr>
          <p:nvPr/>
        </p:nvSpPr>
        <p:spPr>
          <a:xfrm xmlns:a="http://schemas.openxmlformats.org/drawingml/2006/main">
            <a:off x="6324600" y="35242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86449"/>
                </a:solidFill>
                <a:latin typeface="Arial"/>
                <a:ea typeface="Arial"/>
                <a:cs typeface="Arial"/>
              </a:defRPr>
            </a:pPr>
            <a:r>
              <a:rPr sz="1200" b="1" i="0">
                <a:solidFill>
                  <a:srgbClr val="C86449"/>
                </a:solidFill>
                <a:latin typeface="Arial"/>
                <a:ea typeface="Arial"/>
                <a:cs typeface="Arial"/>
              </a:rPr>
              <a:t>—</a:t>
            </a:r>
          </a:p>
        </p:txBody>
      </p:sp>
      <p:sp>
        <p:nvSpPr>
          <p:cNvPr id="23" name="s10-wrong-1">
            <a:extLst xmlns:a="http://schemas.openxmlformats.org/drawingml/2006/main">
              <a:ext uri="{FF2B5EF4-FFF2-40B4-BE49-F238E27FC236}">
                <a16:creationId xmlns:a16="http://schemas.microsoft.com/office/drawing/2014/main" id="{55232DE4-9DC8-48FD-A40F-93C7E81923E7}"/>
              </a:ext>
            </a:extLst>
          </p:cNvPr>
          <p:cNvSpPr>
            <a:spLocks xmlns:a="http://schemas.openxmlformats.org/drawingml/2006/main" noGrp="1"/>
          </p:cNvSpPr>
          <p:nvPr/>
        </p:nvSpPr>
        <p:spPr>
          <a:xfrm xmlns:a="http://schemas.openxmlformats.org/drawingml/2006/main">
            <a:off x="6648450" y="34766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163" b="0" i="0">
                <a:solidFill>
                  <a:srgbClr val="16233F"/>
                </a:solidFill>
                <a:latin typeface="Arial"/>
                <a:ea typeface="Arial"/>
                <a:cs typeface="Arial"/>
              </a:defRPr>
            </a:pPr>
            <a:r>
              <a:rPr sz="1163" b="0" i="0">
                <a:solidFill>
                  <a:srgbClr val="16233F"/>
                </a:solidFill>
                <a:latin typeface="Arial"/>
                <a:ea typeface="Arial"/>
                <a:cs typeface="Arial"/>
              </a:rPr>
              <a:t>Lawyers routinely skip the issue map, questions, uncertainty, and decision history.</a:t>
            </a:r>
          </a:p>
        </p:txBody>
      </p:sp>
      <p:sp>
        <p:nvSpPr>
          <p:cNvPr id="24" name="s10-wrong-mark-2">
            <a:extLst xmlns:a="http://schemas.openxmlformats.org/drawingml/2006/main">
              <a:ext uri="{FF2B5EF4-FFF2-40B4-BE49-F238E27FC236}">
                <a16:creationId xmlns:a16="http://schemas.microsoft.com/office/drawing/2014/main" id="{B1301316-2956-4A5B-B240-26C42908A8FD}"/>
              </a:ext>
            </a:extLst>
          </p:cNvPr>
          <p:cNvSpPr>
            <a:spLocks xmlns:a="http://schemas.openxmlformats.org/drawingml/2006/main" noGrp="1"/>
          </p:cNvSpPr>
          <p:nvPr/>
        </p:nvSpPr>
        <p:spPr>
          <a:xfrm xmlns:a="http://schemas.openxmlformats.org/drawingml/2006/main">
            <a:off x="6324600" y="40767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86449"/>
                </a:solidFill>
                <a:latin typeface="Arial"/>
                <a:ea typeface="Arial"/>
                <a:cs typeface="Arial"/>
              </a:defRPr>
            </a:pPr>
            <a:r>
              <a:rPr sz="1200" b="1" i="0">
                <a:solidFill>
                  <a:srgbClr val="C86449"/>
                </a:solidFill>
                <a:latin typeface="Arial"/>
                <a:ea typeface="Arial"/>
                <a:cs typeface="Arial"/>
              </a:rPr>
              <a:t>—</a:t>
            </a:r>
          </a:p>
        </p:txBody>
      </p:sp>
      <p:sp>
        <p:nvSpPr>
          <p:cNvPr id="25" name="s10-wrong-2">
            <a:extLst xmlns:a="http://schemas.openxmlformats.org/drawingml/2006/main">
              <a:ext uri="{FF2B5EF4-FFF2-40B4-BE49-F238E27FC236}">
                <a16:creationId xmlns:a16="http://schemas.microsoft.com/office/drawing/2014/main" id="{79971385-38FB-44F9-898B-15F39A6F7EE9}"/>
              </a:ext>
            </a:extLst>
          </p:cNvPr>
          <p:cNvSpPr>
            <a:spLocks xmlns:a="http://schemas.openxmlformats.org/drawingml/2006/main" noGrp="1"/>
          </p:cNvSpPr>
          <p:nvPr/>
        </p:nvSpPr>
        <p:spPr>
          <a:xfrm xmlns:a="http://schemas.openxmlformats.org/drawingml/2006/main">
            <a:off x="6648450" y="40290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163" b="0" i="0">
                <a:solidFill>
                  <a:srgbClr val="16233F"/>
                </a:solidFill>
                <a:latin typeface="Arial"/>
                <a:ea typeface="Arial"/>
                <a:cs typeface="Arial"/>
              </a:defRPr>
            </a:pPr>
            <a:r>
              <a:rPr sz="1163" b="0" i="0">
                <a:solidFill>
                  <a:srgbClr val="16233F"/>
                </a:solidFill>
                <a:latin typeface="Arial"/>
                <a:ea typeface="Arial"/>
                <a:cs typeface="Arial"/>
              </a:rPr>
              <a:t>Users do not return to existing matters or value preserved context.</a:t>
            </a:r>
          </a:p>
        </p:txBody>
      </p:sp>
      <p:sp>
        <p:nvSpPr>
          <p:cNvPr id="26" name="s10-wrong-mark-3">
            <a:extLst xmlns:a="http://schemas.openxmlformats.org/drawingml/2006/main">
              <a:ext uri="{FF2B5EF4-FFF2-40B4-BE49-F238E27FC236}">
                <a16:creationId xmlns:a16="http://schemas.microsoft.com/office/drawing/2014/main" id="{C121DEAE-3692-4968-AD04-6E700C7233F0}"/>
              </a:ext>
            </a:extLst>
          </p:cNvPr>
          <p:cNvSpPr>
            <a:spLocks xmlns:a="http://schemas.openxmlformats.org/drawingml/2006/main" noGrp="1"/>
          </p:cNvSpPr>
          <p:nvPr/>
        </p:nvSpPr>
        <p:spPr>
          <a:xfrm xmlns:a="http://schemas.openxmlformats.org/drawingml/2006/main">
            <a:off x="6324600" y="46291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86449"/>
                </a:solidFill>
                <a:latin typeface="Arial"/>
                <a:ea typeface="Arial"/>
                <a:cs typeface="Arial"/>
              </a:defRPr>
            </a:pPr>
            <a:r>
              <a:rPr sz="1200" b="1" i="0">
                <a:solidFill>
                  <a:srgbClr val="C86449"/>
                </a:solidFill>
                <a:latin typeface="Arial"/>
                <a:ea typeface="Arial"/>
                <a:cs typeface="Arial"/>
              </a:rPr>
              <a:t>—</a:t>
            </a:r>
          </a:p>
        </p:txBody>
      </p:sp>
      <p:sp>
        <p:nvSpPr>
          <p:cNvPr id="27" name="s10-wrong-3">
            <a:extLst xmlns:a="http://schemas.openxmlformats.org/drawingml/2006/main">
              <a:ext uri="{FF2B5EF4-FFF2-40B4-BE49-F238E27FC236}">
                <a16:creationId xmlns:a16="http://schemas.microsoft.com/office/drawing/2014/main" id="{FF2337DE-8E51-4D3A-B390-E66306FE2AB1}"/>
              </a:ext>
            </a:extLst>
          </p:cNvPr>
          <p:cNvSpPr>
            <a:spLocks xmlns:a="http://schemas.openxmlformats.org/drawingml/2006/main" noGrp="1"/>
          </p:cNvSpPr>
          <p:nvPr/>
        </p:nvSpPr>
        <p:spPr>
          <a:xfrm xmlns:a="http://schemas.openxmlformats.org/drawingml/2006/main">
            <a:off x="6648450" y="45815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163" b="0" i="0">
                <a:solidFill>
                  <a:srgbClr val="16233F"/>
                </a:solidFill>
                <a:latin typeface="Arial"/>
                <a:ea typeface="Arial"/>
                <a:cs typeface="Arial"/>
              </a:defRPr>
            </a:pPr>
            <a:r>
              <a:rPr sz="1163" b="0" i="0">
                <a:solidFill>
                  <a:srgbClr val="16233F"/>
                </a:solidFill>
                <a:latin typeface="Arial"/>
                <a:ea typeface="Arial"/>
                <a:cs typeface="Arial"/>
              </a:rPr>
              <a:t>Lawyers feel no more prepared to make or defend the call after using Themis—or find general-purpose AI “good enough.”</a:t>
            </a:r>
          </a:p>
        </p:txBody>
      </p:sp>
      <p:sp>
        <p:nvSpPr>
          <p:cNvPr id="28" name="s10-bottom">
            <a:extLst xmlns:a="http://schemas.openxmlformats.org/drawingml/2006/main">
              <a:ext uri="{FF2B5EF4-FFF2-40B4-BE49-F238E27FC236}">
                <a16:creationId xmlns:a16="http://schemas.microsoft.com/office/drawing/2014/main" id="{ED8A2464-2027-4ECA-9018-2AF89C8010AC}"/>
              </a:ext>
            </a:extLst>
          </p:cNvPr>
          <p:cNvSpPr>
            <a:spLocks xmlns:a="http://schemas.openxmlformats.org/drawingml/2006/main" noGrp="1"/>
          </p:cNvSpPr>
          <p:nvPr/>
        </p:nvSpPr>
        <p:spPr>
          <a:xfrm xmlns:a="http://schemas.openxmlformats.org/drawingml/2006/main">
            <a:off x="0" y="5334000"/>
            <a:ext cx="12192000" cy="1524000"/>
          </a:xfrm>
          <a:prstGeom xmlns:a="http://schemas.openxmlformats.org/drawingml/2006/main" prst="rect">
            <a:avLst/>
          </a:prstGeom>
          <a:solidFill xmlns:a="http://schemas.openxmlformats.org/drawingml/2006/main">
            <a:srgbClr val="16233F"/>
          </a:solidFill>
          <a:ln xmlns:a="http://schemas.openxmlformats.org/drawingml/2006/main" w="0">
            <a:noFill/>
            <a:prstDash val="solid"/>
          </a:ln>
        </p:spPr>
      </p:sp>
      <p:sp>
        <p:nvSpPr>
          <p:cNvPr id="29" name="s10-closing">
            <a:extLst xmlns:a="http://schemas.openxmlformats.org/drawingml/2006/main">
              <a:ext uri="{FF2B5EF4-FFF2-40B4-BE49-F238E27FC236}">
                <a16:creationId xmlns:a16="http://schemas.microsoft.com/office/drawing/2014/main" id="{7AE36BB7-58DB-4C34-8AF4-284DF08F50C9}"/>
              </a:ext>
            </a:extLst>
          </p:cNvPr>
          <p:cNvSpPr>
            <a:spLocks xmlns:a="http://schemas.openxmlformats.org/drawingml/2006/main" noGrp="1"/>
          </p:cNvSpPr>
          <p:nvPr/>
        </p:nvSpPr>
        <p:spPr>
          <a:xfrm xmlns:a="http://schemas.openxmlformats.org/drawingml/2006/main">
            <a:off x="514350" y="558165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725" b="1" i="0">
                <a:solidFill>
                  <a:srgbClr val="FCFAF4"/>
                </a:solidFill>
                <a:latin typeface="Georgia"/>
                <a:ea typeface="Georgia"/>
                <a:cs typeface="Georgia"/>
              </a:defRPr>
            </a:pPr>
            <a:r>
              <a:rPr sz="1725" b="1" i="0">
                <a:solidFill>
                  <a:srgbClr val="FCFAF4"/>
                </a:solidFill>
                <a:latin typeface="Georgia"/>
                <a:ea typeface="Georgia"/>
                <a:cs typeface="Georgia"/>
              </a:rPr>
              <a:t>Themis wins only if lawyers choose to keep it beside them when the judgment matters.</a:t>
            </a:r>
          </a:p>
        </p:txBody>
      </p:sp>
      <p:sp>
        <p:nvSpPr>
          <p:cNvPr id="30" name="s10-near-kicker">
            <a:extLst xmlns:a="http://schemas.openxmlformats.org/drawingml/2006/main">
              <a:ext uri="{FF2B5EF4-FFF2-40B4-BE49-F238E27FC236}">
                <a16:creationId xmlns:a16="http://schemas.microsoft.com/office/drawing/2014/main" id="{5C46F45D-938D-434F-94CC-F80384059E83}"/>
              </a:ext>
            </a:extLst>
          </p:cNvPr>
          <p:cNvSpPr>
            <a:spLocks xmlns:a="http://schemas.openxmlformats.org/drawingml/2006/main" noGrp="1"/>
          </p:cNvSpPr>
          <p:nvPr/>
        </p:nvSpPr>
        <p:spPr>
          <a:xfrm xmlns:a="http://schemas.openxmlformats.org/drawingml/2006/main">
            <a:off x="6324600" y="55816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79A2B"/>
                </a:solidFill>
                <a:latin typeface="Arial"/>
                <a:ea typeface="Arial"/>
                <a:cs typeface="Arial"/>
              </a:defRPr>
            </a:pPr>
            <a:r>
              <a:rPr sz="900" b="1" i="0">
                <a:solidFill>
                  <a:srgbClr val="C79A2B"/>
                </a:solidFill>
                <a:latin typeface="Arial"/>
                <a:ea typeface="Arial"/>
                <a:cs typeface="Arial"/>
              </a:rPr>
              <a:t>NEAR-TERM PROOF</a:t>
            </a:r>
          </a:p>
        </p:txBody>
      </p:sp>
      <p:sp>
        <p:nvSpPr>
          <p:cNvPr id="31" name="s10-near">
            <a:extLst xmlns:a="http://schemas.openxmlformats.org/drawingml/2006/main">
              <a:ext uri="{FF2B5EF4-FFF2-40B4-BE49-F238E27FC236}">
                <a16:creationId xmlns:a16="http://schemas.microsoft.com/office/drawing/2014/main" id="{2CC91372-0FBA-4E22-A66B-CB4F2A90D84F}"/>
              </a:ext>
            </a:extLst>
          </p:cNvPr>
          <p:cNvSpPr>
            <a:spLocks xmlns:a="http://schemas.openxmlformats.org/drawingml/2006/main" noGrp="1"/>
          </p:cNvSpPr>
          <p:nvPr/>
        </p:nvSpPr>
        <p:spPr>
          <a:xfrm xmlns:a="http://schemas.openxmlformats.org/drawingml/2006/main">
            <a:off x="6324600" y="586740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FCFAF4"/>
                </a:solidFill>
                <a:latin typeface="Arial"/>
                <a:ea typeface="Arial"/>
                <a:cs typeface="Arial"/>
              </a:defRPr>
            </a:pPr>
            <a:r>
              <a:rPr sz="1088" b="0" i="0">
                <a:solidFill>
                  <a:srgbClr val="FCFAF4"/>
                </a:solidFill>
                <a:latin typeface="Arial"/>
                <a:ea typeface="Arial"/>
                <a:cs typeface="Arial"/>
              </a:rPr>
              <a:t>The next stage is not to prove that Themis can generate legal work. It is to measure whether lawyers return to it for consequential matters, discover issues they would otherwise have missed, and feel more ready to make and defend the call.</a:t>
            </a:r>
          </a:p>
        </p:txBody>
      </p:sp>
    </p:spTree>
    <p:extLst>
      <p:ext uri="{BB962C8B-B14F-4D97-AF65-F5344CB8AC3E}">
        <p14:creationId xmlns:p14="http://schemas.microsoft.com/office/powerpoint/2010/main" val="1622607304"/>
      </p:ext>
    </p:extLst>
  </p:cSld>
</p:sld>
</file>

<file path=ppt/slides/slide11.xml><?xml version="1.0" encoding="utf-8"?>
<p:sld xmlns:p="http://schemas.openxmlformats.org/presentationml/2006/main">
  <p:cSld>
    <p:bg>
      <p:bgPr>
        <a:solidFill xmlns:a="http://schemas.openxmlformats.org/drawingml/2006/main">
          <a:srgbClr val="223154"/>
        </a:solidFill>
      </p:bgPr>
    </p:bg>
    <p:spTree>
      <p:nvGrpSpPr>
        <p:cNvPr id="1" name=""/>
        <p:cNvGrpSpPr/>
        <p:nvPr/>
      </p:nvGrpSpPr>
      <p:grpSpPr>
        <a:xfrm xmlns:a="http://schemas.openxmlformats.org/drawingml/2006/main"/>
      </p:grpSpPr>
      <p:sp>
        <p:nvSpPr>
          <p:cNvPr id="38" name="appendix-kicker">
            <a:extLst xmlns:a="http://schemas.openxmlformats.org/drawingml/2006/main">
              <a:ext uri="{FF2B5EF4-FFF2-40B4-BE49-F238E27FC236}">
                <a16:creationId xmlns:a16="http://schemas.microsoft.com/office/drawing/2014/main" id="{3A63ABC9-B1F9-4176-B416-4A804F19A104}"/>
              </a:ext>
            </a:extLst>
          </p:cNvPr>
          <p:cNvSpPr>
            <a:spLocks xmlns:a="http://schemas.openxmlformats.org/drawingml/2006/main" noGrp="1"/>
          </p:cNvSpPr>
          <p:nvPr/>
        </p:nvSpPr>
        <p:spPr>
          <a:xfrm xmlns:a="http://schemas.openxmlformats.org/drawingml/2006/main">
            <a:off x="514350" y="361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C79A2B"/>
                </a:solidFill>
                <a:latin typeface="Arial"/>
                <a:ea typeface="Arial"/>
                <a:cs typeface="Arial"/>
              </a:defRPr>
            </a:pPr>
            <a:r>
              <a:rPr sz="900" b="1" i="0">
                <a:solidFill>
                  <a:srgbClr val="C79A2B"/>
                </a:solidFill>
                <a:latin typeface="Arial"/>
                <a:ea typeface="Arial"/>
                <a:cs typeface="Arial"/>
              </a:rPr>
              <a:t>APPENDIX</a:t>
            </a:r>
          </a:p>
        </p:txBody>
      </p:sp>
      <p:sp>
        <p:nvSpPr>
          <p:cNvPr id="2" name="appendix-title">
            <a:extLst xmlns:a="http://schemas.openxmlformats.org/drawingml/2006/main">
              <a:ext uri="{FF2B5EF4-FFF2-40B4-BE49-F238E27FC236}">
                <a16:creationId xmlns:a16="http://schemas.microsoft.com/office/drawing/2014/main" id="{C3DA0CAC-F832-47D7-BABC-56E49F662EBB}"/>
              </a:ext>
            </a:extLst>
          </p:cNvPr>
          <p:cNvSpPr>
            <a:spLocks xmlns:a="http://schemas.openxmlformats.org/drawingml/2006/main" noGrp="1"/>
          </p:cNvSpPr>
          <p:nvPr/>
        </p:nvSpPr>
        <p:spPr>
          <a:xfrm xmlns:a="http://schemas.openxmlformats.org/drawingml/2006/main">
            <a:off x="514350" y="68580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00" b="1" i="0">
                <a:solidFill>
                  <a:srgbClr val="FCFAF4"/>
                </a:solidFill>
                <a:latin typeface="Georgia"/>
                <a:ea typeface="Georgia"/>
                <a:cs typeface="Georgia"/>
              </a:defRPr>
            </a:pPr>
            <a:r>
              <a:rPr sz="3600" b="1" i="0">
                <a:solidFill>
                  <a:srgbClr val="FCFAF4"/>
                </a:solidFill>
                <a:latin typeface="Georgia"/>
                <a:ea typeface="Georgia"/>
                <a:cs typeface="Georgia"/>
              </a:rPr>
              <a:t>Evidence map</a:t>
            </a:r>
          </a:p>
        </p:txBody>
      </p:sp>
      <p:sp>
        <p:nvSpPr>
          <p:cNvPr id="3" name="appendix-card-0">
            <a:extLst xmlns:a="http://schemas.openxmlformats.org/drawingml/2006/main">
              <a:ext uri="{FF2B5EF4-FFF2-40B4-BE49-F238E27FC236}">
                <a16:creationId xmlns:a16="http://schemas.microsoft.com/office/drawing/2014/main" id="{89A4DFE0-DEF6-4D3D-94CB-E077657CCB49}"/>
              </a:ext>
            </a:extLst>
          </p:cNvPr>
          <p:cNvSpPr>
            <a:spLocks xmlns:a="http://schemas.openxmlformats.org/drawingml/2006/main" noGrp="1"/>
          </p:cNvSpPr>
          <p:nvPr/>
        </p:nvSpPr>
        <p:spPr>
          <a:xfrm xmlns:a="http://schemas.openxmlformats.org/drawingml/2006/main">
            <a:off x="514350" y="1752600"/>
            <a:ext cx="3390900" cy="4267200"/>
          </a:xfrm>
          <a:prstGeom xmlns:a="http://schemas.openxmlformats.org/drawingml/2006/main" prst="roundRect">
            <a:avLst>
              <a:gd name="adj" fmla="val 2247"/>
            </a:avLst>
          </a:prstGeom>
          <a:solidFill xmlns:a="http://schemas.openxmlformats.org/drawingml/2006/main">
            <a:srgbClr val="FCFAF4"/>
          </a:solidFill>
          <a:ln xmlns:a="http://schemas.openxmlformats.org/drawingml/2006/main" w="0">
            <a:noFill/>
            <a:prstDash val="solid"/>
          </a:ln>
        </p:spPr>
      </p:sp>
      <p:sp>
        <p:nvSpPr>
          <p:cNvPr id="4" name="appendix-card-top-0">
            <a:extLst xmlns:a="http://schemas.openxmlformats.org/drawingml/2006/main">
              <a:ext uri="{FF2B5EF4-FFF2-40B4-BE49-F238E27FC236}">
                <a16:creationId xmlns:a16="http://schemas.microsoft.com/office/drawing/2014/main" id="{D36E09C5-9419-47FF-8EBD-D3FFF159A7AC}"/>
              </a:ext>
            </a:extLst>
          </p:cNvPr>
          <p:cNvSpPr>
            <a:spLocks xmlns:a="http://schemas.openxmlformats.org/drawingml/2006/main" noGrp="1"/>
          </p:cNvSpPr>
          <p:nvPr/>
        </p:nvSpPr>
        <p:spPr>
          <a:xfrm xmlns:a="http://schemas.openxmlformats.org/drawingml/2006/main">
            <a:off x="514350" y="1752600"/>
            <a:ext cx="3390900" cy="133350"/>
          </a:xfrm>
          <a:prstGeom xmlns:a="http://schemas.openxmlformats.org/drawingml/2006/main" prst="rect">
            <a:avLst/>
          </a:prstGeom>
          <a:solidFill xmlns:a="http://schemas.openxmlformats.org/drawingml/2006/main">
            <a:srgbClr val="C79A2B"/>
          </a:solidFill>
          <a:ln xmlns:a="http://schemas.openxmlformats.org/drawingml/2006/main" w="0">
            <a:noFill/>
            <a:prstDash val="solid"/>
          </a:ln>
        </p:spPr>
      </p:sp>
      <p:sp>
        <p:nvSpPr>
          <p:cNvPr id="5" name="appendix-head-0">
            <a:extLst xmlns:a="http://schemas.openxmlformats.org/drawingml/2006/main">
              <a:ext uri="{FF2B5EF4-FFF2-40B4-BE49-F238E27FC236}">
                <a16:creationId xmlns:a16="http://schemas.microsoft.com/office/drawing/2014/main" id="{2C330A11-B796-427E-B22F-7D54DD7A8430}"/>
              </a:ext>
            </a:extLst>
          </p:cNvPr>
          <p:cNvSpPr>
            <a:spLocks xmlns:a="http://schemas.openxmlformats.org/drawingml/2006/main" noGrp="1"/>
          </p:cNvSpPr>
          <p:nvPr/>
        </p:nvSpPr>
        <p:spPr>
          <a:xfrm xmlns:a="http://schemas.openxmlformats.org/drawingml/2006/main">
            <a:off x="742950" y="2057400"/>
            <a:ext cx="2933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16233F"/>
                </a:solidFill>
                <a:latin typeface="Georgia"/>
                <a:ea typeface="Georgia"/>
                <a:cs typeface="Georgia"/>
              </a:defRPr>
            </a:pPr>
            <a:r>
              <a:rPr sz="1650" b="1" i="0">
                <a:solidFill>
                  <a:srgbClr val="16233F"/>
                </a:solidFill>
                <a:latin typeface="Georgia"/>
                <a:ea typeface="Georgia"/>
                <a:cs typeface="Georgia"/>
              </a:rPr>
              <a:t>Product and architecture</a:t>
            </a:r>
          </a:p>
        </p:txBody>
      </p:sp>
      <p:sp>
        <p:nvSpPr>
          <p:cNvPr id="6" name="appendix-bullet-0-0">
            <a:extLst xmlns:a="http://schemas.openxmlformats.org/drawingml/2006/main">
              <a:ext uri="{FF2B5EF4-FFF2-40B4-BE49-F238E27FC236}">
                <a16:creationId xmlns:a16="http://schemas.microsoft.com/office/drawing/2014/main" id="{CAF51AD0-18E4-4DE4-9A49-D86AF9EFF44E}"/>
              </a:ext>
            </a:extLst>
          </p:cNvPr>
          <p:cNvSpPr>
            <a:spLocks xmlns:a="http://schemas.openxmlformats.org/drawingml/2006/main" noGrp="1"/>
          </p:cNvSpPr>
          <p:nvPr/>
        </p:nvSpPr>
        <p:spPr>
          <a:xfrm xmlns:a="http://schemas.openxmlformats.org/drawingml/2006/main">
            <a:off x="742950" y="27813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79A2B"/>
                </a:solidFill>
                <a:latin typeface="Arial"/>
                <a:ea typeface="Arial"/>
                <a:cs typeface="Arial"/>
              </a:defRPr>
            </a:pPr>
            <a:r>
              <a:rPr sz="1200" b="1" i="0">
                <a:solidFill>
                  <a:srgbClr val="C79A2B"/>
                </a:solidFill>
                <a:latin typeface="Arial"/>
                <a:ea typeface="Arial"/>
                <a:cs typeface="Arial"/>
              </a:rPr>
              <a:t>•</a:t>
            </a:r>
          </a:p>
        </p:txBody>
      </p:sp>
      <p:sp>
        <p:nvSpPr>
          <p:cNvPr id="7" name="appendix-item-0-0">
            <a:extLst xmlns:a="http://schemas.openxmlformats.org/drawingml/2006/main">
              <a:ext uri="{FF2B5EF4-FFF2-40B4-BE49-F238E27FC236}">
                <a16:creationId xmlns:a16="http://schemas.microsoft.com/office/drawing/2014/main" id="{CEC0A44A-4BA4-45AC-AC26-E9C4670A64E3}"/>
              </a:ext>
            </a:extLst>
          </p:cNvPr>
          <p:cNvSpPr>
            <a:spLocks xmlns:a="http://schemas.openxmlformats.org/drawingml/2006/main" noGrp="1"/>
          </p:cNvSpPr>
          <p:nvPr/>
        </p:nvSpPr>
        <p:spPr>
          <a:xfrm xmlns:a="http://schemas.openxmlformats.org/drawingml/2006/main">
            <a:off x="990600" y="27432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docs/PRD.md</a:t>
            </a:r>
          </a:p>
        </p:txBody>
      </p:sp>
      <p:sp>
        <p:nvSpPr>
          <p:cNvPr id="8" name="appendix-bullet-0-1">
            <a:extLst xmlns:a="http://schemas.openxmlformats.org/drawingml/2006/main">
              <a:ext uri="{FF2B5EF4-FFF2-40B4-BE49-F238E27FC236}">
                <a16:creationId xmlns:a16="http://schemas.microsoft.com/office/drawing/2014/main" id="{0C971CC5-5D5A-4611-97C1-3A4C816E86A6}"/>
              </a:ext>
            </a:extLst>
          </p:cNvPr>
          <p:cNvSpPr>
            <a:spLocks xmlns:a="http://schemas.openxmlformats.org/drawingml/2006/main" noGrp="1"/>
          </p:cNvSpPr>
          <p:nvPr/>
        </p:nvSpPr>
        <p:spPr>
          <a:xfrm xmlns:a="http://schemas.openxmlformats.org/drawingml/2006/main">
            <a:off x="742950" y="34099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79A2B"/>
                </a:solidFill>
                <a:latin typeface="Arial"/>
                <a:ea typeface="Arial"/>
                <a:cs typeface="Arial"/>
              </a:defRPr>
            </a:pPr>
            <a:r>
              <a:rPr sz="1200" b="1" i="0">
                <a:solidFill>
                  <a:srgbClr val="C79A2B"/>
                </a:solidFill>
                <a:latin typeface="Arial"/>
                <a:ea typeface="Arial"/>
                <a:cs typeface="Arial"/>
              </a:rPr>
              <a:t>•</a:t>
            </a:r>
          </a:p>
        </p:txBody>
      </p:sp>
      <p:sp>
        <p:nvSpPr>
          <p:cNvPr id="9" name="appendix-item-0-1">
            <a:extLst xmlns:a="http://schemas.openxmlformats.org/drawingml/2006/main">
              <a:ext uri="{FF2B5EF4-FFF2-40B4-BE49-F238E27FC236}">
                <a16:creationId xmlns:a16="http://schemas.microsoft.com/office/drawing/2014/main" id="{D8F30C66-D3A4-40EE-AE28-230F1424436D}"/>
              </a:ext>
            </a:extLst>
          </p:cNvPr>
          <p:cNvSpPr>
            <a:spLocks xmlns:a="http://schemas.openxmlformats.org/drawingml/2006/main" noGrp="1"/>
          </p:cNvSpPr>
          <p:nvPr/>
        </p:nvSpPr>
        <p:spPr>
          <a:xfrm xmlns:a="http://schemas.openxmlformats.org/drawingml/2006/main">
            <a:off x="990600" y="33718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docs/ARCHITECTURE.md</a:t>
            </a:r>
          </a:p>
        </p:txBody>
      </p:sp>
      <p:sp>
        <p:nvSpPr>
          <p:cNvPr id="10" name="appendix-bullet-0-2">
            <a:extLst xmlns:a="http://schemas.openxmlformats.org/drawingml/2006/main">
              <a:ext uri="{FF2B5EF4-FFF2-40B4-BE49-F238E27FC236}">
                <a16:creationId xmlns:a16="http://schemas.microsoft.com/office/drawing/2014/main" id="{A2D24A87-2853-4B9F-8B2B-559D78CB5558}"/>
              </a:ext>
            </a:extLst>
          </p:cNvPr>
          <p:cNvSpPr>
            <a:spLocks xmlns:a="http://schemas.openxmlformats.org/drawingml/2006/main" noGrp="1"/>
          </p:cNvSpPr>
          <p:nvPr/>
        </p:nvSpPr>
        <p:spPr>
          <a:xfrm xmlns:a="http://schemas.openxmlformats.org/drawingml/2006/main">
            <a:off x="742950" y="4038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79A2B"/>
                </a:solidFill>
                <a:latin typeface="Arial"/>
                <a:ea typeface="Arial"/>
                <a:cs typeface="Arial"/>
              </a:defRPr>
            </a:pPr>
            <a:r>
              <a:rPr sz="1200" b="1" i="0">
                <a:solidFill>
                  <a:srgbClr val="C79A2B"/>
                </a:solidFill>
                <a:latin typeface="Arial"/>
                <a:ea typeface="Arial"/>
                <a:cs typeface="Arial"/>
              </a:rPr>
              <a:t>•</a:t>
            </a:r>
          </a:p>
        </p:txBody>
      </p:sp>
      <p:sp>
        <p:nvSpPr>
          <p:cNvPr id="11" name="appendix-item-0-2">
            <a:extLst xmlns:a="http://schemas.openxmlformats.org/drawingml/2006/main">
              <a:ext uri="{FF2B5EF4-FFF2-40B4-BE49-F238E27FC236}">
                <a16:creationId xmlns:a16="http://schemas.microsoft.com/office/drawing/2014/main" id="{4318F775-AFF0-4433-8511-6E4F4E36A0C5}"/>
              </a:ext>
            </a:extLst>
          </p:cNvPr>
          <p:cNvSpPr>
            <a:spLocks xmlns:a="http://schemas.openxmlformats.org/drawingml/2006/main" noGrp="1"/>
          </p:cNvSpPr>
          <p:nvPr/>
        </p:nvSpPr>
        <p:spPr>
          <a:xfrm xmlns:a="http://schemas.openxmlformats.org/drawingml/2006/main">
            <a:off x="990600" y="40005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docs/IMPLEMENTATION_STATUS.md</a:t>
            </a:r>
          </a:p>
        </p:txBody>
      </p:sp>
      <p:sp>
        <p:nvSpPr>
          <p:cNvPr id="12" name="appendix-bullet-0-3">
            <a:extLst xmlns:a="http://schemas.openxmlformats.org/drawingml/2006/main">
              <a:ext uri="{FF2B5EF4-FFF2-40B4-BE49-F238E27FC236}">
                <a16:creationId xmlns:a16="http://schemas.microsoft.com/office/drawing/2014/main" id="{4E1B2E88-C5B2-48CF-A8EF-A361D0A4D66A}"/>
              </a:ext>
            </a:extLst>
          </p:cNvPr>
          <p:cNvSpPr>
            <a:spLocks xmlns:a="http://schemas.openxmlformats.org/drawingml/2006/main" noGrp="1"/>
          </p:cNvSpPr>
          <p:nvPr/>
        </p:nvSpPr>
        <p:spPr>
          <a:xfrm xmlns:a="http://schemas.openxmlformats.org/drawingml/2006/main">
            <a:off x="742950" y="46672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79A2B"/>
                </a:solidFill>
                <a:latin typeface="Arial"/>
                <a:ea typeface="Arial"/>
                <a:cs typeface="Arial"/>
              </a:defRPr>
            </a:pPr>
            <a:r>
              <a:rPr sz="1200" b="1" i="0">
                <a:solidFill>
                  <a:srgbClr val="C79A2B"/>
                </a:solidFill>
                <a:latin typeface="Arial"/>
                <a:ea typeface="Arial"/>
                <a:cs typeface="Arial"/>
              </a:rPr>
              <a:t>•</a:t>
            </a:r>
          </a:p>
        </p:txBody>
      </p:sp>
      <p:sp>
        <p:nvSpPr>
          <p:cNvPr id="13" name="appendix-item-0-3">
            <a:extLst xmlns:a="http://schemas.openxmlformats.org/drawingml/2006/main">
              <a:ext uri="{FF2B5EF4-FFF2-40B4-BE49-F238E27FC236}">
                <a16:creationId xmlns:a16="http://schemas.microsoft.com/office/drawing/2014/main" id="{3B002DF8-6FA7-46F3-84B2-41F88CA98D61}"/>
              </a:ext>
            </a:extLst>
          </p:cNvPr>
          <p:cNvSpPr>
            <a:spLocks xmlns:a="http://schemas.openxmlformats.org/drawingml/2006/main" noGrp="1"/>
          </p:cNvSpPr>
          <p:nvPr/>
        </p:nvSpPr>
        <p:spPr>
          <a:xfrm xmlns:a="http://schemas.openxmlformats.org/drawingml/2006/main">
            <a:off x="990600" y="46291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current.md</a:t>
            </a:r>
          </a:p>
        </p:txBody>
      </p:sp>
      <p:sp>
        <p:nvSpPr>
          <p:cNvPr id="14" name="appendix-bullet-0-4">
            <a:extLst xmlns:a="http://schemas.openxmlformats.org/drawingml/2006/main">
              <a:ext uri="{FF2B5EF4-FFF2-40B4-BE49-F238E27FC236}">
                <a16:creationId xmlns:a16="http://schemas.microsoft.com/office/drawing/2014/main" id="{5F9C14D7-D488-4B0D-88CC-0A6EE700203D}"/>
              </a:ext>
            </a:extLst>
          </p:cNvPr>
          <p:cNvSpPr>
            <a:spLocks xmlns:a="http://schemas.openxmlformats.org/drawingml/2006/main" noGrp="1"/>
          </p:cNvSpPr>
          <p:nvPr/>
        </p:nvSpPr>
        <p:spPr>
          <a:xfrm xmlns:a="http://schemas.openxmlformats.org/drawingml/2006/main">
            <a:off x="742950" y="52959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79A2B"/>
                </a:solidFill>
                <a:latin typeface="Arial"/>
                <a:ea typeface="Arial"/>
                <a:cs typeface="Arial"/>
              </a:defRPr>
            </a:pPr>
            <a:r>
              <a:rPr sz="1200" b="1" i="0">
                <a:solidFill>
                  <a:srgbClr val="C79A2B"/>
                </a:solidFill>
                <a:latin typeface="Arial"/>
                <a:ea typeface="Arial"/>
                <a:cs typeface="Arial"/>
              </a:rPr>
              <a:t>•</a:t>
            </a:r>
          </a:p>
        </p:txBody>
      </p:sp>
      <p:sp>
        <p:nvSpPr>
          <p:cNvPr id="15" name="appendix-item-0-4">
            <a:extLst xmlns:a="http://schemas.openxmlformats.org/drawingml/2006/main">
              <a:ext uri="{FF2B5EF4-FFF2-40B4-BE49-F238E27FC236}">
                <a16:creationId xmlns:a16="http://schemas.microsoft.com/office/drawing/2014/main" id="{E1DA78AB-28B4-47C5-88F2-3257F93B5B06}"/>
              </a:ext>
            </a:extLst>
          </p:cNvPr>
          <p:cNvSpPr>
            <a:spLocks xmlns:a="http://schemas.openxmlformats.org/drawingml/2006/main" noGrp="1"/>
          </p:cNvSpPr>
          <p:nvPr/>
        </p:nvSpPr>
        <p:spPr>
          <a:xfrm xmlns:a="http://schemas.openxmlformats.org/drawingml/2006/main">
            <a:off x="990600" y="52578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Live application screenshots</a:t>
            </a:r>
          </a:p>
        </p:txBody>
      </p:sp>
      <p:sp>
        <p:nvSpPr>
          <p:cNvPr id="16" name="appendix-card-1">
            <a:extLst xmlns:a="http://schemas.openxmlformats.org/drawingml/2006/main">
              <a:ext uri="{FF2B5EF4-FFF2-40B4-BE49-F238E27FC236}">
                <a16:creationId xmlns:a16="http://schemas.microsoft.com/office/drawing/2014/main" id="{A01925B4-CC32-49E6-B48E-B848EB89353F}"/>
              </a:ext>
            </a:extLst>
          </p:cNvPr>
          <p:cNvSpPr>
            <a:spLocks xmlns:a="http://schemas.openxmlformats.org/drawingml/2006/main" noGrp="1"/>
          </p:cNvSpPr>
          <p:nvPr/>
        </p:nvSpPr>
        <p:spPr>
          <a:xfrm xmlns:a="http://schemas.openxmlformats.org/drawingml/2006/main">
            <a:off x="4286250" y="1752600"/>
            <a:ext cx="3390900" cy="4267200"/>
          </a:xfrm>
          <a:prstGeom xmlns:a="http://schemas.openxmlformats.org/drawingml/2006/main" prst="roundRect">
            <a:avLst>
              <a:gd name="adj" fmla="val 2247"/>
            </a:avLst>
          </a:prstGeom>
          <a:solidFill xmlns:a="http://schemas.openxmlformats.org/drawingml/2006/main">
            <a:srgbClr val="FCFAF4"/>
          </a:solidFill>
          <a:ln xmlns:a="http://schemas.openxmlformats.org/drawingml/2006/main" w="0">
            <a:noFill/>
            <a:prstDash val="solid"/>
          </a:ln>
        </p:spPr>
      </p:sp>
      <p:sp>
        <p:nvSpPr>
          <p:cNvPr id="17" name="appendix-card-top-1">
            <a:extLst xmlns:a="http://schemas.openxmlformats.org/drawingml/2006/main">
              <a:ext uri="{FF2B5EF4-FFF2-40B4-BE49-F238E27FC236}">
                <a16:creationId xmlns:a16="http://schemas.microsoft.com/office/drawing/2014/main" id="{BE90E30F-EA69-477E-AC3E-3F6EF0666E93}"/>
              </a:ext>
            </a:extLst>
          </p:cNvPr>
          <p:cNvSpPr>
            <a:spLocks xmlns:a="http://schemas.openxmlformats.org/drawingml/2006/main" noGrp="1"/>
          </p:cNvSpPr>
          <p:nvPr/>
        </p:nvSpPr>
        <p:spPr>
          <a:xfrm xmlns:a="http://schemas.openxmlformats.org/drawingml/2006/main">
            <a:off x="4286250" y="1752600"/>
            <a:ext cx="3390900" cy="133350"/>
          </a:xfrm>
          <a:prstGeom xmlns:a="http://schemas.openxmlformats.org/drawingml/2006/main" prst="rect">
            <a:avLst/>
          </a:prstGeom>
          <a:solidFill xmlns:a="http://schemas.openxmlformats.org/drawingml/2006/main">
            <a:srgbClr val="2E8984"/>
          </a:solidFill>
          <a:ln xmlns:a="http://schemas.openxmlformats.org/drawingml/2006/main" w="0">
            <a:noFill/>
            <a:prstDash val="solid"/>
          </a:ln>
        </p:spPr>
      </p:sp>
      <p:sp>
        <p:nvSpPr>
          <p:cNvPr id="18" name="appendix-head-1">
            <a:extLst xmlns:a="http://schemas.openxmlformats.org/drawingml/2006/main">
              <a:ext uri="{FF2B5EF4-FFF2-40B4-BE49-F238E27FC236}">
                <a16:creationId xmlns:a16="http://schemas.microsoft.com/office/drawing/2014/main" id="{7ACAC79A-2BFF-45CB-8AB2-0AD943D4A22B}"/>
              </a:ext>
            </a:extLst>
          </p:cNvPr>
          <p:cNvSpPr>
            <a:spLocks xmlns:a="http://schemas.openxmlformats.org/drawingml/2006/main" noGrp="1"/>
          </p:cNvSpPr>
          <p:nvPr/>
        </p:nvSpPr>
        <p:spPr>
          <a:xfrm xmlns:a="http://schemas.openxmlformats.org/drawingml/2006/main">
            <a:off x="4514850" y="2057400"/>
            <a:ext cx="2933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16233F"/>
                </a:solidFill>
                <a:latin typeface="Georgia"/>
                <a:ea typeface="Georgia"/>
                <a:cs typeface="Georgia"/>
              </a:defRPr>
            </a:pPr>
            <a:r>
              <a:rPr sz="1650" b="1" i="0">
                <a:solidFill>
                  <a:srgbClr val="16233F"/>
                </a:solidFill>
                <a:latin typeface="Georgia"/>
                <a:ea typeface="Georgia"/>
                <a:cs typeface="Georgia"/>
              </a:rPr>
              <a:t>Market research</a:t>
            </a:r>
          </a:p>
        </p:txBody>
      </p:sp>
      <p:sp>
        <p:nvSpPr>
          <p:cNvPr id="19" name="appendix-bullet-1-0">
            <a:extLst xmlns:a="http://schemas.openxmlformats.org/drawingml/2006/main">
              <a:ext uri="{FF2B5EF4-FFF2-40B4-BE49-F238E27FC236}">
                <a16:creationId xmlns:a16="http://schemas.microsoft.com/office/drawing/2014/main" id="{88B08904-02DE-4ABB-B3C2-644B2CBCA473}"/>
              </a:ext>
            </a:extLst>
          </p:cNvPr>
          <p:cNvSpPr>
            <a:spLocks xmlns:a="http://schemas.openxmlformats.org/drawingml/2006/main" noGrp="1"/>
          </p:cNvSpPr>
          <p:nvPr/>
        </p:nvSpPr>
        <p:spPr>
          <a:xfrm xmlns:a="http://schemas.openxmlformats.org/drawingml/2006/main">
            <a:off x="4514850" y="27813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2E8984"/>
                </a:solidFill>
                <a:latin typeface="Arial"/>
                <a:ea typeface="Arial"/>
                <a:cs typeface="Arial"/>
              </a:defRPr>
            </a:pPr>
            <a:r>
              <a:rPr sz="1200" b="1" i="0">
                <a:solidFill>
                  <a:srgbClr val="2E8984"/>
                </a:solidFill>
                <a:latin typeface="Arial"/>
                <a:ea typeface="Arial"/>
                <a:cs typeface="Arial"/>
              </a:rPr>
              <a:t>•</a:t>
            </a:r>
          </a:p>
        </p:txBody>
      </p:sp>
      <p:sp>
        <p:nvSpPr>
          <p:cNvPr id="20" name="appendix-item-1-0">
            <a:extLst xmlns:a="http://schemas.openxmlformats.org/drawingml/2006/main">
              <a:ext uri="{FF2B5EF4-FFF2-40B4-BE49-F238E27FC236}">
                <a16:creationId xmlns:a16="http://schemas.microsoft.com/office/drawing/2014/main" id="{DB337D9B-0B2A-4142-A36D-4DCAE9BC9A27}"/>
              </a:ext>
            </a:extLst>
          </p:cNvPr>
          <p:cNvSpPr>
            <a:spLocks xmlns:a="http://schemas.openxmlformats.org/drawingml/2006/main" noGrp="1"/>
          </p:cNvSpPr>
          <p:nvPr/>
        </p:nvSpPr>
        <p:spPr>
          <a:xfrm xmlns:a="http://schemas.openxmlformats.org/drawingml/2006/main">
            <a:off x="4762500" y="27432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output/research/raw/legal-ai-reddit-source-corpus.jsonl</a:t>
            </a:r>
          </a:p>
        </p:txBody>
      </p:sp>
      <p:sp>
        <p:nvSpPr>
          <p:cNvPr id="21" name="appendix-bullet-1-1">
            <a:extLst xmlns:a="http://schemas.openxmlformats.org/drawingml/2006/main">
              <a:ext uri="{FF2B5EF4-FFF2-40B4-BE49-F238E27FC236}">
                <a16:creationId xmlns:a16="http://schemas.microsoft.com/office/drawing/2014/main" id="{838D3063-33F3-41E2-9DC7-8277879369F6}"/>
              </a:ext>
            </a:extLst>
          </p:cNvPr>
          <p:cNvSpPr>
            <a:spLocks xmlns:a="http://schemas.openxmlformats.org/drawingml/2006/main" noGrp="1"/>
          </p:cNvSpPr>
          <p:nvPr/>
        </p:nvSpPr>
        <p:spPr>
          <a:xfrm xmlns:a="http://schemas.openxmlformats.org/drawingml/2006/main">
            <a:off x="4514850" y="34099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2E8984"/>
                </a:solidFill>
                <a:latin typeface="Arial"/>
                <a:ea typeface="Arial"/>
                <a:cs typeface="Arial"/>
              </a:defRPr>
            </a:pPr>
            <a:r>
              <a:rPr sz="1200" b="1" i="0">
                <a:solidFill>
                  <a:srgbClr val="2E8984"/>
                </a:solidFill>
                <a:latin typeface="Arial"/>
                <a:ea typeface="Arial"/>
                <a:cs typeface="Arial"/>
              </a:rPr>
              <a:t>•</a:t>
            </a:r>
          </a:p>
        </p:txBody>
      </p:sp>
      <p:sp>
        <p:nvSpPr>
          <p:cNvPr id="22" name="appendix-item-1-1">
            <a:extLst xmlns:a="http://schemas.openxmlformats.org/drawingml/2006/main">
              <a:ext uri="{FF2B5EF4-FFF2-40B4-BE49-F238E27FC236}">
                <a16:creationId xmlns:a16="http://schemas.microsoft.com/office/drawing/2014/main" id="{C261A8F7-8DF8-4CF2-8568-C13C92754350}"/>
              </a:ext>
            </a:extLst>
          </p:cNvPr>
          <p:cNvSpPr>
            <a:spLocks xmlns:a="http://schemas.openxmlformats.org/drawingml/2006/main" noGrp="1"/>
          </p:cNvSpPr>
          <p:nvPr/>
        </p:nvSpPr>
        <p:spPr>
          <a:xfrm xmlns:a="http://schemas.openxmlformats.org/drawingml/2006/main">
            <a:off x="4762500" y="33718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Individual research files in output/research/raw/</a:t>
            </a:r>
          </a:p>
        </p:txBody>
      </p:sp>
      <p:sp>
        <p:nvSpPr>
          <p:cNvPr id="23" name="appendix-bullet-1-2">
            <a:extLst xmlns:a="http://schemas.openxmlformats.org/drawingml/2006/main">
              <a:ext uri="{FF2B5EF4-FFF2-40B4-BE49-F238E27FC236}">
                <a16:creationId xmlns:a16="http://schemas.microsoft.com/office/drawing/2014/main" id="{42156696-6D4E-4018-BF63-3C116614CAA4}"/>
              </a:ext>
            </a:extLst>
          </p:cNvPr>
          <p:cNvSpPr>
            <a:spLocks xmlns:a="http://schemas.openxmlformats.org/drawingml/2006/main" noGrp="1"/>
          </p:cNvSpPr>
          <p:nvPr/>
        </p:nvSpPr>
        <p:spPr>
          <a:xfrm xmlns:a="http://schemas.openxmlformats.org/drawingml/2006/main">
            <a:off x="4514850" y="4038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2E8984"/>
                </a:solidFill>
                <a:latin typeface="Arial"/>
                <a:ea typeface="Arial"/>
                <a:cs typeface="Arial"/>
              </a:defRPr>
            </a:pPr>
            <a:r>
              <a:rPr sz="1200" b="1" i="0">
                <a:solidFill>
                  <a:srgbClr val="2E8984"/>
                </a:solidFill>
                <a:latin typeface="Arial"/>
                <a:ea typeface="Arial"/>
                <a:cs typeface="Arial"/>
              </a:rPr>
              <a:t>•</a:t>
            </a:r>
          </a:p>
        </p:txBody>
      </p:sp>
      <p:sp>
        <p:nvSpPr>
          <p:cNvPr id="24" name="appendix-item-1-2">
            <a:extLst xmlns:a="http://schemas.openxmlformats.org/drawingml/2006/main">
              <a:ext uri="{FF2B5EF4-FFF2-40B4-BE49-F238E27FC236}">
                <a16:creationId xmlns:a16="http://schemas.microsoft.com/office/drawing/2014/main" id="{BD8C5962-70DB-4C72-AB4D-EFD56888E486}"/>
              </a:ext>
            </a:extLst>
          </p:cNvPr>
          <p:cNvSpPr>
            <a:spLocks xmlns:a="http://schemas.openxmlformats.org/drawingml/2006/main" noGrp="1"/>
          </p:cNvSpPr>
          <p:nvPr/>
        </p:nvSpPr>
        <p:spPr>
          <a:xfrm xmlns:a="http://schemas.openxmlformats.org/drawingml/2006/main">
            <a:off x="4762500" y="40005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output/research/themis-counselos-legal-ai-competitive-strategy.docx</a:t>
            </a:r>
          </a:p>
        </p:txBody>
      </p:sp>
      <p:sp>
        <p:nvSpPr>
          <p:cNvPr id="25" name="appendix-card-2">
            <a:extLst xmlns:a="http://schemas.openxmlformats.org/drawingml/2006/main">
              <a:ext uri="{FF2B5EF4-FFF2-40B4-BE49-F238E27FC236}">
                <a16:creationId xmlns:a16="http://schemas.microsoft.com/office/drawing/2014/main" id="{80FB8D11-3878-4D2D-BE76-65BEF6A9D3EB}"/>
              </a:ext>
            </a:extLst>
          </p:cNvPr>
          <p:cNvSpPr>
            <a:spLocks xmlns:a="http://schemas.openxmlformats.org/drawingml/2006/main" noGrp="1"/>
          </p:cNvSpPr>
          <p:nvPr/>
        </p:nvSpPr>
        <p:spPr>
          <a:xfrm xmlns:a="http://schemas.openxmlformats.org/drawingml/2006/main">
            <a:off x="8058150" y="1752600"/>
            <a:ext cx="3390900" cy="4267200"/>
          </a:xfrm>
          <a:prstGeom xmlns:a="http://schemas.openxmlformats.org/drawingml/2006/main" prst="roundRect">
            <a:avLst>
              <a:gd name="adj" fmla="val 2247"/>
            </a:avLst>
          </a:prstGeom>
          <a:solidFill xmlns:a="http://schemas.openxmlformats.org/drawingml/2006/main">
            <a:srgbClr val="FCFAF4"/>
          </a:solidFill>
          <a:ln xmlns:a="http://schemas.openxmlformats.org/drawingml/2006/main" w="0">
            <a:noFill/>
            <a:prstDash val="solid"/>
          </a:ln>
        </p:spPr>
      </p:sp>
      <p:sp>
        <p:nvSpPr>
          <p:cNvPr id="26" name="appendix-card-top-2">
            <a:extLst xmlns:a="http://schemas.openxmlformats.org/drawingml/2006/main">
              <a:ext uri="{FF2B5EF4-FFF2-40B4-BE49-F238E27FC236}">
                <a16:creationId xmlns:a16="http://schemas.microsoft.com/office/drawing/2014/main" id="{F0FBD60F-0EA1-489D-86AF-05650C647EB9}"/>
              </a:ext>
            </a:extLst>
          </p:cNvPr>
          <p:cNvSpPr>
            <a:spLocks xmlns:a="http://schemas.openxmlformats.org/drawingml/2006/main" noGrp="1"/>
          </p:cNvSpPr>
          <p:nvPr/>
        </p:nvSpPr>
        <p:spPr>
          <a:xfrm xmlns:a="http://schemas.openxmlformats.org/drawingml/2006/main">
            <a:off x="8058150" y="1752600"/>
            <a:ext cx="3390900" cy="133350"/>
          </a:xfrm>
          <a:prstGeom xmlns:a="http://schemas.openxmlformats.org/drawingml/2006/main" prst="rect">
            <a:avLst/>
          </a:prstGeom>
          <a:solidFill xmlns:a="http://schemas.openxmlformats.org/drawingml/2006/main">
            <a:srgbClr val="C86449"/>
          </a:solidFill>
          <a:ln xmlns:a="http://schemas.openxmlformats.org/drawingml/2006/main" w="0">
            <a:noFill/>
            <a:prstDash val="solid"/>
          </a:ln>
        </p:spPr>
      </p:sp>
      <p:sp>
        <p:nvSpPr>
          <p:cNvPr id="27" name="appendix-head-2">
            <a:extLst xmlns:a="http://schemas.openxmlformats.org/drawingml/2006/main">
              <a:ext uri="{FF2B5EF4-FFF2-40B4-BE49-F238E27FC236}">
                <a16:creationId xmlns:a16="http://schemas.microsoft.com/office/drawing/2014/main" id="{F2A25271-A52F-4252-9784-631D66466192}"/>
              </a:ext>
            </a:extLst>
          </p:cNvPr>
          <p:cNvSpPr>
            <a:spLocks xmlns:a="http://schemas.openxmlformats.org/drawingml/2006/main" noGrp="1"/>
          </p:cNvSpPr>
          <p:nvPr/>
        </p:nvSpPr>
        <p:spPr>
          <a:xfrm xmlns:a="http://schemas.openxmlformats.org/drawingml/2006/main">
            <a:off x="8286750" y="2057400"/>
            <a:ext cx="2933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16233F"/>
                </a:solidFill>
                <a:latin typeface="Georgia"/>
                <a:ea typeface="Georgia"/>
                <a:cs typeface="Georgia"/>
              </a:defRPr>
            </a:pPr>
            <a:r>
              <a:rPr sz="1650" b="1" i="0">
                <a:solidFill>
                  <a:srgbClr val="16233F"/>
                </a:solidFill>
                <a:latin typeface="Georgia"/>
                <a:ea typeface="Georgia"/>
                <a:cs typeface="Georgia"/>
              </a:rPr>
              <a:t>In-house counsel interviews</a:t>
            </a:r>
          </a:p>
        </p:txBody>
      </p:sp>
      <p:sp>
        <p:nvSpPr>
          <p:cNvPr id="28" name="appendix-bullet-2-0">
            <a:extLst xmlns:a="http://schemas.openxmlformats.org/drawingml/2006/main">
              <a:ext uri="{FF2B5EF4-FFF2-40B4-BE49-F238E27FC236}">
                <a16:creationId xmlns:a16="http://schemas.microsoft.com/office/drawing/2014/main" id="{A6BE0B8F-41C1-4B0C-8E92-3E80D75052B3}"/>
              </a:ext>
            </a:extLst>
          </p:cNvPr>
          <p:cNvSpPr>
            <a:spLocks xmlns:a="http://schemas.openxmlformats.org/drawingml/2006/main" noGrp="1"/>
          </p:cNvSpPr>
          <p:nvPr/>
        </p:nvSpPr>
        <p:spPr>
          <a:xfrm xmlns:a="http://schemas.openxmlformats.org/drawingml/2006/main">
            <a:off x="8286750" y="27813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86449"/>
                </a:solidFill>
                <a:latin typeface="Arial"/>
                <a:ea typeface="Arial"/>
                <a:cs typeface="Arial"/>
              </a:defRPr>
            </a:pPr>
            <a:r>
              <a:rPr sz="1200" b="1" i="0">
                <a:solidFill>
                  <a:srgbClr val="C86449"/>
                </a:solidFill>
                <a:latin typeface="Arial"/>
                <a:ea typeface="Arial"/>
                <a:cs typeface="Arial"/>
              </a:rPr>
              <a:t>•</a:t>
            </a:r>
          </a:p>
        </p:txBody>
      </p:sp>
      <p:sp>
        <p:nvSpPr>
          <p:cNvPr id="29" name="appendix-item-2-0">
            <a:extLst xmlns:a="http://schemas.openxmlformats.org/drawingml/2006/main">
              <a:ext uri="{FF2B5EF4-FFF2-40B4-BE49-F238E27FC236}">
                <a16:creationId xmlns:a16="http://schemas.microsoft.com/office/drawing/2014/main" id="{B5F15451-78D5-4EFD-8A72-FDAE68EE6145}"/>
              </a:ext>
            </a:extLst>
          </p:cNvPr>
          <p:cNvSpPr>
            <a:spLocks xmlns:a="http://schemas.openxmlformats.org/drawingml/2006/main" noGrp="1"/>
          </p:cNvSpPr>
          <p:nvPr/>
        </p:nvSpPr>
        <p:spPr>
          <a:xfrm xmlns:a="http://schemas.openxmlformats.org/drawingml/2006/main">
            <a:off x="8534400" y="27432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output/research/raw/interviews/in-house-counsel/brian-jean-2026-08-17-notes-by-gemini.docx</a:t>
            </a:r>
          </a:p>
        </p:txBody>
      </p:sp>
      <p:sp>
        <p:nvSpPr>
          <p:cNvPr id="30" name="appendix-bullet-2-1">
            <a:extLst xmlns:a="http://schemas.openxmlformats.org/drawingml/2006/main">
              <a:ext uri="{FF2B5EF4-FFF2-40B4-BE49-F238E27FC236}">
                <a16:creationId xmlns:a16="http://schemas.microsoft.com/office/drawing/2014/main" id="{E1788F0B-29FF-42BE-B5A0-CC05C7F70EF0}"/>
              </a:ext>
            </a:extLst>
          </p:cNvPr>
          <p:cNvSpPr>
            <a:spLocks xmlns:a="http://schemas.openxmlformats.org/drawingml/2006/main" noGrp="1"/>
          </p:cNvSpPr>
          <p:nvPr/>
        </p:nvSpPr>
        <p:spPr>
          <a:xfrm xmlns:a="http://schemas.openxmlformats.org/drawingml/2006/main">
            <a:off x="8286750" y="34099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86449"/>
                </a:solidFill>
                <a:latin typeface="Arial"/>
                <a:ea typeface="Arial"/>
                <a:cs typeface="Arial"/>
              </a:defRPr>
            </a:pPr>
            <a:r>
              <a:rPr sz="1200" b="1" i="0">
                <a:solidFill>
                  <a:srgbClr val="C86449"/>
                </a:solidFill>
                <a:latin typeface="Arial"/>
                <a:ea typeface="Arial"/>
                <a:cs typeface="Arial"/>
              </a:rPr>
              <a:t>•</a:t>
            </a:r>
          </a:p>
        </p:txBody>
      </p:sp>
      <p:sp>
        <p:nvSpPr>
          <p:cNvPr id="31" name="appendix-item-2-1">
            <a:extLst xmlns:a="http://schemas.openxmlformats.org/drawingml/2006/main">
              <a:ext uri="{FF2B5EF4-FFF2-40B4-BE49-F238E27FC236}">
                <a16:creationId xmlns:a16="http://schemas.microsoft.com/office/drawing/2014/main" id="{D375726D-882B-4105-9206-664EDE6A00B9}"/>
              </a:ext>
            </a:extLst>
          </p:cNvPr>
          <p:cNvSpPr>
            <a:spLocks xmlns:a="http://schemas.openxmlformats.org/drawingml/2006/main" noGrp="1"/>
          </p:cNvSpPr>
          <p:nvPr/>
        </p:nvSpPr>
        <p:spPr>
          <a:xfrm xmlns:a="http://schemas.openxmlformats.org/drawingml/2006/main">
            <a:off x="8534400" y="33718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output/research/raw/interviews/in-house-counsel/brian-ricky-2026-08-22-notes-by-gemini.docx</a:t>
            </a:r>
          </a:p>
        </p:txBody>
      </p:sp>
      <p:sp>
        <p:nvSpPr>
          <p:cNvPr id="32" name="appendix-bullet-2-2">
            <a:extLst xmlns:a="http://schemas.openxmlformats.org/drawingml/2006/main">
              <a:ext uri="{FF2B5EF4-FFF2-40B4-BE49-F238E27FC236}">
                <a16:creationId xmlns:a16="http://schemas.microsoft.com/office/drawing/2014/main" id="{12A0F23C-04D3-4349-8B0D-B2D5FD31D13A}"/>
              </a:ext>
            </a:extLst>
          </p:cNvPr>
          <p:cNvSpPr>
            <a:spLocks xmlns:a="http://schemas.openxmlformats.org/drawingml/2006/main" noGrp="1"/>
          </p:cNvSpPr>
          <p:nvPr/>
        </p:nvSpPr>
        <p:spPr>
          <a:xfrm xmlns:a="http://schemas.openxmlformats.org/drawingml/2006/main">
            <a:off x="8286750" y="4038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86449"/>
                </a:solidFill>
                <a:latin typeface="Arial"/>
                <a:ea typeface="Arial"/>
                <a:cs typeface="Arial"/>
              </a:defRPr>
            </a:pPr>
            <a:r>
              <a:rPr sz="1200" b="1" i="0">
                <a:solidFill>
                  <a:srgbClr val="C86449"/>
                </a:solidFill>
                <a:latin typeface="Arial"/>
                <a:ea typeface="Arial"/>
                <a:cs typeface="Arial"/>
              </a:rPr>
              <a:t>•</a:t>
            </a:r>
          </a:p>
        </p:txBody>
      </p:sp>
      <p:sp>
        <p:nvSpPr>
          <p:cNvPr id="33" name="appendix-item-2-2">
            <a:extLst xmlns:a="http://schemas.openxmlformats.org/drawingml/2006/main">
              <a:ext uri="{FF2B5EF4-FFF2-40B4-BE49-F238E27FC236}">
                <a16:creationId xmlns:a16="http://schemas.microsoft.com/office/drawing/2014/main" id="{08A8858D-B653-48EC-A9E4-E6C68908B6CA}"/>
              </a:ext>
            </a:extLst>
          </p:cNvPr>
          <p:cNvSpPr>
            <a:spLocks xmlns:a="http://schemas.openxmlformats.org/drawingml/2006/main" noGrp="1"/>
          </p:cNvSpPr>
          <p:nvPr/>
        </p:nvSpPr>
        <p:spPr>
          <a:xfrm xmlns:a="http://schemas.openxmlformats.org/drawingml/2006/main">
            <a:off x="8534400" y="40005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output/research/raw/interviews/in-house-counsel/chris-brian-2026-08-24-notes-by-gemini.docx</a:t>
            </a:r>
          </a:p>
        </p:txBody>
      </p:sp>
      <p:sp>
        <p:nvSpPr>
          <p:cNvPr id="34" name="appendix-bullet-2-3">
            <a:extLst xmlns:a="http://schemas.openxmlformats.org/drawingml/2006/main">
              <a:ext uri="{FF2B5EF4-FFF2-40B4-BE49-F238E27FC236}">
                <a16:creationId xmlns:a16="http://schemas.microsoft.com/office/drawing/2014/main" id="{620189F1-8A00-4091-9B7F-1077011B3CAF}"/>
              </a:ext>
            </a:extLst>
          </p:cNvPr>
          <p:cNvSpPr>
            <a:spLocks xmlns:a="http://schemas.openxmlformats.org/drawingml/2006/main" noGrp="1"/>
          </p:cNvSpPr>
          <p:nvPr/>
        </p:nvSpPr>
        <p:spPr>
          <a:xfrm xmlns:a="http://schemas.openxmlformats.org/drawingml/2006/main">
            <a:off x="8286750" y="46672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86449"/>
                </a:solidFill>
                <a:latin typeface="Arial"/>
                <a:ea typeface="Arial"/>
                <a:cs typeface="Arial"/>
              </a:defRPr>
            </a:pPr>
            <a:r>
              <a:rPr sz="1200" b="1" i="0">
                <a:solidFill>
                  <a:srgbClr val="C86449"/>
                </a:solidFill>
                <a:latin typeface="Arial"/>
                <a:ea typeface="Arial"/>
                <a:cs typeface="Arial"/>
              </a:rPr>
              <a:t>•</a:t>
            </a:r>
          </a:p>
        </p:txBody>
      </p:sp>
      <p:sp>
        <p:nvSpPr>
          <p:cNvPr id="35" name="appendix-item-2-3">
            <a:extLst xmlns:a="http://schemas.openxmlformats.org/drawingml/2006/main">
              <a:ext uri="{FF2B5EF4-FFF2-40B4-BE49-F238E27FC236}">
                <a16:creationId xmlns:a16="http://schemas.microsoft.com/office/drawing/2014/main" id="{3272E553-11BD-47F3-8121-A53C7C3D1195}"/>
              </a:ext>
            </a:extLst>
          </p:cNvPr>
          <p:cNvSpPr>
            <a:spLocks xmlns:a="http://schemas.openxmlformats.org/drawingml/2006/main" noGrp="1"/>
          </p:cNvSpPr>
          <p:nvPr/>
        </p:nvSpPr>
        <p:spPr>
          <a:xfrm xmlns:a="http://schemas.openxmlformats.org/drawingml/2006/main">
            <a:off x="8534400" y="46291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16233F"/>
                </a:solidFill>
                <a:latin typeface="Arial"/>
                <a:ea typeface="Arial"/>
                <a:cs typeface="Arial"/>
              </a:defRPr>
            </a:pPr>
            <a:r>
              <a:rPr sz="938" b="0" i="0">
                <a:solidFill>
                  <a:srgbClr val="16233F"/>
                </a:solidFill>
                <a:latin typeface="Arial"/>
                <a:ea typeface="Arial"/>
                <a:cs typeface="Arial"/>
              </a:rPr>
              <a:t>output/research/raw/interviews/in-house-counsel/vanessa-petty.docx</a:t>
            </a:r>
          </a:p>
        </p:txBody>
      </p:sp>
      <p:sp>
        <p:nvSpPr>
          <p:cNvPr id="36" name="footer-brand-11">
            <a:extLst xmlns:a="http://schemas.openxmlformats.org/drawingml/2006/main">
              <a:ext uri="{FF2B5EF4-FFF2-40B4-BE49-F238E27FC236}">
                <a16:creationId xmlns:a16="http://schemas.microsoft.com/office/drawing/2014/main" id="{2AA2DDB5-3AD6-4987-906C-81C6509B5F1F}"/>
              </a:ext>
            </a:extLst>
          </p:cNvPr>
          <p:cNvSpPr>
            <a:spLocks xmlns:a="http://schemas.openxmlformats.org/drawingml/2006/main" noGrp="1"/>
          </p:cNvSpPr>
          <p:nvPr/>
        </p:nvSpPr>
        <p:spPr>
          <a:xfrm xmlns:a="http://schemas.openxmlformats.org/drawingml/2006/main">
            <a:off x="419100" y="65722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i="0">
                <a:solidFill>
                  <a:srgbClr val="FCFAF4"/>
                </a:solidFill>
                <a:latin typeface="Arial"/>
                <a:ea typeface="Arial"/>
                <a:cs typeface="Arial"/>
              </a:defRPr>
            </a:pPr>
            <a:r>
              <a:rPr sz="750" b="1" i="0">
                <a:solidFill>
                  <a:srgbClr val="FCFAF4"/>
                </a:solidFill>
                <a:latin typeface="Arial"/>
                <a:ea typeface="Arial"/>
                <a:cs typeface="Arial"/>
              </a:rPr>
              <a:t>THEMIS.AI</a:t>
            </a:r>
          </a:p>
        </p:txBody>
      </p:sp>
      <p:sp>
        <p:nvSpPr>
          <p:cNvPr id="37" name="footer-number-11">
            <a:extLst xmlns:a="http://schemas.openxmlformats.org/drawingml/2006/main">
              <a:ext uri="{FF2B5EF4-FFF2-40B4-BE49-F238E27FC236}">
                <a16:creationId xmlns:a16="http://schemas.microsoft.com/office/drawing/2014/main" id="{B7AF35F3-A60C-43BE-8DD0-13E2A57177AB}"/>
              </a:ext>
            </a:extLst>
          </p:cNvPr>
          <p:cNvSpPr>
            <a:spLocks xmlns:a="http://schemas.openxmlformats.org/drawingml/2006/main" noGrp="1"/>
          </p:cNvSpPr>
          <p:nvPr/>
        </p:nvSpPr>
        <p:spPr>
          <a:xfrm xmlns:a="http://schemas.openxmlformats.org/drawingml/2006/main">
            <a:off x="11372850" y="65532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1" i="0">
                <a:solidFill>
                  <a:srgbClr val="FCFAF4"/>
                </a:solidFill>
                <a:latin typeface="Arial"/>
                <a:ea typeface="Arial"/>
                <a:cs typeface="Arial"/>
              </a:defRPr>
            </a:pPr>
            <a:r>
              <a:rPr sz="825" b="1" i="0">
                <a:solidFill>
                  <a:srgbClr val="FCFAF4"/>
                </a:solidFill>
                <a:latin typeface="Arial"/>
                <a:ea typeface="Arial"/>
                <a:cs typeface="Arial"/>
              </a:rPr>
              <a:t>11</a:t>
            </a:r>
          </a:p>
        </p:txBody>
      </p:sp>
    </p:spTree>
    <p:extLst>
      <p:ext uri="{BB962C8B-B14F-4D97-AF65-F5344CB8AC3E}">
        <p14:creationId xmlns:p14="http://schemas.microsoft.com/office/powerpoint/2010/main" val="688775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2026-09-04T02:10:43.5480000Z</dcterms:created>
  <dcterms:modified xsi:type="dcterms:W3CDTF">2026-09-04T02:10:43.5480000Z</dcterms:modified>
</coreProperties>
</file>