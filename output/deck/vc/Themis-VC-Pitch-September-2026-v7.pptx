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dd7c3985d64917" /><Relationship Type="http://schemas.openxmlformats.org/officeDocument/2006/relationships/extended-properties" Target="/docProps/app.xml" Id="R0cb58e4eb0ce4a77" /><Relationship Type="http://schemas.openxmlformats.org/officeDocument/2006/relationships/officeDocument" Target="/ppt/presentation.xml" Id="R8d84899c248547d2" /></Relationships>
</file>

<file path=ppt/presentation.xml><?xml version="1.0" encoding="utf-8"?>
<p:presentation xmlns:p="http://schemas.openxmlformats.org/presentationml/2006/main">
  <p:sldMasterIdLst>
    <p:sldMasterId xmlns:r="http://schemas.openxmlformats.org/officeDocument/2006/relationships" id="2147483648" r:id="Rbeda897e04c54aec"/>
  </p:sldMasterIdLst>
  <p:notesMasterIdLst>
    <p:notesMasterId xmlns:r="http://schemas.openxmlformats.org/officeDocument/2006/relationships" r:id="R0a15a3aeb5e345f4"/>
  </p:notesMasterIdLst>
  <p:sldIdLst>
    <p:sldId xmlns:r="http://schemas.openxmlformats.org/officeDocument/2006/relationships" id="256" r:id="Re31ed3d0f7b04b50"/>
    <p:sldId xmlns:r="http://schemas.openxmlformats.org/officeDocument/2006/relationships" id="257" r:id="Rffb860d5b4974e2d"/>
    <p:sldId xmlns:r="http://schemas.openxmlformats.org/officeDocument/2006/relationships" id="258" r:id="R20d52ea0ba8d4f62"/>
    <p:sldId xmlns:r="http://schemas.openxmlformats.org/officeDocument/2006/relationships" id="259" r:id="Re7470fe90c404524"/>
    <p:sldId xmlns:r="http://schemas.openxmlformats.org/officeDocument/2006/relationships" id="260" r:id="R156c0e27423e4e78"/>
    <p:sldId xmlns:r="http://schemas.openxmlformats.org/officeDocument/2006/relationships" id="261" r:id="R8d093a9040bc4750"/>
    <p:sldId xmlns:r="http://schemas.openxmlformats.org/officeDocument/2006/relationships" id="262" r:id="R64b9c76bec0f4c84"/>
    <p:sldId xmlns:r="http://schemas.openxmlformats.org/officeDocument/2006/relationships" id="263" r:id="R892cee27c9894f86"/>
    <p:sldId xmlns:r="http://schemas.openxmlformats.org/officeDocument/2006/relationships" id="264" r:id="R38b319bc6adc452a"/>
    <p:sldId xmlns:r="http://schemas.openxmlformats.org/officeDocument/2006/relationships" id="265" r:id="R457a2493a84a468d"/>
    <p:sldId xmlns:r="http://schemas.openxmlformats.org/officeDocument/2006/relationships" id="266" r:id="Rb395656bb27f4f18"/>
    <p:sldId xmlns:r="http://schemas.openxmlformats.org/officeDocument/2006/relationships" id="267" r:id="R1a3f913f34954c4d"/>
    <p:sldId xmlns:r="http://schemas.openxmlformats.org/officeDocument/2006/relationships" id="268" r:id="R258029248ba1484e"/>
    <p:sldId xmlns:r="http://schemas.openxmlformats.org/officeDocument/2006/relationships" id="269" r:id="Re74f1400fdfa4ea0"/>
    <p:sldId xmlns:r="http://schemas.openxmlformats.org/officeDocument/2006/relationships" id="270" r:id="R37d8206ffa1f48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e6c81907ca401a" /><Relationship Type="http://schemas.openxmlformats.org/officeDocument/2006/relationships/slideMaster" Target="/ppt/slideMasters/slideMaster1.xml" Id="Rbeda897e04c54aec" /><Relationship Type="http://schemas.openxmlformats.org/officeDocument/2006/relationships/notesMaster" Target="/ppt/notesMasters/notesMaster1.xml" Id="R0a15a3aeb5e345f4" /><Relationship Type="http://schemas.openxmlformats.org/officeDocument/2006/relationships/presProps" Target="/ppt/presProps.xml" Id="Rc18d46d35ac44b5e" /><Relationship Type="http://schemas.openxmlformats.org/officeDocument/2006/relationships/tableStyles" Target="/ppt/tableStyles.xml" Id="R8014289426e4423b" /><Relationship Type="http://schemas.openxmlformats.org/officeDocument/2006/relationships/slide" Target="/ppt/slides/slide1.xml" Id="Re31ed3d0f7b04b50" /><Relationship Type="http://schemas.openxmlformats.org/officeDocument/2006/relationships/slide" Target="/ppt/slides/slide2.xml" Id="Rffb860d5b4974e2d" /><Relationship Type="http://schemas.openxmlformats.org/officeDocument/2006/relationships/slide" Target="/ppt/slides/slide3.xml" Id="R20d52ea0ba8d4f62" /><Relationship Type="http://schemas.openxmlformats.org/officeDocument/2006/relationships/slide" Target="/ppt/slides/slide4.xml" Id="Re7470fe90c404524" /><Relationship Type="http://schemas.openxmlformats.org/officeDocument/2006/relationships/slide" Target="/ppt/slides/slide5.xml" Id="R156c0e27423e4e78" /><Relationship Type="http://schemas.openxmlformats.org/officeDocument/2006/relationships/slide" Target="/ppt/slides/slide6.xml" Id="R8d093a9040bc4750" /><Relationship Type="http://schemas.openxmlformats.org/officeDocument/2006/relationships/slide" Target="/ppt/slides/slide7.xml" Id="R64b9c76bec0f4c84" /><Relationship Type="http://schemas.openxmlformats.org/officeDocument/2006/relationships/slide" Target="/ppt/slides/slide8.xml" Id="R892cee27c9894f86" /><Relationship Type="http://schemas.openxmlformats.org/officeDocument/2006/relationships/slide" Target="/ppt/slides/slide9.xml" Id="R38b319bc6adc452a" /><Relationship Type="http://schemas.openxmlformats.org/officeDocument/2006/relationships/slide" Target="/ppt/slides/slide10.xml" Id="R457a2493a84a468d" /><Relationship Type="http://schemas.openxmlformats.org/officeDocument/2006/relationships/slide" Target="/ppt/slides/slide11.xml" Id="Rb395656bb27f4f18" /><Relationship Type="http://schemas.openxmlformats.org/officeDocument/2006/relationships/slide" Target="/ppt/slides/slide12.xml" Id="R1a3f913f34954c4d" /><Relationship Type="http://schemas.openxmlformats.org/officeDocument/2006/relationships/slide" Target="/ppt/slides/slide13.xml" Id="R258029248ba1484e" /><Relationship Type="http://schemas.openxmlformats.org/officeDocument/2006/relationships/slide" Target="/ppt/slides/slide14.xml" Id="Re74f1400fdfa4ea0" /><Relationship Type="http://schemas.openxmlformats.org/officeDocument/2006/relationships/slide" Target="/ppt/slides/slide15.xml" Id="R37d8206ffa1f48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e7d2caeafa45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04df62831a4402" /><Relationship Type="http://schemas.openxmlformats.org/officeDocument/2006/relationships/notesMaster" Target="/ppt/notesMasters/notesMaster1.xml" Id="R1c3d1ed0d19240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7502dc212b4cd4" /><Relationship Type="http://schemas.openxmlformats.org/officeDocument/2006/relationships/notesMaster" Target="/ppt/notesMasters/notesMaster1.xml" Id="R6b36d0b3d85846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1944d810c4b5d" /><Relationship Type="http://schemas.openxmlformats.org/officeDocument/2006/relationships/notesMaster" Target="/ppt/notesMasters/notesMaster1.xml" Id="Rd700b31113e045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08f69c0c6c4ca1" /><Relationship Type="http://schemas.openxmlformats.org/officeDocument/2006/relationships/notesMaster" Target="/ppt/notesMasters/notesMaster1.xml" Id="R0bfa2102151b4c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3117932f42426e" /><Relationship Type="http://schemas.openxmlformats.org/officeDocument/2006/relationships/notesMaster" Target="/ppt/notesMasters/notesMaster1.xml" Id="Rd3243078e83a46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9d96c696524287" /><Relationship Type="http://schemas.openxmlformats.org/officeDocument/2006/relationships/notesMaster" Target="/ppt/notesMasters/notesMaster1.xml" Id="R658e5f27c56e48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faf4c222964b7c" /><Relationship Type="http://schemas.openxmlformats.org/officeDocument/2006/relationships/notesMaster" Target="/ppt/notesMasters/notesMaster1.xml" Id="Rc3dd56d4ffd34d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b74871c90e424e" /><Relationship Type="http://schemas.openxmlformats.org/officeDocument/2006/relationships/notesMaster" Target="/ppt/notesMasters/notesMaster1.xml" Id="R0fb14717b09f42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5efad5e1ee4c39" /><Relationship Type="http://schemas.openxmlformats.org/officeDocument/2006/relationships/notesMaster" Target="/ppt/notesMasters/notesMaster1.xml" Id="R50a6c371a57447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7c3b77012f4b31" /><Relationship Type="http://schemas.openxmlformats.org/officeDocument/2006/relationships/notesMaster" Target="/ppt/notesMasters/notesMaster1.xml" Id="R0280852c75d64c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83914664fe4395" /><Relationship Type="http://schemas.openxmlformats.org/officeDocument/2006/relationships/notesMaster" Target="/ppt/notesMasters/notesMaster1.xml" Id="Ra8bbebd0af354b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a870602ebd4a1b" /><Relationship Type="http://schemas.openxmlformats.org/officeDocument/2006/relationships/notesMaster" Target="/ppt/notesMasters/notesMaster1.xml" Id="R1ed5fd8db3f242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2bd757ca524585" /><Relationship Type="http://schemas.openxmlformats.org/officeDocument/2006/relationships/notesMaster" Target="/ppt/notesMasters/notesMaster1.xml" Id="Ra97f331bda214c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1593dffc0549af" /><Relationship Type="http://schemas.openxmlformats.org/officeDocument/2006/relationships/notesMaster" Target="/ppt/notesMasters/notesMaster1.xml" Id="R285c0b8ed45e49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601e6280954cd9" /><Relationship Type="http://schemas.openxmlformats.org/officeDocument/2006/relationships/notesMaster" Target="/ppt/notesMasters/notesMaster1.xml" Id="R4857858d98364f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The time, question, and product request are illustrative. They are not a measured customer incident or time study. The slide makes the actor explicit: the in-house lawyer reconstructs the business and legal context and reviews the generic AI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efficiency statement is a product promise, not a measured time-savings claim.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capacity statement summarizes the founder’s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b3cdf03e0046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74bec819044fdc" /><Relationship Type="http://schemas.openxmlformats.org/officeDocument/2006/relationships/slideLayout" Target="/ppt/slideLayouts/slideLayout1.xml" Id="R0398723508a74c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98723508a74c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1686cc4a65444a" /><Relationship Type="http://schemas.openxmlformats.org/officeDocument/2006/relationships/image" Target="/ppt/media/image.png" Id="R727cdbe939104f5d" /><Relationship Type="http://schemas.openxmlformats.org/officeDocument/2006/relationships/notesSlide" Target="/ppt/notesSlides/notesSlide1.xml" Id="Rcf5581fe6e3b45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b46ed4620a401d" /><Relationship Type="http://schemas.openxmlformats.org/officeDocument/2006/relationships/notesSlide" Target="/ppt/notesSlides/notesSlide2.xml" Id="R30ad4a585a024e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163e91bf5c461d" /><Relationship Type="http://schemas.openxmlformats.org/officeDocument/2006/relationships/notesSlide" Target="/ppt/notesSlides/notesSlide3.xml" Id="R2c6b2b01c73945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9991c0cb88440d" /><Relationship Type="http://schemas.openxmlformats.org/officeDocument/2006/relationships/notesSlide" Target="/ppt/notesSlides/notesSlide4.xml" Id="R373dfdd853d7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8187e6c143436d" /><Relationship Type="http://schemas.openxmlformats.org/officeDocument/2006/relationships/notesSlide" Target="/ppt/notesSlides/notesSlide5.xml" Id="R1c988b49b71043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3518b16feb42af" /><Relationship Type="http://schemas.openxmlformats.org/officeDocument/2006/relationships/notesSlide" Target="/ppt/notesSlides/notesSlide6.xml" Id="Rabd6cf60ee8746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9c815afd394764" /><Relationship Type="http://schemas.openxmlformats.org/officeDocument/2006/relationships/notesSlide" Target="/ppt/notesSlides/notesSlide7.xml" Id="R05d681b5c15946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9129932ddc4a9c" /><Relationship Type="http://schemas.openxmlformats.org/officeDocument/2006/relationships/notesSlide" Target="/ppt/notesSlides/notesSlide8.xml" Id="R8d78e02df63841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4b38ac6a0d2405e" /><Relationship Type="http://schemas.openxmlformats.org/officeDocument/2006/relationships/notesSlide" Target="/ppt/notesSlides/notesSlide9.xml" Id="R2346631501a142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9ecaf18cb24b4a" /><Relationship Type="http://schemas.openxmlformats.org/officeDocument/2006/relationships/notesSlide" Target="/ppt/notesSlides/notesSlide10.xml" Id="R109f6f60a2454d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8e4aca647e4411" /><Relationship Type="http://schemas.openxmlformats.org/officeDocument/2006/relationships/notesSlide" Target="/ppt/notesSlides/notesSlide11.xml" Id="R4191de7538b34e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35f26ca2f7461d" /><Relationship Type="http://schemas.openxmlformats.org/officeDocument/2006/relationships/image" Target="/ppt/media/image2.png" Id="R71bae0fb639442e0" /><Relationship Type="http://schemas.openxmlformats.org/officeDocument/2006/relationships/notesSlide" Target="/ppt/notesSlides/notesSlide12.xml" Id="R669a41f747ce4e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c14dd6e5cc4b00" /><Relationship Type="http://schemas.openxmlformats.org/officeDocument/2006/relationships/notesSlide" Target="/ppt/notesSlides/notesSlide13.xml" Id="R53e5eaebb55740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73e6da5e9ee418a" /><Relationship Type="http://schemas.openxmlformats.org/officeDocument/2006/relationships/image" Target="/ppt/media/image3.png" Id="Rc196abd6ce0a463a" /><Relationship Type="http://schemas.openxmlformats.org/officeDocument/2006/relationships/notesSlide" Target="/ppt/notesSlides/notesSlide14.xml" Id="Rb841022796f844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4605be0e2554a51" /><Relationship Type="http://schemas.openxmlformats.org/officeDocument/2006/relationships/notesSlide" Target="/ppt/notesSlides/notesSlide15.xml" Id="Rfbab21412e484deb"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27cdbe939104f5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7CFB87-029E-4186-91E7-394D67412BDB}"/>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73C017FD-F107-418A-954F-874960FEF57E}"/>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D1A3504-0BAE-479D-88C9-E2D1E12C6CE9}"/>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5" name="">
            <a:extLst xmlns:a="http://schemas.openxmlformats.org/drawingml/2006/main">
              <a:ext uri="{FF2B5EF4-FFF2-40B4-BE49-F238E27FC236}">
                <a16:creationId xmlns:a16="http://schemas.microsoft.com/office/drawing/2014/main" id="{50449EAD-7788-4914-9A2C-17D611878509}"/>
              </a:ext>
            </a:extLst>
          </p:cNvPr>
          <p:cNvSpPr>
            <a:spLocks xmlns:a="http://schemas.openxmlformats.org/drawingml/2006/main" noGrp="1"/>
          </p:cNvSpPr>
          <p:nvPr/>
        </p:nvSpPr>
        <p:spPr>
          <a:xfrm xmlns:a="http://schemas.openxmlformats.org/drawingml/2006/main">
            <a:off x="647700" y="476250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DBE1EB"/>
                </a:solidFill>
                <a:latin typeface="Arial"/>
                <a:ea typeface="Arial"/>
                <a:cs typeface="Arial"/>
              </a:defRPr>
            </a:pPr>
            <a:r>
              <a:rPr sz="1875" b="0">
                <a:solidFill>
                  <a:srgbClr val="DBE1EB"/>
                </a:solidFill>
                <a:latin typeface="Arial"/>
                <a:ea typeface="Arial"/>
                <a:cs typeface="Arial"/>
              </a:rPr>
              <a:t>An AI workspace that helps small legal teams turn incomplete business requests into organized analysis, usable work, and lawyer-owned decisions.</a:t>
            </a:r>
          </a:p>
        </p:txBody>
      </p:sp>
      <p:sp>
        <p:nvSpPr>
          <p:cNvPr id="6" name="">
            <a:extLst xmlns:a="http://schemas.openxmlformats.org/drawingml/2006/main">
              <a:ext uri="{FF2B5EF4-FFF2-40B4-BE49-F238E27FC236}">
                <a16:creationId xmlns:a16="http://schemas.microsoft.com/office/drawing/2014/main" id="{9246CDCD-ED66-468B-8514-34B73F9CC605}"/>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1507310177"/>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B25F77-5A52-49CF-B98E-606436C9B3E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D8642469-CCF1-4C7B-BC6A-EC2AF2B6E55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C4D31F9A-A8FD-4A61-A4A5-047659BD5745}"/>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76E4FF8-A35D-4F79-BC10-48AD8280873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68AF6DA-C963-4C6A-B5D1-D3C10C74BD61}"/>
              </a:ext>
            </a:extLst>
          </p:cNvPr>
          <p:cNvSpPr>
            <a:spLocks xmlns:a="http://schemas.openxmlformats.org/drawingml/2006/main" noGrp="1"/>
          </p:cNvSpPr>
          <p:nvPr/>
        </p:nvSpPr>
        <p:spPr>
          <a:xfrm xmlns:a="http://schemas.openxmlformats.org/drawingml/2006/main">
            <a:off x="609600" y="22574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REQUEST · 4:12 P.M.</a:t>
            </a:r>
          </a:p>
        </p:txBody>
      </p:sp>
      <p:sp>
        <p:nvSpPr>
          <p:cNvPr id="6" name="">
            <a:extLst xmlns:a="http://schemas.openxmlformats.org/drawingml/2006/main">
              <a:ext uri="{FF2B5EF4-FFF2-40B4-BE49-F238E27FC236}">
                <a16:creationId xmlns:a16="http://schemas.microsoft.com/office/drawing/2014/main" id="{1FA8A3C7-2FA6-44D1-8AA3-3FE5F63DBD00}"/>
              </a:ext>
            </a:extLst>
          </p:cNvPr>
          <p:cNvSpPr>
            <a:spLocks xmlns:a="http://schemas.openxmlformats.org/drawingml/2006/main" noGrp="1"/>
          </p:cNvSpPr>
          <p:nvPr/>
        </p:nvSpPr>
        <p:spPr>
          <a:xfrm xmlns:a="http://schemas.openxmlformats.org/drawingml/2006/main">
            <a:off x="609600" y="26955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52F105DC-2C7C-4FCC-99B9-351E8D311E61}"/>
              </a:ext>
            </a:extLst>
          </p:cNvPr>
          <p:cNvSpPr>
            <a:spLocks xmlns:a="http://schemas.openxmlformats.org/drawingml/2006/main" noGrp="1"/>
          </p:cNvSpPr>
          <p:nvPr/>
        </p:nvSpPr>
        <p:spPr>
          <a:xfrm xmlns:a="http://schemas.openxmlformats.org/drawingml/2006/main">
            <a:off x="609600" y="36099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That short message leaves out facts the legal answer may depend on: how the product works, which company does what, when each step happens, and what the company decided before.</a:t>
            </a:r>
          </a:p>
        </p:txBody>
      </p:sp>
      <p:sp>
        <p:nvSpPr>
          <p:cNvPr id="8" name="">
            <a:extLst xmlns:a="http://schemas.openxmlformats.org/drawingml/2006/main">
              <a:ext uri="{FF2B5EF4-FFF2-40B4-BE49-F238E27FC236}">
                <a16:creationId xmlns:a16="http://schemas.microsoft.com/office/drawing/2014/main" id="{BC943100-C62C-4FCF-8599-93374584BDC3}"/>
              </a:ext>
            </a:extLst>
          </p:cNvPr>
          <p:cNvSpPr>
            <a:spLocks xmlns:a="http://schemas.openxmlformats.org/drawingml/2006/main" noGrp="1"/>
          </p:cNvSpPr>
          <p:nvPr/>
        </p:nvSpPr>
        <p:spPr>
          <a:xfrm xmlns:a="http://schemas.openxmlformats.org/drawingml/2006/main">
            <a:off x="6191250" y="2257425"/>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LAWYER’S WORK BEFORE ANSWERING</a:t>
            </a:r>
          </a:p>
        </p:txBody>
      </p:sp>
      <p:sp>
        <p:nvSpPr>
          <p:cNvPr id="9" name="">
            <a:extLst xmlns:a="http://schemas.openxmlformats.org/drawingml/2006/main">
              <a:ext uri="{FF2B5EF4-FFF2-40B4-BE49-F238E27FC236}">
                <a16:creationId xmlns:a16="http://schemas.microsoft.com/office/drawing/2014/main" id="{240BA6FE-AECB-44B4-90DB-B80F813707C2}"/>
              </a:ext>
            </a:extLst>
          </p:cNvPr>
          <p:cNvSpPr>
            <a:spLocks xmlns:a="http://schemas.openxmlformats.org/drawingml/2006/main" noGrp="1"/>
          </p:cNvSpPr>
          <p:nvPr/>
        </p:nvSpPr>
        <p:spPr>
          <a:xfrm xmlns:a="http://schemas.openxmlformats.org/drawingml/2006/main">
            <a:off x="6191250" y="2686050"/>
            <a:ext cx="53816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Gather the product documents and history.</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Verify what the business is actually doing.</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Find the governing law and recent developments.</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Explain the options and what could change the answer.</a:t>
            </a:r>
          </a:p>
        </p:txBody>
      </p:sp>
      <p:sp>
        <p:nvSpPr>
          <p:cNvPr id="10" name="">
            <a:extLst xmlns:a="http://schemas.openxmlformats.org/drawingml/2006/main">
              <a:ext uri="{FF2B5EF4-FFF2-40B4-BE49-F238E27FC236}">
                <a16:creationId xmlns:a16="http://schemas.microsoft.com/office/drawing/2014/main" id="{944DD2E6-9FC7-46AC-8C39-4933A87FCA2A}"/>
              </a:ext>
            </a:extLst>
          </p:cNvPr>
          <p:cNvSpPr>
            <a:spLocks xmlns:a="http://schemas.openxmlformats.org/drawingml/2006/main" noGrp="1"/>
          </p:cNvSpPr>
          <p:nvPr/>
        </p:nvSpPr>
        <p:spPr>
          <a:xfrm xmlns:a="http://schemas.openxmlformats.org/drawingml/2006/main">
            <a:off x="6191250" y="46101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GENERIC AI DOES NOT REMOVE THIS PREPARATION</a:t>
            </a:r>
          </a:p>
        </p:txBody>
      </p:sp>
      <p:sp>
        <p:nvSpPr>
          <p:cNvPr id="11" name="">
            <a:extLst xmlns:a="http://schemas.openxmlformats.org/drawingml/2006/main">
              <a:ext uri="{FF2B5EF4-FFF2-40B4-BE49-F238E27FC236}">
                <a16:creationId xmlns:a16="http://schemas.microsoft.com/office/drawing/2014/main" id="{327FABB6-6AC7-4A32-A346-A4FEFB4DB388}"/>
              </a:ext>
            </a:extLst>
          </p:cNvPr>
          <p:cNvSpPr>
            <a:spLocks xmlns:a="http://schemas.openxmlformats.org/drawingml/2006/main" noGrp="1"/>
          </p:cNvSpPr>
          <p:nvPr/>
        </p:nvSpPr>
        <p:spPr>
          <a:xfrm xmlns:a="http://schemas.openxmlformats.org/drawingml/2006/main">
            <a:off x="6191250" y="5019675"/>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0">
                <a:solidFill>
                  <a:srgbClr val="596273"/>
                </a:solidFill>
                <a:latin typeface="Arial"/>
                <a:ea typeface="Arial"/>
                <a:cs typeface="Arial"/>
              </a:defRPr>
            </a:pPr>
            <a:r>
              <a:rPr sz="1650" b="0">
                <a:solidFill>
                  <a:srgbClr val="596273"/>
                </a:solidFill>
                <a:latin typeface="Arial"/>
                <a:ea typeface="Arial"/>
                <a:cs typeface="Arial"/>
              </a:rPr>
              <a:t>The lawyer must still load the context, point the model toward the right issues, challenge confident assumptions, and check the sources.</a:t>
            </a:r>
          </a:p>
        </p:txBody>
      </p:sp>
      <p:sp>
        <p:nvSpPr>
          <p:cNvPr id="12" name="">
            <a:extLst xmlns:a="http://schemas.openxmlformats.org/drawingml/2006/main">
              <a:ext uri="{FF2B5EF4-FFF2-40B4-BE49-F238E27FC236}">
                <a16:creationId xmlns:a16="http://schemas.microsoft.com/office/drawing/2014/main" id="{CF00240E-6CB4-4C14-8BEC-9933B3BA614C}"/>
              </a:ext>
            </a:extLst>
          </p:cNvPr>
          <p:cNvSpPr>
            <a:spLocks xmlns:a="http://schemas.openxmlformats.org/drawingml/2006/main" noGrp="1"/>
          </p:cNvSpPr>
          <p:nvPr/>
        </p:nvSpPr>
        <p:spPr>
          <a:xfrm xmlns:a="http://schemas.openxmlformats.org/drawingml/2006/main">
            <a:off x="609600" y="5857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17243E"/>
                </a:solidFill>
                <a:latin typeface="Georgia"/>
                <a:ea typeface="Georgia"/>
                <a:cs typeface="Georgia"/>
              </a:defRPr>
            </a:pPr>
            <a:r>
              <a:rPr sz="2100" b="1">
                <a:solidFill>
                  <a:srgbClr val="17243E"/>
                </a:solidFill>
                <a:latin typeface="Georgia"/>
                <a:ea typeface="Georgia"/>
                <a:cs typeface="Georgia"/>
              </a:rPr>
              <a:t>The business asked for an answer. The lawyer first has to build the question.</a:t>
            </a:r>
          </a:p>
        </p:txBody>
      </p:sp>
    </p:spTree>
    <p:extLst>
      <p:ext uri="{BB962C8B-B14F-4D97-AF65-F5344CB8AC3E}">
        <p14:creationId xmlns:p14="http://schemas.microsoft.com/office/powerpoint/2010/main" val="2081670009"/>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2D96C1-0A41-407E-B2DB-F55A6D6228B3}"/>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E6F9B967-BC29-4450-B856-191B8653D1EA}"/>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business asks for a yes or no.</a:t>
            </a:r>
          </a:p>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lawyer needs the conditions behind it.</a:t>
            </a:r>
          </a:p>
        </p:txBody>
      </p:sp>
      <p:sp>
        <p:nvSpPr>
          <p:cNvPr id="3" name="">
            <a:extLst xmlns:a="http://schemas.openxmlformats.org/drawingml/2006/main">
              <a:ext uri="{FF2B5EF4-FFF2-40B4-BE49-F238E27FC236}">
                <a16:creationId xmlns:a16="http://schemas.microsoft.com/office/drawing/2014/main" id="{1A403F55-1E38-41AE-8C8E-EFCC3FDC76C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DAC0B84-90C4-4D9E-AEE0-392D7F5AA247}"/>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E61F6EA-312F-4550-8C0D-DCB9F5C009A8}"/>
              </a:ext>
            </a:extLst>
          </p:cNvPr>
          <p:cNvSpPr>
            <a:spLocks xmlns:a="http://schemas.openxmlformats.org/drawingml/2006/main" noGrp="1"/>
          </p:cNvSpPr>
          <p:nvPr/>
        </p:nvSpPr>
        <p:spPr>
          <a:xfrm xmlns:a="http://schemas.openxmlformats.org/drawingml/2006/main">
            <a:off x="609600" y="2466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BUSINESS QUESTION</a:t>
            </a:r>
          </a:p>
        </p:txBody>
      </p:sp>
      <p:sp>
        <p:nvSpPr>
          <p:cNvPr id="6" name="">
            <a:extLst xmlns:a="http://schemas.openxmlformats.org/drawingml/2006/main">
              <a:ext uri="{FF2B5EF4-FFF2-40B4-BE49-F238E27FC236}">
                <a16:creationId xmlns:a16="http://schemas.microsoft.com/office/drawing/2014/main" id="{822890AE-F868-4A5B-9B24-6FB48F8548F8}"/>
              </a:ext>
            </a:extLst>
          </p:cNvPr>
          <p:cNvSpPr>
            <a:spLocks xmlns:a="http://schemas.openxmlformats.org/drawingml/2006/main" noGrp="1"/>
          </p:cNvSpPr>
          <p:nvPr/>
        </p:nvSpPr>
        <p:spPr>
          <a:xfrm xmlns:a="http://schemas.openxmlformats.org/drawingml/2006/main">
            <a:off x="609600" y="2981325"/>
            <a:ext cx="438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0">
                <a:solidFill>
                  <a:srgbClr val="FAF8F2"/>
                </a:solidFill>
                <a:latin typeface="Georgia"/>
                <a:ea typeface="Georgia"/>
                <a:cs typeface="Georgia"/>
              </a:defRPr>
            </a:pPr>
            <a:r>
              <a:rPr sz="3225" b="0">
                <a:solidFill>
                  <a:srgbClr val="FAF8F2"/>
                </a:solidFill>
                <a:latin typeface="Georgia"/>
                <a:ea typeface="Georgia"/>
                <a:cs typeface="Georgia"/>
              </a:rPr>
              <a:t>“Can we launch Friday?”</a:t>
            </a:r>
          </a:p>
        </p:txBody>
      </p:sp>
      <p:sp>
        <p:nvSpPr>
          <p:cNvPr id="7" name="">
            <a:extLst xmlns:a="http://schemas.openxmlformats.org/drawingml/2006/main">
              <a:ext uri="{FF2B5EF4-FFF2-40B4-BE49-F238E27FC236}">
                <a16:creationId xmlns:a16="http://schemas.microsoft.com/office/drawing/2014/main" id="{3E239296-CF20-4258-8DA7-C10CD6939813}"/>
              </a:ext>
            </a:extLst>
          </p:cNvPr>
          <p:cNvSpPr>
            <a:spLocks xmlns:a="http://schemas.openxmlformats.org/drawingml/2006/main" noGrp="1"/>
          </p:cNvSpPr>
          <p:nvPr/>
        </p:nvSpPr>
        <p:spPr>
          <a:xfrm xmlns:a="http://schemas.openxmlformats.org/drawingml/2006/main">
            <a:off x="5810250" y="24669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THE ANSWER MAY CHANGE BASED ON</a:t>
            </a:r>
          </a:p>
        </p:txBody>
      </p:sp>
      <p:sp>
        <p:nvSpPr>
          <p:cNvPr id="8" name="">
            <a:extLst xmlns:a="http://schemas.openxmlformats.org/drawingml/2006/main">
              <a:ext uri="{FF2B5EF4-FFF2-40B4-BE49-F238E27FC236}">
                <a16:creationId xmlns:a16="http://schemas.microsoft.com/office/drawing/2014/main" id="{7CC4E7B6-C2A5-4613-8E1F-DCF6CC4F0299}"/>
              </a:ext>
            </a:extLst>
          </p:cNvPr>
          <p:cNvSpPr>
            <a:spLocks xmlns:a="http://schemas.openxmlformats.org/drawingml/2006/main" noGrp="1"/>
          </p:cNvSpPr>
          <p:nvPr/>
        </p:nvSpPr>
        <p:spPr>
          <a:xfrm xmlns:a="http://schemas.openxmlformats.org/drawingml/2006/main">
            <a:off x="5810250" y="2971800"/>
            <a:ext cx="5715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What the product actually does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company handles the money or data</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When each step happens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Where the product and users are located</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laws and earlier company decisions apply</a:t>
            </a:r>
          </a:p>
        </p:txBody>
      </p:sp>
      <p:sp>
        <p:nvSpPr>
          <p:cNvPr id="9" name="">
            <a:extLst xmlns:a="http://schemas.openxmlformats.org/drawingml/2006/main">
              <a:ext uri="{FF2B5EF4-FFF2-40B4-BE49-F238E27FC236}">
                <a16:creationId xmlns:a16="http://schemas.microsoft.com/office/drawing/2014/main" id="{CA30FF0F-129B-42E0-B2C0-0A3665BEA719}"/>
              </a:ext>
            </a:extLst>
          </p:cNvPr>
          <p:cNvSpPr>
            <a:spLocks xmlns:a="http://schemas.openxmlformats.org/drawingml/2006/main" noGrp="1"/>
          </p:cNvSpPr>
          <p:nvPr/>
        </p:nvSpPr>
        <p:spPr>
          <a:xfrm xmlns:a="http://schemas.openxmlformats.org/drawingml/2006/main">
            <a:off x="609600" y="572452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Generic AI often answers from the facts it receives. A lawyer must prepare for facts that are missing, disputed, or wrong.</a:t>
            </a:r>
          </a:p>
        </p:txBody>
      </p:sp>
    </p:spTree>
    <p:extLst>
      <p:ext uri="{BB962C8B-B14F-4D97-AF65-F5344CB8AC3E}">
        <p14:creationId xmlns:p14="http://schemas.microsoft.com/office/powerpoint/2010/main" val="448961917"/>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750689-B902-4873-A4B0-617E72BAD31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24A561BB-0212-4D86-A441-64DB3944FDE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AI can now do useful legal work.</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It still needs a lawyer to make it useful.</a:t>
            </a:r>
          </a:p>
        </p:txBody>
      </p:sp>
      <p:sp>
        <p:nvSpPr>
          <p:cNvPr id="3" name="">
            <a:extLst xmlns:a="http://schemas.openxmlformats.org/drawingml/2006/main">
              <a:ext uri="{FF2B5EF4-FFF2-40B4-BE49-F238E27FC236}">
                <a16:creationId xmlns:a16="http://schemas.microsoft.com/office/drawing/2014/main" id="{CA4D99CF-940D-4E33-B11C-523212BA861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66C680C-A11E-4FAF-9D1D-ED97758E7BB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C2CB55C-1952-4919-BB61-1178788C015D}"/>
              </a:ext>
            </a:extLst>
          </p:cNvPr>
          <p:cNvSpPr>
            <a:spLocks xmlns:a="http://schemas.openxmlformats.org/drawingml/2006/main" noGrp="1"/>
          </p:cNvSpPr>
          <p:nvPr/>
        </p:nvSpPr>
        <p:spPr>
          <a:xfrm xmlns:a="http://schemas.openxmlformats.org/drawingml/2006/main">
            <a:off x="609600" y="245745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Brian began building Themis after using newer AI models for legal research, synthesis, and drafting in his own work.</a:t>
            </a:r>
          </a:p>
        </p:txBody>
      </p:sp>
      <p:sp>
        <p:nvSpPr>
          <p:cNvPr id="6" name="">
            <a:extLst xmlns:a="http://schemas.openxmlformats.org/drawingml/2006/main">
              <a:ext uri="{FF2B5EF4-FFF2-40B4-BE49-F238E27FC236}">
                <a16:creationId xmlns:a16="http://schemas.microsoft.com/office/drawing/2014/main" id="{D4CE0F22-C891-4901-A2DA-5CEB33C2B8AD}"/>
              </a:ext>
            </a:extLst>
          </p:cNvPr>
          <p:cNvSpPr>
            <a:spLocks xmlns:a="http://schemas.openxmlformats.org/drawingml/2006/main" noGrp="1"/>
          </p:cNvSpPr>
          <p:nvPr/>
        </p:nvSpPr>
        <p:spPr>
          <a:xfrm xmlns:a="http://schemas.openxmlformats.org/drawingml/2006/main">
            <a:off x="6667500" y="2457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WITHOUT A LEGAL WORKSPACE, THE LAWYER MUST REPEAT</a:t>
            </a:r>
          </a:p>
        </p:txBody>
      </p:sp>
      <p:sp>
        <p:nvSpPr>
          <p:cNvPr id="7" name="">
            <a:extLst xmlns:a="http://schemas.openxmlformats.org/drawingml/2006/main">
              <a:ext uri="{FF2B5EF4-FFF2-40B4-BE49-F238E27FC236}">
                <a16:creationId xmlns:a16="http://schemas.microsoft.com/office/drawing/2014/main" id="{D6C210B2-7404-4C7B-B020-F138AA9F83AC}"/>
              </a:ext>
            </a:extLst>
          </p:cNvPr>
          <p:cNvSpPr>
            <a:spLocks xmlns:a="http://schemas.openxmlformats.org/drawingml/2006/main" noGrp="1"/>
          </p:cNvSpPr>
          <p:nvPr/>
        </p:nvSpPr>
        <p:spPr>
          <a:xfrm xmlns:a="http://schemas.openxmlformats.org/drawingml/2006/main">
            <a:off x="6667500" y="3076575"/>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Explain the company and product</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Upload the matter documents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Guide the model toward the relevant law</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Challenge its assumptions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Turn the result into usable legal work</a:t>
            </a:r>
          </a:p>
        </p:txBody>
      </p:sp>
      <p:sp>
        <p:nvSpPr>
          <p:cNvPr id="8" name="">
            <a:extLst xmlns:a="http://schemas.openxmlformats.org/drawingml/2006/main">
              <a:ext uri="{FF2B5EF4-FFF2-40B4-BE49-F238E27FC236}">
                <a16:creationId xmlns:a16="http://schemas.microsoft.com/office/drawing/2014/main" id="{2034D196-D0FD-40C7-82BC-DF9D3879E5FD}"/>
              </a:ext>
            </a:extLst>
          </p:cNvPr>
          <p:cNvSpPr>
            <a:spLocks xmlns:a="http://schemas.openxmlformats.org/drawingml/2006/main" noGrp="1"/>
          </p:cNvSpPr>
          <p:nvPr/>
        </p:nvSpPr>
        <p:spPr>
          <a:xfrm xmlns:a="http://schemas.openxmlformats.org/drawingml/2006/main">
            <a:off x="609600" y="57245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The opportunity is to design the product around how lawyers examine questions and reach decisions.</a:t>
            </a:r>
          </a:p>
        </p:txBody>
      </p:sp>
    </p:spTree>
    <p:extLst>
      <p:ext uri="{BB962C8B-B14F-4D97-AF65-F5344CB8AC3E}">
        <p14:creationId xmlns:p14="http://schemas.microsoft.com/office/powerpoint/2010/main" val="860473002"/>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719C35-1631-40C0-BE27-6C4C8EBFFAF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EC3D48FE-1E76-49E3-9E9C-120F73A74FE3}"/>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Themis turns an incomplete request into</a:t>
            </a:r>
          </a:p>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a legal matter the lawyer can work from.</a:t>
            </a:r>
          </a:p>
        </p:txBody>
      </p:sp>
      <p:sp>
        <p:nvSpPr>
          <p:cNvPr id="3" name="">
            <a:extLst xmlns:a="http://schemas.openxmlformats.org/drawingml/2006/main">
              <a:ext uri="{FF2B5EF4-FFF2-40B4-BE49-F238E27FC236}">
                <a16:creationId xmlns:a16="http://schemas.microsoft.com/office/drawing/2014/main" id="{56C282C3-1386-49D7-99C1-A7CD456D60D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7AC12B8-B647-46A0-866D-C64DD591398D}"/>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ED197FE-CF3D-4CCD-B8FA-731A1BF22D73}"/>
              </a:ext>
            </a:extLst>
          </p:cNvPr>
          <p:cNvSpPr>
            <a:spLocks xmlns:a="http://schemas.openxmlformats.org/drawingml/2006/main" noGrp="1"/>
          </p:cNvSpPr>
          <p:nvPr/>
        </p:nvSpPr>
        <p:spPr>
          <a:xfrm xmlns:a="http://schemas.openxmlformats.org/drawingml/2006/main">
            <a:off x="609600" y="239077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Themis is a matter-centered AI workspace for in-house lawyers. It keeps the work around a business question together as the facts and law change.</a:t>
            </a:r>
          </a:p>
        </p:txBody>
      </p:sp>
      <p:sp>
        <p:nvSpPr>
          <p:cNvPr id="6" name="">
            <a:extLst xmlns:a="http://schemas.openxmlformats.org/drawingml/2006/main">
              <a:ext uri="{FF2B5EF4-FFF2-40B4-BE49-F238E27FC236}">
                <a16:creationId xmlns:a16="http://schemas.microsoft.com/office/drawing/2014/main" id="{86BA0B22-F386-48B5-B886-65386024D9E5}"/>
              </a:ext>
            </a:extLst>
          </p:cNvPr>
          <p:cNvSpPr>
            <a:spLocks xmlns:a="http://schemas.openxmlformats.org/drawingml/2006/main" noGrp="1"/>
          </p:cNvSpPr>
          <p:nvPr/>
        </p:nvSpPr>
        <p:spPr>
          <a:xfrm xmlns:a="http://schemas.openxmlformats.org/drawingml/2006/main">
            <a:off x="609600" y="400050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THE EFFICIENCY GAIN</a:t>
            </a:r>
          </a:p>
        </p:txBody>
      </p:sp>
      <p:sp>
        <p:nvSpPr>
          <p:cNvPr id="7" name="">
            <a:extLst xmlns:a="http://schemas.openxmlformats.org/drawingml/2006/main">
              <a:ext uri="{FF2B5EF4-FFF2-40B4-BE49-F238E27FC236}">
                <a16:creationId xmlns:a16="http://schemas.microsoft.com/office/drawing/2014/main" id="{04ECAB1F-AD47-4BC3-BAD8-1307656253B0}"/>
              </a:ext>
            </a:extLst>
          </p:cNvPr>
          <p:cNvSpPr>
            <a:spLocks xmlns:a="http://schemas.openxmlformats.org/drawingml/2006/main" noGrp="1"/>
          </p:cNvSpPr>
          <p:nvPr/>
        </p:nvSpPr>
        <p:spPr>
          <a:xfrm xmlns:a="http://schemas.openxmlformats.org/drawingml/2006/main">
            <a:off x="609600" y="43910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1">
                <a:solidFill>
                  <a:srgbClr val="17243E"/>
                </a:solidFill>
                <a:latin typeface="Georgia"/>
                <a:ea typeface="Georgia"/>
                <a:cs typeface="Georgia"/>
              </a:defRPr>
            </a:pPr>
            <a:r>
              <a:rPr sz="1800" b="1">
                <a:solidFill>
                  <a:srgbClr val="17243E"/>
                </a:solidFill>
                <a:latin typeface="Georgia"/>
                <a:ea typeface="Georgia"/>
                <a:cs typeface="Georgia"/>
              </a:rPr>
              <a:t>The lawyer stops rebuilding the matter before every prompt and reaches a usable legal picture faster.</a:t>
            </a:r>
          </a:p>
        </p:txBody>
      </p:sp>
      <p:sp>
        <p:nvSpPr>
          <p:cNvPr id="8" name="">
            <a:extLst xmlns:a="http://schemas.openxmlformats.org/drawingml/2006/main">
              <a:ext uri="{FF2B5EF4-FFF2-40B4-BE49-F238E27FC236}">
                <a16:creationId xmlns:a16="http://schemas.microsoft.com/office/drawing/2014/main" id="{499B1B1B-DEA1-44C7-AF91-39BD00AD5E48}"/>
              </a:ext>
            </a:extLst>
          </p:cNvPr>
          <p:cNvSpPr>
            <a:spLocks xmlns:a="http://schemas.openxmlformats.org/drawingml/2006/main" noGrp="1"/>
          </p:cNvSpPr>
          <p:nvPr/>
        </p:nvSpPr>
        <p:spPr>
          <a:xfrm xmlns:a="http://schemas.openxmlformats.org/drawingml/2006/main">
            <a:off x="6667500" y="23907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EACH MATTER CONNECTS</a:t>
            </a:r>
          </a:p>
        </p:txBody>
      </p:sp>
      <p:sp>
        <p:nvSpPr>
          <p:cNvPr id="9" name="">
            <a:extLst xmlns:a="http://schemas.openxmlformats.org/drawingml/2006/main">
              <a:ext uri="{FF2B5EF4-FFF2-40B4-BE49-F238E27FC236}">
                <a16:creationId xmlns:a16="http://schemas.microsoft.com/office/drawing/2014/main" id="{EDF8AE17-0C1E-4D53-8257-6DDF09EA058B}"/>
              </a:ext>
            </a:extLst>
          </p:cNvPr>
          <p:cNvSpPr>
            <a:spLocks xmlns:a="http://schemas.openxmlformats.org/drawingml/2006/main" noGrp="1"/>
          </p:cNvSpPr>
          <p:nvPr/>
        </p:nvSpPr>
        <p:spPr>
          <a:xfrm xmlns:a="http://schemas.openxmlformats.org/drawingml/2006/main">
            <a:off x="6667500" y="294322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Original business request</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Company context and source documents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Facts, assumptions, and open questions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Research and supported analysis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Draft work and lawyer-recorded decisions</a:t>
            </a:r>
          </a:p>
        </p:txBody>
      </p:sp>
      <p:sp>
        <p:nvSpPr>
          <p:cNvPr id="10" name="">
            <a:extLst xmlns:a="http://schemas.openxmlformats.org/drawingml/2006/main">
              <a:ext uri="{FF2B5EF4-FFF2-40B4-BE49-F238E27FC236}">
                <a16:creationId xmlns:a16="http://schemas.microsoft.com/office/drawing/2014/main" id="{928774DC-4944-4560-AADA-0D6E2F25605D}"/>
              </a:ext>
            </a:extLst>
          </p:cNvPr>
          <p:cNvSpPr>
            <a:spLocks xmlns:a="http://schemas.openxmlformats.org/drawingml/2006/main" noGrp="1"/>
          </p:cNvSpPr>
          <p:nvPr/>
        </p:nvSpPr>
        <p:spPr>
          <a:xfrm xmlns:a="http://schemas.openxmlformats.org/drawingml/2006/main">
            <a:off x="609600" y="55054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0">
                <a:solidFill>
                  <a:srgbClr val="4169A4"/>
                </a:solidFill>
                <a:latin typeface="Georgia"/>
                <a:ea typeface="Georgia"/>
                <a:cs typeface="Georgia"/>
              </a:defRPr>
            </a:pPr>
            <a:r>
              <a:rPr sz="23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176359360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EFB147-FA0D-470B-B0A6-98CB7D49B9B2}"/>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0A0087FD-1BFF-4130-9BE0-56CEA4F3C9A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EBC42773-59CF-4A4B-A583-6EB0E2695608}"/>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D00EBA5-3269-4BB9-9045-0D120D785D7A}"/>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F10C917-D55C-4C39-B731-A8E2EA0088F3}"/>
              </a:ext>
            </a:extLst>
          </p:cNvPr>
          <p:cNvSpPr>
            <a:spLocks xmlns:a="http://schemas.openxmlformats.org/drawingml/2006/main" noGrp="1"/>
          </p:cNvSpPr>
          <p:nvPr/>
        </p:nvSpPr>
        <p:spPr>
          <a:xfrm xmlns:a="http://schemas.openxmlformats.org/drawingml/2006/main">
            <a:off x="609600" y="20288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596273"/>
                </a:solidFill>
                <a:latin typeface="Arial"/>
                <a:ea typeface="Arial"/>
                <a:cs typeface="Arial"/>
              </a:defRPr>
            </a:pPr>
            <a:r>
              <a:rPr sz="1500" b="0">
                <a:solidFill>
                  <a:srgbClr val="596273"/>
                </a:solidFill>
                <a:latin typeface="Arial"/>
                <a:ea typeface="Arial"/>
                <a:cs typeface="Arial"/>
              </a:rPr>
              <a:t>Themis prepares and preserves the work around the decision. The lawyer applies context, risk tolerance, and authority.</a:t>
            </a:r>
          </a:p>
        </p:txBody>
      </p:sp>
      <p:graphicFrame>
        <p:nvGraphicFramePr>
          <p:cNvPr id="13" name=""/>
          <p:cNvGraphicFramePr/>
          <p:nvPr/>
        </p:nvGraphicFramePr>
        <p:xfrm>
          <a:off xmlns:a="http://schemas.openxmlformats.org/drawingml/2006/main" x="609600" y="2505075"/>
          <a:ext xmlns:a="http://schemas.openxmlformats.org/drawingml/2006/main" cx="10972800" cy="284797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7" name="">
            <a:extLst xmlns:a="http://schemas.openxmlformats.org/drawingml/2006/main">
              <a:ext uri="{FF2B5EF4-FFF2-40B4-BE49-F238E27FC236}">
                <a16:creationId xmlns:a16="http://schemas.microsoft.com/office/drawing/2014/main" id="{6F280B0A-E7F3-4460-BF4E-46025AF563D4}"/>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349173267"/>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46CCA78-FDCE-4179-842F-88143865544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47913C12-B082-4EC4-A566-4EC7D735F72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missing fact can change the legal analysis.</a:t>
            </a:r>
          </a:p>
        </p:txBody>
      </p:sp>
      <p:sp>
        <p:nvSpPr>
          <p:cNvPr id="3" name="">
            <a:extLst xmlns:a="http://schemas.openxmlformats.org/drawingml/2006/main">
              <a:ext uri="{FF2B5EF4-FFF2-40B4-BE49-F238E27FC236}">
                <a16:creationId xmlns:a16="http://schemas.microsoft.com/office/drawing/2014/main" id="{33E30D9A-AFB3-4A8A-B6EB-39CE92CD33C0}"/>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1B50EE4-8EBE-4982-9E72-DDAF44F63467}"/>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3E62A54-9B13-44DE-BE21-EEDF8F216BFD}"/>
              </a:ext>
            </a:extLst>
          </p:cNvPr>
          <p:cNvSpPr>
            <a:spLocks xmlns:a="http://schemas.openxmlformats.org/drawingml/2006/main" noGrp="1"/>
          </p:cNvSpPr>
          <p:nvPr/>
        </p:nvSpPr>
        <p:spPr>
          <a:xfrm xmlns:a="http://schemas.openxmlformats.org/drawingml/2006/main">
            <a:off x="609600" y="2057400"/>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BUSINESS REQUEST</a:t>
            </a:r>
          </a:p>
        </p:txBody>
      </p:sp>
      <p:sp>
        <p:nvSpPr>
          <p:cNvPr id="6" name="">
            <a:extLst xmlns:a="http://schemas.openxmlformats.org/drawingml/2006/main">
              <a:ext uri="{FF2B5EF4-FFF2-40B4-BE49-F238E27FC236}">
                <a16:creationId xmlns:a16="http://schemas.microsoft.com/office/drawing/2014/main" id="{B984706A-CF84-4281-81DF-BAA0FFA2D6C2}"/>
              </a:ext>
            </a:extLst>
          </p:cNvPr>
          <p:cNvSpPr>
            <a:spLocks xmlns:a="http://schemas.openxmlformats.org/drawingml/2006/main" noGrp="1"/>
          </p:cNvSpPr>
          <p:nvPr/>
        </p:nvSpPr>
        <p:spPr>
          <a:xfrm xmlns:a="http://schemas.openxmlformats.org/drawingml/2006/main">
            <a:off x="609600" y="24003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“Our marketplace will move money from a customer to a seller. Do we need to change the launch plan?”</a:t>
            </a:r>
          </a:p>
        </p:txBody>
      </p:sp>
      <p:sp>
        <p:nvSpPr>
          <p:cNvPr id="7" name="">
            <a:extLst xmlns:a="http://schemas.openxmlformats.org/drawingml/2006/main">
              <a:ext uri="{FF2B5EF4-FFF2-40B4-BE49-F238E27FC236}">
                <a16:creationId xmlns:a16="http://schemas.microsoft.com/office/drawing/2014/main" id="{9A2B91FD-8509-4EB7-AD4C-D5C32E9D098A}"/>
              </a:ext>
            </a:extLst>
          </p:cNvPr>
          <p:cNvSpPr>
            <a:spLocks xmlns:a="http://schemas.openxmlformats.org/drawingml/2006/main" noGrp="1"/>
          </p:cNvSpPr>
          <p:nvPr/>
        </p:nvSpPr>
        <p:spPr>
          <a:xfrm xmlns:a="http://schemas.openxmlformats.org/drawingml/2006/main">
            <a:off x="6096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24F0E3E4-4BCB-4BE3-9041-76FB280CACA2}"/>
              </a:ext>
            </a:extLst>
          </p:cNvPr>
          <p:cNvSpPr>
            <a:spLocks xmlns:a="http://schemas.openxmlformats.org/drawingml/2006/main" noGrp="1"/>
          </p:cNvSpPr>
          <p:nvPr/>
        </p:nvSpPr>
        <p:spPr>
          <a:xfrm xmlns:a="http://schemas.openxmlformats.org/drawingml/2006/main">
            <a:off x="11811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Map transaction</a:t>
            </a:r>
          </a:p>
        </p:txBody>
      </p:sp>
      <p:sp>
        <p:nvSpPr>
          <p:cNvPr id="9" name="">
            <a:extLst xmlns:a="http://schemas.openxmlformats.org/drawingml/2006/main">
              <a:ext uri="{FF2B5EF4-FFF2-40B4-BE49-F238E27FC236}">
                <a16:creationId xmlns:a16="http://schemas.microsoft.com/office/drawing/2014/main" id="{97392D78-1FC3-48D5-859D-B1C0D418140B}"/>
              </a:ext>
            </a:extLst>
          </p:cNvPr>
          <p:cNvSpPr>
            <a:spLocks xmlns:a="http://schemas.openxmlformats.org/drawingml/2006/main" noGrp="1"/>
          </p:cNvSpPr>
          <p:nvPr/>
        </p:nvSpPr>
        <p:spPr>
          <a:xfrm xmlns:a="http://schemas.openxmlformats.org/drawingml/2006/main">
            <a:off x="11811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Organize each party, account, transfer, and point in time.</a:t>
            </a:r>
          </a:p>
        </p:txBody>
      </p:sp>
      <p:sp>
        <p:nvSpPr>
          <p:cNvPr id="10" name="">
            <a:extLst xmlns:a="http://schemas.openxmlformats.org/drawingml/2006/main">
              <a:ext uri="{FF2B5EF4-FFF2-40B4-BE49-F238E27FC236}">
                <a16:creationId xmlns:a16="http://schemas.microsoft.com/office/drawing/2014/main" id="{C39D4A07-1730-4457-B877-634841171A94}"/>
              </a:ext>
            </a:extLst>
          </p:cNvPr>
          <p:cNvSpPr>
            <a:spLocks xmlns:a="http://schemas.openxmlformats.org/drawingml/2006/main" noGrp="1"/>
          </p:cNvSpPr>
          <p:nvPr/>
        </p:nvSpPr>
        <p:spPr>
          <a:xfrm xmlns:a="http://schemas.openxmlformats.org/drawingml/2006/main">
            <a:off x="43434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DE63522-6773-425F-8096-C08882DD37D8}"/>
              </a:ext>
            </a:extLst>
          </p:cNvPr>
          <p:cNvSpPr>
            <a:spLocks xmlns:a="http://schemas.openxmlformats.org/drawingml/2006/main" noGrp="1"/>
          </p:cNvSpPr>
          <p:nvPr/>
        </p:nvSpPr>
        <p:spPr>
          <a:xfrm xmlns:a="http://schemas.openxmlformats.org/drawingml/2006/main">
            <a:off x="49149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Find key fact</a:t>
            </a:r>
          </a:p>
        </p:txBody>
      </p:sp>
      <p:sp>
        <p:nvSpPr>
          <p:cNvPr id="12" name="">
            <a:extLst xmlns:a="http://schemas.openxmlformats.org/drawingml/2006/main">
              <a:ext uri="{FF2B5EF4-FFF2-40B4-BE49-F238E27FC236}">
                <a16:creationId xmlns:a16="http://schemas.microsoft.com/office/drawing/2014/main" id="{60A8EC4A-F958-4BD4-A8B4-AE5FDA4E4E7B}"/>
              </a:ext>
            </a:extLst>
          </p:cNvPr>
          <p:cNvSpPr>
            <a:spLocks xmlns:a="http://schemas.openxmlformats.org/drawingml/2006/main" noGrp="1"/>
          </p:cNvSpPr>
          <p:nvPr/>
        </p:nvSpPr>
        <p:spPr>
          <a:xfrm xmlns:a="http://schemas.openxmlformats.org/drawingml/2006/main">
            <a:off x="49149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Does the company ever receive or control the funds, even briefly?</a:t>
            </a:r>
          </a:p>
        </p:txBody>
      </p:sp>
      <p:sp>
        <p:nvSpPr>
          <p:cNvPr id="13" name="">
            <a:extLst xmlns:a="http://schemas.openxmlformats.org/drawingml/2006/main">
              <a:ext uri="{FF2B5EF4-FFF2-40B4-BE49-F238E27FC236}">
                <a16:creationId xmlns:a16="http://schemas.microsoft.com/office/drawing/2014/main" id="{9A15AD8A-57A2-4E9E-9996-00BC8B7DC915}"/>
              </a:ext>
            </a:extLst>
          </p:cNvPr>
          <p:cNvSpPr>
            <a:spLocks xmlns:a="http://schemas.openxmlformats.org/drawingml/2006/main" noGrp="1"/>
          </p:cNvSpPr>
          <p:nvPr/>
        </p:nvSpPr>
        <p:spPr>
          <a:xfrm xmlns:a="http://schemas.openxmlformats.org/drawingml/2006/main">
            <a:off x="80772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920D27EB-410B-42F0-826C-1F10521E2F20}"/>
              </a:ext>
            </a:extLst>
          </p:cNvPr>
          <p:cNvSpPr>
            <a:spLocks xmlns:a="http://schemas.openxmlformats.org/drawingml/2006/main" noGrp="1"/>
          </p:cNvSpPr>
          <p:nvPr/>
        </p:nvSpPr>
        <p:spPr>
          <a:xfrm xmlns:a="http://schemas.openxmlformats.org/drawingml/2006/main">
            <a:off x="8648700" y="33528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Compare paths</a:t>
            </a:r>
          </a:p>
        </p:txBody>
      </p:sp>
      <p:sp>
        <p:nvSpPr>
          <p:cNvPr id="15" name="">
            <a:extLst xmlns:a="http://schemas.openxmlformats.org/drawingml/2006/main">
              <a:ext uri="{FF2B5EF4-FFF2-40B4-BE49-F238E27FC236}">
                <a16:creationId xmlns:a16="http://schemas.microsoft.com/office/drawing/2014/main" id="{97100C3C-9510-4078-8510-A7483D4FA64C}"/>
              </a:ext>
            </a:extLst>
          </p:cNvPr>
          <p:cNvSpPr>
            <a:spLocks xmlns:a="http://schemas.openxmlformats.org/drawingml/2006/main" noGrp="1"/>
          </p:cNvSpPr>
          <p:nvPr/>
        </p:nvSpPr>
        <p:spPr>
          <a:xfrm xmlns:a="http://schemas.openxmlformats.org/drawingml/2006/main">
            <a:off x="8648700" y="38576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Explain why the fact matters and research each relevant legal path.</a:t>
            </a:r>
          </a:p>
        </p:txBody>
      </p:sp>
      <p:sp>
        <p:nvSpPr>
          <p:cNvPr id="16" name="">
            <a:extLst xmlns:a="http://schemas.openxmlformats.org/drawingml/2006/main">
              <a:ext uri="{FF2B5EF4-FFF2-40B4-BE49-F238E27FC236}">
                <a16:creationId xmlns:a16="http://schemas.microsoft.com/office/drawing/2014/main" id="{3A03B46A-0073-428B-A5BC-A69EF0913D3E}"/>
              </a:ext>
            </a:extLst>
          </p:cNvPr>
          <p:cNvSpPr>
            <a:spLocks xmlns:a="http://schemas.openxmlformats.org/drawingml/2006/main" noGrp="1"/>
          </p:cNvSpPr>
          <p:nvPr/>
        </p:nvSpPr>
        <p:spPr>
          <a:xfrm xmlns:a="http://schemas.openxmlformats.org/drawingml/2006/main">
            <a:off x="609600"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Themis shows where the analysis can change. The lawyer determines which facts and path apply.</a:t>
            </a:r>
          </a:p>
        </p:txBody>
      </p:sp>
      <p:sp>
        <p:nvSpPr>
          <p:cNvPr id="17" name="">
            <a:extLst xmlns:a="http://schemas.openxmlformats.org/drawingml/2006/main">
              <a:ext uri="{FF2B5EF4-FFF2-40B4-BE49-F238E27FC236}">
                <a16:creationId xmlns:a16="http://schemas.microsoft.com/office/drawing/2014/main" id="{A0C8D8C5-B4EE-41E9-9B91-CDCFA83333B0}"/>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212198251"/>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F6DA9D-7AF7-4543-A85A-297B5EC2C994}"/>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471C46B7-B4E1-4A6D-AE1F-19117B5A43F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first buyer is the lawyer carrying</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 entire legal function.</a:t>
            </a:r>
          </a:p>
        </p:txBody>
      </p:sp>
      <p:sp>
        <p:nvSpPr>
          <p:cNvPr id="3" name="">
            <a:extLst xmlns:a="http://schemas.openxmlformats.org/drawingml/2006/main">
              <a:ext uri="{FF2B5EF4-FFF2-40B4-BE49-F238E27FC236}">
                <a16:creationId xmlns:a16="http://schemas.microsoft.com/office/drawing/2014/main" id="{F89D3E91-481C-4C8B-95FD-42F9F746384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BF459DC-E926-4C20-9B78-D66CFDDDA92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D2F3F77-E1D1-4F55-88B4-531BC9676D3B}"/>
              </a:ext>
            </a:extLst>
          </p:cNvPr>
          <p:cNvSpPr>
            <a:spLocks xmlns:a="http://schemas.openxmlformats.org/drawingml/2006/main" noGrp="1"/>
          </p:cNvSpPr>
          <p:nvPr/>
        </p:nvSpPr>
        <p:spPr>
          <a:xfrm xmlns:a="http://schemas.openxmlformats.org/drawingml/2006/main">
            <a:off x="609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INITIAL USER</a:t>
            </a:r>
          </a:p>
        </p:txBody>
      </p:sp>
      <p:sp>
        <p:nvSpPr>
          <p:cNvPr id="6" name="">
            <a:extLst xmlns:a="http://schemas.openxmlformats.org/drawingml/2006/main">
              <a:ext uri="{FF2B5EF4-FFF2-40B4-BE49-F238E27FC236}">
                <a16:creationId xmlns:a16="http://schemas.microsoft.com/office/drawing/2014/main" id="{DFF6A454-5C00-43F1-81C8-C745C068F548}"/>
              </a:ext>
            </a:extLst>
          </p:cNvPr>
          <p:cNvSpPr>
            <a:spLocks xmlns:a="http://schemas.openxmlformats.org/drawingml/2006/main" noGrp="1"/>
          </p:cNvSpPr>
          <p:nvPr/>
        </p:nvSpPr>
        <p:spPr>
          <a:xfrm xmlns:a="http://schemas.openxmlformats.org/drawingml/2006/main">
            <a:off x="609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Solo general counsel</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or product lawyer</a:t>
            </a:r>
          </a:p>
        </p:txBody>
      </p:sp>
      <p:sp>
        <p:nvSpPr>
          <p:cNvPr id="7" name="">
            <a:extLst xmlns:a="http://schemas.openxmlformats.org/drawingml/2006/main">
              <a:ext uri="{FF2B5EF4-FFF2-40B4-BE49-F238E27FC236}">
                <a16:creationId xmlns:a16="http://schemas.microsoft.com/office/drawing/2014/main" id="{F81218BD-E5B2-48AC-98F1-1A459C496523}"/>
              </a:ext>
            </a:extLst>
          </p:cNvPr>
          <p:cNvSpPr>
            <a:spLocks xmlns:a="http://schemas.openxmlformats.org/drawingml/2006/main" noGrp="1"/>
          </p:cNvSpPr>
          <p:nvPr/>
        </p:nvSpPr>
        <p:spPr>
          <a:xfrm xmlns:a="http://schemas.openxmlformats.org/drawingml/2006/main">
            <a:off x="609600" y="42100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Often works without junior support and must answer product and business questions across the company.</a:t>
            </a:r>
          </a:p>
        </p:txBody>
      </p:sp>
      <p:sp>
        <p:nvSpPr>
          <p:cNvPr id="8" name="">
            <a:extLst xmlns:a="http://schemas.openxmlformats.org/drawingml/2006/main">
              <a:ext uri="{FF2B5EF4-FFF2-40B4-BE49-F238E27FC236}">
                <a16:creationId xmlns:a16="http://schemas.microsoft.com/office/drawing/2014/main" id="{C298FE8A-3EF9-4934-AA08-4C8A299BE58E}"/>
              </a:ext>
            </a:extLst>
          </p:cNvPr>
          <p:cNvSpPr>
            <a:spLocks xmlns:a="http://schemas.openxmlformats.org/drawingml/2006/main" noGrp="1"/>
          </p:cNvSpPr>
          <p:nvPr/>
        </p:nvSpPr>
        <p:spPr>
          <a:xfrm xmlns:a="http://schemas.openxmlformats.org/drawingml/2006/main">
            <a:off x="6705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TEAM EXPANSION</a:t>
            </a:r>
          </a:p>
        </p:txBody>
      </p:sp>
      <p:sp>
        <p:nvSpPr>
          <p:cNvPr id="9" name="">
            <a:extLst xmlns:a="http://schemas.openxmlformats.org/drawingml/2006/main">
              <a:ext uri="{FF2B5EF4-FFF2-40B4-BE49-F238E27FC236}">
                <a16:creationId xmlns:a16="http://schemas.microsoft.com/office/drawing/2014/main" id="{A5FEE9B4-25FF-4D24-8427-01222A484382}"/>
              </a:ext>
            </a:extLst>
          </p:cNvPr>
          <p:cNvSpPr>
            <a:spLocks xmlns:a="http://schemas.openxmlformats.org/drawingml/2006/main" noGrp="1"/>
          </p:cNvSpPr>
          <p:nvPr/>
        </p:nvSpPr>
        <p:spPr>
          <a:xfrm xmlns:a="http://schemas.openxmlformats.org/drawingml/2006/main">
            <a:off x="6705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In-house legal team</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with fewer than ten lawyers</a:t>
            </a:r>
          </a:p>
        </p:txBody>
      </p:sp>
      <p:sp>
        <p:nvSpPr>
          <p:cNvPr id="10" name="">
            <a:extLst xmlns:a="http://schemas.openxmlformats.org/drawingml/2006/main">
              <a:ext uri="{FF2B5EF4-FFF2-40B4-BE49-F238E27FC236}">
                <a16:creationId xmlns:a16="http://schemas.microsoft.com/office/drawing/2014/main" id="{8EFED513-DFCA-4E7A-A6F6-BC0C744C32AF}"/>
              </a:ext>
            </a:extLst>
          </p:cNvPr>
          <p:cNvSpPr>
            <a:spLocks xmlns:a="http://schemas.openxmlformats.org/drawingml/2006/main" noGrp="1"/>
          </p:cNvSpPr>
          <p:nvPr/>
        </p:nvSpPr>
        <p:spPr>
          <a:xfrm xmlns:a="http://schemas.openxmlformats.org/drawingml/2006/main">
            <a:off x="6705600" y="42100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Shared matters can let a second lawyer see the request, facts, research, decisions, and next open question without a long handoff.</a:t>
            </a:r>
          </a:p>
        </p:txBody>
      </p:sp>
      <p:sp>
        <p:nvSpPr>
          <p:cNvPr id="11" name="">
            <a:extLst xmlns:a="http://schemas.openxmlformats.org/drawingml/2006/main">
              <a:ext uri="{FF2B5EF4-FFF2-40B4-BE49-F238E27FC236}">
                <a16:creationId xmlns:a16="http://schemas.microsoft.com/office/drawing/2014/main" id="{E41ABBD6-D438-40C9-8CEE-D574EB51FFB3}"/>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596273"/>
                </a:solidFill>
                <a:latin typeface="Arial"/>
                <a:ea typeface="Arial"/>
                <a:cs typeface="Arial"/>
              </a:defRPr>
            </a:pPr>
            <a:r>
              <a:rPr sz="1575" b="0">
                <a:solidFill>
                  <a:srgbClr val="596273"/>
                </a:solidFill>
                <a:latin typeface="Arial"/>
                <a:ea typeface="Arial"/>
                <a:cs typeface="Arial"/>
              </a:rPr>
              <a:t>Business hypothesis: earn repeat use from one lawyer, then prove that shared context supports team adoption.</a:t>
            </a:r>
          </a:p>
        </p:txBody>
      </p:sp>
    </p:spTree>
    <p:extLst>
      <p:ext uri="{BB962C8B-B14F-4D97-AF65-F5344CB8AC3E}">
        <p14:creationId xmlns:p14="http://schemas.microsoft.com/office/powerpoint/2010/main" val="648012788"/>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2FFC553-C94B-4DE1-8806-ED955F56BDF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C67B7CAB-7E93-43AF-8ABC-D0C22CD07D6D}"/>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FAF8F2"/>
                </a:solidFill>
                <a:latin typeface="Georgia"/>
                <a:ea typeface="Georgia"/>
                <a:cs typeface="Georgia"/>
              </a:defRPr>
            </a:pPr>
            <a:r>
              <a:rPr sz="3225" b="1">
                <a:solidFill>
                  <a:srgbClr val="FAF8F2"/>
                </a:solidFill>
                <a:latin typeface="Georgia"/>
                <a:ea typeface="Georgia"/>
                <a:cs typeface="Georgia"/>
              </a:rPr>
              <a:t>Legal AI earns trust through observable behavior.</a:t>
            </a:r>
          </a:p>
        </p:txBody>
      </p:sp>
      <p:sp>
        <p:nvSpPr>
          <p:cNvPr id="3" name="">
            <a:extLst xmlns:a="http://schemas.openxmlformats.org/drawingml/2006/main">
              <a:ext uri="{FF2B5EF4-FFF2-40B4-BE49-F238E27FC236}">
                <a16:creationId xmlns:a16="http://schemas.microsoft.com/office/drawing/2014/main" id="{A5E39E0B-13CE-4C22-B209-F671EC1769F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C18308D-9710-4B59-9796-537FCE96603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E665244-1820-4324-B33C-4B27AAB56F15}"/>
              </a:ext>
            </a:extLst>
          </p:cNvPr>
          <p:cNvSpPr>
            <a:spLocks xmlns:a="http://schemas.openxmlformats.org/drawingml/2006/main" noGrp="1"/>
          </p:cNvSpPr>
          <p:nvPr/>
        </p:nvSpPr>
        <p:spPr>
          <a:xfrm xmlns:a="http://schemas.openxmlformats.org/drawingml/2006/main">
            <a:off x="609600" y="19526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DCE1EA"/>
                </a:solidFill>
                <a:latin typeface="Arial"/>
                <a:ea typeface="Arial"/>
                <a:cs typeface="Arial"/>
              </a:defRPr>
            </a:pPr>
            <a:r>
              <a:rPr sz="1575" b="0">
                <a:solidFill>
                  <a:srgbClr val="DCE1EA"/>
                </a:solidFill>
                <a:latin typeface="Arial"/>
                <a:ea typeface="Arial"/>
                <a:cs typeface="Arial"/>
              </a:rPr>
              <a:t>The product must show what it knows, what it does not know, and who owns the decision.</a:t>
            </a:r>
          </a:p>
        </p:txBody>
      </p:sp>
      <p:sp>
        <p:nvSpPr>
          <p:cNvPr id="6" name="">
            <a:extLst xmlns:a="http://schemas.openxmlformats.org/drawingml/2006/main">
              <a:ext uri="{FF2B5EF4-FFF2-40B4-BE49-F238E27FC236}">
                <a16:creationId xmlns:a16="http://schemas.microsoft.com/office/drawing/2014/main" id="{3019DFF2-9A00-4379-BB49-C9602703D298}"/>
              </a:ext>
            </a:extLst>
          </p:cNvPr>
          <p:cNvSpPr>
            <a:spLocks xmlns:a="http://schemas.openxmlformats.org/drawingml/2006/main" noGrp="1"/>
          </p:cNvSpPr>
          <p:nvPr/>
        </p:nvSpPr>
        <p:spPr>
          <a:xfrm xmlns:a="http://schemas.openxmlformats.org/drawingml/2006/main">
            <a:off x="6096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Humble</a:t>
            </a:r>
          </a:p>
        </p:txBody>
      </p:sp>
      <p:sp>
        <p:nvSpPr>
          <p:cNvPr id="7" name="">
            <a:extLst xmlns:a="http://schemas.openxmlformats.org/drawingml/2006/main">
              <a:ext uri="{FF2B5EF4-FFF2-40B4-BE49-F238E27FC236}">
                <a16:creationId xmlns:a16="http://schemas.microsoft.com/office/drawing/2014/main" id="{B79F97B5-C89D-4AA0-AF16-BC4C488BAE38}"/>
              </a:ext>
            </a:extLst>
          </p:cNvPr>
          <p:cNvSpPr>
            <a:spLocks xmlns:a="http://schemas.openxmlformats.org/drawingml/2006/main" noGrp="1"/>
          </p:cNvSpPr>
          <p:nvPr/>
        </p:nvSpPr>
        <p:spPr>
          <a:xfrm xmlns:a="http://schemas.openxmlformats.org/drawingml/2006/main">
            <a:off x="6096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Marks uncertainty instead of pretending ambiguity disappeared.</a:t>
            </a:r>
          </a:p>
        </p:txBody>
      </p:sp>
      <p:sp>
        <p:nvSpPr>
          <p:cNvPr id="8" name="">
            <a:extLst xmlns:a="http://schemas.openxmlformats.org/drawingml/2006/main">
              <a:ext uri="{FF2B5EF4-FFF2-40B4-BE49-F238E27FC236}">
                <a16:creationId xmlns:a16="http://schemas.microsoft.com/office/drawing/2014/main" id="{D1FAC412-1685-46CC-99A4-E9BAFC5C1567}"/>
              </a:ext>
            </a:extLst>
          </p:cNvPr>
          <p:cNvSpPr>
            <a:spLocks xmlns:a="http://schemas.openxmlformats.org/drawingml/2006/main" noGrp="1"/>
          </p:cNvSpPr>
          <p:nvPr/>
        </p:nvSpPr>
        <p:spPr>
          <a:xfrm xmlns:a="http://schemas.openxmlformats.org/drawingml/2006/main">
            <a:off x="65532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Curious</a:t>
            </a:r>
          </a:p>
        </p:txBody>
      </p:sp>
      <p:sp>
        <p:nvSpPr>
          <p:cNvPr id="9" name="">
            <a:extLst xmlns:a="http://schemas.openxmlformats.org/drawingml/2006/main">
              <a:ext uri="{FF2B5EF4-FFF2-40B4-BE49-F238E27FC236}">
                <a16:creationId xmlns:a16="http://schemas.microsoft.com/office/drawing/2014/main" id="{C4D16527-C969-40C9-B04C-CAB1E983FE9D}"/>
              </a:ext>
            </a:extLst>
          </p:cNvPr>
          <p:cNvSpPr>
            <a:spLocks xmlns:a="http://schemas.openxmlformats.org/drawingml/2006/main" noGrp="1"/>
          </p:cNvSpPr>
          <p:nvPr/>
        </p:nvSpPr>
        <p:spPr>
          <a:xfrm xmlns:a="http://schemas.openxmlformats.org/drawingml/2006/main">
            <a:off x="65532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Asks the factual question that could change the analysis.</a:t>
            </a:r>
          </a:p>
        </p:txBody>
      </p:sp>
      <p:sp>
        <p:nvSpPr>
          <p:cNvPr id="10" name="">
            <a:extLst xmlns:a="http://schemas.openxmlformats.org/drawingml/2006/main">
              <a:ext uri="{FF2B5EF4-FFF2-40B4-BE49-F238E27FC236}">
                <a16:creationId xmlns:a16="http://schemas.microsoft.com/office/drawing/2014/main" id="{3B7D7C41-20E4-4C34-A203-D4F6A378A417}"/>
              </a:ext>
            </a:extLst>
          </p:cNvPr>
          <p:cNvSpPr>
            <a:spLocks xmlns:a="http://schemas.openxmlformats.org/drawingml/2006/main" noGrp="1"/>
          </p:cNvSpPr>
          <p:nvPr/>
        </p:nvSpPr>
        <p:spPr>
          <a:xfrm xmlns:a="http://schemas.openxmlformats.org/drawingml/2006/main">
            <a:off x="6096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Present</a:t>
            </a:r>
          </a:p>
        </p:txBody>
      </p:sp>
      <p:sp>
        <p:nvSpPr>
          <p:cNvPr id="11" name="">
            <a:extLst xmlns:a="http://schemas.openxmlformats.org/drawingml/2006/main">
              <a:ext uri="{FF2B5EF4-FFF2-40B4-BE49-F238E27FC236}">
                <a16:creationId xmlns:a16="http://schemas.microsoft.com/office/drawing/2014/main" id="{5E3BE090-1473-46BD-9532-F41F7CE225C5}"/>
              </a:ext>
            </a:extLst>
          </p:cNvPr>
          <p:cNvSpPr>
            <a:spLocks xmlns:a="http://schemas.openxmlformats.org/drawingml/2006/main" noGrp="1"/>
          </p:cNvSpPr>
          <p:nvPr/>
        </p:nvSpPr>
        <p:spPr>
          <a:xfrm xmlns:a="http://schemas.openxmlformats.org/drawingml/2006/main">
            <a:off x="6096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Remains available without taking control of the decision.</a:t>
            </a:r>
          </a:p>
        </p:txBody>
      </p:sp>
      <p:sp>
        <p:nvSpPr>
          <p:cNvPr id="12" name="">
            <a:extLst xmlns:a="http://schemas.openxmlformats.org/drawingml/2006/main">
              <a:ext uri="{FF2B5EF4-FFF2-40B4-BE49-F238E27FC236}">
                <a16:creationId xmlns:a16="http://schemas.microsoft.com/office/drawing/2014/main" id="{1C800D22-BDB3-4E73-A6EE-55B0AB42F69F}"/>
              </a:ext>
            </a:extLst>
          </p:cNvPr>
          <p:cNvSpPr>
            <a:spLocks xmlns:a="http://schemas.openxmlformats.org/drawingml/2006/main" noGrp="1"/>
          </p:cNvSpPr>
          <p:nvPr/>
        </p:nvSpPr>
        <p:spPr>
          <a:xfrm xmlns:a="http://schemas.openxmlformats.org/drawingml/2006/main">
            <a:off x="65532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Persistent</a:t>
            </a:r>
          </a:p>
        </p:txBody>
      </p:sp>
      <p:sp>
        <p:nvSpPr>
          <p:cNvPr id="13" name="">
            <a:extLst xmlns:a="http://schemas.openxmlformats.org/drawingml/2006/main">
              <a:ext uri="{FF2B5EF4-FFF2-40B4-BE49-F238E27FC236}">
                <a16:creationId xmlns:a16="http://schemas.microsoft.com/office/drawing/2014/main" id="{05B0EA9A-D962-4C61-81B5-7CC8CFDAEFA9}"/>
              </a:ext>
            </a:extLst>
          </p:cNvPr>
          <p:cNvSpPr>
            <a:spLocks xmlns:a="http://schemas.openxmlformats.org/drawingml/2006/main" noGrp="1"/>
          </p:cNvSpPr>
          <p:nvPr/>
        </p:nvSpPr>
        <p:spPr>
          <a:xfrm xmlns:a="http://schemas.openxmlformats.org/drawingml/2006/main">
            <a:off x="65532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Carries the matter context forward.</a:t>
            </a:r>
          </a:p>
        </p:txBody>
      </p:sp>
      <p:sp>
        <p:nvSpPr>
          <p:cNvPr id="14" name="">
            <a:extLst xmlns:a="http://schemas.openxmlformats.org/drawingml/2006/main">
              <a:ext uri="{FF2B5EF4-FFF2-40B4-BE49-F238E27FC236}">
                <a16:creationId xmlns:a16="http://schemas.microsoft.com/office/drawing/2014/main" id="{762DA3B0-C5FD-4EDE-8163-2F0185796025}"/>
              </a:ext>
            </a:extLst>
          </p:cNvPr>
          <p:cNvSpPr>
            <a:spLocks xmlns:a="http://schemas.openxmlformats.org/drawingml/2006/main" noGrp="1"/>
          </p:cNvSpPr>
          <p:nvPr/>
        </p:nvSpPr>
        <p:spPr>
          <a:xfrm xmlns:a="http://schemas.openxmlformats.org/drawingml/2006/main">
            <a:off x="6096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Supportive</a:t>
            </a:r>
          </a:p>
        </p:txBody>
      </p:sp>
      <p:sp>
        <p:nvSpPr>
          <p:cNvPr id="15" name="">
            <a:extLst xmlns:a="http://schemas.openxmlformats.org/drawingml/2006/main">
              <a:ext uri="{FF2B5EF4-FFF2-40B4-BE49-F238E27FC236}">
                <a16:creationId xmlns:a16="http://schemas.microsoft.com/office/drawing/2014/main" id="{214C7751-1A15-4F0D-BB0E-8CFCE429502C}"/>
              </a:ext>
            </a:extLst>
          </p:cNvPr>
          <p:cNvSpPr>
            <a:spLocks xmlns:a="http://schemas.openxmlformats.org/drawingml/2006/main" noGrp="1"/>
          </p:cNvSpPr>
          <p:nvPr/>
        </p:nvSpPr>
        <p:spPr>
          <a:xfrm xmlns:a="http://schemas.openxmlformats.org/drawingml/2006/main">
            <a:off x="6096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Strengthens judgment instead of claiming legal authority.</a:t>
            </a:r>
          </a:p>
        </p:txBody>
      </p:sp>
      <p:sp>
        <p:nvSpPr>
          <p:cNvPr id="16" name="">
            <a:extLst xmlns:a="http://schemas.openxmlformats.org/drawingml/2006/main">
              <a:ext uri="{FF2B5EF4-FFF2-40B4-BE49-F238E27FC236}">
                <a16:creationId xmlns:a16="http://schemas.microsoft.com/office/drawing/2014/main" id="{59F038FE-C8AD-47A6-8C35-EB606722CAC7}"/>
              </a:ext>
            </a:extLst>
          </p:cNvPr>
          <p:cNvSpPr>
            <a:spLocks xmlns:a="http://schemas.openxmlformats.org/drawingml/2006/main" noGrp="1"/>
          </p:cNvSpPr>
          <p:nvPr/>
        </p:nvSpPr>
        <p:spPr>
          <a:xfrm xmlns:a="http://schemas.openxmlformats.org/drawingml/2006/main">
            <a:off x="65532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Faithful</a:t>
            </a:r>
          </a:p>
        </p:txBody>
      </p:sp>
      <p:sp>
        <p:nvSpPr>
          <p:cNvPr id="17" name="">
            <a:extLst xmlns:a="http://schemas.openxmlformats.org/drawingml/2006/main">
              <a:ext uri="{FF2B5EF4-FFF2-40B4-BE49-F238E27FC236}">
                <a16:creationId xmlns:a16="http://schemas.microsoft.com/office/drawing/2014/main" id="{89DEEBC1-1C9B-445F-8728-E04236C58776}"/>
              </a:ext>
            </a:extLst>
          </p:cNvPr>
          <p:cNvSpPr>
            <a:spLocks xmlns:a="http://schemas.openxmlformats.org/drawingml/2006/main" noGrp="1"/>
          </p:cNvSpPr>
          <p:nvPr/>
        </p:nvSpPr>
        <p:spPr>
          <a:xfrm xmlns:a="http://schemas.openxmlformats.org/drawingml/2006/main">
            <a:off x="65532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Records the lawyer’s decision without rewriting it.</a:t>
            </a:r>
          </a:p>
        </p:txBody>
      </p:sp>
    </p:spTree>
    <p:extLst>
      <p:ext uri="{BB962C8B-B14F-4D97-AF65-F5344CB8AC3E}">
        <p14:creationId xmlns:p14="http://schemas.microsoft.com/office/powerpoint/2010/main" val="2061277088"/>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F233A2-57D4-4680-A3D6-0A35E02BC17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2FA9C305-1873-4D31-BA82-7B417F02567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Themis must beat the lawyer’s current tool stack.</a:t>
            </a:r>
          </a:p>
        </p:txBody>
      </p:sp>
      <p:sp>
        <p:nvSpPr>
          <p:cNvPr id="3" name="">
            <a:extLst xmlns:a="http://schemas.openxmlformats.org/drawingml/2006/main">
              <a:ext uri="{FF2B5EF4-FFF2-40B4-BE49-F238E27FC236}">
                <a16:creationId xmlns:a16="http://schemas.microsoft.com/office/drawing/2014/main" id="{EEEF8C26-ECA2-443F-A7AE-26BCF7303B3E}"/>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C23632D-5166-4F6B-A559-1B8B285F8284}"/>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D4C33799-9C5B-4E3B-9C15-63B31E54B1C6}"/>
              </a:ext>
            </a:extLst>
          </p:cNvPr>
          <p:cNvSpPr>
            <a:spLocks xmlns:a="http://schemas.openxmlformats.org/drawingml/2006/main" noGrp="1"/>
          </p:cNvSpPr>
          <p:nvPr/>
        </p:nvSpPr>
        <p:spPr>
          <a:xfrm xmlns:a="http://schemas.openxmlformats.org/drawingml/2006/main">
            <a:off x="609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CURRENT WORKFLOW</a:t>
            </a:r>
          </a:p>
        </p:txBody>
      </p:sp>
      <p:sp>
        <p:nvSpPr>
          <p:cNvPr id="6" name="">
            <a:extLst xmlns:a="http://schemas.openxmlformats.org/drawingml/2006/main">
              <a:ext uri="{FF2B5EF4-FFF2-40B4-BE49-F238E27FC236}">
                <a16:creationId xmlns:a16="http://schemas.microsoft.com/office/drawing/2014/main" id="{C6A81DCB-D31F-4C02-BE49-957EBFAA468A}"/>
              </a:ext>
            </a:extLst>
          </p:cNvPr>
          <p:cNvSpPr>
            <a:spLocks xmlns:a="http://schemas.openxmlformats.org/drawingml/2006/main" noGrp="1"/>
          </p:cNvSpPr>
          <p:nvPr/>
        </p:nvSpPr>
        <p:spPr>
          <a:xfrm xmlns:a="http://schemas.openxmlformats.org/drawingml/2006/main">
            <a:off x="609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General AI such as ChatGPT or Claude</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Legal and web research sources</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Documents, email, and Slack</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Manual notes and personal memory</a:t>
            </a:r>
          </a:p>
        </p:txBody>
      </p:sp>
      <p:sp>
        <p:nvSpPr>
          <p:cNvPr id="7" name="">
            <a:extLst xmlns:a="http://schemas.openxmlformats.org/drawingml/2006/main">
              <a:ext uri="{FF2B5EF4-FFF2-40B4-BE49-F238E27FC236}">
                <a16:creationId xmlns:a16="http://schemas.microsoft.com/office/drawing/2014/main" id="{F8C2E854-49BD-416D-8F39-22F6E660C978}"/>
              </a:ext>
            </a:extLst>
          </p:cNvPr>
          <p:cNvSpPr>
            <a:spLocks xmlns:a="http://schemas.openxmlformats.org/drawingml/2006/main" noGrp="1"/>
          </p:cNvSpPr>
          <p:nvPr/>
        </p:nvSpPr>
        <p:spPr>
          <a:xfrm xmlns:a="http://schemas.openxmlformats.org/drawingml/2006/main">
            <a:off x="6705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THE TEST FOR THEMIS</a:t>
            </a:r>
          </a:p>
        </p:txBody>
      </p:sp>
      <p:sp>
        <p:nvSpPr>
          <p:cNvPr id="8" name="">
            <a:extLst xmlns:a="http://schemas.openxmlformats.org/drawingml/2006/main">
              <a:ext uri="{FF2B5EF4-FFF2-40B4-BE49-F238E27FC236}">
                <a16:creationId xmlns:a16="http://schemas.microsoft.com/office/drawing/2014/main" id="{D613AE0F-0806-4DE8-881B-EADA3145DE88}"/>
              </a:ext>
            </a:extLst>
          </p:cNvPr>
          <p:cNvSpPr>
            <a:spLocks xmlns:a="http://schemas.openxmlformats.org/drawingml/2006/main" noGrp="1"/>
          </p:cNvSpPr>
          <p:nvPr/>
        </p:nvSpPr>
        <p:spPr>
          <a:xfrm xmlns:a="http://schemas.openxmlformats.org/drawingml/2006/main">
            <a:off x="6705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spend less total effort?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Can the lawyer inspect the sources quickly?</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Themis remember relevant company context?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return with the next matter?</a:t>
            </a:r>
          </a:p>
        </p:txBody>
      </p:sp>
      <p:sp>
        <p:nvSpPr>
          <p:cNvPr id="9" name="">
            <a:extLst xmlns:a="http://schemas.openxmlformats.org/drawingml/2006/main">
              <a:ext uri="{FF2B5EF4-FFF2-40B4-BE49-F238E27FC236}">
                <a16:creationId xmlns:a16="http://schemas.microsoft.com/office/drawing/2014/main" id="{6C733B4F-243A-4AC2-9775-8C7A1853B578}"/>
              </a:ext>
            </a:extLst>
          </p:cNvPr>
          <p:cNvSpPr>
            <a:spLocks xmlns:a="http://schemas.openxmlformats.org/drawingml/2006/main" noGrp="1"/>
          </p:cNvSpPr>
          <p:nvPr/>
        </p:nvSpPr>
        <p:spPr>
          <a:xfrm xmlns:a="http://schemas.openxmlformats.org/drawingml/2006/main">
            <a:off x="6096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Repeat use and willingness to pay remain to be proven.</a:t>
            </a:r>
          </a:p>
        </p:txBody>
      </p:sp>
    </p:spTree>
    <p:extLst>
      <p:ext uri="{BB962C8B-B14F-4D97-AF65-F5344CB8AC3E}">
        <p14:creationId xmlns:p14="http://schemas.microsoft.com/office/powerpoint/2010/main" val="1063739077"/>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9B7037-7172-4B44-8736-8C05508DBE58}"/>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EF395651-F3DF-4832-84A6-6267E8ED02A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Founder experience spans the user problem</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and the technology.</a:t>
            </a:r>
          </a:p>
        </p:txBody>
      </p:sp>
      <p:sp>
        <p:nvSpPr>
          <p:cNvPr id="3" name="">
            <a:extLst xmlns:a="http://schemas.openxmlformats.org/drawingml/2006/main">
              <a:ext uri="{FF2B5EF4-FFF2-40B4-BE49-F238E27FC236}">
                <a16:creationId xmlns:a16="http://schemas.microsoft.com/office/drawing/2014/main" id="{E53CC59F-6DDE-46E9-B157-EA01C17ED9E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E1F9F1D-33A7-4D56-A7AA-426A055692E4}"/>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F972A9B-F82F-4382-8007-B5ACA85CEDFE}"/>
              </a:ext>
            </a:extLst>
          </p:cNvPr>
          <p:cNvSpPr>
            <a:spLocks xmlns:a="http://schemas.openxmlformats.org/drawingml/2006/main" noGrp="1"/>
          </p:cNvSpPr>
          <p:nvPr/>
        </p:nvSpPr>
        <p:spPr>
          <a:xfrm xmlns:a="http://schemas.openxmlformats.org/drawingml/2006/main">
            <a:off x="609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LEGAL EXPERIENCE</a:t>
            </a:r>
          </a:p>
        </p:txBody>
      </p:sp>
      <p:sp>
        <p:nvSpPr>
          <p:cNvPr id="6" name="">
            <a:extLst xmlns:a="http://schemas.openxmlformats.org/drawingml/2006/main">
              <a:ext uri="{FF2B5EF4-FFF2-40B4-BE49-F238E27FC236}">
                <a16:creationId xmlns:a16="http://schemas.microsoft.com/office/drawing/2014/main" id="{0163E96E-3F68-4597-9989-68F79C088A71}"/>
              </a:ext>
            </a:extLst>
          </p:cNvPr>
          <p:cNvSpPr>
            <a:spLocks xmlns:a="http://schemas.openxmlformats.org/drawingml/2006/main" noGrp="1"/>
          </p:cNvSpPr>
          <p:nvPr/>
        </p:nvSpPr>
        <p:spPr>
          <a:xfrm xmlns:a="http://schemas.openxmlformats.org/drawingml/2006/main">
            <a:off x="609600" y="28956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17 years as a lawyer</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General counsel and product counsel</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Built legal functions and led teams</a:t>
            </a:r>
          </a:p>
        </p:txBody>
      </p:sp>
      <p:sp>
        <p:nvSpPr>
          <p:cNvPr id="7" name="">
            <a:extLst xmlns:a="http://schemas.openxmlformats.org/drawingml/2006/main">
              <a:ext uri="{FF2B5EF4-FFF2-40B4-BE49-F238E27FC236}">
                <a16:creationId xmlns:a16="http://schemas.microsoft.com/office/drawing/2014/main" id="{B789635C-BE45-49AE-8079-81593A5CAF61}"/>
              </a:ext>
            </a:extLst>
          </p:cNvPr>
          <p:cNvSpPr>
            <a:spLocks xmlns:a="http://schemas.openxmlformats.org/drawingml/2006/main" noGrp="1"/>
          </p:cNvSpPr>
          <p:nvPr/>
        </p:nvSpPr>
        <p:spPr>
          <a:xfrm xmlns:a="http://schemas.openxmlformats.org/drawingml/2006/main">
            <a:off x="6705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TECHNICAL EXPERIENCE</a:t>
            </a:r>
          </a:p>
        </p:txBody>
      </p:sp>
      <p:sp>
        <p:nvSpPr>
          <p:cNvPr id="8" name="">
            <a:extLst xmlns:a="http://schemas.openxmlformats.org/drawingml/2006/main">
              <a:ext uri="{FF2B5EF4-FFF2-40B4-BE49-F238E27FC236}">
                <a16:creationId xmlns:a16="http://schemas.microsoft.com/office/drawing/2014/main" id="{605F053F-9931-4A7E-AD5F-E5E46B83A703}"/>
              </a:ext>
            </a:extLst>
          </p:cNvPr>
          <p:cNvSpPr>
            <a:spLocks xmlns:a="http://schemas.openxmlformats.org/drawingml/2006/main" noGrp="1"/>
          </p:cNvSpPr>
          <p:nvPr/>
        </p:nvSpPr>
        <p:spPr>
          <a:xfrm xmlns:a="http://schemas.openxmlformats.org/drawingml/2006/main">
            <a:off x="6705600" y="28956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Earlier AI and natural-language research at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M.S. in Computer Science,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J.D., Northwestern</a:t>
            </a:r>
          </a:p>
        </p:txBody>
      </p:sp>
      <p:sp>
        <p:nvSpPr>
          <p:cNvPr id="9" name="">
            <a:extLst xmlns:a="http://schemas.openxmlformats.org/drawingml/2006/main">
              <a:ext uri="{FF2B5EF4-FFF2-40B4-BE49-F238E27FC236}">
                <a16:creationId xmlns:a16="http://schemas.microsoft.com/office/drawing/2014/main" id="{67ABDDBF-D534-4BB1-947D-C926D3F7E2DF}"/>
              </a:ext>
            </a:extLst>
          </p:cNvPr>
          <p:cNvSpPr>
            <a:spLocks xmlns:a="http://schemas.openxmlformats.org/drawingml/2006/main" noGrp="1"/>
          </p:cNvSpPr>
          <p:nvPr/>
        </p:nvSpPr>
        <p:spPr>
          <a:xfrm xmlns:a="http://schemas.openxmlformats.org/drawingml/2006/main">
            <a:off x="609600" y="53816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Brian Harris is the sole founder. He built Themis to give small legal teams the capacity he wanted as a lawyer and legal leader.</a:t>
            </a:r>
          </a:p>
        </p:txBody>
      </p:sp>
    </p:spTree>
    <p:extLst>
      <p:ext uri="{BB962C8B-B14F-4D97-AF65-F5344CB8AC3E}">
        <p14:creationId xmlns:p14="http://schemas.microsoft.com/office/powerpoint/2010/main" val="84216705"/>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047AD3-5F12-41EA-B3C0-8C52FF0EBAB9}"/>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372B0FAA-CA9B-4D4E-9ACE-360AEBD2001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 working prototype exists.</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next proof is attorney return use.</a:t>
            </a:r>
          </a:p>
        </p:txBody>
      </p:sp>
      <p:sp>
        <p:nvSpPr>
          <p:cNvPr id="3" name="">
            <a:extLst xmlns:a="http://schemas.openxmlformats.org/drawingml/2006/main">
              <a:ext uri="{FF2B5EF4-FFF2-40B4-BE49-F238E27FC236}">
                <a16:creationId xmlns:a16="http://schemas.microsoft.com/office/drawing/2014/main" id="{68729039-C193-4CCF-A371-7272483D4B9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2B530B0-7A5E-4E68-B7F9-00FAE3178A1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1bae0fb639442e0"/>
          <a:stretch xmlns:a="http://schemas.openxmlformats.org/drawingml/2006/main"/>
        </p:blipFill>
        <p:spPr>
          <a:xfrm xmlns:a="http://schemas.openxmlformats.org/drawingml/2006/main">
            <a:off x="695325" y="2257425"/>
            <a:ext cx="6019800"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E729091-3589-4753-A162-A37A343D9B33}"/>
              </a:ext>
            </a:extLst>
          </p:cNvPr>
          <p:cNvSpPr>
            <a:spLocks xmlns:a="http://schemas.openxmlformats.org/drawingml/2006/main" noGrp="1"/>
          </p:cNvSpPr>
          <p:nvPr/>
        </p:nvSpPr>
        <p:spPr>
          <a:xfrm xmlns:a="http://schemas.openxmlformats.org/drawingml/2006/main">
            <a:off x="7696200" y="22574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BUILT TODAY</a:t>
            </a:r>
          </a:p>
        </p:txBody>
      </p:sp>
      <p:sp>
        <p:nvSpPr>
          <p:cNvPr id="7" name="">
            <a:extLst xmlns:a="http://schemas.openxmlformats.org/drawingml/2006/main">
              <a:ext uri="{FF2B5EF4-FFF2-40B4-BE49-F238E27FC236}">
                <a16:creationId xmlns:a16="http://schemas.microsoft.com/office/drawing/2014/main" id="{BC4B5949-DB21-463D-BD2A-13197051C468}"/>
              </a:ext>
            </a:extLst>
          </p:cNvPr>
          <p:cNvSpPr>
            <a:spLocks xmlns:a="http://schemas.openxmlformats.org/drawingml/2006/main" noGrp="1"/>
          </p:cNvSpPr>
          <p:nvPr/>
        </p:nvSpPr>
        <p:spPr>
          <a:xfrm xmlns:a="http://schemas.openxmlformats.org/drawingml/2006/main">
            <a:off x="7696200" y="2628900"/>
            <a:ext cx="3857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Local prototype with matter context, research, editable drafts, and explicit lawyer-recorded decisions.</a:t>
            </a:r>
          </a:p>
        </p:txBody>
      </p:sp>
      <p:sp>
        <p:nvSpPr>
          <p:cNvPr id="8" name="">
            <a:extLst xmlns:a="http://schemas.openxmlformats.org/drawingml/2006/main">
              <a:ext uri="{FF2B5EF4-FFF2-40B4-BE49-F238E27FC236}">
                <a16:creationId xmlns:a16="http://schemas.microsoft.com/office/drawing/2014/main" id="{31EDB989-6588-47CB-960D-7BD2690C9D08}"/>
              </a:ext>
            </a:extLst>
          </p:cNvPr>
          <p:cNvSpPr>
            <a:spLocks xmlns:a="http://schemas.openxmlformats.org/drawingml/2006/main" noGrp="1"/>
          </p:cNvSpPr>
          <p:nvPr/>
        </p:nvSpPr>
        <p:spPr>
          <a:xfrm xmlns:a="http://schemas.openxmlformats.org/drawingml/2006/main">
            <a:off x="7696200" y="3924300"/>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NEXT PROOF</a:t>
            </a:r>
          </a:p>
        </p:txBody>
      </p:sp>
      <p:sp>
        <p:nvSpPr>
          <p:cNvPr id="9" name="">
            <a:extLst xmlns:a="http://schemas.openxmlformats.org/drawingml/2006/main">
              <a:ext uri="{FF2B5EF4-FFF2-40B4-BE49-F238E27FC236}">
                <a16:creationId xmlns:a16="http://schemas.microsoft.com/office/drawing/2014/main" id="{FE71BDDF-CAF8-41B3-AAEC-11C126B44791}"/>
              </a:ext>
            </a:extLst>
          </p:cNvPr>
          <p:cNvSpPr>
            <a:spLocks xmlns:a="http://schemas.openxmlformats.org/drawingml/2006/main" noGrp="1"/>
          </p:cNvSpPr>
          <p:nvPr/>
        </p:nvSpPr>
        <p:spPr>
          <a:xfrm xmlns:a="http://schemas.openxmlformats.org/drawingml/2006/main">
            <a:off x="7696200" y="4295775"/>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Attorneys use Themis on real questions and return with another matter.</a:t>
            </a:r>
          </a:p>
        </p:txBody>
      </p:sp>
      <p:sp>
        <p:nvSpPr>
          <p:cNvPr id="10" name="">
            <a:extLst xmlns:a="http://schemas.openxmlformats.org/drawingml/2006/main">
              <a:ext uri="{FF2B5EF4-FFF2-40B4-BE49-F238E27FC236}">
                <a16:creationId xmlns:a16="http://schemas.microsoft.com/office/drawing/2014/main" id="{48CB6D8A-693F-4E52-97A8-F814D89F1120}"/>
              </a:ext>
            </a:extLst>
          </p:cNvPr>
          <p:cNvSpPr>
            <a:spLocks xmlns:a="http://schemas.openxmlformats.org/drawingml/2006/main" noGrp="1"/>
          </p:cNvSpPr>
          <p:nvPr/>
        </p:nvSpPr>
        <p:spPr>
          <a:xfrm xmlns:a="http://schemas.openxmlformats.org/drawingml/2006/main">
            <a:off x="7696200" y="52673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WHAT TO MEASURE</a:t>
            </a:r>
          </a:p>
        </p:txBody>
      </p:sp>
      <p:sp>
        <p:nvSpPr>
          <p:cNvPr id="11" name="">
            <a:extLst xmlns:a="http://schemas.openxmlformats.org/drawingml/2006/main">
              <a:ext uri="{FF2B5EF4-FFF2-40B4-BE49-F238E27FC236}">
                <a16:creationId xmlns:a16="http://schemas.microsoft.com/office/drawing/2014/main" id="{B93E36CF-9FF2-449A-8EBB-9D14260A2179}"/>
              </a:ext>
            </a:extLst>
          </p:cNvPr>
          <p:cNvSpPr>
            <a:spLocks xmlns:a="http://schemas.openxmlformats.org/drawingml/2006/main" noGrp="1"/>
          </p:cNvSpPr>
          <p:nvPr/>
        </p:nvSpPr>
        <p:spPr>
          <a:xfrm xmlns:a="http://schemas.openxmlformats.org/drawingml/2006/main">
            <a:off x="7696200" y="5638800"/>
            <a:ext cx="3857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425" b="0">
                <a:solidFill>
                  <a:srgbClr val="596273"/>
                </a:solidFill>
                <a:latin typeface="Arial"/>
                <a:ea typeface="Arial"/>
                <a:cs typeface="Arial"/>
              </a:defRPr>
            </a:pPr>
            <a:r>
              <a:rPr sz="1425" b="0">
                <a:solidFill>
                  <a:srgbClr val="596273"/>
                </a:solidFill>
                <a:latin typeface="Arial"/>
                <a:ea typeface="Arial"/>
                <a:cs typeface="Arial"/>
              </a:rPr>
              <a:t>Time to useful orientation · Source correctness · Correction burden · Repeat use</a:t>
            </a:r>
          </a:p>
        </p:txBody>
      </p:sp>
      <p:sp>
        <p:nvSpPr>
          <p:cNvPr id="12" name="">
            <a:extLst xmlns:a="http://schemas.openxmlformats.org/drawingml/2006/main">
              <a:ext uri="{FF2B5EF4-FFF2-40B4-BE49-F238E27FC236}">
                <a16:creationId xmlns:a16="http://schemas.microsoft.com/office/drawing/2014/main" id="{783FACAC-CA11-4C5C-927F-3D2AEEDC93FD}"/>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532598859"/>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55F9A5-CD39-4039-A610-C6B5CFF5C4F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A29AA15A-F3D3-4141-8656-9938908CF6B1}"/>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Early capital funds the path</a:t>
            </a:r>
          </a:p>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from prototype to repeat use.</a:t>
            </a:r>
          </a:p>
        </p:txBody>
      </p:sp>
      <p:sp>
        <p:nvSpPr>
          <p:cNvPr id="3" name="">
            <a:extLst xmlns:a="http://schemas.openxmlformats.org/drawingml/2006/main">
              <a:ext uri="{FF2B5EF4-FFF2-40B4-BE49-F238E27FC236}">
                <a16:creationId xmlns:a16="http://schemas.microsoft.com/office/drawing/2014/main" id="{824ACBD3-B400-47DE-A0BB-BAAB4B0D615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B20F294-6A7B-4F10-AF65-6CB8ED7CEA70}"/>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B16F104E-ABB3-4328-BC9C-4A6901359FDC}"/>
              </a:ext>
            </a:extLst>
          </p:cNvPr>
          <p:cNvSpPr>
            <a:spLocks xmlns:a="http://schemas.openxmlformats.org/drawingml/2006/main" noGrp="1"/>
          </p:cNvSpPr>
          <p:nvPr/>
        </p:nvSpPr>
        <p:spPr>
          <a:xfrm xmlns:a="http://schemas.openxmlformats.org/drawingml/2006/main">
            <a:off x="609600" y="25431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CAPITAL SUPPORTS</a:t>
            </a:r>
          </a:p>
        </p:txBody>
      </p:sp>
      <p:sp>
        <p:nvSpPr>
          <p:cNvPr id="6" name="">
            <a:extLst xmlns:a="http://schemas.openxmlformats.org/drawingml/2006/main">
              <a:ext uri="{FF2B5EF4-FFF2-40B4-BE49-F238E27FC236}">
                <a16:creationId xmlns:a16="http://schemas.microsoft.com/office/drawing/2014/main" id="{6E538672-7A00-4C73-8EC1-E00DD3BEB965}"/>
              </a:ext>
            </a:extLst>
          </p:cNvPr>
          <p:cNvSpPr>
            <a:spLocks xmlns:a="http://schemas.openxmlformats.org/drawingml/2006/main" noGrp="1"/>
          </p:cNvSpPr>
          <p:nvPr/>
        </p:nvSpPr>
        <p:spPr>
          <a:xfrm xmlns:a="http://schemas.openxmlformats.org/drawingml/2006/main">
            <a:off x="609600" y="3038475"/>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Full-time founder focus</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founding technical leader and engineering capacity</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business leader for pilots, pricing, and customer development</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Secure pilot delivery plus model and research costs</a:t>
            </a:r>
          </a:p>
        </p:txBody>
      </p:sp>
      <p:sp>
        <p:nvSpPr>
          <p:cNvPr id="7" name="">
            <a:extLst xmlns:a="http://schemas.openxmlformats.org/drawingml/2006/main">
              <a:ext uri="{FF2B5EF4-FFF2-40B4-BE49-F238E27FC236}">
                <a16:creationId xmlns:a16="http://schemas.microsoft.com/office/drawing/2014/main" id="{2D5413A0-1198-4681-868B-04C7A96990D1}"/>
              </a:ext>
            </a:extLst>
          </p:cNvPr>
          <p:cNvSpPr>
            <a:spLocks xmlns:a="http://schemas.openxmlformats.org/drawingml/2006/main" noGrp="1"/>
          </p:cNvSpPr>
          <p:nvPr/>
        </p:nvSpPr>
        <p:spPr>
          <a:xfrm xmlns:a="http://schemas.openxmlformats.org/drawingml/2006/main">
            <a:off x="609600" y="509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FUNDED MILESTONE</a:t>
            </a:r>
          </a:p>
        </p:txBody>
      </p:sp>
      <p:sp>
        <p:nvSpPr>
          <p:cNvPr id="8" name="">
            <a:extLst xmlns:a="http://schemas.openxmlformats.org/drawingml/2006/main">
              <a:ext uri="{FF2B5EF4-FFF2-40B4-BE49-F238E27FC236}">
                <a16:creationId xmlns:a16="http://schemas.microsoft.com/office/drawing/2014/main" id="{A9516A9F-E3F4-42EE-AA50-AE309347A672}"/>
              </a:ext>
            </a:extLst>
          </p:cNvPr>
          <p:cNvSpPr>
            <a:spLocks xmlns:a="http://schemas.openxmlformats.org/drawingml/2006/main" noGrp="1"/>
          </p:cNvSpPr>
          <p:nvPr/>
        </p:nvSpPr>
        <p:spPr>
          <a:xfrm xmlns:a="http://schemas.openxmlformats.org/drawingml/2006/main">
            <a:off x="609600" y="54959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Georgia"/>
                <a:ea typeface="Georgia"/>
                <a:cs typeface="Georgia"/>
              </a:defRPr>
            </a:pPr>
            <a:r>
              <a:rPr sz="1800" b="0">
                <a:solidFill>
                  <a:srgbClr val="DCE1EA"/>
                </a:solidFill>
                <a:latin typeface="Georgia"/>
                <a:ea typeface="Georgia"/>
                <a:cs typeface="Georgia"/>
              </a:rPr>
              <a:t>Real attorneys use Themis on real questions, find the work useful enough to return, and provide evidence for the next product and financing decision.</a:t>
            </a:r>
          </a:p>
        </p:txBody>
      </p:sp>
    </p:spTree>
    <p:extLst>
      <p:ext uri="{BB962C8B-B14F-4D97-AF65-F5344CB8AC3E}">
        <p14:creationId xmlns:p14="http://schemas.microsoft.com/office/powerpoint/2010/main" val="1249865888"/>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196abd6ce0a463a"/>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483324442"/>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84E03E-89C1-4753-A31A-CA18E6B4AED6}"/>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716FCE6F-22C6-4DE2-B505-04ED1233B50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58B62854-BE09-42AC-805D-19650C7128B3}"/>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B7921BD-8437-4D9D-9918-5432DF25051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EAD4E2EF-A7C5-41ED-A1A0-3F66C8426CDC}"/>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EC465B1B-21AE-4C8D-83D2-02F242DF1A7D}"/>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E6F166FC-B35D-4EC5-9E59-AC2DFBEE9391}"/>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C0FF7BB3-8A42-4057-8D3B-1870AF711F34}"/>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5970BEB3-4141-4432-A3F6-647B04A58FDE}"/>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211433F2-925B-408A-A53C-95CC9897026B}"/>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2A7FDF5F-D39D-4A72-9D68-4729F65CA22C}"/>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0E1C1260-42C2-4902-8FF7-8D1CC8B8F6D2}"/>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1836665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2026-09-05T00:07:59.1460000Z</dcterms:created>
  <dcterms:modified xsi:type="dcterms:W3CDTF">2026-09-05T00:07:59.1460000Z</dcterms:modified>
</coreProperties>
</file>