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0120cd55604e54" /><Relationship Type="http://schemas.openxmlformats.org/officeDocument/2006/relationships/extended-properties" Target="/docProps/app.xml" Id="Rd4707fe2f3f34cc8" /><Relationship Type="http://schemas.openxmlformats.org/officeDocument/2006/relationships/officeDocument" Target="/ppt/presentation.xml" Id="R2a2337f4e5154a70" /></Relationships>
</file>

<file path=ppt/presentation.xml><?xml version="1.0" encoding="utf-8"?>
<p:presentation xmlns:p="http://schemas.openxmlformats.org/presentationml/2006/main">
  <p:sldMasterIdLst>
    <p:sldMasterId xmlns:r="http://schemas.openxmlformats.org/officeDocument/2006/relationships" id="2147483648" r:id="R1da0d77bf25147c6"/>
  </p:sldMasterIdLst>
  <p:notesMasterIdLst>
    <p:notesMasterId xmlns:r="http://schemas.openxmlformats.org/officeDocument/2006/relationships" r:id="R7fbfd93d280b4842"/>
  </p:notesMasterIdLst>
  <p:sldIdLst>
    <p:sldId xmlns:r="http://schemas.openxmlformats.org/officeDocument/2006/relationships" id="256" r:id="R7eac9303d6224ad7"/>
    <p:sldId xmlns:r="http://schemas.openxmlformats.org/officeDocument/2006/relationships" id="257" r:id="Ra3e2b49e04e94d14"/>
    <p:sldId xmlns:r="http://schemas.openxmlformats.org/officeDocument/2006/relationships" id="258" r:id="R2528beb9f1b841d6"/>
    <p:sldId xmlns:r="http://schemas.openxmlformats.org/officeDocument/2006/relationships" id="259" r:id="R91709ea29b154224"/>
    <p:sldId xmlns:r="http://schemas.openxmlformats.org/officeDocument/2006/relationships" id="260" r:id="Rff261250a3d34429"/>
    <p:sldId xmlns:r="http://schemas.openxmlformats.org/officeDocument/2006/relationships" id="261" r:id="R83d89d582c304e01"/>
    <p:sldId xmlns:r="http://schemas.openxmlformats.org/officeDocument/2006/relationships" id="262" r:id="R3c754f0261b64d98"/>
    <p:sldId xmlns:r="http://schemas.openxmlformats.org/officeDocument/2006/relationships" id="263" r:id="R8883f6cbc0364f16"/>
    <p:sldId xmlns:r="http://schemas.openxmlformats.org/officeDocument/2006/relationships" id="264" r:id="R9cfc11849660469f"/>
    <p:sldId xmlns:r="http://schemas.openxmlformats.org/officeDocument/2006/relationships" id="265" r:id="R96b2ffe6c5cd4e02"/>
    <p:sldId xmlns:r="http://schemas.openxmlformats.org/officeDocument/2006/relationships" id="266" r:id="R1a006626fa704ec4"/>
    <p:sldId xmlns:r="http://schemas.openxmlformats.org/officeDocument/2006/relationships" id="267" r:id="R0979e7259e2f4cd3"/>
    <p:sldId xmlns:r="http://schemas.openxmlformats.org/officeDocument/2006/relationships" id="268" r:id="R9a170eab3a364d74"/>
    <p:sldId xmlns:r="http://schemas.openxmlformats.org/officeDocument/2006/relationships" id="269" r:id="R474217bd37944c6c"/>
    <p:sldId xmlns:r="http://schemas.openxmlformats.org/officeDocument/2006/relationships" id="270" r:id="R6667b98ec0b04e33"/>
    <p:sldId xmlns:r="http://schemas.openxmlformats.org/officeDocument/2006/relationships" id="271" r:id="R82058948c6e64724"/>
    <p:sldId xmlns:r="http://schemas.openxmlformats.org/officeDocument/2006/relationships" id="272" r:id="R2c02b6b3cc4548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482bbc7433466f" /><Relationship Type="http://schemas.openxmlformats.org/officeDocument/2006/relationships/slideMaster" Target="/ppt/slideMasters/slideMaster1.xml" Id="R1da0d77bf25147c6" /><Relationship Type="http://schemas.openxmlformats.org/officeDocument/2006/relationships/notesMaster" Target="/ppt/notesMasters/notesMaster1.xml" Id="R7fbfd93d280b4842" /><Relationship Type="http://schemas.openxmlformats.org/officeDocument/2006/relationships/presProps" Target="/ppt/presProps.xml" Id="R7f1d9a5d5a0d41d9" /><Relationship Type="http://schemas.openxmlformats.org/officeDocument/2006/relationships/tableStyles" Target="/ppt/tableStyles.xml" Id="R66957fc4a10442c4" /><Relationship Type="http://schemas.openxmlformats.org/officeDocument/2006/relationships/slide" Target="/ppt/slides/slide1.xml" Id="R7eac9303d6224ad7" /><Relationship Type="http://schemas.openxmlformats.org/officeDocument/2006/relationships/slide" Target="/ppt/slides/slide2.xml" Id="Ra3e2b49e04e94d14" /><Relationship Type="http://schemas.openxmlformats.org/officeDocument/2006/relationships/slide" Target="/ppt/slides/slide3.xml" Id="R2528beb9f1b841d6" /><Relationship Type="http://schemas.openxmlformats.org/officeDocument/2006/relationships/slide" Target="/ppt/slides/slide4.xml" Id="R91709ea29b154224" /><Relationship Type="http://schemas.openxmlformats.org/officeDocument/2006/relationships/slide" Target="/ppt/slides/slide5.xml" Id="Rff261250a3d34429" /><Relationship Type="http://schemas.openxmlformats.org/officeDocument/2006/relationships/slide" Target="/ppt/slides/slide6.xml" Id="R83d89d582c304e01" /><Relationship Type="http://schemas.openxmlformats.org/officeDocument/2006/relationships/slide" Target="/ppt/slides/slide7.xml" Id="R3c754f0261b64d98" /><Relationship Type="http://schemas.openxmlformats.org/officeDocument/2006/relationships/slide" Target="/ppt/slides/slide8.xml" Id="R8883f6cbc0364f16" /><Relationship Type="http://schemas.openxmlformats.org/officeDocument/2006/relationships/slide" Target="/ppt/slides/slide9.xml" Id="R9cfc11849660469f" /><Relationship Type="http://schemas.openxmlformats.org/officeDocument/2006/relationships/slide" Target="/ppt/slides/slide10.xml" Id="R96b2ffe6c5cd4e02" /><Relationship Type="http://schemas.openxmlformats.org/officeDocument/2006/relationships/slide" Target="/ppt/slides/slide11.xml" Id="R1a006626fa704ec4" /><Relationship Type="http://schemas.openxmlformats.org/officeDocument/2006/relationships/slide" Target="/ppt/slides/slide12.xml" Id="R0979e7259e2f4cd3" /><Relationship Type="http://schemas.openxmlformats.org/officeDocument/2006/relationships/slide" Target="/ppt/slides/slide13.xml" Id="R9a170eab3a364d74" /><Relationship Type="http://schemas.openxmlformats.org/officeDocument/2006/relationships/slide" Target="/ppt/slides/slide14.xml" Id="R474217bd37944c6c" /><Relationship Type="http://schemas.openxmlformats.org/officeDocument/2006/relationships/slide" Target="/ppt/slides/slide15.xml" Id="R6667b98ec0b04e33" /><Relationship Type="http://schemas.openxmlformats.org/officeDocument/2006/relationships/slide" Target="/ppt/slides/slide16.xml" Id="R82058948c6e64724" /><Relationship Type="http://schemas.openxmlformats.org/officeDocument/2006/relationships/slide" Target="/ppt/slides/slide17.xml" Id="R2c02b6b3cc4548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2fcffa65544a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d1e854c2c84d68" /><Relationship Type="http://schemas.openxmlformats.org/officeDocument/2006/relationships/notesMaster" Target="/ppt/notesMasters/notesMaster1.xml" Id="Rc12801cbc85c4d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6ee84d51aa4692" /><Relationship Type="http://schemas.openxmlformats.org/officeDocument/2006/relationships/notesMaster" Target="/ppt/notesMasters/notesMaster1.xml" Id="Rb97b857bb1e943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97ed2405114f05" /><Relationship Type="http://schemas.openxmlformats.org/officeDocument/2006/relationships/notesMaster" Target="/ppt/notesMasters/notesMaster1.xml" Id="R4c491d3c9e0a48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e1b27e1f2e4826" /><Relationship Type="http://schemas.openxmlformats.org/officeDocument/2006/relationships/notesMaster" Target="/ppt/notesMasters/notesMaster1.xml" Id="R7c62b259e14d40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4ecc0e77ee47ce" /><Relationship Type="http://schemas.openxmlformats.org/officeDocument/2006/relationships/notesMaster" Target="/ppt/notesMasters/notesMaster1.xml" Id="R9ca710cf912b41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34c6d3068742f1" /><Relationship Type="http://schemas.openxmlformats.org/officeDocument/2006/relationships/notesMaster" Target="/ppt/notesMasters/notesMaster1.xml" Id="R70759367664d44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b8ddcbcadc476b" /><Relationship Type="http://schemas.openxmlformats.org/officeDocument/2006/relationships/notesMaster" Target="/ppt/notesMasters/notesMaster1.xml" Id="R3380d2e9f5d648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dda8f8e02948b0" /><Relationship Type="http://schemas.openxmlformats.org/officeDocument/2006/relationships/notesMaster" Target="/ppt/notesMasters/notesMaster1.xml" Id="R35d6108d25214e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ef00b57d4f4dd3" /><Relationship Type="http://schemas.openxmlformats.org/officeDocument/2006/relationships/notesMaster" Target="/ppt/notesMasters/notesMaster1.xml" Id="Refb1e3ceef3f4b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0f1c0f1f504d72" /><Relationship Type="http://schemas.openxmlformats.org/officeDocument/2006/relationships/notesMaster" Target="/ppt/notesMasters/notesMaster1.xml" Id="R93b38334759c42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ce7e94ef204d61" /><Relationship Type="http://schemas.openxmlformats.org/officeDocument/2006/relationships/notesMaster" Target="/ppt/notesMasters/notesMaster1.xml" Id="Ra3a43bbd627849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f6a5dfa89e4019" /><Relationship Type="http://schemas.openxmlformats.org/officeDocument/2006/relationships/notesMaster" Target="/ppt/notesMasters/notesMaster1.xml" Id="Rbd08979894ff44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5cfc6832b24ebe" /><Relationship Type="http://schemas.openxmlformats.org/officeDocument/2006/relationships/notesMaster" Target="/ppt/notesMasters/notesMaster1.xml" Id="Raf3e12be95114f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6c4965a7d864bf3" /><Relationship Type="http://schemas.openxmlformats.org/officeDocument/2006/relationships/notesMaster" Target="/ppt/notesMasters/notesMaster1.xml" Id="Rf4ef41e83aa844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c97926650824b77" /><Relationship Type="http://schemas.openxmlformats.org/officeDocument/2006/relationships/notesMaster" Target="/ppt/notesMasters/notesMaster1.xml" Id="R874f3398d0f447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8b5e0d6bee542bf" /><Relationship Type="http://schemas.openxmlformats.org/officeDocument/2006/relationships/notesMaster" Target="/ppt/notesMasters/notesMaster1.xml" Id="R0a1134c0a5a149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a10a1ba90c42d0" /><Relationship Type="http://schemas.openxmlformats.org/officeDocument/2006/relationships/notesMaster" Target="/ppt/notesMasters/notesMaster1.xml" Id="Rabd1bedacc344f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positioning reflects the founder’s latest direction: remove slow preparation work and adapt to the lawyer’s working style. This is an intended benefit, not a measured performance claim. Existing conceptual flashlight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Founder observation, supported directionally by four exploratory in-house counsel interviews in output/research/raw/interviews/in-house-counsel/. The launch request is illustrative. The argument concerns lawyer time spent on preparation; it does not claim research is inherently valueless. See also Thomson Reuters 2025 State of the Corporate Law Department Report, pp. 4–10: https://www.acc.com/sites/default/files/2025-06/2025-State-of-the-Corporate-Law-Department-Report.pdf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 output/deck/screenshots/matter-relay.png, also used in the project’s prior deck assets. Cropped to the required-work and matter-summary area for readability. This is a historical prototype screenshot containing seeded fictional demo data, not an external customer or a fresh product execution. The screenshot supports the existence of the workspace and decision orientation, not autonomous production of the displayed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 vault/03_Matters/relay-open-banking/drafts/decision-note.md and recommendations.md, read for this revision. Text is an abridgment of fictional seeded demo content, not a new legal conclusion, verified authority or output produced during this session. The 90-day choice is a scenario parameter, not a claim about a legal deadline. Demonstrates the intended editable handoff and the distinction between a proposal and the lawyer’s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 founder’s current instructions, brand_pitch.md, docs/PRD.md §3.5 and vault/00_System/user.md. Existing prototype supports editable user preferences, agent instructions and workflows. Do not imply automatic learning of individual style has been validated or fully shipped. The example instruction is illustrative. This positioning replaces repeated context reconstruction as the primary value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Verified competitor sources accessed September 4–5, 2026: https://www.harvey.ai/platform/agents ; https://legora.com/ ; https://gc.ai/pricing. Harvey markets agents, customization and legal workflows; Legora serves in-house teams and supports research/drafting; GC AI directly targets in-house teams with skills, Word, connectors and individual access. The slide asserts a Themis focus, not exclusive capabilities or proven superiority. Local corpus: output/research/themis-counselos-legal-ai-competitive-strategy.docx, 203 reported de-duplicated Reddit threads, qualitative and not representative. Broad competitor claims in that older report were not adopted without current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Foundation: current repository and v7, four interview files, existing prototype captures. No paying users or live customer retention demonstrated in reviewed sources. Proposed 18-month targets: 25 paying organizations, average 2 paid seats = 50 seats, each $500/month × 12 = $300,000 annual recurring revenue run rate, not recognized cumulative revenue. Repeat-use target: 60% of activated pilot lawyers start a second distinct matter within 30 days of completing their first. Effort target: median 25% reduction against matched usual-tool tasks, including prompting, verification, correction and final assembly. Sustained personalization and workflow fit are proposed retention mechanisms; automated learning is not claimed as existing.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fundraising plan created for this revision at the user’s request. Not a committed round, approved budget, appointed team or fixed financing term. 18-month illustrative allocation: $900k founder and technical delivery; $180k customer development; $150k models/research/infrastructure; $120k secure pilot delivery and operations; $150k contingency. Sum $1.5m; average including reserve about $83.3k/month. Founding technical leader is open. Customer development can begin with the founder and fractional support. Financing instrument and final budget remain to be set. Milestones on slide 13 are proposed, not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117c2a5f9440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cc0367ef284c70" /><Relationship Type="http://schemas.openxmlformats.org/officeDocument/2006/relationships/slideLayout" Target="/ppt/slideLayouts/slideLayout1.xml" Id="R390a35ba0a7a4b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0a35ba0a7a4b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ac47e4474f4df3" /><Relationship Type="http://schemas.openxmlformats.org/officeDocument/2006/relationships/image" Target="/ppt/media/image.png" Id="R347e3583ddc84b9e" /><Relationship Type="http://schemas.openxmlformats.org/officeDocument/2006/relationships/notesSlide" Target="/ppt/notesSlides/notesSlide1.xml" Id="R9c6e66bbcc3549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ec659d06c8462e" /><Relationship Type="http://schemas.openxmlformats.org/officeDocument/2006/relationships/notesSlide" Target="/ppt/notesSlides/notesSlide2.xml" Id="R547433b436ac4b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4a7ff8c6ab42f2" /><Relationship Type="http://schemas.openxmlformats.org/officeDocument/2006/relationships/image" Target="/ppt/media/image2.png" Id="R6eb35eca0b494436" /><Relationship Type="http://schemas.openxmlformats.org/officeDocument/2006/relationships/notesSlide" Target="/ppt/notesSlides/notesSlide3.xml" Id="Rf38b62ae6a6d44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9ad81f463f439b" /><Relationship Type="http://schemas.openxmlformats.org/officeDocument/2006/relationships/notesSlide" Target="/ppt/notesSlides/notesSlide4.xml" Id="R1296cc44c9cc48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d5aefc626f45c5" /><Relationship Type="http://schemas.openxmlformats.org/officeDocument/2006/relationships/notesSlide" Target="/ppt/notesSlides/notesSlide5.xml" Id="R8ad5d2bf8ea043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51114e3cc54dc4" /><Relationship Type="http://schemas.openxmlformats.org/officeDocument/2006/relationships/notesSlide" Target="/ppt/notesSlides/notesSlide6.xml" Id="R1b0b83298acb4d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37abc05160445d" /><Relationship Type="http://schemas.openxmlformats.org/officeDocument/2006/relationships/notesSlide" Target="/ppt/notesSlides/notesSlide7.xml" Id="R3e9098fcfb8242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5048660a9d41a1" /><Relationship Type="http://schemas.openxmlformats.org/officeDocument/2006/relationships/notesSlide" Target="/ppt/notesSlides/notesSlide8.xml" Id="Ra1820aed09a54a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592191558d2405c" /><Relationship Type="http://schemas.openxmlformats.org/officeDocument/2006/relationships/notesSlide" Target="/ppt/notesSlides/notesSlide9.xml" Id="R1ed3961f54ae4d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e78941fa14144a0" /><Relationship Type="http://schemas.openxmlformats.org/officeDocument/2006/relationships/notesSlide" Target="/ppt/notesSlides/notesSlide10.xml" Id="R06f3bf9f7f8f49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be8c2340a9487f" /><Relationship Type="http://schemas.openxmlformats.org/officeDocument/2006/relationships/notesSlide" Target="/ppt/notesSlides/notesSlide11.xml" Id="R219b8ce6abdb4f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97b334786e4964" /><Relationship Type="http://schemas.openxmlformats.org/officeDocument/2006/relationships/notesSlide" Target="/ppt/notesSlides/notesSlide12.xml" Id="R79103ef8e47940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5159ddd7a447c7" /><Relationship Type="http://schemas.openxmlformats.org/officeDocument/2006/relationships/notesSlide" Target="/ppt/notesSlides/notesSlide13.xml" Id="Re838f5d82acc4f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053ce94a6524a2e" /><Relationship Type="http://schemas.openxmlformats.org/officeDocument/2006/relationships/notesSlide" Target="/ppt/notesSlides/notesSlide14.xml" Id="R186a85ce7a194d1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fe3a5348b1c470c" /><Relationship Type="http://schemas.openxmlformats.org/officeDocument/2006/relationships/notesSlide" Target="/ppt/notesSlides/notesSlide15.xml" Id="Rfb0160f0390243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4e2374545604e26" /><Relationship Type="http://schemas.openxmlformats.org/officeDocument/2006/relationships/image" Target="/ppt/media/image3.png" Id="R07432857d3fb4157" /><Relationship Type="http://schemas.openxmlformats.org/officeDocument/2006/relationships/notesSlide" Target="/ppt/notesSlides/notesSlide16.xml" Id="Rb585816b22de42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e2d618f93914514" /><Relationship Type="http://schemas.openxmlformats.org/officeDocument/2006/relationships/notesSlide" Target="/ppt/notesSlides/notesSlide17.xml" Id="Rbe1dd4aa27dc443d"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47e3583ddc84b9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D3AAE62-88B3-46E2-BBC8-3448C12A65EB}"/>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60CCFA3B-D21D-49D5-8DEB-CE21C115AE66}"/>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1BA46E9-4C7C-47B0-BE65-765D0F2E9D60}"/>
              </a:ext>
            </a:extLst>
          </p:cNvPr>
          <p:cNvSpPr>
            <a:spLocks xmlns:a="http://schemas.openxmlformats.org/drawingml/2006/main" noGrp="1"/>
          </p:cNvSpPr>
          <p:nvPr/>
        </p:nvSpPr>
        <p:spPr>
          <a:xfrm xmlns:a="http://schemas.openxmlformats.org/drawingml/2006/main">
            <a:off x="609600" y="1743075"/>
            <a:ext cx="661987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800" b="1">
                <a:solidFill>
                  <a:srgbClr val="FAF8F2"/>
                </a:solidFill>
                <a:latin typeface="Georgia"/>
                <a:ea typeface="Georgia"/>
                <a:cs typeface="Georgia"/>
              </a:defRPr>
            </a:pPr>
            <a:r>
              <a:rPr sz="4800" b="1">
                <a:solidFill>
                  <a:srgbClr val="FAF8F2"/>
                </a:solidFill>
                <a:latin typeface="Georgia"/>
                <a:ea typeface="Georgia"/>
                <a:cs typeface="Georgia"/>
              </a:rPr>
              <a:t>Your judgment.</a:t>
            </a:r>
          </a:p>
          <a:p xmlns:a="http://schemas.openxmlformats.org/drawingml/2006/main">
            <a:pPr>
              <a:lnSpc>
                <a:spcPct val="108000"/>
              </a:lnSpc>
              <a:buNone/>
              <a:defRPr sz="4800" b="1">
                <a:solidFill>
                  <a:srgbClr val="FAF8F2"/>
                </a:solidFill>
                <a:latin typeface="Georgia"/>
                <a:ea typeface="Georgia"/>
                <a:cs typeface="Georgia"/>
              </a:defRPr>
            </a:pPr>
            <a:r>
              <a:rPr sz="4800" b="1">
                <a:solidFill>
                  <a:srgbClr val="FAF8F2"/>
                </a:solidFill>
                <a:latin typeface="Georgia"/>
                <a:ea typeface="Georgia"/>
                <a:cs typeface="Georgia"/>
              </a:rPr>
              <a:t>With more time</a:t>
            </a:r>
          </a:p>
          <a:p xmlns:a="http://schemas.openxmlformats.org/drawingml/2006/main">
            <a:pPr>
              <a:lnSpc>
                <a:spcPct val="108000"/>
              </a:lnSpc>
              <a:buNone/>
              <a:defRPr sz="4800" b="1">
                <a:solidFill>
                  <a:srgbClr val="FAF8F2"/>
                </a:solidFill>
                <a:latin typeface="Georgia"/>
                <a:ea typeface="Georgia"/>
                <a:cs typeface="Georgia"/>
              </a:defRPr>
            </a:pPr>
            <a:r>
              <a:rPr sz="4800" b="1">
                <a:solidFill>
                  <a:srgbClr val="FAF8F2"/>
                </a:solidFill>
                <a:latin typeface="Georgia"/>
                <a:ea typeface="Georgia"/>
                <a:cs typeface="Georgia"/>
              </a:rPr>
              <a:t>to use it.</a:t>
            </a:r>
          </a:p>
        </p:txBody>
      </p:sp>
      <p:sp>
        <p:nvSpPr>
          <p:cNvPr id="5" name="">
            <a:extLst xmlns:a="http://schemas.openxmlformats.org/drawingml/2006/main">
              <a:ext uri="{FF2B5EF4-FFF2-40B4-BE49-F238E27FC236}">
                <a16:creationId xmlns:a16="http://schemas.microsoft.com/office/drawing/2014/main" id="{668AB805-6A12-4A7D-8764-A77C03D4BC90}"/>
              </a:ext>
            </a:extLst>
          </p:cNvPr>
          <p:cNvSpPr>
            <a:spLocks xmlns:a="http://schemas.openxmlformats.org/drawingml/2006/main" noGrp="1"/>
          </p:cNvSpPr>
          <p:nvPr/>
        </p:nvSpPr>
        <p:spPr>
          <a:xfrm xmlns:a="http://schemas.openxmlformats.org/drawingml/2006/main">
            <a:off x="638175" y="4667250"/>
            <a:ext cx="600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AI that takes on the slow work</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behind legal advice.</a:t>
            </a:r>
          </a:p>
        </p:txBody>
      </p:sp>
      <p:sp>
        <p:nvSpPr>
          <p:cNvPr id="6" name="">
            <a:extLst xmlns:a="http://schemas.openxmlformats.org/drawingml/2006/main">
              <a:ext uri="{FF2B5EF4-FFF2-40B4-BE49-F238E27FC236}">
                <a16:creationId xmlns:a16="http://schemas.microsoft.com/office/drawing/2014/main" id="{466A57DA-56E3-4A0E-BCF9-6B9872CE8D74}"/>
              </a:ext>
            </a:extLst>
          </p:cNvPr>
          <p:cNvSpPr>
            <a:spLocks xmlns:a="http://schemas.openxmlformats.org/drawingml/2006/main" noGrp="1"/>
          </p:cNvSpPr>
          <p:nvPr/>
        </p:nvSpPr>
        <p:spPr>
          <a:xfrm xmlns:a="http://schemas.openxmlformats.org/drawingml/2006/main">
            <a:off x="638175" y="56578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D8B66A"/>
                </a:solidFill>
                <a:latin typeface="Arial"/>
                <a:ea typeface="Arial"/>
                <a:cs typeface="Arial"/>
              </a:defRPr>
            </a:pPr>
            <a:r>
              <a:rPr sz="1875" b="0">
                <a:solidFill>
                  <a:srgbClr val="D8B66A"/>
                </a:solidFill>
                <a:latin typeface="Arial"/>
                <a:ea typeface="Arial"/>
                <a:cs typeface="Arial"/>
              </a:rPr>
              <a:t>Built around the lawyer.</a:t>
            </a:r>
          </a:p>
        </p:txBody>
      </p:sp>
      <p:sp>
        <p:nvSpPr>
          <p:cNvPr id="7" name="">
            <a:extLst xmlns:a="http://schemas.openxmlformats.org/drawingml/2006/main">
              <a:ext uri="{FF2B5EF4-FFF2-40B4-BE49-F238E27FC236}">
                <a16:creationId xmlns:a16="http://schemas.microsoft.com/office/drawing/2014/main" id="{FC04AB47-30D7-45B4-85DB-474496F62011}"/>
              </a:ext>
            </a:extLst>
          </p:cNvPr>
          <p:cNvSpPr>
            <a:spLocks xmlns:a="http://schemas.openxmlformats.org/drawingml/2006/main" noGrp="1"/>
          </p:cNvSpPr>
          <p:nvPr/>
        </p:nvSpPr>
        <p:spPr>
          <a:xfrm xmlns:a="http://schemas.openxmlformats.org/drawingml/2006/main">
            <a:off x="638175" y="62674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987530161"/>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14D536-C1AA-4571-A594-7B8CA2F5582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15DA94DD-0DB8-48BA-B58E-5F99DB384B4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company needs a decision.</a:t>
            </a:r>
          </a:p>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Preparation consumes the lawyer’s day</a:t>
            </a:r>
          </a:p>
        </p:txBody>
      </p:sp>
      <p:sp>
        <p:nvSpPr>
          <p:cNvPr id="3" name="">
            <a:extLst xmlns:a="http://schemas.openxmlformats.org/drawingml/2006/main">
              <a:ext uri="{FF2B5EF4-FFF2-40B4-BE49-F238E27FC236}">
                <a16:creationId xmlns:a16="http://schemas.microsoft.com/office/drawing/2014/main" id="{7BB026DA-392E-4F55-8597-AD6E755D4706}"/>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E252149-F6BD-45C0-AA39-9C34D21A454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10B1D23-63F5-4A1C-BCFA-30C15538FA9B}"/>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REQUEST</a:t>
            </a:r>
          </a:p>
        </p:txBody>
      </p:sp>
      <p:sp>
        <p:nvSpPr>
          <p:cNvPr id="6" name="">
            <a:extLst xmlns:a="http://schemas.openxmlformats.org/drawingml/2006/main">
              <a:ext uri="{FF2B5EF4-FFF2-40B4-BE49-F238E27FC236}">
                <a16:creationId xmlns:a16="http://schemas.microsoft.com/office/drawing/2014/main" id="{F98DD96E-244E-4F03-BA21-915986E4467D}"/>
              </a:ext>
            </a:extLst>
          </p:cNvPr>
          <p:cNvSpPr>
            <a:spLocks xmlns:a="http://schemas.openxmlformats.org/drawingml/2006/main" noGrp="1"/>
          </p:cNvSpPr>
          <p:nvPr/>
        </p:nvSpPr>
        <p:spPr>
          <a:xfrm xmlns:a="http://schemas.openxmlformats.org/drawingml/2006/main">
            <a:off x="609600" y="287655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“Can we ship Friday?”</a:t>
            </a:r>
          </a:p>
        </p:txBody>
      </p:sp>
      <p:sp>
        <p:nvSpPr>
          <p:cNvPr id="7" name="">
            <a:extLst xmlns:a="http://schemas.openxmlformats.org/drawingml/2006/main">
              <a:ext uri="{FF2B5EF4-FFF2-40B4-BE49-F238E27FC236}">
                <a16:creationId xmlns:a16="http://schemas.microsoft.com/office/drawing/2014/main" id="{6FBA80EF-493E-427D-8664-B38CE3979832}"/>
              </a:ext>
            </a:extLst>
          </p:cNvPr>
          <p:cNvSpPr>
            <a:spLocks xmlns:a="http://schemas.openxmlformats.org/drawingml/2006/main" noGrp="1"/>
          </p:cNvSpPr>
          <p:nvPr/>
        </p:nvSpPr>
        <p:spPr>
          <a:xfrm xmlns:a="http://schemas.openxmlformats.org/drawingml/2006/main">
            <a:off x="609600" y="410527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A new product. An unclear data use.</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A deadline that will not move.</a:t>
            </a:r>
          </a:p>
        </p:txBody>
      </p:sp>
      <p:sp>
        <p:nvSpPr>
          <p:cNvPr id="8" name="">
            <a:extLst xmlns:a="http://schemas.openxmlformats.org/drawingml/2006/main">
              <a:ext uri="{FF2B5EF4-FFF2-40B4-BE49-F238E27FC236}">
                <a16:creationId xmlns:a16="http://schemas.microsoft.com/office/drawing/2014/main" id="{BCC7A881-C844-4EDD-B560-FA0713E872DF}"/>
              </a:ext>
            </a:extLst>
          </p:cNvPr>
          <p:cNvSpPr>
            <a:spLocks xmlns:a="http://schemas.openxmlformats.org/drawingml/2006/main" noGrp="1"/>
          </p:cNvSpPr>
          <p:nvPr/>
        </p:nvSpPr>
        <p:spPr>
          <a:xfrm xmlns:a="http://schemas.openxmlformats.org/drawingml/2006/main">
            <a:off x="661035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WORK BEFORE THE ADVICE</a:t>
            </a:r>
          </a:p>
        </p:txBody>
      </p:sp>
      <p:sp>
        <p:nvSpPr>
          <p:cNvPr id="9" name="">
            <a:extLst xmlns:a="http://schemas.openxmlformats.org/drawingml/2006/main">
              <a:ext uri="{FF2B5EF4-FFF2-40B4-BE49-F238E27FC236}">
                <a16:creationId xmlns:a16="http://schemas.microsoft.com/office/drawing/2014/main" id="{2CF67827-12DF-4C2D-98EB-2E053CAC5672}"/>
              </a:ext>
            </a:extLst>
          </p:cNvPr>
          <p:cNvSpPr>
            <a:spLocks xmlns:a="http://schemas.openxmlformats.org/drawingml/2006/main" noGrp="1"/>
          </p:cNvSpPr>
          <p:nvPr/>
        </p:nvSpPr>
        <p:spPr>
          <a:xfrm xmlns:a="http://schemas.openxmlformats.org/drawingml/2006/main">
            <a:off x="6610350" y="2952750"/>
            <a:ext cx="48958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Search for the relevant rules.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Read and compare the sources.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Pull facts from the documents.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Prepare a usable first draft.</a:t>
            </a:r>
          </a:p>
        </p:txBody>
      </p:sp>
      <p:sp>
        <p:nvSpPr>
          <p:cNvPr id="10" name="">
            <a:extLst xmlns:a="http://schemas.openxmlformats.org/drawingml/2006/main">
              <a:ext uri="{FF2B5EF4-FFF2-40B4-BE49-F238E27FC236}">
                <a16:creationId xmlns:a16="http://schemas.microsoft.com/office/drawing/2014/main" id="{2DD5BE08-6E37-4BA6-8CFC-B184C2FA65B9}"/>
              </a:ext>
            </a:extLst>
          </p:cNvPr>
          <p:cNvSpPr>
            <a:spLocks xmlns:a="http://schemas.openxmlformats.org/drawingml/2006/main" noGrp="1"/>
          </p:cNvSpPr>
          <p:nvPr/>
        </p:nvSpPr>
        <p:spPr>
          <a:xfrm xmlns:a="http://schemas.openxmlformats.org/drawingml/2006/main">
            <a:off x="609600" y="5400675"/>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0">
                <a:solidFill>
                  <a:srgbClr val="4169A4"/>
                </a:solidFill>
                <a:latin typeface="Georgia"/>
                <a:ea typeface="Georgia"/>
                <a:cs typeface="Georgia"/>
              </a:defRPr>
            </a:pPr>
            <a:r>
              <a:rPr sz="2250" b="0">
                <a:solidFill>
                  <a:srgbClr val="4169A4"/>
                </a:solidFill>
                <a:latin typeface="Georgia"/>
                <a:ea typeface="Georgia"/>
                <a:cs typeface="Georgia"/>
              </a:rPr>
              <a:t>That work is necessary. The business value comes from what the lawyer does with it.</a:t>
            </a:r>
          </a:p>
        </p:txBody>
      </p:sp>
    </p:spTree>
    <p:extLst>
      <p:ext uri="{BB962C8B-B14F-4D97-AF65-F5344CB8AC3E}">
        <p14:creationId xmlns:p14="http://schemas.microsoft.com/office/powerpoint/2010/main" val="137746821"/>
      </p:ext>
    </p:extLst>
  </p:cSld>
</p:sld>
</file>

<file path=ppt/slides/slide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8F2"/>
        </ns1:solidFill>
      </ns0:bgPr>
    </ns0:bg>
    <ns0:spTree>
      <ns0:nvGrpSpPr>
        <ns0:cNvPr id="1" name=""/>
        <ns0:cNvGrpSpPr/>
        <ns0:nvPr/>
      </ns0:nvGrpSpPr>
      <ns0:grpSpPr>
        <ns1:xfrm/>
      </ns0:grpSpPr>
      <ns0:sp>
        <ns0:nvSpPr>
          <ns0:cNvPr id="10" name="">
            <ns1:extLst>
              <ns1:ext uri="{FF2B5EF4-FFF2-40B4-BE49-F238E27FC236}">
                <ns2:creationId id="{E60C6F07-0670-41E1-933E-6D6C66A5752D}"/>
              </ns1:ext>
            </ns1:extLst>
          </ns0:cNvPr>
          <ns0:cNvSpPr>
            <ns1:spLocks noGrp="1"/>
          </ns0:cNvSpPr>
          <ns0:nvPr/>
        </ns0:nvSpPr>
        <ns0:spPr>
          <ns1:xfrm>
            <ns1:off x="609600" y="371475"/>
            <ns1:ext cx="10477500" cy="238125"/>
          </ns1:xfrm>
          <ns1:prstGeom prst="rect">
            <ns1:avLst/>
          </ns1:prstGeom>
          <ns1:noFill/>
          <ns1:ln w="0">
            <ns1:noFill/>
          </ns1:ln>
        </ns0:spPr>
        <ns0:txBody>
          <ns1:bodyPr wrap="square" lIns="0" tIns="0" rIns="0" bIns="0">
            <ns1:noAutofit/>
          </ns1:bodyPr>
          <ns1:lstStyle/>
          <ns1:p>
            <ns1:pPr>
              <ns1:lnSpc>
                <ns1:spcPct val="108000"/>
              </ns1:lnSpc>
              <ns1:buNone/>
              <ns1:defRPr sz="1125" b="1">
                <ns1:solidFill>
                  <ns1:srgbClr val="4169A4"/>
                </ns1:solidFill>
                <ns1:latin typeface="Arial"/>
                <ns1:ea typeface="Arial"/>
                <ns1:cs typeface="Arial"/>
              </ns1:defRPr>
            </ns1:pPr>
            <ns1:r>
              <ns1:rPr sz="1125" b="1">
                <ns1:solidFill>
                  <ns1:srgbClr val="4169A4"/>
                </ns1:solidFill>
                <ns1:latin typeface="Arial"/>
                <ns1:ea typeface="Arial"/>
                <ns1:cs typeface="Arial"/>
              </ns1:rPr>
              <ns1:t>WORKING PROTOTYPE</ns1:t>
            </ns1:r>
          </ns1:p>
        </ns0:txBody>
      </ns0:sp>
      <ns0:sp>
        <ns0:nvSpPr>
          <ns0:cNvPr id="2" name="">
            <ns1:extLst>
              <ns1:ext uri="{FF2B5EF4-FFF2-40B4-BE49-F238E27FC236}">
                <ns2:creationId id="{09511E1D-81E1-4040-BBBE-9757834DB035}"/>
              </ns1:ext>
            </ns1:extLst>
          </ns0:cNvPr>
          <ns0:cNvSpPr>
            <ns1:spLocks noGrp="1"/>
          </ns0:cNvSpPr>
          <ns0:nvPr/>
        </ns0:nvSpPr>
        <ns0:spPr>
          <ns1:xfrm>
            <ns1:off x="609600" y="866775"/>
            <ns1:ext cx="10906125" cy="1257300"/>
          </ns1:xfrm>
          <ns1:prstGeom prst="rect">
            <ns1:avLst/>
          </ns1:prstGeom>
          <ns1:noFill/>
          <ns1:ln w="0">
            <ns1:noFill/>
          </ns1:ln>
        </ns0:spPr>
        <ns0:txBody>
          <ns1:bodyPr wrap="square" lIns="0" tIns="0" rIns="0" bIns="0">
            <ns1:noAutofit/>
          </ns1:bodyPr>
          <ns1:lstStyle/>
          <ns1:p>
            <ns1:pPr>
              <ns1:lnSpc>
                <ns1:spcPct val="108000"/>
              </ns1:lnSpc>
              <ns1:buNone/>
              <ns1:defRPr sz="3600" b="1">
                <ns1:solidFill>
                  <ns1:srgbClr val="17243E"/>
                </ns1:solidFill>
                <ns1:latin typeface="Georgia"/>
                <ns1:ea typeface="Georgia"/>
                <ns1:cs typeface="Georgia"/>
              </ns1:defRPr>
            </ns1:pPr>
            <ns1:r>
              <ns1:rPr sz="3600" b="1">
                <ns1:solidFill>
                  <ns1:srgbClr val="17243E"/>
                </ns1:solidFill>
                <ns1:latin typeface="Georgia"/>
                <ns1:ea typeface="Georgia"/>
                <ns1:cs typeface="Georgia"/>
              </ns1:rPr>
              <ns1:t>A business question becomes</ns1:t>
            </ns1:r>
          </ns1:p>
          <ns1:p>
            <ns1:pPr>
              <ns1:lnSpc>
                <ns1:spcPct val="108000"/>
              </ns1:lnSpc>
              <ns1:buNone/>
              <ns1:defRPr sz="3600" b="1">
                <ns1:solidFill>
                  <ns1:srgbClr val="17243E"/>
                </ns1:solidFill>
                <ns1:latin typeface="Georgia"/>
                <ns1:ea typeface="Georgia"/>
                <ns1:cs typeface="Georgia"/>
              </ns1:defRPr>
            </ns1:pPr>
            <ns1:r>
              <ns1:rPr sz="3600" b="1">
                <ns1:solidFill>
                  <ns1:srgbClr val="17243E"/>
                </ns1:solidFill>
                <ns1:latin typeface="Georgia"/>
                <ns1:ea typeface="Georgia"/>
                <ns1:cs typeface="Georgia"/>
              </ns1:rPr>
              <ns1:t>a concrete decision</ns1:t>
            </ns1:r>
          </ns1:p>
        </ns0:txBody>
      </ns0:sp>
      <ns0:sp>
        <ns0:nvSpPr>
          <ns0:cNvPr id="3" name="">
            <ns1:extLst>
              <ns1:ext uri="{FF2B5EF4-FFF2-40B4-BE49-F238E27FC236}">
                <ns2:creationId id="{FCF3A26B-4FB2-4109-95A1-662AB8B51110}"/>
              </ns1:ext>
            </ns1:extLst>
          </ns0:cNvPr>
          <ns0:cNvSpPr>
            <ns1:spLocks noGrp="1"/>
          </ns0:cNvSpPr>
          <ns0:nvPr/>
        </ns0:nvSpPr>
        <ns0:spPr>
          <ns1:xfrm>
            <ns1:off x="609600" y="6486525"/>
            <ns1:ext cx="1428750" cy="190500"/>
          </ns1:xfrm>
          <ns1:prstGeom prst="rect">
            <ns1:avLst/>
          </ns1:prstGeom>
          <ns1:noFill/>
          <ns1:ln w="0">
            <ns1:noFill/>
          </ns1:ln>
        </ns0:spPr>
        <ns0:txBody>
          <ns1:bodyPr wrap="square" lIns="0" tIns="0" rIns="0" bIns="0">
            <ns1:noAutofit/>
          </ns1:bodyPr>
          <ns1:lstStyle/>
          <ns1:p>
            <ns1:pPr>
              <ns1:lnSpc>
                <ns1:spcPct val="108000"/>
              </ns1:lnSpc>
              <ns1:buNone/>
              <ns1:defRPr sz="900" b="1">
                <ns1:solidFill>
                  <ns1:srgbClr val="596273"/>
                </ns1:solidFill>
                <ns1:latin typeface="Arial"/>
                <ns1:ea typeface="Arial"/>
                <ns1:cs typeface="Arial"/>
              </ns1:defRPr>
            </ns1:pPr>
            <ns1:r>
              <ns1:rPr sz="900" b="1">
                <ns1:solidFill>
                  <ns1:srgbClr val="596273"/>
                </ns1:solidFill>
                <ns1:latin typeface="Arial"/>
                <ns1:ea typeface="Arial"/>
                <ns1:cs typeface="Arial"/>
              </ns1:rPr>
              <ns1:t>THEMIS</ns1:t>
            </ns1:r>
          </ns1:p>
        </ns0:txBody>
      </ns0:sp>
      <ns0:sp>
        <ns0:nvSpPr>
          <ns0:cNvPr id="4" name="">
            <ns1:extLst>
              <ns1:ext uri="{FF2B5EF4-FFF2-40B4-BE49-F238E27FC236}">
                <ns2:creationId id="{21844BED-A545-430D-94CC-3F18ED3F6350}"/>
              </ns1:ext>
            </ns1:extLst>
          </ns0:cNvPr>
          <ns0:cNvSpPr>
            <ns1:spLocks noGrp="1"/>
          </ns0:cNvSpPr>
          <ns0:nvPr/>
        </ns0:nvSpPr>
        <ns0:spPr>
          <ns1:xfrm>
            <ns1:off x="11239500" y="6486525"/>
            <ns1:ext cx="381000" cy="190500"/>
          </ns1:xfrm>
          <ns1:prstGeom prst="rect">
            <ns1:avLst/>
          </ns1:prstGeom>
          <ns1:noFill/>
          <ns1:ln w="0">
            <ns1:noFill/>
          </ns1:ln>
        </ns0:spPr>
        <ns0:txBody>
          <ns1:bodyPr wrap="square" lIns="0" tIns="0" rIns="0" bIns="0">
            <ns1:noAutofit/>
          </ns1:bodyPr>
          <ns1:lstStyle/>
          <ns1:p>
            <ns1:pPr>
              <ns1:lnSpc>
                <ns1:spcPct val="108000"/>
              </ns1:lnSpc>
              <ns1:buNone/>
              <ns1:defRPr sz="900" b="0">
                <ns1:solidFill>
                  <ns1:srgbClr val="596273"/>
                </ns1:solidFill>
                <ns1:latin typeface="Arial"/>
                <ns1:ea typeface="Arial"/>
                <ns1:cs typeface="Arial"/>
              </ns1:defRPr>
            </ns1:pPr>
            <ns1:r>
              <ns1:rPr sz="900" b="0">
                <ns1:solidFill>
                  <ns1:srgbClr val="596273"/>
                </ns1:solidFill>
                <ns1:latin typeface="Arial"/>
                <ns1:ea typeface="Arial"/>
                <ns1:cs typeface="Arial"/>
              </ns1:rPr>
              <ns1:t>03</ns1:t>
            </ns1:r>
          </ns1:p>
        </ns0:txBody>
      </ns0:sp>
      <ns0:pic>
        <ns0:nvPicPr>
          <ns0:cNvPr id="14" name=""/>
          <ns0:cNvPicPr>
            <ns1:picLocks noChangeAspect="1"/>
          </ns0:cNvPicPr>
          <ns0:nvPr/>
        </ns0:nvPicPr>
        <ns0:blipFill>
          <ns1:blip ns3:embed="R6eb35eca0b494436"/>
          <ns1:srcRect l="19000" t="16600" r="16000" b="57000"/>
          <ns1:stretch/>
        </ns0:blipFill>
        <ns0:spPr>
          <ns1:xfrm>
            <ns1:off x="609600" y="2428875"/>
            <ns1:ext cx="8210550" cy="3476625"/>
          </ns1:xfrm>
          <ns1:prstGeom prst="rect">
            <ns1:avLst/>
          </ns1:prstGeom>
        </ns0:spPr>
      </ns0:pic>
      <ns0:sp>
        <ns0:nvSpPr>
          <ns0:cNvPr id="6" name="">
            <ns1:extLst>
              <ns1:ext uri="{FF2B5EF4-FFF2-40B4-BE49-F238E27FC236}">
                <ns2:creationId id="{473A416F-8CDA-4D1F-9E26-423FC482180B}"/>
              </ns1:ext>
            </ns1:extLst>
          </ns0:cNvPr>
          <ns0:cNvSpPr>
            <ns1:spLocks noGrp="1"/>
          </ns0:cNvSpPr>
          <ns0:nvPr/>
        </ns0:nvSpPr>
        <ns0:spPr>
          <ns1:xfrm>
            <ns1:off x="9182100" y="2457450"/>
            <ns1:ext cx="2333625" cy="285750"/>
          </ns1:xfrm>
          <ns1:prstGeom prst="rect">
            <ns1:avLst/>
          </ns1:prstGeom>
          <ns1:noFill/>
          <ns1:ln w="0">
            <ns1:noFill/>
          </ns1:ln>
        </ns0:spPr>
        <ns0:txBody>
          <ns1:bodyPr wrap="square" lIns="0" tIns="0" rIns="0" bIns="0">
            <ns1:noAutofit/>
          </ns1:bodyPr>
          <ns1:lstStyle/>
          <ns1:p>
            <ns1:pPr>
              <ns1:lnSpc>
                <ns1:spcPct val="108000"/>
              </ns1:lnSpc>
              <ns1:buNone/>
              <ns1:defRPr sz="1275" b="1">
                <ns1:solidFill>
                  <ns1:srgbClr val="4169A4"/>
                </ns1:solidFill>
                <ns1:latin typeface="Arial"/>
                <ns1:ea typeface="Arial"/>
                <ns1:cs typeface="Arial"/>
              </ns1:defRPr>
            </ns1:pPr>
            <ns1:r>
              <ns1:rPr sz="1275" b="1">
                <ns1:solidFill>
                  <ns1:srgbClr val="4169A4"/>
                </ns1:solidFill>
                <ns1:latin typeface="Arial"/>
                <ns1:ea typeface="Arial"/>
                <ns1:cs typeface="Arial"/>
              </ns1:rPr>
              <ns1:t>RELAY DEMO MATTER</ns1:t>
            </ns1:r>
          </ns1:p>
        </ns0:txBody>
      </ns0:sp>
      <ns0:sp>
        <ns0:nvSpPr>
          <ns0:cNvPr id="7" name="">
            <ns1:extLst>
              <ns1:ext uri="{FF2B5EF4-FFF2-40B4-BE49-F238E27FC236}">
                <ns2:creationId id="{C2EEE851-D2BD-4984-954E-9640CD833CAA}"/>
              </ns1:ext>
            </ns1:extLst>
          </ns0:cNvPr>
          <ns0:cNvSpPr>
            <ns1:spLocks noGrp="1"/>
          </ns0:cNvSpPr>
          <ns0:nvPr/>
        </ns0:nvSpPr>
        <ns0:spPr>
          <ns1:xfrm>
            <ns1:off x="9182100" y="2924175"/>
            <ns1:ext cx="2362200" cy="1790700"/>
          </ns1:xfrm>
          <ns1:prstGeom prst="rect">
            <ns1:avLst/>
          </ns1:prstGeom>
          <ns1:noFill/>
          <ns1:ln w="0">
            <ns1:noFill/>
          </ns1:ln>
        </ns0:spPr>
        <ns0:txBody>
          <ns1:bodyPr wrap="square" lIns="0" tIns="0" rIns="0" bIns="0">
            <ns1:noAutofit/>
          </ns1:bodyPr>
          <ns1:lstStyle/>
          <ns1:p>
            <ns1:pPr>
              <ns1:lnSpc>
                <ns1:spcPct val="108000"/>
              </ns1:lnSpc>
              <ns1:buNone/>
              <ns1:defRPr sz="1725" b="0">
                <ns1:solidFill>
                  <ns1:srgbClr val="17243E"/>
                </ns1:solidFill>
                <ns1:latin typeface="Arial"/>
                <ns1:ea typeface="Arial"/>
                <ns1:cs typeface="Arial"/>
              </ns1:defRPr>
            </ns1:pPr>
            <ns1:r>
              <ns1:rPr sz="1725" b="0">
                <ns1:solidFill>
                  <ns1:srgbClr val="17243E"/>
                </ns1:solidFill>
                <ns1:latin typeface="Arial"/>
                <ns1:ea typeface="Arial"/>
                <ns1:cs typeface="Arial"/>
              </ns1:rPr>
              <ns1:t>A bank-data migration.</ns1:t>
            </ns1:r>
          </ns1:p>
          <ns1:p>
            <ns1:pPr>
              <ns1:lnSpc>
                <ns1:spcPct val="108000"/>
              </ns1:lnSpc>
              <ns1:buNone/>
              <ns1:defRPr sz="1725" b="0">
                <ns1:solidFill>
                  <ns1:srgbClr val="17243E"/>
                </ns1:solidFill>
                <ns1:latin typeface="Arial"/>
                <ns1:ea typeface="Arial"/>
                <ns1:cs typeface="Arial"/>
              </ns1:defRPr>
            </ns1:pPr>
            <ns1:r>
              <ns1:rPr sz="1725" b="0">
                <ns1:solidFill>
                  <ns1:srgbClr val="17243E"/>
                </ns1:solidFill>
                <ns1:latin typeface="Arial"/>
                <ns1:ea typeface="Arial"/>
                <ns1:cs typeface="Arial"/>
              </ns1:rPr>
              <ns1:t>An unclear consent.</ns1:t>
            </ns1:r>
          </ns1:p>
          <ns1:p>
            <ns1:r>
              <ns1:t/>
            </ns1:r>
          </ns1:p>
          <ns1:p>
            <ns1:pPr>
              <ns1:lnSpc>
                <ns1:spcPct val="108000"/>
              </ns1:lnSpc>
              <ns1:buNone/>
              <ns1:defRPr sz="1725" b="0">
                <ns1:solidFill>
                  <ns1:srgbClr val="17243E"/>
                </ns1:solidFill>
                <ns1:latin typeface="Arial"/>
                <ns1:ea typeface="Arial"/>
                <ns1:cs typeface="Arial"/>
              </ns1:defRPr>
            </ns1:pPr>
            <ns1:r>
              <ns1:rPr sz="1725" b="0">
                <ns1:solidFill>
                  <ns1:srgbClr val="17243E"/>
                </ns1:solidFill>
                <ns1:latin typeface="Arial"/>
                <ns1:ea typeface="Arial"/>
                <ns1:cs typeface="Arial"/>
              </ns1:rPr>
              <ns1:t>When should customers</ns1:t>
            </ns1:r>
          </ns1:p>
          <ns1:p>
            <ns1:pPr>
              <ns1:lnSpc>
                <ns1:spcPct val="108000"/>
              </ns1:lnSpc>
              <ns1:buNone/>
              <ns1:defRPr sz="1725" b="0">
                <ns1:solidFill>
                  <ns1:srgbClr val="17243E"/>
                </ns1:solidFill>
                <ns1:latin typeface="Arial"/>
                <ns1:ea typeface="Arial"/>
                <ns1:cs typeface="Arial"/>
              </ns1:defRPr>
            </ns1:pPr>
            <ns1:r>
              <ns1:rPr sz="1725" b="0">
                <ns1:solidFill>
                  <ns1:srgbClr val="17243E"/>
                </ns1:solidFill>
                <ns1:latin typeface="Arial"/>
                <ns1:ea typeface="Arial"/>
                <ns1:cs typeface="Arial"/>
              </ns1:rPr>
              <ns1:t>give permission again?</ns1:t>
            </ns1:r>
          </ns1:p>
        </ns0:txBody>
      </ns0:sp>
      <ns0:sp>
        <ns0:nvSpPr>
          <ns0:cNvPr id="8" name="">
            <ns1:extLst>
              <ns1:ext uri="{FF2B5EF4-FFF2-40B4-BE49-F238E27FC236}">
                <ns2:creationId id="{C699EBFE-DFD9-4704-B3D8-22471553D7CB}"/>
              </ns1:ext>
            </ns1:extLst>
          </ns0:cNvPr>
          <ns0:cNvSpPr>
            <ns1:spLocks noGrp="1"/>
          </ns0:cNvSpPr>
          <ns0:nvPr/>
        </ns0:nvSpPr>
        <ns0:spPr>
          <ns1:xfrm>
            <ns1:off x="9182100" y="5067300"/>
            <ns1:ext cx="2362200" cy="904875"/>
          </ns1:xfrm>
          <ns1:prstGeom prst="rect">
            <ns1:avLst/>
          </ns1:prstGeom>
          <ns1:noFill/>
          <ns1:ln w="0">
            <ns1:noFill/>
          </ns1:ln>
        </ns0:spPr>
        <ns0:txBody>
          <ns1:bodyPr wrap="square" lIns="0" tIns="0" rIns="0" bIns="0">
            <ns1:noAutofit/>
          </ns1:bodyPr>
          <ns1:lstStyle/>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Themis puts the</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question in front</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of the lawyer.</ns1:t>
            </ns1:r>
          </ns1:p>
        </ns0:txBody>
      </ns0:sp>
      <ns0:sp>
        <ns0:nvSpPr>
          <ns0:cNvPr id="9" name="">
            <ns1:extLst>
              <ns1:ext uri="{FF2B5EF4-FFF2-40B4-BE49-F238E27FC236}">
                <ns2:creationId id="{265D619B-55C4-4D50-BE7D-880A2939E7C8}"/>
              </ns1:ext>
            </ns1:extLst>
          </ns0:cNvPr>
          <ns0:cNvSpPr>
            <ns1:spLocks noGrp="1"/>
          </ns0:cNvSpPr>
          <ns0:nvPr/>
        </ns0:nvSpPr>
        <ns0:spPr>
          <ns1:xfrm>
            <ns1:off x="609600" y="6124575"/>
            <ns1:ext cx="10858500" cy="285750"/>
          </ns1:xfrm>
          <ns1:prstGeom prst="rect">
            <ns1:avLst/>
          </ns1:prstGeom>
          <ns1:noFill/>
          <ns1:ln w="0">
            <ns1:noFill/>
          </ns1:ln>
        </ns0:spPr>
        <ns0:txBody>
          <ns1:bodyPr wrap="square" lIns="0" tIns="0" rIns="0" bIns="0">
            <ns1:noAutofit/>
          </ns1:bodyPr>
          <ns1:lstStyle/>
          <ns1:p>
            <ns1:pPr>
              <ns1:lnSpc>
                <ns1:spcPct val="108000"/>
              </ns1:lnSpc>
              <ns1:buNone/>
              <ns1:defRPr sz="1125" b="0">
                <ns1:solidFill>
                  <ns1:srgbClr val="596273"/>
                </ns1:solidFill>
                <ns1:latin typeface="Arial"/>
                <ns1:ea typeface="Arial"/>
                <ns1:cs typeface="Arial"/>
              </ns1:defRPr>
            </ns1:pPr>
            <ns1:r>
              <ns1:rPr sz="1125" b="0">
                <ns1:solidFill>
                  <ns1:srgbClr val="596273"/>
                </ns1:solidFill>
                <ns1:latin typeface="Arial"/>
                <ns1:ea typeface="Arial"/>
                <ns1:cs typeface="Arial"/>
              </ns1:rPr>
              <ns1:t>Actual prototype capture, September 2026. Fictional demo data.</ns1:t>
            </ns1:r>
          </ns1:p>
        </ns0:txBody>
      </ns0:sp>
    </ns0:spTree>
    <ns0:extLst>
      <ns0:ext uri="{BB962C8B-B14F-4D97-AF65-F5344CB8AC3E}">
        <ns4:creationId val="615008044"/>
      </ns0:ext>
    </ns0:extLst>
  </ns0:cSld>
</ns0: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C07F55D-5FCC-4E3A-BE0E-110E84502F00}"/>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USEFUL HANDOFF</a:t>
            </a:r>
          </a:p>
        </p:txBody>
      </p:sp>
      <p:sp>
        <p:nvSpPr>
          <p:cNvPr id="2" name="">
            <a:extLst xmlns:a="http://schemas.openxmlformats.org/drawingml/2006/main">
              <a:ext uri="{FF2B5EF4-FFF2-40B4-BE49-F238E27FC236}">
                <a16:creationId xmlns:a16="http://schemas.microsoft.com/office/drawing/2014/main" id="{0AA96855-E80C-4D1B-AE39-DA8070040D7C}"/>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draft the lawyer can judge and use</a:t>
            </a:r>
          </a:p>
        </p:txBody>
      </p:sp>
      <p:sp>
        <p:nvSpPr>
          <p:cNvPr id="3" name="">
            <a:extLst xmlns:a="http://schemas.openxmlformats.org/drawingml/2006/main">
              <a:ext uri="{FF2B5EF4-FFF2-40B4-BE49-F238E27FC236}">
                <a16:creationId xmlns:a16="http://schemas.microsoft.com/office/drawing/2014/main" id="{566F9FEF-246E-4509-9E2C-66C3AC245B0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85361C4-8BCE-47BF-B5B9-235A956783B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EE873506-FB9C-4D8D-B841-ADDACFE35CEA}"/>
              </a:ext>
            </a:extLst>
          </p:cNvPr>
          <p:cNvSpPr>
            <a:spLocks xmlns:a="http://schemas.openxmlformats.org/drawingml/2006/main" noGrp="1"/>
          </p:cNvSpPr>
          <p:nvPr/>
        </p:nvSpPr>
        <p:spPr>
          <a:xfrm xmlns:a="http://schemas.openxmlformats.org/drawingml/2006/main">
            <a:off x="609600" y="234315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RELAY / DRAFT DECISION NOTE</a:t>
            </a:r>
          </a:p>
        </p:txBody>
      </p:sp>
      <p:sp>
        <p:nvSpPr>
          <p:cNvPr id="6" name="">
            <a:extLst xmlns:a="http://schemas.openxmlformats.org/drawingml/2006/main">
              <a:ext uri="{FF2B5EF4-FFF2-40B4-BE49-F238E27FC236}">
                <a16:creationId xmlns:a16="http://schemas.microsoft.com/office/drawing/2014/main" id="{31A39795-C6ED-473C-B69F-78A942717E30}"/>
              </a:ext>
            </a:extLst>
          </p:cNvPr>
          <p:cNvSpPr>
            <a:spLocks xmlns:a="http://schemas.openxmlformats.org/drawingml/2006/main" noGrp="1"/>
          </p:cNvSpPr>
          <p:nvPr/>
        </p:nvSpPr>
        <p:spPr>
          <a:xfrm xmlns:a="http://schemas.openxmlformats.org/drawingml/2006/main">
            <a:off x="609600" y="2771775"/>
            <a:ext cx="657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Proposed path</a:t>
            </a:r>
          </a:p>
        </p:txBody>
      </p:sp>
      <p:sp>
        <p:nvSpPr>
          <p:cNvPr id="7" name="">
            <a:extLst xmlns:a="http://schemas.openxmlformats.org/drawingml/2006/main">
              <a:ext uri="{FF2B5EF4-FFF2-40B4-BE49-F238E27FC236}">
                <a16:creationId xmlns:a16="http://schemas.microsoft.com/office/drawing/2014/main" id="{6932C3ED-1B39-4B3F-909E-F46BD3D48DEB}"/>
              </a:ext>
            </a:extLst>
          </p:cNvPr>
          <p:cNvSpPr>
            <a:spLocks xmlns:a="http://schemas.openxmlformats.org/drawingml/2006/main" noGrp="1"/>
          </p:cNvSpPr>
          <p:nvPr/>
        </p:nvSpPr>
        <p:spPr>
          <a:xfrm xmlns:a="http://schemas.openxmlformats.org/drawingml/2006/main">
            <a:off x="609600" y="3314700"/>
            <a:ext cx="6572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Continue existing disclosed uses during the migration.</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Seek permission for new marketing or lending uses separately.</a:t>
            </a:r>
          </a:p>
        </p:txBody>
      </p:sp>
      <p:sp>
        <p:nvSpPr>
          <p:cNvPr id="8" name="">
            <a:extLst xmlns:a="http://schemas.openxmlformats.org/drawingml/2006/main">
              <a:ext uri="{FF2B5EF4-FFF2-40B4-BE49-F238E27FC236}">
                <a16:creationId xmlns:a16="http://schemas.microsoft.com/office/drawing/2014/main" id="{B16C9B6A-C5DF-4A6B-AB8B-DEEF5BBB374A}"/>
              </a:ext>
            </a:extLst>
          </p:cNvPr>
          <p:cNvSpPr>
            <a:spLocks xmlns:a="http://schemas.openxmlformats.org/drawingml/2006/main" noGrp="1"/>
          </p:cNvSpPr>
          <p:nvPr/>
        </p:nvSpPr>
        <p:spPr>
          <a:xfrm xmlns:a="http://schemas.openxmlformats.org/drawingml/2006/main">
            <a:off x="609600" y="4638675"/>
            <a:ext cx="657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Conditions to resolve</a:t>
            </a:r>
          </a:p>
        </p:txBody>
      </p:sp>
      <p:sp>
        <p:nvSpPr>
          <p:cNvPr id="9" name="">
            <a:extLst xmlns:a="http://schemas.openxmlformats.org/drawingml/2006/main">
              <a:ext uri="{FF2B5EF4-FFF2-40B4-BE49-F238E27FC236}">
                <a16:creationId xmlns:a16="http://schemas.microsoft.com/office/drawing/2014/main" id="{ACD5274E-4DFE-444C-8D15-5A121CD3A1FB}"/>
              </a:ext>
            </a:extLst>
          </p:cNvPr>
          <p:cNvSpPr>
            <a:spLocks xmlns:a="http://schemas.openxmlformats.org/drawingml/2006/main" noGrp="1"/>
          </p:cNvSpPr>
          <p:nvPr/>
        </p:nvSpPr>
        <p:spPr>
          <a:xfrm xmlns:a="http://schemas.openxmlformats.org/drawingml/2006/main">
            <a:off x="609600" y="5162550"/>
            <a:ext cx="657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 the migration period. Approve the consent copy.</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Confirm deletion and contract terms.</a:t>
            </a:r>
          </a:p>
        </p:txBody>
      </p:sp>
      <p:sp>
        <p:nvSpPr>
          <p:cNvPr id="10" name="">
            <a:extLst xmlns:a="http://schemas.openxmlformats.org/drawingml/2006/main">
              <a:ext uri="{FF2B5EF4-FFF2-40B4-BE49-F238E27FC236}">
                <a16:creationId xmlns:a16="http://schemas.microsoft.com/office/drawing/2014/main" id="{7490BEC0-79CC-4864-BBC7-589DB63B1E7F}"/>
              </a:ext>
            </a:extLst>
          </p:cNvPr>
          <p:cNvSpPr>
            <a:spLocks xmlns:a="http://schemas.openxmlformats.org/drawingml/2006/main" noGrp="1"/>
          </p:cNvSpPr>
          <p:nvPr/>
        </p:nvSpPr>
        <p:spPr>
          <a:xfrm xmlns:a="http://schemas.openxmlformats.org/drawingml/2006/main">
            <a:off x="8058150" y="234315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LAWYER’S CALL</a:t>
            </a:r>
          </a:p>
        </p:txBody>
      </p:sp>
      <p:sp>
        <p:nvSpPr>
          <p:cNvPr id="11" name="">
            <a:extLst xmlns:a="http://schemas.openxmlformats.org/drawingml/2006/main">
              <a:ext uri="{FF2B5EF4-FFF2-40B4-BE49-F238E27FC236}">
                <a16:creationId xmlns:a16="http://schemas.microsoft.com/office/drawing/2014/main" id="{D4BCF5F2-E8C8-49C3-BA8F-27BADD46CFD5}"/>
              </a:ext>
            </a:extLst>
          </p:cNvPr>
          <p:cNvSpPr>
            <a:spLocks xmlns:a="http://schemas.openxmlformats.org/drawingml/2006/main" noGrp="1"/>
          </p:cNvSpPr>
          <p:nvPr/>
        </p:nvSpPr>
        <p:spPr>
          <a:xfrm xmlns:a="http://schemas.openxmlformats.org/drawingml/2006/main">
            <a:off x="8058150" y="2847975"/>
            <a:ext cx="3486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850" b="1">
                <a:solidFill>
                  <a:srgbClr val="4169A4"/>
                </a:solidFill>
                <a:latin typeface="Georgia"/>
                <a:ea typeface="Georgia"/>
                <a:cs typeface="Georgia"/>
              </a:defRPr>
            </a:pPr>
            <a:r>
              <a:rPr sz="2850" b="1">
                <a:solidFill>
                  <a:srgbClr val="4169A4"/>
                </a:solidFill>
                <a:latin typeface="Georgia"/>
                <a:ea typeface="Georgia"/>
                <a:cs typeface="Georgia"/>
              </a:rPr>
              <a:t>Require everyone</a:t>
            </a:r>
          </a:p>
          <a:p xmlns:a="http://schemas.openxmlformats.org/drawingml/2006/main">
            <a:pPr>
              <a:lnSpc>
                <a:spcPct val="108000"/>
              </a:lnSpc>
              <a:buNone/>
              <a:defRPr sz="2850" b="1">
                <a:solidFill>
                  <a:srgbClr val="4169A4"/>
                </a:solidFill>
                <a:latin typeface="Georgia"/>
                <a:ea typeface="Georgia"/>
                <a:cs typeface="Georgia"/>
              </a:defRPr>
            </a:pPr>
            <a:r>
              <a:rPr sz="2850" b="1">
                <a:solidFill>
                  <a:srgbClr val="4169A4"/>
                </a:solidFill>
                <a:latin typeface="Georgia"/>
                <a:ea typeface="Georgia"/>
                <a:cs typeface="Georgia"/>
              </a:rPr>
              <a:t>to reauthorize</a:t>
            </a:r>
          </a:p>
          <a:p xmlns:a="http://schemas.openxmlformats.org/drawingml/2006/main">
            <a:pPr>
              <a:lnSpc>
                <a:spcPct val="108000"/>
              </a:lnSpc>
              <a:buNone/>
              <a:defRPr sz="2850" b="1">
                <a:solidFill>
                  <a:srgbClr val="4169A4"/>
                </a:solidFill>
                <a:latin typeface="Georgia"/>
                <a:ea typeface="Georgia"/>
                <a:cs typeface="Georgia"/>
              </a:defRPr>
            </a:pPr>
            <a:r>
              <a:rPr sz="2850" b="1">
                <a:solidFill>
                  <a:srgbClr val="4169A4"/>
                </a:solidFill>
                <a:latin typeface="Georgia"/>
                <a:ea typeface="Georgia"/>
                <a:cs typeface="Georgia"/>
              </a:rPr>
              <a:t>within 90 days?</a:t>
            </a:r>
          </a:p>
        </p:txBody>
      </p:sp>
      <p:sp>
        <p:nvSpPr>
          <p:cNvPr id="12" name="">
            <a:extLst xmlns:a="http://schemas.openxmlformats.org/drawingml/2006/main">
              <a:ext uri="{FF2B5EF4-FFF2-40B4-BE49-F238E27FC236}">
                <a16:creationId xmlns:a16="http://schemas.microsoft.com/office/drawing/2014/main" id="{0DC99F06-72DF-4871-B8B1-A70ED2E43B6C}"/>
              </a:ext>
            </a:extLst>
          </p:cNvPr>
          <p:cNvSpPr>
            <a:spLocks xmlns:a="http://schemas.openxmlformats.org/drawingml/2006/main" noGrp="1"/>
          </p:cNvSpPr>
          <p:nvPr/>
        </p:nvSpPr>
        <p:spPr>
          <a:xfrm xmlns:a="http://schemas.openxmlformats.org/drawingml/2006/main">
            <a:off x="8058150" y="4686300"/>
            <a:ext cx="34861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Or wait until each bank</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requires it? Weigh the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business cost and risk.</a:t>
            </a:r>
          </a:p>
        </p:txBody>
      </p:sp>
      <p:sp>
        <p:nvSpPr>
          <p:cNvPr id="13" name="">
            <a:extLst xmlns:a="http://schemas.openxmlformats.org/drawingml/2006/main">
              <a:ext uri="{FF2B5EF4-FFF2-40B4-BE49-F238E27FC236}">
                <a16:creationId xmlns:a16="http://schemas.microsoft.com/office/drawing/2014/main" id="{76792C48-2CEE-4CE3-A022-076147AEEF15}"/>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Abridged seeded demo content. Proposed advice remains separate from a recorded decision.</a:t>
            </a:r>
          </a:p>
        </p:txBody>
      </p:sp>
    </p:spTree>
    <p:extLst>
      <p:ext uri="{BB962C8B-B14F-4D97-AF65-F5344CB8AC3E}">
        <p14:creationId xmlns:p14="http://schemas.microsoft.com/office/powerpoint/2010/main" val="1573684705"/>
      </p:ext>
    </p:extLst>
  </p:cSld>
</p:sld>
</file>

<file path=ppt/slides/slide5.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9ACC8C6-3022-47E1-B6D4-0F269D8985F2}"/>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 PRODUCT THESIS</a:t>
            </a:r>
          </a:p>
        </p:txBody>
      </p:sp>
      <p:sp>
        <p:nvSpPr>
          <p:cNvPr id="2" name="">
            <a:extLst xmlns:a="http://schemas.openxmlformats.org/drawingml/2006/main">
              <a:ext uri="{FF2B5EF4-FFF2-40B4-BE49-F238E27FC236}">
                <a16:creationId xmlns:a16="http://schemas.microsoft.com/office/drawing/2014/main" id="{207021EC-2C7E-4FF4-8204-C122405D6B9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125" b="1">
                <a:solidFill>
                  <a:srgbClr val="FAF8F2"/>
                </a:solidFill>
                <a:latin typeface="Georgia"/>
                <a:ea typeface="Georgia"/>
                <a:cs typeface="Georgia"/>
              </a:defRPr>
            </a:pPr>
            <a:r>
              <a:rPr sz="4125" b="1">
                <a:solidFill>
                  <a:srgbClr val="FAF8F2"/>
                </a:solidFill>
                <a:latin typeface="Georgia"/>
                <a:ea typeface="Georgia"/>
                <a:cs typeface="Georgia"/>
              </a:rPr>
              <a:t>Themis works the way you work</a:t>
            </a:r>
          </a:p>
        </p:txBody>
      </p:sp>
      <p:sp>
        <p:nvSpPr>
          <p:cNvPr id="3" name="">
            <a:extLst xmlns:a="http://schemas.openxmlformats.org/drawingml/2006/main">
              <a:ext uri="{FF2B5EF4-FFF2-40B4-BE49-F238E27FC236}">
                <a16:creationId xmlns:a16="http://schemas.microsoft.com/office/drawing/2014/main" id="{53757DE5-D78D-4EF6-BA98-D9F4DC710E13}"/>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AD3636A-9B94-4A1D-87CF-CAB932F5047C}"/>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EAA31DF0-C6B2-4BDC-A8AB-007AA24F9AE4}"/>
              </a:ext>
            </a:extLst>
          </p:cNvPr>
          <p:cNvSpPr>
            <a:spLocks xmlns:a="http://schemas.openxmlformats.org/drawingml/2006/main" noGrp="1"/>
          </p:cNvSpPr>
          <p:nvPr/>
        </p:nvSpPr>
        <p:spPr>
          <a:xfrm xmlns:a="http://schemas.openxmlformats.org/drawingml/2006/main">
            <a:off x="609600" y="240982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150" b="0">
                <a:solidFill>
                  <a:srgbClr val="FAF8F2"/>
                </a:solidFill>
                <a:latin typeface="Georgia"/>
                <a:ea typeface="Georgia"/>
                <a:cs typeface="Georgia"/>
              </a:defRPr>
            </a:pPr>
            <a:r>
              <a:rPr sz="3150" b="0">
                <a:solidFill>
                  <a:srgbClr val="FAF8F2"/>
                </a:solidFill>
                <a:latin typeface="Georgia"/>
                <a:ea typeface="Georgia"/>
                <a:cs typeface="Georgia"/>
              </a:rPr>
              <a:t>A strong junior associate learns</a:t>
            </a:r>
          </a:p>
          <a:p xmlns:a="http://schemas.openxmlformats.org/drawingml/2006/main">
            <a:pPr>
              <a:lnSpc>
                <a:spcPct val="108000"/>
              </a:lnSpc>
              <a:buNone/>
              <a:defRPr sz="3150" b="0">
                <a:solidFill>
                  <a:srgbClr val="FAF8F2"/>
                </a:solidFill>
                <a:latin typeface="Georgia"/>
                <a:ea typeface="Georgia"/>
                <a:cs typeface="Georgia"/>
              </a:defRPr>
            </a:pPr>
            <a:r>
              <a:rPr sz="3150" b="0">
                <a:solidFill>
                  <a:srgbClr val="FAF8F2"/>
                </a:solidFill>
                <a:latin typeface="Georgia"/>
                <a:ea typeface="Georgia"/>
                <a:cs typeface="Georgia"/>
              </a:rPr>
              <a:t>how the partner wants the work done.</a:t>
            </a:r>
          </a:p>
        </p:txBody>
      </p:sp>
      <p:sp>
        <p:nvSpPr>
          <p:cNvPr id="6" name="">
            <a:extLst xmlns:a="http://schemas.openxmlformats.org/drawingml/2006/main">
              <a:ext uri="{FF2B5EF4-FFF2-40B4-BE49-F238E27FC236}">
                <a16:creationId xmlns:a16="http://schemas.microsoft.com/office/drawing/2014/main" id="{FD52824F-532F-4504-AB95-E13BF54A6F44}"/>
              </a:ext>
            </a:extLst>
          </p:cNvPr>
          <p:cNvSpPr>
            <a:spLocks xmlns:a="http://schemas.openxmlformats.org/drawingml/2006/main" noGrp="1"/>
          </p:cNvSpPr>
          <p:nvPr/>
        </p:nvSpPr>
        <p:spPr>
          <a:xfrm xmlns:a="http://schemas.openxmlformats.org/drawingml/2006/main">
            <a:off x="609600" y="41338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YOUR INSTRUCTIONS</a:t>
            </a:r>
          </a:p>
        </p:txBody>
      </p:sp>
      <p:sp>
        <p:nvSpPr>
          <p:cNvPr id="7" name="">
            <a:extLst xmlns:a="http://schemas.openxmlformats.org/drawingml/2006/main">
              <a:ext uri="{FF2B5EF4-FFF2-40B4-BE49-F238E27FC236}">
                <a16:creationId xmlns:a16="http://schemas.microsoft.com/office/drawing/2014/main" id="{51B3A961-DD90-4102-B480-504B8FFA0014}"/>
              </a:ext>
            </a:extLst>
          </p:cNvPr>
          <p:cNvSpPr>
            <a:spLocks xmlns:a="http://schemas.openxmlformats.org/drawingml/2006/main" noGrp="1"/>
          </p:cNvSpPr>
          <p:nvPr/>
        </p:nvSpPr>
        <p:spPr>
          <a:xfrm xmlns:a="http://schemas.openxmlformats.org/drawingml/2006/main">
            <a:off x="609600" y="45815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CE1EA"/>
                </a:solidFill>
                <a:latin typeface="Arial"/>
                <a:ea typeface="Arial"/>
                <a:cs typeface="Arial"/>
              </a:defRPr>
            </a:pPr>
            <a:r>
              <a:rPr sz="2025" b="0">
                <a:solidFill>
                  <a:srgbClr val="DCE1EA"/>
                </a:solidFill>
                <a:latin typeface="Arial"/>
                <a:ea typeface="Arial"/>
                <a:cs typeface="Arial"/>
              </a:rPr>
              <a:t>“Start with the answer. Show the sources.</a:t>
            </a:r>
          </a:p>
          <a:p xmlns:a="http://schemas.openxmlformats.org/drawingml/2006/main">
            <a:pPr>
              <a:lnSpc>
                <a:spcPct val="108000"/>
              </a:lnSpc>
              <a:buNone/>
              <a:defRPr sz="2025" b="0">
                <a:solidFill>
                  <a:srgbClr val="DCE1EA"/>
                </a:solidFill>
                <a:latin typeface="Arial"/>
                <a:ea typeface="Arial"/>
                <a:cs typeface="Arial"/>
              </a:defRPr>
            </a:pPr>
            <a:r>
              <a:rPr sz="2025" b="0">
                <a:solidFill>
                  <a:srgbClr val="DCE1EA"/>
                </a:solidFill>
                <a:latin typeface="Arial"/>
                <a:ea typeface="Arial"/>
                <a:cs typeface="Arial"/>
              </a:rPr>
              <a:t>Give me a short note for the product team.”</a:t>
            </a:r>
          </a:p>
        </p:txBody>
      </p:sp>
      <p:sp>
        <p:nvSpPr>
          <p:cNvPr id="8" name="">
            <a:extLst xmlns:a="http://schemas.openxmlformats.org/drawingml/2006/main">
              <a:ext uri="{FF2B5EF4-FFF2-40B4-BE49-F238E27FC236}">
                <a16:creationId xmlns:a16="http://schemas.microsoft.com/office/drawing/2014/main" id="{735A9115-2A0E-4084-B6CA-4B13E982A905}"/>
              </a:ext>
            </a:extLst>
          </p:cNvPr>
          <p:cNvSpPr>
            <a:spLocks xmlns:a="http://schemas.openxmlformats.org/drawingml/2006/main" noGrp="1"/>
          </p:cNvSpPr>
          <p:nvPr/>
        </p:nvSpPr>
        <p:spPr>
          <a:xfrm xmlns:a="http://schemas.openxmlformats.org/drawingml/2006/main">
            <a:off x="6924675" y="41338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ADAPTS</a:t>
            </a:r>
          </a:p>
        </p:txBody>
      </p:sp>
      <p:sp>
        <p:nvSpPr>
          <p:cNvPr id="9" name="">
            <a:extLst xmlns:a="http://schemas.openxmlformats.org/drawingml/2006/main">
              <a:ext uri="{FF2B5EF4-FFF2-40B4-BE49-F238E27FC236}">
                <a16:creationId xmlns:a16="http://schemas.microsoft.com/office/drawing/2014/main" id="{EB1068A6-5B40-4601-9AD4-A3BDB8974817}"/>
              </a:ext>
            </a:extLst>
          </p:cNvPr>
          <p:cNvSpPr>
            <a:spLocks xmlns:a="http://schemas.openxmlformats.org/drawingml/2006/main" noGrp="1"/>
          </p:cNvSpPr>
          <p:nvPr/>
        </p:nvSpPr>
        <p:spPr>
          <a:xfrm xmlns:a="http://schemas.openxmlformats.org/drawingml/2006/main">
            <a:off x="6924675" y="4581525"/>
            <a:ext cx="4524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Your preferred depth and format.</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Your working methods.</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Your business priorities.</a:t>
            </a:r>
          </a:p>
        </p:txBody>
      </p:sp>
      <p:sp>
        <p:nvSpPr>
          <p:cNvPr id="10" name="">
            <a:extLst xmlns:a="http://schemas.openxmlformats.org/drawingml/2006/main">
              <a:ext uri="{FF2B5EF4-FFF2-40B4-BE49-F238E27FC236}">
                <a16:creationId xmlns:a16="http://schemas.microsoft.com/office/drawing/2014/main" id="{8C55DE74-C359-49DA-95AA-E296D1E01B6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Design thesis. Editable preferences and agent instructions exist in the prototype; effortless adaptation is the pilot goal.</a:t>
            </a:r>
          </a:p>
        </p:txBody>
      </p:sp>
    </p:spTree>
    <p:extLst>
      <p:ext uri="{BB962C8B-B14F-4D97-AF65-F5344CB8AC3E}">
        <p14:creationId xmlns:p14="http://schemas.microsoft.com/office/powerpoint/2010/main" val="1200438653"/>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DB3BE0-1613-4076-8B20-023BF03FEAC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5830C4F2-D8DB-4BB7-9B7F-96DD174B43AE}"/>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Legal teams are deciding how AI will work</a:t>
            </a:r>
          </a:p>
        </p:txBody>
      </p:sp>
      <p:sp>
        <p:nvSpPr>
          <p:cNvPr id="3" name="">
            <a:extLst xmlns:a="http://schemas.openxmlformats.org/drawingml/2006/main">
              <a:ext uri="{FF2B5EF4-FFF2-40B4-BE49-F238E27FC236}">
                <a16:creationId xmlns:a16="http://schemas.microsoft.com/office/drawing/2014/main" id="{A4958841-515A-4F3E-AA26-2C30A3D3ED6C}"/>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3F95A28-A533-4C14-A315-526FE8837A2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C677BAD-915B-46E6-8BA3-6D00A3FFF0CB}"/>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34B2334B-27F7-4478-8021-3EC89FB9B08A}"/>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54810209-5444-4F90-9FC4-F0CEF6EABB53}"/>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12B6F8ED-F2FC-4F83-BB1B-551FF559C309}"/>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66B832ED-F368-467F-B807-5715CC4AE831}"/>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43E"/>
                </a:solidFill>
                <a:latin typeface="Georgia"/>
                <a:ea typeface="Georgia"/>
                <a:cs typeface="Georgia"/>
              </a:defRPr>
            </a:pPr>
            <a:r>
              <a:rPr sz="2550" b="1">
                <a:solidFill>
                  <a:srgbClr val="17243E"/>
                </a:solidFill>
                <a:latin typeface="Georgia"/>
                <a:ea typeface="Georgia"/>
                <a:cs typeface="Georgia"/>
              </a:rPr>
              <a:t>Our opening: help a small legal team do more useful work with the people it already has.</a:t>
            </a:r>
          </a:p>
        </p:txBody>
      </p:sp>
      <p:sp>
        <p:nvSpPr>
          <p:cNvPr id="10" name="">
            <a:extLst xmlns:a="http://schemas.openxmlformats.org/drawingml/2006/main">
              <a:ext uri="{FF2B5EF4-FFF2-40B4-BE49-F238E27FC236}">
                <a16:creationId xmlns:a16="http://schemas.microsoft.com/office/drawing/2014/main" id="{4EF2B150-066A-4853-BB3B-E09B8D76C74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1586567048"/>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6CDEC27-4CAB-437D-A16C-F56D91BDC407}"/>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1DFB3630-678F-4ED0-B1B6-2320A582D31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C6798E62-CEA4-4C19-BF64-6169AB4244C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6ECB60A-17C8-45B6-8637-05DA5922453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182CCB0E-9CBE-41BA-84C7-CA1379894CC1}"/>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5BD2A693-6C5F-49DC-93F8-1E6CA45B3057}"/>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1–5 lawyer team</a:t>
            </a:r>
          </a:p>
        </p:txBody>
      </p:sp>
      <p:sp>
        <p:nvSpPr>
          <p:cNvPr id="7" name="">
            <a:extLst xmlns:a="http://schemas.openxmlformats.org/drawingml/2006/main">
              <a:ext uri="{FF2B5EF4-FFF2-40B4-BE49-F238E27FC236}">
                <a16:creationId xmlns:a16="http://schemas.microsoft.com/office/drawing/2014/main" id="{EB752566-630E-47A8-B3C9-230A5B057114}"/>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ADCF8398-E252-4DBC-ABD4-FF59B02440B9}"/>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3899A90C-3668-4FA7-A826-3E0E8123D416}"/>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 launch adds unfamiliar legal work.</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team has no junior support.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backlog grows before headcount does.</a:t>
            </a:r>
          </a:p>
        </p:txBody>
      </p:sp>
      <p:sp>
        <p:nvSpPr>
          <p:cNvPr id="10" name="">
            <a:extLst xmlns:a="http://schemas.openxmlformats.org/drawingml/2006/main">
              <a:ext uri="{FF2B5EF4-FFF2-40B4-BE49-F238E27FC236}">
                <a16:creationId xmlns:a16="http://schemas.microsoft.com/office/drawing/2014/main" id="{7E2CF864-96F5-4701-925C-D26935C180AA}"/>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8C28B6DF-6B2B-4D6C-8164-06FA1E286B61}"/>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initial segment. Interview signals support the need; paid demand remains to be tested.</a:t>
            </a:r>
          </a:p>
        </p:txBody>
      </p:sp>
    </p:spTree>
    <p:extLst>
      <p:ext uri="{BB962C8B-B14F-4D97-AF65-F5344CB8AC3E}">
        <p14:creationId xmlns:p14="http://schemas.microsoft.com/office/powerpoint/2010/main" val="2002370267"/>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D0EEFE-F9FB-4230-B211-CC28CB0B53B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WHERE WE COMPETE</a:t>
            </a:r>
          </a:p>
        </p:txBody>
      </p:sp>
      <p:sp>
        <p:nvSpPr>
          <p:cNvPr id="2" name="">
            <a:extLst xmlns:a="http://schemas.openxmlformats.org/drawingml/2006/main">
              <a:ext uri="{FF2B5EF4-FFF2-40B4-BE49-F238E27FC236}">
                <a16:creationId xmlns:a16="http://schemas.microsoft.com/office/drawing/2014/main" id="{B4401621-B243-4938-BC09-B254C2837C1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opening is the whole job, done your way</a:t>
            </a:r>
          </a:p>
        </p:txBody>
      </p:sp>
      <p:sp>
        <p:nvSpPr>
          <p:cNvPr id="3" name="">
            <a:extLst xmlns:a="http://schemas.openxmlformats.org/drawingml/2006/main">
              <a:ext uri="{FF2B5EF4-FFF2-40B4-BE49-F238E27FC236}">
                <a16:creationId xmlns:a16="http://schemas.microsoft.com/office/drawing/2014/main" id="{B53C444E-9FC3-4BC9-8A47-5E3F85CBC6C8}"/>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42536B0-27FA-406D-9541-90AAB02AC6C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6DC5A85D-796D-4A9A-AFB7-EB009CEA2327}"/>
              </a:ext>
            </a:extLst>
          </p:cNvPr>
          <p:cNvSpPr>
            <a:spLocks xmlns:a="http://schemas.openxmlformats.org/drawingml/2006/main" noGrp="1"/>
          </p:cNvSpPr>
          <p:nvPr/>
        </p:nvSpPr>
        <p:spPr>
          <a:xfrm xmlns:a="http://schemas.openxmlformats.org/drawingml/2006/main">
            <a:off x="6248400" y="2114550"/>
            <a:ext cx="5267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THEMIS’S INTENDED ADVANTAGE</a:t>
            </a:r>
          </a:p>
        </p:txBody>
      </p:sp>
      <p:sp>
        <p:nvSpPr>
          <p:cNvPr id="6" name="">
            <a:extLst xmlns:a="http://schemas.openxmlformats.org/drawingml/2006/main">
              <a:ext uri="{FF2B5EF4-FFF2-40B4-BE49-F238E27FC236}">
                <a16:creationId xmlns:a16="http://schemas.microsoft.com/office/drawing/2014/main" id="{3991C28C-F3BA-4250-9310-92DA998D155B}"/>
              </a:ext>
            </a:extLst>
          </p:cNvPr>
          <p:cNvSpPr>
            <a:spLocks xmlns:a="http://schemas.openxmlformats.org/drawingml/2006/main" noGrp="1"/>
          </p:cNvSpPr>
          <p:nvPr/>
        </p:nvSpPr>
        <p:spPr>
          <a:xfrm xmlns:a="http://schemas.openxmlformats.org/drawingml/2006/main">
            <a:off x="609600" y="23526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GENERAL AI</a:t>
            </a:r>
          </a:p>
        </p:txBody>
      </p:sp>
      <p:sp>
        <p:nvSpPr>
          <p:cNvPr id="7" name="">
            <a:extLst xmlns:a="http://schemas.openxmlformats.org/drawingml/2006/main">
              <a:ext uri="{FF2B5EF4-FFF2-40B4-BE49-F238E27FC236}">
                <a16:creationId xmlns:a16="http://schemas.microsoft.com/office/drawing/2014/main" id="{1684364E-B64F-4274-9126-2EB0E8F42DDC}"/>
              </a:ext>
            </a:extLst>
          </p:cNvPr>
          <p:cNvSpPr>
            <a:spLocks xmlns:a="http://schemas.openxmlformats.org/drawingml/2006/main" noGrp="1"/>
          </p:cNvSpPr>
          <p:nvPr/>
        </p:nvSpPr>
        <p:spPr>
          <a:xfrm xmlns:a="http://schemas.openxmlformats.org/drawingml/2006/main">
            <a:off x="609600" y="2771775"/>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Flexible thinking and drafting</a:t>
            </a:r>
          </a:p>
        </p:txBody>
      </p:sp>
      <p:sp>
        <p:nvSpPr>
          <p:cNvPr id="8" name="">
            <a:extLst xmlns:a="http://schemas.openxmlformats.org/drawingml/2006/main">
              <a:ext uri="{FF2B5EF4-FFF2-40B4-BE49-F238E27FC236}">
                <a16:creationId xmlns:a16="http://schemas.microsoft.com/office/drawing/2014/main" id="{42C12F0E-75AF-4326-B8D2-3B5F22D996D4}"/>
              </a:ext>
            </a:extLst>
          </p:cNvPr>
          <p:cNvSpPr>
            <a:spLocks xmlns:a="http://schemas.openxmlformats.org/drawingml/2006/main" noGrp="1"/>
          </p:cNvSpPr>
          <p:nvPr/>
        </p:nvSpPr>
        <p:spPr>
          <a:xfrm xmlns:a="http://schemas.openxmlformats.org/drawingml/2006/main">
            <a:off x="6248400" y="2571750"/>
            <a:ext cx="52673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Delegate a product question through research and a usable draft, with fewer instructions.</a:t>
            </a:r>
          </a:p>
        </p:txBody>
      </p:sp>
      <p:sp>
        <p:nvSpPr>
          <p:cNvPr id="9" name="">
            <a:extLst xmlns:a="http://schemas.openxmlformats.org/drawingml/2006/main">
              <a:ext uri="{FF2B5EF4-FFF2-40B4-BE49-F238E27FC236}">
                <a16:creationId xmlns:a16="http://schemas.microsoft.com/office/drawing/2014/main" id="{E0A1EA8A-15A7-4904-B001-F5996F0E8BB4}"/>
              </a:ext>
            </a:extLst>
          </p:cNvPr>
          <p:cNvSpPr>
            <a:spLocks xmlns:a="http://schemas.openxmlformats.org/drawingml/2006/main" noGrp="1"/>
          </p:cNvSpPr>
          <p:nvPr/>
        </p:nvSpPr>
        <p:spPr>
          <a:xfrm xmlns:a="http://schemas.openxmlformats.org/drawingml/2006/main">
            <a:off x="609600" y="39528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LEGAL PLATFORMS</a:t>
            </a:r>
          </a:p>
        </p:txBody>
      </p:sp>
      <p:sp>
        <p:nvSpPr>
          <p:cNvPr id="10" name="">
            <a:extLst xmlns:a="http://schemas.openxmlformats.org/drawingml/2006/main">
              <a:ext uri="{FF2B5EF4-FFF2-40B4-BE49-F238E27FC236}">
                <a16:creationId xmlns:a16="http://schemas.microsoft.com/office/drawing/2014/main" id="{7B6D6974-8DCE-4464-91D2-179E98731F6A}"/>
              </a:ext>
            </a:extLst>
          </p:cNvPr>
          <p:cNvSpPr>
            <a:spLocks xmlns:a="http://schemas.openxmlformats.org/drawingml/2006/main" noGrp="1"/>
          </p:cNvSpPr>
          <p:nvPr/>
        </p:nvSpPr>
        <p:spPr>
          <a:xfrm xmlns:a="http://schemas.openxmlformats.org/drawingml/2006/main">
            <a:off x="609600" y="4371975"/>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Harvey, Legora, GC AI</a:t>
            </a:r>
          </a:p>
        </p:txBody>
      </p:sp>
      <p:sp>
        <p:nvSpPr>
          <p:cNvPr id="11" name="">
            <a:extLst xmlns:a="http://schemas.openxmlformats.org/drawingml/2006/main">
              <a:ext uri="{FF2B5EF4-FFF2-40B4-BE49-F238E27FC236}">
                <a16:creationId xmlns:a16="http://schemas.microsoft.com/office/drawing/2014/main" id="{09A0F153-CB2E-4697-B256-EDB3BF910BA5}"/>
              </a:ext>
            </a:extLst>
          </p:cNvPr>
          <p:cNvSpPr>
            <a:spLocks xmlns:a="http://schemas.openxmlformats.org/drawingml/2006/main" noGrp="1"/>
          </p:cNvSpPr>
          <p:nvPr/>
        </p:nvSpPr>
        <p:spPr>
          <a:xfrm xmlns:a="http://schemas.openxmlformats.org/drawingml/2006/main">
            <a:off x="6248400" y="4171950"/>
            <a:ext cx="52673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Start with one product lawyer. Fit the investigation and work product to that lawyer’s methods.</a:t>
            </a:r>
          </a:p>
        </p:txBody>
      </p:sp>
      <p:sp>
        <p:nvSpPr>
          <p:cNvPr id="12" name="">
            <a:extLst xmlns:a="http://schemas.openxmlformats.org/drawingml/2006/main">
              <a:ext uri="{FF2B5EF4-FFF2-40B4-BE49-F238E27FC236}">
                <a16:creationId xmlns:a16="http://schemas.microsoft.com/office/drawing/2014/main" id="{531F47F6-2FE8-48FA-87C1-F58F57A601E4}"/>
              </a:ext>
            </a:extLst>
          </p:cNvPr>
          <p:cNvSpPr>
            <a:spLocks xmlns:a="http://schemas.openxmlformats.org/drawingml/2006/main" noGrp="1"/>
          </p:cNvSpPr>
          <p:nvPr/>
        </p:nvSpPr>
        <p:spPr>
          <a:xfrm xmlns:a="http://schemas.openxmlformats.org/drawingml/2006/main">
            <a:off x="609600" y="559117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Win on total lawyer effort, including instructions, source checks, corrections, and the final draft.</a:t>
            </a:r>
          </a:p>
        </p:txBody>
      </p:sp>
    </p:spTree>
    <p:extLst>
      <p:ext uri="{BB962C8B-B14F-4D97-AF65-F5344CB8AC3E}">
        <p14:creationId xmlns:p14="http://schemas.microsoft.com/office/powerpoint/2010/main" val="1297816520"/>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E169D1F-CE71-480A-9631-7AF5940F65B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C15A63C5-8506-4BF3-AAEC-7AE6D9972A1B}"/>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Sell capacity back to the legal team</a:t>
            </a:r>
          </a:p>
        </p:txBody>
      </p:sp>
      <p:sp>
        <p:nvSpPr>
          <p:cNvPr id="3" name="">
            <a:extLst xmlns:a="http://schemas.openxmlformats.org/drawingml/2006/main">
              <a:ext uri="{FF2B5EF4-FFF2-40B4-BE49-F238E27FC236}">
                <a16:creationId xmlns:a16="http://schemas.microsoft.com/office/drawing/2014/main" id="{D16E808E-6C42-46B9-A882-136BCB33D1E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F8FDE23-1798-4A02-9F5D-EE36FDF6587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C964E4FF-D346-4EF2-B260-BAD8EA8F32EF}"/>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8633E613-6E00-4FCE-8AC5-BA3FFE4AC3EF}"/>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B842ECA8-DF65-45F9-9B6E-353F5332944B}"/>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seat to start. Expand with use.</a:t>
            </a:r>
          </a:p>
        </p:txBody>
      </p:sp>
      <p:sp>
        <p:nvSpPr>
          <p:cNvPr id="8" name="">
            <a:extLst xmlns:a="http://schemas.openxmlformats.org/drawingml/2006/main">
              <a:ext uri="{FF2B5EF4-FFF2-40B4-BE49-F238E27FC236}">
                <a16:creationId xmlns:a16="http://schemas.microsoft.com/office/drawing/2014/main" id="{E8D2C8F9-76A9-4743-9D50-2F0DE5287278}"/>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A071DBA0-70FA-4605-8B9E-D91A9A12128E}"/>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0F56571E-29A0-4527-A4C1-27C591559020}"/>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A52F2134-6987-4581-8336-1DAA6C88D5E5}"/>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Measure time saved after checking</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and correcting the work.</a:t>
            </a:r>
          </a:p>
        </p:txBody>
      </p:sp>
      <p:sp>
        <p:nvSpPr>
          <p:cNvPr id="12" name="">
            <a:extLst xmlns:a="http://schemas.openxmlformats.org/drawingml/2006/main">
              <a:ext uri="{FF2B5EF4-FFF2-40B4-BE49-F238E27FC236}">
                <a16:creationId xmlns:a16="http://schemas.microsoft.com/office/drawing/2014/main" id="{470262CB-62D3-4267-BCC6-2AEAA20C8497}"/>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468780099"/>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EB339E-D3F4-45B5-A84A-3B34AA074C94}"/>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2390607D-2398-498C-A1F2-92E3E3A69F95}"/>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entry into a $870M annual opportunity</a:t>
            </a:r>
          </a:p>
        </p:txBody>
      </p:sp>
      <p:sp>
        <p:nvSpPr>
          <p:cNvPr id="3" name="">
            <a:extLst xmlns:a="http://schemas.openxmlformats.org/drawingml/2006/main">
              <a:ext uri="{FF2B5EF4-FFF2-40B4-BE49-F238E27FC236}">
                <a16:creationId xmlns:a16="http://schemas.microsoft.com/office/drawing/2014/main" id="{B56D3E1C-0D81-4424-BEC0-91B53A2627A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0B96707-2982-4AEE-81E4-C9F8A527329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68758D8-328D-421B-BB7B-A880FEFB1096}"/>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9103FA5E-386B-4A5C-9810-439864ECE7F5}"/>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6545992F-EBA0-4750-9759-0F79FF7618E4}"/>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37C3E92B-0227-49C5-9631-8237370D1BAE}"/>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B1981590-D150-4122-975C-5789D7E92E40}"/>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3291EDC8-E3BA-40D2-8AB9-EBB7E7B5BA17}"/>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9B5630D8-46F4-4379-8016-29C47DC44DA7}"/>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1244026936"/>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695C789-88F8-4343-A6C2-F2303C062EB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B4E00879-553E-47F4-A304-05530C85F22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0A18CEB5-C2E6-40CB-8266-02B5B7B14B76}"/>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44EB5AC-F226-4225-A6A2-4800078340D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F7D7A22D-2E1B-4BCC-85DE-472CCAE98B6F}"/>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5829B8D8-F9C1-4599-9130-0DD696BBA545}"/>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7084DEBC-6567-4FEC-9632-5AF41E36CA7F}"/>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058227DD-58B9-4CA1-A2B3-D668C402DC8A}"/>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366AA462-E3C6-44D0-93C9-7F2A40AE61ED}"/>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CE81FA53-1496-4DCC-90F3-18F2572E2889}"/>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Use the lawyer’s preferred format. Compare total effort with their usual tools.</a:t>
            </a:r>
          </a:p>
        </p:txBody>
      </p:sp>
      <p:sp>
        <p:nvSpPr>
          <p:cNvPr id="11" name="">
            <a:extLst xmlns:a="http://schemas.openxmlformats.org/drawingml/2006/main">
              <a:ext uri="{FF2B5EF4-FFF2-40B4-BE49-F238E27FC236}">
                <a16:creationId xmlns:a16="http://schemas.microsoft.com/office/drawing/2014/main" id="{EEE60E4A-4E36-4090-AC4A-AC699887B4B7}"/>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8DE67389-5EBE-4C55-9889-97A916295B59}"/>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7A1D3700-DC34-422E-86CC-FD8E8D51494A}"/>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D6A53108-1ECE-4BBA-B69F-D1FB4A878D1B}"/>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940675027"/>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687CEC-BF39-42D9-A426-B1A1C1C85DA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17323B04-B959-4099-978D-8AA8E7E767DF}"/>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I wanted to multiply what one lawyer can do</a:t>
            </a:r>
          </a:p>
        </p:txBody>
      </p:sp>
      <p:sp>
        <p:nvSpPr>
          <p:cNvPr id="3" name="">
            <a:extLst xmlns:a="http://schemas.openxmlformats.org/drawingml/2006/main">
              <a:ext uri="{FF2B5EF4-FFF2-40B4-BE49-F238E27FC236}">
                <a16:creationId xmlns:a16="http://schemas.microsoft.com/office/drawing/2014/main" id="{4CB656FE-6741-4ACB-8393-C2B9364D8EF7}"/>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7939963-A9BF-4C37-BFE1-45B3BD9828C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6D7E015D-A630-4741-9D88-A1B06D3FBAF3}"/>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F42C927C-A684-4AD0-86BC-B3671A9C80B0}"/>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57039EDB-75C2-4053-846D-97199117AE0F}"/>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08AEA343-81DF-4068-9D77-CD3560BB4ECA}"/>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147701E4-D614-44BB-B9C9-0935FE36DF7D}"/>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315879D8-4503-4593-96D8-46379CA98151}"/>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1145436012"/>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DA79A1-FE37-43D5-9491-FD64163438A1}"/>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NEXT PROOF</a:t>
            </a:r>
          </a:p>
        </p:txBody>
      </p:sp>
      <p:sp>
        <p:nvSpPr>
          <p:cNvPr id="2" name="">
            <a:extLst xmlns:a="http://schemas.openxmlformats.org/drawingml/2006/main">
              <a:ext uri="{FF2B5EF4-FFF2-40B4-BE49-F238E27FC236}">
                <a16:creationId xmlns:a16="http://schemas.microsoft.com/office/drawing/2014/main" id="{CB123BF4-40F6-4756-BCD1-C5B6FA4AA62B}"/>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Useful work earns the next matter</a:t>
            </a:r>
          </a:p>
        </p:txBody>
      </p:sp>
      <p:sp>
        <p:nvSpPr>
          <p:cNvPr id="3" name="">
            <a:extLst xmlns:a="http://schemas.openxmlformats.org/drawingml/2006/main">
              <a:ext uri="{FF2B5EF4-FFF2-40B4-BE49-F238E27FC236}">
                <a16:creationId xmlns:a16="http://schemas.microsoft.com/office/drawing/2014/main" id="{28455930-E5E2-4FE0-87E6-4BAF1AEF39D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0331D2E-FDDE-4B40-8380-208DD7E823A4}"/>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E14AA17F-B0A7-4863-9A76-A808BAA10183}"/>
              </a:ext>
            </a:extLst>
          </p:cNvPr>
          <p:cNvSpPr>
            <a:spLocks xmlns:a="http://schemas.openxmlformats.org/drawingml/2006/main" noGrp="1"/>
          </p:cNvSpPr>
          <p:nvPr/>
        </p:nvSpPr>
        <p:spPr>
          <a:xfrm xmlns:a="http://schemas.openxmlformats.org/drawingml/2006/main">
            <a:off x="609600" y="24098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FOUNDATION TODAY</a:t>
            </a:r>
          </a:p>
        </p:txBody>
      </p:sp>
      <p:sp>
        <p:nvSpPr>
          <p:cNvPr id="6" name="">
            <a:extLst xmlns:a="http://schemas.openxmlformats.org/drawingml/2006/main">
              <a:ext uri="{FF2B5EF4-FFF2-40B4-BE49-F238E27FC236}">
                <a16:creationId xmlns:a16="http://schemas.microsoft.com/office/drawing/2014/main" id="{745ABADA-6BA6-4C9E-8702-E8F76BA3E1FC}"/>
              </a:ext>
            </a:extLst>
          </p:cNvPr>
          <p:cNvSpPr>
            <a:spLocks xmlns:a="http://schemas.openxmlformats.org/drawingml/2006/main" noGrp="1"/>
          </p:cNvSpPr>
          <p:nvPr/>
        </p:nvSpPr>
        <p:spPr>
          <a:xfrm xmlns:a="http://schemas.openxmlformats.org/drawingml/2006/main">
            <a:off x="609600" y="2867025"/>
            <a:ext cx="5238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Working local prototype</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Four exploratory counsel interviews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Editable research and draft workflows</a:t>
            </a:r>
          </a:p>
        </p:txBody>
      </p:sp>
      <p:sp>
        <p:nvSpPr>
          <p:cNvPr id="7" name="">
            <a:extLst xmlns:a="http://schemas.openxmlformats.org/drawingml/2006/main">
              <a:ext uri="{FF2B5EF4-FFF2-40B4-BE49-F238E27FC236}">
                <a16:creationId xmlns:a16="http://schemas.microsoft.com/office/drawing/2014/main" id="{27486CE2-B10E-4C9D-A5A9-CB5E652A527B}"/>
              </a:ext>
            </a:extLst>
          </p:cNvPr>
          <p:cNvSpPr>
            <a:spLocks xmlns:a="http://schemas.openxmlformats.org/drawingml/2006/main" noGrp="1"/>
          </p:cNvSpPr>
          <p:nvPr/>
        </p:nvSpPr>
        <p:spPr>
          <a:xfrm xmlns:a="http://schemas.openxmlformats.org/drawingml/2006/main">
            <a:off x="6896100" y="2409825"/>
            <a:ext cx="461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18-MONTH TARGETS</a:t>
            </a:r>
          </a:p>
        </p:txBody>
      </p:sp>
      <p:sp>
        <p:nvSpPr>
          <p:cNvPr id="8" name="">
            <a:extLst xmlns:a="http://schemas.openxmlformats.org/drawingml/2006/main">
              <a:ext uri="{FF2B5EF4-FFF2-40B4-BE49-F238E27FC236}">
                <a16:creationId xmlns:a16="http://schemas.microsoft.com/office/drawing/2014/main" id="{E8A640A7-BF6B-4DA4-BAED-34B52073C0DC}"/>
              </a:ext>
            </a:extLst>
          </p:cNvPr>
          <p:cNvSpPr>
            <a:spLocks xmlns:a="http://schemas.openxmlformats.org/drawingml/2006/main" noGrp="1"/>
          </p:cNvSpPr>
          <p:nvPr/>
        </p:nvSpPr>
        <p:spPr>
          <a:xfrm xmlns:a="http://schemas.openxmlformats.org/drawingml/2006/main">
            <a:off x="6896100" y="2867025"/>
            <a:ext cx="46101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9" name="">
            <a:extLst xmlns:a="http://schemas.openxmlformats.org/drawingml/2006/main">
              <a:ext uri="{FF2B5EF4-FFF2-40B4-BE49-F238E27FC236}">
                <a16:creationId xmlns:a16="http://schemas.microsoft.com/office/drawing/2014/main" id="{967A9542-7015-4470-94B8-0A9EE5FABA00}"/>
              </a:ext>
            </a:extLst>
          </p:cNvPr>
          <p:cNvSpPr>
            <a:spLocks xmlns:a="http://schemas.openxmlformats.org/drawingml/2006/main" noGrp="1"/>
          </p:cNvSpPr>
          <p:nvPr/>
        </p:nvSpPr>
        <p:spPr>
          <a:xfrm xmlns:a="http://schemas.openxmlformats.org/drawingml/2006/main">
            <a:off x="609600" y="4772025"/>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Each completed matter should make Themis more useful.</a:t>
            </a:r>
          </a:p>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Apply the lawyer’s corrections to how the next job gets done.</a:t>
            </a:r>
          </a:p>
        </p:txBody>
      </p:sp>
      <p:sp>
        <p:nvSpPr>
          <p:cNvPr id="10" name="">
            <a:extLst xmlns:a="http://schemas.openxmlformats.org/drawingml/2006/main">
              <a:ext uri="{FF2B5EF4-FFF2-40B4-BE49-F238E27FC236}">
                <a16:creationId xmlns:a16="http://schemas.microsoft.com/office/drawing/2014/main" id="{CBCCEAAF-A84F-480E-98B6-07B369FBA346}"/>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Targets: 60% start a second matter within 30 days; 25% less total lawyer effort on matched tasks. Not measured results.</a:t>
            </a:r>
          </a:p>
        </p:txBody>
      </p:sp>
    </p:spTree>
    <p:extLst>
      <p:ext uri="{BB962C8B-B14F-4D97-AF65-F5344CB8AC3E}">
        <p14:creationId xmlns:p14="http://schemas.microsoft.com/office/powerpoint/2010/main" val="573143996"/>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2B441F9-E254-4F75-97B6-573053580612}"/>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4CA2592E-F42B-44AC-9412-8B9946BF3C3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More capacity for the lawyers</a:t>
            </a:r>
          </a:p>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building the business</a:t>
            </a:r>
          </a:p>
        </p:txBody>
      </p:sp>
      <p:sp>
        <p:nvSpPr>
          <p:cNvPr id="3" name="">
            <a:extLst xmlns:a="http://schemas.openxmlformats.org/drawingml/2006/main">
              <a:ext uri="{FF2B5EF4-FFF2-40B4-BE49-F238E27FC236}">
                <a16:creationId xmlns:a16="http://schemas.microsoft.com/office/drawing/2014/main" id="{4DE77CF9-68AB-4AE7-B1E5-14F69205029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D71057A-141A-4918-A068-ABEB1C8B78C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9388EAFD-9DE9-4E94-8550-322271FD8EEE}"/>
              </a:ext>
            </a:extLst>
          </p:cNvPr>
          <p:cNvSpPr>
            <a:spLocks xmlns:a="http://schemas.openxmlformats.org/drawingml/2006/main" noGrp="1"/>
          </p:cNvSpPr>
          <p:nvPr/>
        </p:nvSpPr>
        <p:spPr>
          <a:xfrm xmlns:a="http://schemas.openxmlformats.org/drawingml/2006/main">
            <a:off x="609600" y="2552700"/>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575" b="1">
                <a:solidFill>
                  <a:srgbClr val="D8B66A"/>
                </a:solidFill>
                <a:latin typeface="Georgia"/>
                <a:ea typeface="Georgia"/>
                <a:cs typeface="Georgia"/>
              </a:defRPr>
            </a:pPr>
            <a:r>
              <a:rPr sz="7575"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042ADDA8-21A5-4A60-9584-DAF36E306D05}"/>
              </a:ext>
            </a:extLst>
          </p:cNvPr>
          <p:cNvSpPr>
            <a:spLocks xmlns:a="http://schemas.openxmlformats.org/drawingml/2006/main" noGrp="1"/>
          </p:cNvSpPr>
          <p:nvPr/>
        </p:nvSpPr>
        <p:spPr>
          <a:xfrm xmlns:a="http://schemas.openxmlformats.org/drawingml/2006/main">
            <a:off x="609600" y="3962400"/>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314A019E-7B6C-451A-BE3B-EF9BBC46B53B}"/>
              </a:ext>
            </a:extLst>
          </p:cNvPr>
          <p:cNvSpPr>
            <a:spLocks xmlns:a="http://schemas.openxmlformats.org/drawingml/2006/main" noGrp="1"/>
          </p:cNvSpPr>
          <p:nvPr/>
        </p:nvSpPr>
        <p:spPr>
          <a:xfrm xmlns:a="http://schemas.openxmlformats.org/drawingml/2006/main">
            <a:off x="7191375" y="2600325"/>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CAPITAL TURNS THE PROTOTYPE INTO</a:t>
            </a:r>
          </a:p>
        </p:txBody>
      </p:sp>
      <p:sp>
        <p:nvSpPr>
          <p:cNvPr id="8" name="">
            <a:extLst xmlns:a="http://schemas.openxmlformats.org/drawingml/2006/main">
              <a:ext uri="{FF2B5EF4-FFF2-40B4-BE49-F238E27FC236}">
                <a16:creationId xmlns:a16="http://schemas.microsoft.com/office/drawing/2014/main" id="{308B15C3-A2BF-431D-AF9C-5983328BB4E6}"/>
              </a:ext>
            </a:extLst>
          </p:cNvPr>
          <p:cNvSpPr>
            <a:spLocks xmlns:a="http://schemas.openxmlformats.org/drawingml/2006/main" noGrp="1"/>
          </p:cNvSpPr>
          <p:nvPr/>
        </p:nvSpPr>
        <p:spPr>
          <a:xfrm xmlns:a="http://schemas.openxmlformats.org/drawingml/2006/main">
            <a:off x="7191375" y="3114675"/>
            <a:ext cx="43148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A dependable product for real work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A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A path to paying customers</a:t>
            </a:r>
          </a:p>
        </p:txBody>
      </p:sp>
      <p:sp>
        <p:nvSpPr>
          <p:cNvPr id="9" name="">
            <a:extLst xmlns:a="http://schemas.openxmlformats.org/drawingml/2006/main">
              <a:ext uri="{FF2B5EF4-FFF2-40B4-BE49-F238E27FC236}">
                <a16:creationId xmlns:a16="http://schemas.microsoft.com/office/drawing/2014/main" id="{A67FC331-7E2A-4ABC-84B9-4BAC831EE3F1}"/>
              </a:ext>
            </a:extLst>
          </p:cNvPr>
          <p:cNvSpPr>
            <a:spLocks xmlns:a="http://schemas.openxmlformats.org/drawingml/2006/main" noGrp="1"/>
          </p:cNvSpPr>
          <p:nvPr/>
        </p:nvSpPr>
        <p:spPr>
          <a:xfrm xmlns:a="http://schemas.openxmlformats.org/drawingml/2006/main">
            <a:off x="609600" y="53530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75" b="1">
                <a:solidFill>
                  <a:srgbClr val="FAF8F2"/>
                </a:solidFill>
                <a:latin typeface="Georgia"/>
                <a:ea typeface="Georgia"/>
                <a:cs typeface="Georgia"/>
              </a:defRPr>
            </a:pPr>
            <a:r>
              <a:rPr sz="2775" b="1">
                <a:solidFill>
                  <a:srgbClr val="FAF8F2"/>
                </a:solidFill>
                <a:latin typeface="Georgia"/>
                <a:ea typeface="Georgia"/>
                <a:cs typeface="Georgia"/>
              </a:rPr>
              <a:t>Themis takes on the preparation.</a:t>
            </a:r>
          </a:p>
          <a:p xmlns:a="http://schemas.openxmlformats.org/drawingml/2006/main">
            <a:pPr>
              <a:lnSpc>
                <a:spcPct val="108000"/>
              </a:lnSpc>
              <a:buNone/>
              <a:defRPr sz="2775" b="1">
                <a:solidFill>
                  <a:srgbClr val="FAF8F2"/>
                </a:solidFill>
                <a:latin typeface="Georgia"/>
                <a:ea typeface="Georgia"/>
                <a:cs typeface="Georgia"/>
              </a:defRPr>
            </a:pPr>
            <a:r>
              <a:rPr sz="2775" b="1">
                <a:solidFill>
                  <a:srgbClr val="FAF8F2"/>
                </a:solidFill>
                <a:latin typeface="Georgia"/>
                <a:ea typeface="Georgia"/>
                <a:cs typeface="Georgia"/>
              </a:rPr>
              <a:t>The lawyer has more room to lead.</a:t>
            </a:r>
          </a:p>
        </p:txBody>
      </p:sp>
    </p:spTree>
    <p:extLst>
      <p:ext uri="{BB962C8B-B14F-4D97-AF65-F5344CB8AC3E}">
        <p14:creationId xmlns:p14="http://schemas.microsoft.com/office/powerpoint/2010/main" val="640364416"/>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D9AA3C-F0B3-4483-A81F-FC1C92A307E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CA16BE4C-149F-47A8-958E-760062411C2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53D8FC2E-8816-438A-BD2A-50127D047ED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9F01FFD-D6D2-420A-8D0A-0E07E196B57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C2C91329-902C-4C33-86A4-4284893EBE73}"/>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1468216230"/>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7432857d3fb4157"/>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455560101"/>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7BBA53-9C00-4353-97C0-C6F0F485948F}"/>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A27996D6-7877-4ACA-85C2-16F79784224F}"/>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C5DFA671-D98B-40C6-8993-E56F1369A40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98DFD06-8F54-4A25-800C-1AB5926666F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EAF125A6-30CF-46DB-BFA9-1F9E1CE41B15}"/>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D65EFF4D-ED92-435F-B100-7F9DC4BFE01F}"/>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They pay for continued use.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748B9A87-B535-4D9E-857E-331526058077}"/>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3E11B36D-1F4F-4D98-9069-864DEF19119B}"/>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3014577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2026-09-05T01:35:41.1860000Z</dcterms:created>
  <dcterms:modified xsi:type="dcterms:W3CDTF">2026-09-05T01:35:41.1860000Z</dcterms:modified>
</coreProperties>
</file>