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224368388a4719" /><Relationship Type="http://schemas.openxmlformats.org/officeDocument/2006/relationships/extended-properties" Target="/docProps/app.xml" Id="R4d2397f885cb4b38" /><Relationship Type="http://schemas.openxmlformats.org/officeDocument/2006/relationships/officeDocument" Target="/ppt/presentation.xml" Id="R2b2c14a385c84a3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be19ae6c3de41fe"/>
  </p:sldMasterIdLst>
  <p:notesMasterIdLst>
    <p:notesMasterId xmlns:r="http://schemas.openxmlformats.org/officeDocument/2006/relationships" r:id="Rbd46d63967224e38"/>
  </p:notesMasterIdLst>
  <p:sldIdLst>
    <p:sldId xmlns:r="http://schemas.openxmlformats.org/officeDocument/2006/relationships" id="256" r:id="Ref461f622fdd40a8"/>
  </p:sldIdLst>
  <p:sldSz cx="9906000" cy="6858000"/>
  <p:notesSz cx="6858000" cy="9144000"/>
  <p:embeddedFontLst>
    <p:embeddedFont>
      <p:font typeface="Figtree"/>
      <p:regular xmlns:r="http://schemas.openxmlformats.org/officeDocument/2006/relationships" r:id="R6218e1147c2949cf"/>
      <p:bold xmlns:r="http://schemas.openxmlformats.org/officeDocument/2006/relationships" r:id="R1ba79ba70e9548b3"/>
      <p:italic xmlns:r="http://schemas.openxmlformats.org/officeDocument/2006/relationships" r:id="R53cbb4e126814d90"/>
      <p:boldItalic xmlns:r="http://schemas.openxmlformats.org/officeDocument/2006/relationships" r:id="Re907f2b53a514a2d"/>
    </p:embeddedFont>
    <p:embeddedFont>
      <p:font typeface="Libre Baskerville"/>
      <p:regular xmlns:r="http://schemas.openxmlformats.org/officeDocument/2006/relationships" r:id="R92af5884e3f04087"/>
      <p:bold xmlns:r="http://schemas.openxmlformats.org/officeDocument/2006/relationships" r:id="Raf60247784974b8a"/>
      <p:italic xmlns:r="http://schemas.openxmlformats.org/officeDocument/2006/relationships" r:id="Ra206e6f70d9348b2"/>
    </p:embeddedFont>
    <p:embeddedFont>
      <p:font typeface="Quattrocento Sans"/>
      <p:regular xmlns:r="http://schemas.openxmlformats.org/officeDocument/2006/relationships" r:id="Rb9b643d4509d4c75"/>
      <p:bold xmlns:r="http://schemas.openxmlformats.org/officeDocument/2006/relationships" r:id="R00b82614fc3d4aae"/>
      <p:italic xmlns:r="http://schemas.openxmlformats.org/officeDocument/2006/relationships" r:id="R5f9ae9baac1a4bb7"/>
      <p:boldItalic xmlns:r="http://schemas.openxmlformats.org/officeDocument/2006/relationships" r:id="Rd93663563e6e484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03e4e126df74373" /><Relationship Type="http://schemas.openxmlformats.org/officeDocument/2006/relationships/slideMaster" Target="/ppt/slideMasters/slideMaster1.xml" Id="R9be19ae6c3de41fe" /><Relationship Type="http://schemas.openxmlformats.org/officeDocument/2006/relationships/notesMaster" Target="/ppt/notesMasters/notesMaster1.xml" Id="Rbd46d63967224e38" /><Relationship Type="http://schemas.openxmlformats.org/officeDocument/2006/relationships/presProps" Target="/ppt/presProps.xml" Id="R2e0e8228af7d4a6b" /><Relationship Type="http://schemas.openxmlformats.org/officeDocument/2006/relationships/viewProps" Target="/ppt/viewProps.xml" Id="R0223ed9717ba47cf" /><Relationship Type="http://schemas.openxmlformats.org/officeDocument/2006/relationships/tableStyles" Target="/ppt/tableStyles.xml" Id="R7249d697752843d1" /><Relationship Type="http://schemas.openxmlformats.org/officeDocument/2006/relationships/font" Target="/ppt/fonts/font.dat" Id="R6218e1147c2949cf" /><Relationship Type="http://schemas.openxmlformats.org/officeDocument/2006/relationships/font" Target="/ppt/fonts/font2.dat" Id="R1ba79ba70e9548b3" /><Relationship Type="http://schemas.openxmlformats.org/officeDocument/2006/relationships/font" Target="/ppt/fonts/font3.dat" Id="R53cbb4e126814d90" /><Relationship Type="http://schemas.openxmlformats.org/officeDocument/2006/relationships/font" Target="/ppt/fonts/font4.dat" Id="Re907f2b53a514a2d" /><Relationship Type="http://schemas.openxmlformats.org/officeDocument/2006/relationships/font" Target="/ppt/fonts/font5.dat" Id="R92af5884e3f04087" /><Relationship Type="http://schemas.openxmlformats.org/officeDocument/2006/relationships/font" Target="/ppt/fonts/font6.dat" Id="Raf60247784974b8a" /><Relationship Type="http://schemas.openxmlformats.org/officeDocument/2006/relationships/font" Target="/ppt/fonts/font7.dat" Id="Ra206e6f70d9348b2" /><Relationship Type="http://schemas.openxmlformats.org/officeDocument/2006/relationships/font" Target="/ppt/fonts/font8.dat" Id="Rb9b643d4509d4c75" /><Relationship Type="http://schemas.openxmlformats.org/officeDocument/2006/relationships/font" Target="/ppt/fonts/font9.dat" Id="R00b82614fc3d4aae" /><Relationship Type="http://schemas.openxmlformats.org/officeDocument/2006/relationships/font" Target="/ppt/fonts/font10.dat" Id="R5f9ae9baac1a4bb7" /><Relationship Type="http://schemas.openxmlformats.org/officeDocument/2006/relationships/font" Target="/ppt/fonts/font11.dat" Id="Rd93663563e6e484f" /><Relationship Type="http://schemas.openxmlformats.org/officeDocument/2006/relationships/slide" Target="/ppt/slides/slide1.xml" Id="Ref461f622fdd40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72c315884f49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c91e08472e4241" /><Relationship Type="http://schemas.openxmlformats.org/officeDocument/2006/relationships/notesMaster" Target="/ppt/notesMasters/notesMaster1.xml" Id="R0dab2e765a7d45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Themis Lean Canvas, September 4, 2026. Source: founder-approved positioning and Themis VC Pitch September 2026 v10; brand_pitch.md; four exploratory counsel interviews. Companion is the approved product relationship. Product outcomes, channels and early-adopter criteria are business hypotheses, not measured results. Founder experience is founder-reported. Claude and ChatGPT are current alternatives, not claims that they lack research or legal workflows. Proposed subscription is $500/seat/month; no annual discount or setup fee assumed. Proposed gross margin target is 80%, not measured. Illustrative lifetime value uses gross profit: $500 × 12 months × 3 years × 80% = $14,400 per seat, undiscounted and before acquisition costs; 3-year retention is an assumption. Pilot goals: 60% of activated lawyers start a second matter within 30 days of completing the first; median 25% less total lawyer effort versus matched tasks using configured usual tools. Measure setup, prompting, verification, correction and drafting. Pair readiness with the lawyer’s understanding of the recommendation and what could change it. Team expansion requires further product development. Template branding and section structure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a7c326d28647fd" /></Relationships>
</file>

<file path=ppt/slideLayouts/slideLayout1.xml><?xml version="1.0" encoding="utf-8"?>
<p:sldLayout xmlns:p="http://schemas.openxmlformats.org/presentationml/2006/main" matchingName="Lean Canvas">
  <p:cSld name="Lean Canvas">
    <p:spTree>
      <p:nvGrpSpPr>
        <p:cNvPr id="1" name=""/>
        <p:cNvGrpSpPr/>
        <p:nvPr/>
      </p:nvGrpSpPr>
      <p:grpSpPr>
        <a:xfrm xmlns:a="http://schemas.openxmlformats.org/drawingml/2006/main"/>
      </p:grpSpPr>
      <p:sp>
        <p:nvSpPr>
          <p:cNvPr id="35" name="Google Shape;35;p3">
            <a:extLst xmlns:a="http://schemas.openxmlformats.org/drawingml/2006/main">
              <a:ext uri="{FF2B5EF4-FFF2-40B4-BE49-F238E27FC236}">
                <a16:creationId xmlns:a16="http://schemas.microsoft.com/office/drawing/2014/main" id="{A520F237-AAF0-496A-A71A-818A0A28E892}"/>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6" name="Google Shape;36;p3">
            <a:extLst xmlns:a="http://schemas.openxmlformats.org/drawingml/2006/main">
              <a:ext uri="{FF2B5EF4-FFF2-40B4-BE49-F238E27FC236}">
                <a16:creationId xmlns:a16="http://schemas.microsoft.com/office/drawing/2014/main" id="{9B08EB78-356D-4189-B7A4-B75FF1B741A5}"/>
              </a:ext>
            </a:extLst>
          </p:cNvPr>
          <p:cNvSpPr>
            <a:spLocks xmlns:a="http://schemas.openxmlformats.org/drawingml/2006/main" noGrp="1"/>
          </p:cNvSpPr>
          <p:nvPr>
            <p:ph type="body" idx="2"/>
          </p:nvPr>
        </p:nvSpPr>
        <p:spPr>
          <a:xfrm xmlns:a="http://schemas.openxmlformats.org/drawingml/2006/main">
            <a:off x="6418823"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7" name="Google Shape;37;p3">
            <a:extLst xmlns:a="http://schemas.openxmlformats.org/drawingml/2006/main">
              <a:ext uri="{FF2B5EF4-FFF2-40B4-BE49-F238E27FC236}">
                <a16:creationId xmlns:a16="http://schemas.microsoft.com/office/drawing/2014/main" id="{22E3BD82-0DDE-478B-A92D-338082553906}"/>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8" name="Google Shape;38;p3">
            <a:extLst xmlns:a="http://schemas.openxmlformats.org/drawingml/2006/main">
              <a:ext uri="{FF2B5EF4-FFF2-40B4-BE49-F238E27FC236}">
                <a16:creationId xmlns:a16="http://schemas.microsoft.com/office/drawing/2014/main" id="{6C8C674D-3DB8-48A4-9AA1-7BECF5119A20}"/>
              </a:ext>
            </a:extLst>
          </p:cNvPr>
          <p:cNvSpPr>
            <a:spLocks xmlns:a="http://schemas.openxmlformats.org/drawingml/2006/main" noGrp="1"/>
          </p:cNvSpPr>
          <p:nvPr>
            <p:ph type="body" idx="4"/>
          </p:nvPr>
        </p:nvSpPr>
        <p:spPr>
          <a:xfrm xmlns:a="http://schemas.openxmlformats.org/drawingml/2006/main">
            <a:off x="309424"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39" name="Google Shape;39;p3">
            <a:extLst xmlns:a="http://schemas.openxmlformats.org/drawingml/2006/main">
              <a:ext uri="{FF2B5EF4-FFF2-40B4-BE49-F238E27FC236}">
                <a16:creationId xmlns:a16="http://schemas.microsoft.com/office/drawing/2014/main" id="{FE83A753-D2B2-4ADB-B722-4BCD0590764C}"/>
              </a:ext>
            </a:extLst>
          </p:cNvPr>
          <p:cNvSpPr>
            <a:spLocks xmlns:a="http://schemas.openxmlformats.org/drawingml/2006/main" noGrp="1"/>
          </p:cNvSpPr>
          <p:nvPr>
            <p:ph type="body" idx="5"/>
          </p:nvPr>
        </p:nvSpPr>
        <p:spPr>
          <a:xfrm xmlns:a="http://schemas.openxmlformats.org/drawingml/2006/main">
            <a:off x="2185335"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0" name="Google Shape;40;p3">
            <a:extLst xmlns:a="http://schemas.openxmlformats.org/drawingml/2006/main">
              <a:ext uri="{FF2B5EF4-FFF2-40B4-BE49-F238E27FC236}">
                <a16:creationId xmlns:a16="http://schemas.microsoft.com/office/drawing/2014/main" id="{8037FDD5-E50F-41B6-A485-F5E469443A63}"/>
              </a:ext>
            </a:extLst>
          </p:cNvPr>
          <p:cNvSpPr>
            <a:spLocks xmlns:a="http://schemas.openxmlformats.org/drawingml/2006/main" noGrp="1"/>
          </p:cNvSpPr>
          <p:nvPr>
            <p:ph type="body" idx="6"/>
          </p:nvPr>
        </p:nvSpPr>
        <p:spPr>
          <a:xfrm xmlns:a="http://schemas.openxmlformats.org/drawingml/2006/main">
            <a:off x="4067689"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1" name="Google Shape;41;p3">
            <a:extLst xmlns:a="http://schemas.openxmlformats.org/drawingml/2006/main">
              <a:ext uri="{FF2B5EF4-FFF2-40B4-BE49-F238E27FC236}">
                <a16:creationId xmlns:a16="http://schemas.microsoft.com/office/drawing/2014/main" id="{AD2F6B32-618C-4695-9DBF-4A15CF097CB6}"/>
              </a:ext>
            </a:extLst>
          </p:cNvPr>
          <p:cNvSpPr>
            <a:spLocks xmlns:a="http://schemas.openxmlformats.org/drawingml/2006/main" noGrp="1"/>
          </p:cNvSpPr>
          <p:nvPr>
            <p:ph type="body" idx="7"/>
          </p:nvPr>
        </p:nvSpPr>
        <p:spPr>
          <a:xfrm xmlns:a="http://schemas.openxmlformats.org/drawingml/2006/main">
            <a:off x="5948526" y="1056067"/>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2" name="Google Shape;42;p3">
            <a:extLst xmlns:a="http://schemas.openxmlformats.org/drawingml/2006/main">
              <a:ext uri="{FF2B5EF4-FFF2-40B4-BE49-F238E27FC236}">
                <a16:creationId xmlns:a16="http://schemas.microsoft.com/office/drawing/2014/main" id="{9A8F7229-3493-4F3D-8BE5-01CC00C657E3}"/>
              </a:ext>
            </a:extLst>
          </p:cNvPr>
          <p:cNvSpPr>
            <a:spLocks xmlns:a="http://schemas.openxmlformats.org/drawingml/2006/main" noGrp="1"/>
          </p:cNvSpPr>
          <p:nvPr>
            <p:ph type="body" idx="8"/>
          </p:nvPr>
        </p:nvSpPr>
        <p:spPr>
          <a:xfrm xmlns:a="http://schemas.openxmlformats.org/drawingml/2006/main">
            <a:off x="7835806" y="1056067"/>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3" name="Google Shape;43;p3">
            <a:extLst xmlns:a="http://schemas.openxmlformats.org/drawingml/2006/main">
              <a:ext uri="{FF2B5EF4-FFF2-40B4-BE49-F238E27FC236}">
                <a16:creationId xmlns:a16="http://schemas.microsoft.com/office/drawing/2014/main" id="{69CCC0DC-0717-48BB-8E39-A5333182BD93}"/>
              </a:ext>
            </a:extLst>
          </p:cNvPr>
          <p:cNvSpPr>
            <a:spLocks xmlns:a="http://schemas.openxmlformats.org/drawingml/2006/main" noGrp="1"/>
          </p:cNvSpPr>
          <p:nvPr>
            <p:ph type="body" idx="9"/>
          </p:nvPr>
        </p:nvSpPr>
        <p:spPr>
          <a:xfrm xmlns:a="http://schemas.openxmlformats.org/drawingml/2006/main">
            <a:off x="30942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4" name="Google Shape;44;p3">
            <a:extLst xmlns:a="http://schemas.openxmlformats.org/drawingml/2006/main">
              <a:ext uri="{FF2B5EF4-FFF2-40B4-BE49-F238E27FC236}">
                <a16:creationId xmlns:a16="http://schemas.microsoft.com/office/drawing/2014/main" id="{2FE42F04-9622-411D-98C6-BCD9992D6104}"/>
              </a:ext>
            </a:extLst>
          </p:cNvPr>
          <p:cNvSpPr>
            <a:spLocks xmlns:a="http://schemas.openxmlformats.org/drawingml/2006/main" noGrp="1"/>
          </p:cNvSpPr>
          <p:nvPr>
            <p:ph type="body" idx="13"/>
          </p:nvPr>
        </p:nvSpPr>
        <p:spPr>
          <a:xfrm xmlns:a="http://schemas.openxmlformats.org/drawingml/2006/main">
            <a:off x="219670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5" name="Google Shape;45;p3">
            <a:extLst xmlns:a="http://schemas.openxmlformats.org/drawingml/2006/main">
              <a:ext uri="{FF2B5EF4-FFF2-40B4-BE49-F238E27FC236}">
                <a16:creationId xmlns:a16="http://schemas.microsoft.com/office/drawing/2014/main" id="{1C407AC3-016C-4B81-9E79-1E66FBBBF365}"/>
              </a:ext>
            </a:extLst>
          </p:cNvPr>
          <p:cNvSpPr>
            <a:spLocks xmlns:a="http://schemas.openxmlformats.org/drawingml/2006/main" noGrp="1"/>
          </p:cNvSpPr>
          <p:nvPr>
            <p:ph type="body" idx="14"/>
          </p:nvPr>
        </p:nvSpPr>
        <p:spPr>
          <a:xfrm xmlns:a="http://schemas.openxmlformats.org/drawingml/2006/main">
            <a:off x="4072615"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6" name="Google Shape;46;p3">
            <a:extLst xmlns:a="http://schemas.openxmlformats.org/drawingml/2006/main">
              <a:ext uri="{FF2B5EF4-FFF2-40B4-BE49-F238E27FC236}">
                <a16:creationId xmlns:a16="http://schemas.microsoft.com/office/drawing/2014/main" id="{91794284-A1B6-48E2-800E-57A7FC7A161A}"/>
              </a:ext>
            </a:extLst>
          </p:cNvPr>
          <p:cNvSpPr>
            <a:spLocks xmlns:a="http://schemas.openxmlformats.org/drawingml/2006/main" noGrp="1"/>
          </p:cNvSpPr>
          <p:nvPr>
            <p:ph type="body" idx="15"/>
          </p:nvPr>
        </p:nvSpPr>
        <p:spPr>
          <a:xfrm xmlns:a="http://schemas.openxmlformats.org/drawingml/2006/main">
            <a:off x="5952078"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7" name="Google Shape;47;p3">
            <a:extLst xmlns:a="http://schemas.openxmlformats.org/drawingml/2006/main">
              <a:ext uri="{FF2B5EF4-FFF2-40B4-BE49-F238E27FC236}">
                <a16:creationId xmlns:a16="http://schemas.microsoft.com/office/drawing/2014/main" id="{62732DC9-674F-4095-B93A-AAC6C4410776}"/>
              </a:ext>
            </a:extLst>
          </p:cNvPr>
          <p:cNvSpPr>
            <a:spLocks xmlns:a="http://schemas.openxmlformats.org/drawingml/2006/main" noGrp="1"/>
          </p:cNvSpPr>
          <p:nvPr>
            <p:ph type="body" idx="16"/>
          </p:nvPr>
        </p:nvSpPr>
        <p:spPr>
          <a:xfrm xmlns:a="http://schemas.openxmlformats.org/drawingml/2006/main">
            <a:off x="7835806" y="2965563"/>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8" name="Google Shape;48;p3">
            <a:extLst xmlns:a="http://schemas.openxmlformats.org/drawingml/2006/main">
              <a:ext uri="{FF2B5EF4-FFF2-40B4-BE49-F238E27FC236}">
                <a16:creationId xmlns:a16="http://schemas.microsoft.com/office/drawing/2014/main" id="{636FFF89-67E7-48C8-AD03-3C5846408959}"/>
              </a:ext>
            </a:extLst>
          </p:cNvPr>
          <p:cNvSpPr>
            <a:spLocks xmlns:a="http://schemas.openxmlformats.org/drawingml/2006/main" noGrp="1"/>
          </p:cNvSpPr>
          <p:nvPr>
            <p:ph type="body" idx="17"/>
          </p:nvPr>
        </p:nvSpPr>
        <p:spPr>
          <a:xfrm xmlns:a="http://schemas.openxmlformats.org/drawingml/2006/main">
            <a:off x="309424" y="4876800"/>
            <a:ext cx="4561026"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9" name="Google Shape;49;p3">
            <a:extLst xmlns:a="http://schemas.openxmlformats.org/drawingml/2006/main">
              <a:ext uri="{FF2B5EF4-FFF2-40B4-BE49-F238E27FC236}">
                <a16:creationId xmlns:a16="http://schemas.microsoft.com/office/drawing/2014/main" id="{B4AD1F74-E7CA-4E59-B5B6-77EDFD40F281}"/>
              </a:ext>
            </a:extLst>
          </p:cNvPr>
          <p:cNvSpPr>
            <a:spLocks xmlns:a="http://schemas.openxmlformats.org/drawingml/2006/main" noGrp="1"/>
          </p:cNvSpPr>
          <p:nvPr>
            <p:ph type="body" idx="18"/>
          </p:nvPr>
        </p:nvSpPr>
        <p:spPr>
          <a:xfrm xmlns:a="http://schemas.openxmlformats.org/drawingml/2006/main">
            <a:off x="5056350" y="4876800"/>
            <a:ext cx="4533783"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109463ae2d44270" /><Relationship Type="http://schemas.openxmlformats.org/officeDocument/2006/relationships/theme" Target="/ppt/slideMasters/theme/theme2.xml" Id="Rc247580758814038" /><Relationship Type="http://schemas.openxmlformats.org/officeDocument/2006/relationships/slideLayout" Target="/ppt/slideLayouts/slideLayout1.xml" Id="R414a8f92873c4cf5" /></Relationships>
</file>

<file path=ppt/slideMasters/slideMaster1.xml><?xml version="1.0" encoding="utf-8"?>
<p:sldMaster xmlns:p="http://schemas.openxmlformats.org/presentationml/2006/main">
  <p:cSld>
    <p:bg>
      <p:bgPr>
        <a:solidFill xmlns:a="http://schemas.openxmlformats.org/drawingml/2006/main">
          <a:srgbClr val="FFFCF8"/>
        </a:solidFill>
      </p:bgPr>
    </p:bg>
    <p:spTree>
      <p:nvGrpSpPr>
        <p:cNvPr id="1" name=""/>
        <p:cNvGrpSpPr/>
        <p:nvPr/>
      </p:nvGrpSpPr>
      <p:grpSpPr>
        <a:xfrm xmlns:a="http://schemas.openxmlformats.org/drawingml/2006/main"/>
      </p:grpSpPr>
      <p:sp>
        <p:nvSpPr>
          <p:cNvPr id="6" name="Google Shape;6;p2">
            <a:extLst xmlns:a="http://schemas.openxmlformats.org/drawingml/2006/main">
              <a:ext uri="{FF2B5EF4-FFF2-40B4-BE49-F238E27FC236}">
                <a16:creationId xmlns:a16="http://schemas.microsoft.com/office/drawing/2014/main" id="{E5707491-130C-4F70-938F-F49EF726DCC5}"/>
              </a:ext>
            </a:extLst>
          </p:cNvPr>
          <p:cNvSpPr>
            <a:spLocks xmlns:a="http://schemas.openxmlformats.org/drawingml/2006/main" noGrp="1"/>
          </p:cNvSpPr>
          <p:nvPr/>
        </p:nvSpPr>
        <p:spPr>
          <a:xfrm xmlns:a="http://schemas.openxmlformats.org/drawingml/2006/main">
            <a:off x="244475" y="762000"/>
            <a:ext cx="9407400" cy="5638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7" name="Google Shape;7;p2">
            <a:extLst xmlns:a="http://schemas.openxmlformats.org/drawingml/2006/main">
              <a:ext uri="{FF2B5EF4-FFF2-40B4-BE49-F238E27FC236}">
                <a16:creationId xmlns:a16="http://schemas.microsoft.com/office/drawing/2014/main" id="{05772782-8293-41CA-964E-A815F343BC4E}"/>
              </a:ext>
            </a:extLst>
          </p:cNvPr>
          <p:cNvSpPr>
            <a:spLocks xmlns:a="http://schemas.openxmlformats.org/drawingml/2006/main" noGrp="1"/>
          </p:cNvSpPr>
          <p:nvPr/>
        </p:nvSpPr>
        <p:spPr>
          <a:xfrm xmlns:a="http://schemas.openxmlformats.org/drawingml/2006/main">
            <a:off x="244475" y="762000"/>
            <a:ext cx="18795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8" name="Google Shape;8;p2">
            <a:extLst xmlns:a="http://schemas.openxmlformats.org/drawingml/2006/main">
              <a:ext uri="{FF2B5EF4-FFF2-40B4-BE49-F238E27FC236}">
                <a16:creationId xmlns:a16="http://schemas.microsoft.com/office/drawing/2014/main" id="{AE970EE4-6176-4AB9-B8EC-B8A1DA3EA41B}"/>
              </a:ext>
            </a:extLst>
          </p:cNvPr>
          <p:cNvSpPr>
            <a:spLocks xmlns:a="http://schemas.openxmlformats.org/drawingml/2006/main" noGrp="1"/>
          </p:cNvSpPr>
          <p:nvPr/>
        </p:nvSpPr>
        <p:spPr>
          <a:xfrm xmlns:a="http://schemas.openxmlformats.org/drawingml/2006/main">
            <a:off x="2124075" y="760413"/>
            <a:ext cx="1881188"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9" name="Google Shape;9;p2">
            <a:extLst xmlns:a="http://schemas.openxmlformats.org/drawingml/2006/main">
              <a:ext uri="{FF2B5EF4-FFF2-40B4-BE49-F238E27FC236}">
                <a16:creationId xmlns:a16="http://schemas.microsoft.com/office/drawing/2014/main" id="{F8848FAD-43FE-4D9A-863B-E6DE7D55D9CF}"/>
              </a:ext>
            </a:extLst>
          </p:cNvPr>
          <p:cNvSpPr>
            <a:spLocks xmlns:a="http://schemas.openxmlformats.org/drawingml/2006/main" noGrp="1"/>
          </p:cNvSpPr>
          <p:nvPr/>
        </p:nvSpPr>
        <p:spPr>
          <a:xfrm xmlns:a="http://schemas.openxmlformats.org/drawingml/2006/main">
            <a:off x="2124075" y="2643188"/>
            <a:ext cx="1881188"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0" name="Google Shape;10;p2">
            <a:extLst xmlns:a="http://schemas.openxmlformats.org/drawingml/2006/main">
              <a:ext uri="{FF2B5EF4-FFF2-40B4-BE49-F238E27FC236}">
                <a16:creationId xmlns:a16="http://schemas.microsoft.com/office/drawing/2014/main" id="{26B3B958-DC14-4D4B-AE17-D10903FB73C9}"/>
              </a:ext>
            </a:extLst>
          </p:cNvPr>
          <p:cNvSpPr>
            <a:spLocks xmlns:a="http://schemas.openxmlformats.org/drawingml/2006/main" noGrp="1"/>
          </p:cNvSpPr>
          <p:nvPr/>
        </p:nvSpPr>
        <p:spPr>
          <a:xfrm xmlns:a="http://schemas.openxmlformats.org/drawingml/2006/main">
            <a:off x="4005263" y="762000"/>
            <a:ext cx="18796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1" name="Google Shape;11;p2">
            <a:extLst xmlns:a="http://schemas.openxmlformats.org/drawingml/2006/main">
              <a:ext uri="{FF2B5EF4-FFF2-40B4-BE49-F238E27FC236}">
                <a16:creationId xmlns:a16="http://schemas.microsoft.com/office/drawing/2014/main" id="{E2E655BF-900F-405D-BB22-87396DD8819B}"/>
              </a:ext>
            </a:extLst>
          </p:cNvPr>
          <p:cNvSpPr>
            <a:spLocks xmlns:a="http://schemas.openxmlformats.org/drawingml/2006/main" noGrp="1"/>
          </p:cNvSpPr>
          <p:nvPr/>
        </p:nvSpPr>
        <p:spPr>
          <a:xfrm xmlns:a="http://schemas.openxmlformats.org/drawingml/2006/main">
            <a:off x="5884863" y="762000"/>
            <a:ext cx="1879600"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2" name="Google Shape;12;p2">
            <a:extLst xmlns:a="http://schemas.openxmlformats.org/drawingml/2006/main">
              <a:ext uri="{FF2B5EF4-FFF2-40B4-BE49-F238E27FC236}">
                <a16:creationId xmlns:a16="http://schemas.microsoft.com/office/drawing/2014/main" id="{E8F99D0E-9911-463C-ABD3-00035C0A0150}"/>
              </a:ext>
            </a:extLst>
          </p:cNvPr>
          <p:cNvSpPr>
            <a:spLocks xmlns:a="http://schemas.openxmlformats.org/drawingml/2006/main" noGrp="1"/>
          </p:cNvSpPr>
          <p:nvPr/>
        </p:nvSpPr>
        <p:spPr>
          <a:xfrm xmlns:a="http://schemas.openxmlformats.org/drawingml/2006/main">
            <a:off x="5884863" y="2643188"/>
            <a:ext cx="1879600"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3" name="Google Shape;13;p2">
            <a:extLst xmlns:a="http://schemas.openxmlformats.org/drawingml/2006/main">
              <a:ext uri="{FF2B5EF4-FFF2-40B4-BE49-F238E27FC236}">
                <a16:creationId xmlns:a16="http://schemas.microsoft.com/office/drawing/2014/main" id="{E7B77FB9-D1C2-4972-9362-99893B5118A2}"/>
              </a:ext>
            </a:extLst>
          </p:cNvPr>
          <p:cNvSpPr>
            <a:spLocks xmlns:a="http://schemas.openxmlformats.org/drawingml/2006/main" noGrp="1"/>
          </p:cNvSpPr>
          <p:nvPr/>
        </p:nvSpPr>
        <p:spPr>
          <a:xfrm xmlns:a="http://schemas.openxmlformats.org/drawingml/2006/main">
            <a:off x="7770813" y="762000"/>
            <a:ext cx="1881187"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4" name="Google Shape;14;p2">
            <a:extLst xmlns:a="http://schemas.openxmlformats.org/drawingml/2006/main">
              <a:ext uri="{FF2B5EF4-FFF2-40B4-BE49-F238E27FC236}">
                <a16:creationId xmlns:a16="http://schemas.microsoft.com/office/drawing/2014/main" id="{F8A92D7C-957A-4466-AA73-1C6C91EA24D6}"/>
              </a:ext>
            </a:extLst>
          </p:cNvPr>
          <p:cNvSpPr>
            <a:spLocks xmlns:a="http://schemas.openxmlformats.org/drawingml/2006/main" noGrp="1"/>
          </p:cNvSpPr>
          <p:nvPr/>
        </p:nvSpPr>
        <p:spPr>
          <a:xfrm xmlns:a="http://schemas.openxmlformats.org/drawingml/2006/main">
            <a:off x="244475" y="4579938"/>
            <a:ext cx="4713288"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5" name="Google Shape;15;p2">
            <a:extLst xmlns:a="http://schemas.openxmlformats.org/drawingml/2006/main">
              <a:ext uri="{FF2B5EF4-FFF2-40B4-BE49-F238E27FC236}">
                <a16:creationId xmlns:a16="http://schemas.microsoft.com/office/drawing/2014/main" id="{1F543200-DC3A-4935-975B-11DC52070FA2}"/>
              </a:ext>
            </a:extLst>
          </p:cNvPr>
          <p:cNvSpPr>
            <a:spLocks xmlns:a="http://schemas.openxmlformats.org/drawingml/2006/main" noGrp="1"/>
          </p:cNvSpPr>
          <p:nvPr/>
        </p:nvSpPr>
        <p:spPr>
          <a:xfrm xmlns:a="http://schemas.openxmlformats.org/drawingml/2006/main">
            <a:off x="4957763" y="4579938"/>
            <a:ext cx="4692650"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6" name="Google Shape;16;p2">
            <a:extLst xmlns:a="http://schemas.openxmlformats.org/drawingml/2006/main">
              <a:ext uri="{FF2B5EF4-FFF2-40B4-BE49-F238E27FC236}">
                <a16:creationId xmlns:a16="http://schemas.microsoft.com/office/drawing/2014/main" id="{42449ED4-D960-43B8-BB36-93E2EB4A8041}"/>
              </a:ext>
            </a:extLst>
          </p:cNvPr>
          <p:cNvSpPr>
            <a:spLocks xmlns:a="http://schemas.openxmlformats.org/drawingml/2006/main" noGrp="1"/>
          </p:cNvSpPr>
          <p:nvPr/>
        </p:nvSpPr>
        <p:spPr>
          <a:xfrm xmlns:a="http://schemas.openxmlformats.org/drawingml/2006/main">
            <a:off x="4632375" y="184150"/>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Project / Company Name:</a:t>
            </a:r>
            <a:endParaRPr sz="1400" b="0" i="0" u="none" cap="none">
              <a:solidFill>
                <a:srgbClr val="000000"/>
              </a:solidFill>
              <a:latin typeface="Figtree"/>
              <a:ea typeface="Figtree"/>
              <a:cs typeface="Figtree"/>
            </a:endParaRPr>
          </a:p>
        </p:txBody>
      </p:sp>
      <p:sp>
        <p:nvSpPr>
          <p:cNvPr id="17" name="Google Shape;17;p2">
            <a:extLst xmlns:a="http://schemas.openxmlformats.org/drawingml/2006/main">
              <a:ext uri="{FF2B5EF4-FFF2-40B4-BE49-F238E27FC236}">
                <a16:creationId xmlns:a16="http://schemas.microsoft.com/office/drawing/2014/main" id="{226A273E-5022-4B5A-9B4D-55BEA7FB0B41}"/>
              </a:ext>
            </a:extLst>
          </p:cNvPr>
          <p:cNvSpPr>
            <a:spLocks xmlns:a="http://schemas.openxmlformats.org/drawingml/2006/main" noGrp="1"/>
          </p:cNvSpPr>
          <p:nvPr/>
        </p:nvSpPr>
        <p:spPr>
          <a:xfrm xmlns:a="http://schemas.openxmlformats.org/drawingml/2006/main">
            <a:off x="6357988" y="180975"/>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Owner:</a:t>
            </a:r>
            <a:endParaRPr sz="1400" b="0" i="0" u="none" cap="none">
              <a:solidFill>
                <a:srgbClr val="000000"/>
              </a:solidFill>
              <a:latin typeface="Figtree"/>
              <a:ea typeface="Figtree"/>
              <a:cs typeface="Figtree"/>
            </a:endParaRPr>
          </a:p>
        </p:txBody>
      </p:sp>
      <p:sp>
        <p:nvSpPr>
          <p:cNvPr id="18" name="Google Shape;18;p2">
            <a:extLst xmlns:a="http://schemas.openxmlformats.org/drawingml/2006/main">
              <a:ext uri="{FF2B5EF4-FFF2-40B4-BE49-F238E27FC236}">
                <a16:creationId xmlns:a16="http://schemas.microsoft.com/office/drawing/2014/main" id="{0B43B718-04DB-4CC1-9A30-2ACDFCEE510F}"/>
              </a:ext>
            </a:extLst>
          </p:cNvPr>
          <p:cNvSpPr>
            <a:spLocks xmlns:a="http://schemas.openxmlformats.org/drawingml/2006/main" noGrp="1"/>
          </p:cNvSpPr>
          <p:nvPr/>
        </p:nvSpPr>
        <p:spPr>
          <a:xfrm xmlns:a="http://schemas.openxmlformats.org/drawingml/2006/main">
            <a:off x="8436025" y="180975"/>
            <a:ext cx="1214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Date:</a:t>
            </a:r>
            <a:endParaRPr sz="1400" b="0" i="0" u="none" cap="none">
              <a:solidFill>
                <a:srgbClr val="000000"/>
              </a:solidFill>
              <a:latin typeface="Figtree"/>
              <a:ea typeface="Figtree"/>
              <a:cs typeface="Figtree"/>
            </a:endParaRPr>
          </a:p>
        </p:txBody>
      </p:sp>
      <p:sp>
        <p:nvSpPr>
          <p:cNvPr id="19" name="Google Shape;19;p2">
            <a:extLst xmlns:a="http://schemas.openxmlformats.org/drawingml/2006/main">
              <a:ext uri="{FF2B5EF4-FFF2-40B4-BE49-F238E27FC236}">
                <a16:creationId xmlns:a16="http://schemas.microsoft.com/office/drawing/2014/main" id="{B8274DEC-46F2-486B-B4D4-A42A16BE609A}"/>
              </a:ext>
            </a:extLst>
          </p:cNvPr>
          <p:cNvSpPr>
            <a:spLocks xmlns:a="http://schemas.openxmlformats.org/drawingml/2006/main" noGrp="1"/>
          </p:cNvSpPr>
          <p:nvPr/>
        </p:nvSpPr>
        <p:spPr>
          <a:xfrm xmlns:a="http://schemas.openxmlformats.org/drawingml/2006/main">
            <a:off x="244475"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Problem</a:t>
            </a:r>
            <a:endParaRPr sz="1400" b="0" i="0" u="none" cap="none">
              <a:solidFill>
                <a:srgbClr val="000000"/>
              </a:solidFill>
              <a:latin typeface="Figtree"/>
              <a:ea typeface="Figtree"/>
              <a:cs typeface="Figtree"/>
            </a:endParaRPr>
          </a:p>
        </p:txBody>
      </p:sp>
      <p:sp>
        <p:nvSpPr>
          <p:cNvPr id="20" name="Google Shape;20;p2">
            <a:extLst xmlns:a="http://schemas.openxmlformats.org/drawingml/2006/main">
              <a:ext uri="{FF2B5EF4-FFF2-40B4-BE49-F238E27FC236}">
                <a16:creationId xmlns:a16="http://schemas.microsoft.com/office/drawing/2014/main" id="{6CF7D901-BBD5-426A-991D-0EC2025F6A9F}"/>
              </a:ext>
            </a:extLst>
          </p:cNvPr>
          <p:cNvSpPr>
            <a:spLocks xmlns:a="http://schemas.openxmlformats.org/drawingml/2006/main" noGrp="1"/>
          </p:cNvSpPr>
          <p:nvPr/>
        </p:nvSpPr>
        <p:spPr>
          <a:xfrm xmlns:a="http://schemas.openxmlformats.org/drawingml/2006/main">
            <a:off x="244475"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Existing Alternatives</a:t>
            </a:r>
            <a:endParaRPr sz="1400" b="0" i="0" u="none" cap="none">
              <a:solidFill>
                <a:srgbClr val="000000"/>
              </a:solidFill>
              <a:latin typeface="Figtree"/>
              <a:ea typeface="Figtree"/>
              <a:cs typeface="Figtree"/>
            </a:endParaRPr>
          </a:p>
        </p:txBody>
      </p:sp>
      <p:sp>
        <p:nvSpPr>
          <p:cNvPr id="21" name="Google Shape;21;p2">
            <a:extLst xmlns:a="http://schemas.openxmlformats.org/drawingml/2006/main">
              <a:ext uri="{FF2B5EF4-FFF2-40B4-BE49-F238E27FC236}">
                <a16:creationId xmlns:a16="http://schemas.microsoft.com/office/drawing/2014/main" id="{387FB128-19D6-49CB-AF1F-1B6711D125A4}"/>
              </a:ext>
            </a:extLst>
          </p:cNvPr>
          <p:cNvSpPr>
            <a:spLocks xmlns:a="http://schemas.openxmlformats.org/drawingml/2006/main" noGrp="1"/>
          </p:cNvSpPr>
          <p:nvPr/>
        </p:nvSpPr>
        <p:spPr>
          <a:xfrm xmlns:a="http://schemas.openxmlformats.org/drawingml/2006/main">
            <a:off x="244475"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Cost Structure</a:t>
            </a:r>
            <a:endParaRPr sz="1400" b="0" i="0" u="none" cap="none">
              <a:solidFill>
                <a:srgbClr val="000000"/>
              </a:solidFill>
              <a:latin typeface="Figtree"/>
              <a:ea typeface="Figtree"/>
              <a:cs typeface="Figtree"/>
            </a:endParaRPr>
          </a:p>
        </p:txBody>
      </p:sp>
      <p:sp>
        <p:nvSpPr>
          <p:cNvPr id="22" name="Google Shape;22;p2">
            <a:extLst xmlns:a="http://schemas.openxmlformats.org/drawingml/2006/main">
              <a:ext uri="{FF2B5EF4-FFF2-40B4-BE49-F238E27FC236}">
                <a16:creationId xmlns:a16="http://schemas.microsoft.com/office/drawing/2014/main" id="{65A2DA1A-D2D0-4587-8A92-9AF60B2A99C1}"/>
              </a:ext>
            </a:extLst>
          </p:cNvPr>
          <p:cNvSpPr>
            <a:spLocks xmlns:a="http://schemas.openxmlformats.org/drawingml/2006/main" noGrp="1"/>
          </p:cNvSpPr>
          <p:nvPr/>
        </p:nvSpPr>
        <p:spPr>
          <a:xfrm xmlns:a="http://schemas.openxmlformats.org/drawingml/2006/main">
            <a:off x="2124075" y="78898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Solution</a:t>
            </a:r>
            <a:endParaRPr sz="1400" b="0" i="0" u="none" cap="none">
              <a:solidFill>
                <a:srgbClr val="000000"/>
              </a:solidFill>
              <a:latin typeface="Figtree"/>
              <a:ea typeface="Figtree"/>
              <a:cs typeface="Figtree"/>
            </a:endParaRPr>
          </a:p>
        </p:txBody>
      </p:sp>
      <p:sp>
        <p:nvSpPr>
          <p:cNvPr id="23" name="Google Shape;23;p2">
            <a:extLst xmlns:a="http://schemas.openxmlformats.org/drawingml/2006/main">
              <a:ext uri="{FF2B5EF4-FFF2-40B4-BE49-F238E27FC236}">
                <a16:creationId xmlns:a16="http://schemas.microsoft.com/office/drawing/2014/main" id="{F57E5C38-CC59-4A96-81CC-7B7CF116EB7B}"/>
              </a:ext>
            </a:extLst>
          </p:cNvPr>
          <p:cNvSpPr>
            <a:spLocks xmlns:a="http://schemas.openxmlformats.org/drawingml/2006/main" noGrp="1"/>
          </p:cNvSpPr>
          <p:nvPr/>
        </p:nvSpPr>
        <p:spPr>
          <a:xfrm xmlns:a="http://schemas.openxmlformats.org/drawingml/2006/main">
            <a:off x="2124075" y="264953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Key Metrics</a:t>
            </a:r>
            <a:endParaRPr sz="1400" b="0" i="0" u="none" cap="none">
              <a:solidFill>
                <a:srgbClr val="000000"/>
              </a:solidFill>
              <a:latin typeface="Figtree"/>
              <a:ea typeface="Figtree"/>
              <a:cs typeface="Figtree"/>
            </a:endParaRPr>
          </a:p>
        </p:txBody>
      </p:sp>
      <p:sp>
        <p:nvSpPr>
          <p:cNvPr id="24" name="Google Shape;24;p2">
            <a:extLst xmlns:a="http://schemas.openxmlformats.org/drawingml/2006/main">
              <a:ext uri="{FF2B5EF4-FFF2-40B4-BE49-F238E27FC236}">
                <a16:creationId xmlns:a16="http://schemas.microsoft.com/office/drawing/2014/main" id="{68DFCAB2-4AA5-4DD6-A4FE-AD1A7ACC0257}"/>
              </a:ext>
            </a:extLst>
          </p:cNvPr>
          <p:cNvSpPr>
            <a:spLocks xmlns:a="http://schemas.openxmlformats.org/drawingml/2006/main" noGrp="1"/>
          </p:cNvSpPr>
          <p:nvPr/>
        </p:nvSpPr>
        <p:spPr>
          <a:xfrm xmlns:a="http://schemas.openxmlformats.org/drawingml/2006/main">
            <a:off x="4025900"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Unique Value Proposition</a:t>
            </a:r>
            <a:endParaRPr sz="1400" b="0" i="0" u="none" cap="none">
              <a:solidFill>
                <a:srgbClr val="000000"/>
              </a:solidFill>
              <a:latin typeface="Figtree"/>
              <a:ea typeface="Figtree"/>
              <a:cs typeface="Figtree"/>
            </a:endParaRPr>
          </a:p>
        </p:txBody>
      </p:sp>
      <p:sp>
        <p:nvSpPr>
          <p:cNvPr id="25" name="Google Shape;25;p2">
            <a:extLst xmlns:a="http://schemas.openxmlformats.org/drawingml/2006/main">
              <a:ext uri="{FF2B5EF4-FFF2-40B4-BE49-F238E27FC236}">
                <a16:creationId xmlns:a16="http://schemas.microsoft.com/office/drawing/2014/main" id="{4835DA4F-44A8-4D4B-AAEA-34E10CA7363F}"/>
              </a:ext>
            </a:extLst>
          </p:cNvPr>
          <p:cNvSpPr>
            <a:spLocks xmlns:a="http://schemas.openxmlformats.org/drawingml/2006/main" noGrp="1"/>
          </p:cNvSpPr>
          <p:nvPr/>
        </p:nvSpPr>
        <p:spPr>
          <a:xfrm xmlns:a="http://schemas.openxmlformats.org/drawingml/2006/main">
            <a:off x="4025900"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High-Level Concept</a:t>
            </a:r>
            <a:endParaRPr sz="1400" b="0" i="0" u="none" cap="none">
              <a:solidFill>
                <a:srgbClr val="000000"/>
              </a:solidFill>
              <a:latin typeface="Figtree"/>
              <a:ea typeface="Figtree"/>
              <a:cs typeface="Figtree"/>
            </a:endParaRPr>
          </a:p>
        </p:txBody>
      </p:sp>
      <p:sp>
        <p:nvSpPr>
          <p:cNvPr id="26" name="Google Shape;26;p2">
            <a:extLst xmlns:a="http://schemas.openxmlformats.org/drawingml/2006/main">
              <a:ext uri="{FF2B5EF4-FFF2-40B4-BE49-F238E27FC236}">
                <a16:creationId xmlns:a16="http://schemas.microsoft.com/office/drawing/2014/main" id="{22E3C4F7-2774-4360-83EF-243F0BBAF1F2}"/>
              </a:ext>
            </a:extLst>
          </p:cNvPr>
          <p:cNvSpPr>
            <a:spLocks xmlns:a="http://schemas.openxmlformats.org/drawingml/2006/main" noGrp="1"/>
          </p:cNvSpPr>
          <p:nvPr/>
        </p:nvSpPr>
        <p:spPr>
          <a:xfrm xmlns:a="http://schemas.openxmlformats.org/drawingml/2006/main">
            <a:off x="5919788" y="7826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Unfair Advantage</a:t>
            </a:r>
            <a:endParaRPr sz="1400" b="0" i="0" u="none" cap="none">
              <a:solidFill>
                <a:srgbClr val="000000"/>
              </a:solidFill>
              <a:latin typeface="Figtree"/>
              <a:ea typeface="Figtree"/>
              <a:cs typeface="Figtree"/>
            </a:endParaRPr>
          </a:p>
        </p:txBody>
      </p:sp>
      <p:sp>
        <p:nvSpPr>
          <p:cNvPr id="27" name="Google Shape;27;p2">
            <a:extLst xmlns:a="http://schemas.openxmlformats.org/drawingml/2006/main">
              <a:ext uri="{FF2B5EF4-FFF2-40B4-BE49-F238E27FC236}">
                <a16:creationId xmlns:a16="http://schemas.microsoft.com/office/drawing/2014/main" id="{393CC7F6-4BB5-4969-9765-5F486395F896}"/>
              </a:ext>
            </a:extLst>
          </p:cNvPr>
          <p:cNvSpPr>
            <a:spLocks xmlns:a="http://schemas.openxmlformats.org/drawingml/2006/main" noGrp="1"/>
          </p:cNvSpPr>
          <p:nvPr/>
        </p:nvSpPr>
        <p:spPr>
          <a:xfrm xmlns:a="http://schemas.openxmlformats.org/drawingml/2006/main">
            <a:off x="5919788" y="26431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Channels</a:t>
            </a:r>
            <a:endParaRPr sz="1400" b="0" i="0" u="none" cap="none">
              <a:solidFill>
                <a:srgbClr val="000000"/>
              </a:solidFill>
              <a:latin typeface="Figtree"/>
              <a:ea typeface="Figtree"/>
              <a:cs typeface="Figtree"/>
            </a:endParaRPr>
          </a:p>
        </p:txBody>
      </p:sp>
      <p:sp>
        <p:nvSpPr>
          <p:cNvPr id="28" name="Google Shape;28;p2">
            <a:extLst xmlns:a="http://schemas.openxmlformats.org/drawingml/2006/main">
              <a:ext uri="{FF2B5EF4-FFF2-40B4-BE49-F238E27FC236}">
                <a16:creationId xmlns:a16="http://schemas.microsoft.com/office/drawing/2014/main" id="{678014FE-DCA2-4909-A7F0-D61B428514B2}"/>
              </a:ext>
            </a:extLst>
          </p:cNvPr>
          <p:cNvSpPr>
            <a:spLocks xmlns:a="http://schemas.openxmlformats.org/drawingml/2006/main" noGrp="1"/>
          </p:cNvSpPr>
          <p:nvPr/>
        </p:nvSpPr>
        <p:spPr>
          <a:xfrm xmlns:a="http://schemas.openxmlformats.org/drawingml/2006/main">
            <a:off x="7818438"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Customer Segments</a:t>
            </a:r>
            <a:endParaRPr sz="1400" b="0" i="0" u="none" cap="none">
              <a:solidFill>
                <a:srgbClr val="000000"/>
              </a:solidFill>
              <a:latin typeface="Figtree"/>
              <a:ea typeface="Figtree"/>
              <a:cs typeface="Figtree"/>
            </a:endParaRPr>
          </a:p>
        </p:txBody>
      </p:sp>
      <p:sp>
        <p:nvSpPr>
          <p:cNvPr id="29" name="Google Shape;29;p2">
            <a:extLst xmlns:a="http://schemas.openxmlformats.org/drawingml/2006/main">
              <a:ext uri="{FF2B5EF4-FFF2-40B4-BE49-F238E27FC236}">
                <a16:creationId xmlns:a16="http://schemas.microsoft.com/office/drawing/2014/main" id="{3FBF7937-4D78-47F2-A1E4-01C3C82E642C}"/>
              </a:ext>
            </a:extLst>
          </p:cNvPr>
          <p:cNvSpPr>
            <a:spLocks xmlns:a="http://schemas.openxmlformats.org/drawingml/2006/main" noGrp="1"/>
          </p:cNvSpPr>
          <p:nvPr/>
        </p:nvSpPr>
        <p:spPr>
          <a:xfrm xmlns:a="http://schemas.openxmlformats.org/drawingml/2006/main">
            <a:off x="7818438"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Early Adopters</a:t>
            </a:r>
            <a:endParaRPr sz="1400" b="0" i="0" u="none" cap="none">
              <a:solidFill>
                <a:srgbClr val="000000"/>
              </a:solidFill>
              <a:latin typeface="Figtree"/>
              <a:ea typeface="Figtree"/>
              <a:cs typeface="Figtree"/>
            </a:endParaRPr>
          </a:p>
        </p:txBody>
      </p:sp>
      <p:sp>
        <p:nvSpPr>
          <p:cNvPr id="30" name="Google Shape;30;p2">
            <a:extLst xmlns:a="http://schemas.openxmlformats.org/drawingml/2006/main">
              <a:ext uri="{FF2B5EF4-FFF2-40B4-BE49-F238E27FC236}">
                <a16:creationId xmlns:a16="http://schemas.microsoft.com/office/drawing/2014/main" id="{0022D71B-5993-4AEF-B7E5-F5ED66429956}"/>
              </a:ext>
            </a:extLst>
          </p:cNvPr>
          <p:cNvSpPr>
            <a:spLocks xmlns:a="http://schemas.openxmlformats.org/drawingml/2006/main" noGrp="1"/>
          </p:cNvSpPr>
          <p:nvPr/>
        </p:nvSpPr>
        <p:spPr>
          <a:xfrm xmlns:a="http://schemas.openxmlformats.org/drawingml/2006/main">
            <a:off x="4973638"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Revenue Streams</a:t>
            </a:r>
            <a:endParaRPr sz="1400" b="0" i="0" u="none" cap="none">
              <a:solidFill>
                <a:srgbClr val="000000"/>
              </a:solidFill>
              <a:latin typeface="Figtree"/>
              <a:ea typeface="Figtree"/>
              <a:cs typeface="Figtree"/>
            </a:endParaRPr>
          </a:p>
        </p:txBody>
      </p:sp>
      <p:sp>
        <p:nvSpPr>
          <p:cNvPr id="31" name="Google Shape;31;p2">
            <a:extLst xmlns:a="http://schemas.openxmlformats.org/drawingml/2006/main">
              <a:ext uri="{FF2B5EF4-FFF2-40B4-BE49-F238E27FC236}">
                <a16:creationId xmlns:a16="http://schemas.microsoft.com/office/drawing/2014/main" id="{C6FA029F-6585-4C4B-A84A-6B8DE6C0CE63}"/>
              </a:ext>
            </a:extLst>
          </p:cNvPr>
          <p:cNvSpPr>
            <a:spLocks xmlns:a="http://schemas.openxmlformats.org/drawingml/2006/main" noGrp="1"/>
          </p:cNvSpPr>
          <p:nvPr/>
        </p:nvSpPr>
        <p:spPr>
          <a:xfrm xmlns:a="http://schemas.openxmlformats.org/drawingml/2006/main">
            <a:off x="560775" y="122419"/>
            <a:ext cx="2400300" cy="53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br/>
            <a:r>
              <a:rPr sz="1300" b="1" i="0" u="none" cap="none">
                <a:solidFill>
                  <a:srgbClr val="444444"/>
                </a:solidFill>
                <a:latin typeface="Figtree"/>
                <a:ea typeface="Figtree"/>
                <a:cs typeface="Figtree"/>
              </a:rPr>
              <a:t>Lean Canvas</a:t>
            </a:r>
            <a:endParaRPr sz="1100" b="1" i="0" u="none" cap="none">
              <a:solidFill>
                <a:srgbClr val="000000"/>
              </a:solidFill>
              <a:latin typeface="Figtree"/>
              <a:ea typeface="Figtree"/>
              <a:cs typeface="Figtree"/>
            </a:endParaRPr>
          </a:p>
        </p:txBody>
      </p:sp>
      <p:sp>
        <p:nvSpPr>
          <p:cNvPr id="32" name="Google Shape;32;p2">
            <a:extLst xmlns:a="http://schemas.openxmlformats.org/drawingml/2006/main">
              <a:ext uri="{FF2B5EF4-FFF2-40B4-BE49-F238E27FC236}">
                <a16:creationId xmlns:a16="http://schemas.microsoft.com/office/drawing/2014/main" id="{C9885F8A-862B-404F-9093-77EBD3569E22}"/>
              </a:ext>
            </a:extLst>
          </p:cNvPr>
          <p:cNvSpPr>
            <a:spLocks xmlns:a="http://schemas.openxmlformats.org/drawingml/2006/main" noGrp="1"/>
          </p:cNvSpPr>
          <p:nvPr/>
        </p:nvSpPr>
        <p:spPr>
          <a:xfrm xmlns:a="http://schemas.openxmlformats.org/drawingml/2006/main">
            <a:off x="247650" y="6457950"/>
            <a:ext cx="9410700" cy="31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u="sng">
                <a:solidFill>
                  <a:srgbClr val="787828"/>
                </a:solidFill>
                <a:latin typeface="Quattrocento Sans"/>
                <a:ea typeface="Quattrocento Sans"/>
                <a:cs typeface="Quattrocento Sans"/>
              </a:rPr>
              <a:t>www.builtdifferent.vc</a:t>
            </a:r>
            <a:r>
              <a:rPr sz="700">
                <a:solidFill>
                  <a:srgbClr val="808080"/>
                </a:solidFill>
                <a:latin typeface="Quattrocento Sans"/>
                <a:ea typeface="Quattrocento Sans"/>
                <a:cs typeface="Quattrocento Sans"/>
              </a:rPr>
              <a:t> </a:t>
            </a:r>
            <a:br/>
            <a:r>
              <a:rPr sz="700" b="0" i="0" u="none" cap="none">
                <a:solidFill>
                  <a:srgbClr val="808080"/>
                </a:solidFill>
                <a:latin typeface="Quattrocento Sans"/>
                <a:ea typeface="Quattrocento Sans"/>
                <a:cs typeface="Quattrocento Sans"/>
              </a:rPr>
              <a:t>Lean Canvas template is adapted from Running Lean, by Ash Maurya. (</a:t>
            </a:r>
            <a:r>
              <a:rPr sz="700" b="0" i="0" u="sng" cap="none">
                <a:solidFill>
                  <a:srgbClr val="787828"/>
                </a:solidFill>
                <a:latin typeface="Quattrocento Sans"/>
                <a:ea typeface="Quattrocento Sans"/>
                <a:cs typeface="Quattrocento Sans"/>
              </a:rPr>
              <a:t>Link to Book</a:t>
            </a:r>
            <a:r>
              <a:rPr sz="700" b="0" i="0" u="none" cap="none">
                <a:solidFill>
                  <a:srgbClr val="808080"/>
                </a:solidFill>
                <a:latin typeface="Quattrocento Sans"/>
                <a:ea typeface="Quattrocento Sans"/>
                <a:cs typeface="Quattrocento Sans"/>
              </a:rPr>
              <a:t>)</a:t>
            </a:r>
            <a:endParaRPr sz="700" b="0" i="0" u="none" cap="none">
              <a:solidFill>
                <a:srgbClr val="444444"/>
              </a:solidFill>
              <a:latin typeface="Quattrocento Sans"/>
              <a:ea typeface="Quattrocento Sans"/>
              <a:cs typeface="Quattrocento Sans"/>
            </a:endParaRPr>
          </a:p>
        </p:txBody>
      </p:sp>
      <p:pic>
        <p:nvPicPr>
          <p:cNvPr id="61" name="Google Shape;33;p2"/>
          <p:cNvPicPr>
            <a:picLocks xmlns:a="http://schemas.openxmlformats.org/drawingml/2006/main" noChangeAspect="1"/>
          </p:cNvPicPr>
          <p:nvPr/>
        </p:nvPicPr>
        <p:blipFill>
          <a:blip xmlns:r="http://schemas.openxmlformats.org/officeDocument/2006/relationships" xmlns:a="http://schemas.openxmlformats.org/drawingml/2006/main" r:embed="Re109463ae2d44270">
            <a:alphaModFix/>
          </a:blip>
          <a:stretch xmlns:a="http://schemas.openxmlformats.org/drawingml/2006/main">
            <a:fillRect l="0" t="0" r="0" b="0"/>
          </a:stretch>
        </p:blipFill>
        <p:spPr>
          <a:xfrm xmlns:a="http://schemas.openxmlformats.org/drawingml/2006/main">
            <a:off x="244475" y="152400"/>
            <a:ext cx="1327675" cy="3514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14a8f92873c4cf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b7ebf3da5e4ecc" /><Relationship Type="http://schemas.openxmlformats.org/officeDocument/2006/relationships/notesSlide" Target="/ppt/notesSlides/notesSlide1.xml" Id="R3359ef5dea7e464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186FE516-B0CC-45D1-BD3A-F5D9DBAF627E}"/>
              </a:ext>
            </a:extLst>
          </p:cNvPr>
          <p:cNvSpPr>
            <a:spLocks xmlns:a="http://schemas.openxmlformats.org/drawingml/2006/main" noGrp="1"/>
          </p:cNvSpPr>
          <p:nvPr>
            <p:ph type="body" idx="4"/>
          </p:nvPr>
        </p:nvSpPr>
        <p:spPr>
          <a:xfrm xmlns:a="http://schemas.openxmlformats.org/drawingml/2006/main">
            <a:off x="309563" y="106680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Unseen issues can change the advice.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Research and preparation absorb time.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Directing general AI adds work.</a:t>
            </a:r>
          </a:p>
        </p:txBody>
      </p:sp>
      <p:sp>
        <p:nvSpPr>
          <p:cNvPr id="55" name="Google Shape;55;p1">
            <a:extLst xmlns:a="http://schemas.openxmlformats.org/drawingml/2006/main">
              <a:ext uri="{FF2B5EF4-FFF2-40B4-BE49-F238E27FC236}">
                <a16:creationId xmlns:a16="http://schemas.microsoft.com/office/drawing/2014/main" id="{B395BCA3-609C-44E1-85E3-20A71123F1B9}"/>
              </a:ext>
            </a:extLst>
          </p:cNvPr>
          <p:cNvSpPr>
            <a:spLocks xmlns:a="http://schemas.openxmlformats.org/drawingml/2006/main" noGrp="1"/>
          </p:cNvSpPr>
          <p:nvPr>
            <p:ph type="body" idx="5"/>
          </p:nvPr>
        </p:nvSpPr>
        <p:spPr>
          <a:xfrm xmlns:a="http://schemas.openxmlformats.org/drawingml/2006/main">
            <a:off x="2185988" y="1066800"/>
            <a:ext cx="1754100" cy="1530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Explore the matter and surface useful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Bring back research and editable drafts.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Adapt to the lawyer’s working style.</a:t>
            </a:r>
          </a:p>
        </p:txBody>
      </p:sp>
      <p:sp>
        <p:nvSpPr>
          <p:cNvPr id="56" name="Google Shape;56;p1">
            <a:extLst xmlns:a="http://schemas.openxmlformats.org/drawingml/2006/main">
              <a:ext uri="{FF2B5EF4-FFF2-40B4-BE49-F238E27FC236}">
                <a16:creationId xmlns:a16="http://schemas.microsoft.com/office/drawing/2014/main" id="{14E5D3FC-72CB-48E0-87E6-D4303EC58C9F}"/>
              </a:ext>
            </a:extLst>
          </p:cNvPr>
          <p:cNvSpPr>
            <a:spLocks xmlns:a="http://schemas.openxmlformats.org/drawingml/2006/main" noGrp="1"/>
          </p:cNvSpPr>
          <p:nvPr>
            <p:ph type="body" idx="6"/>
          </p:nvPr>
        </p:nvSpPr>
        <p:spPr>
          <a:xfrm xmlns:a="http://schemas.openxmlformats.org/drawingml/2006/main">
            <a:off x="4067175" y="1200150"/>
            <a:ext cx="1754219" cy="13970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 equips lawyers to advise with confidence—and gives them more time to be present in the room, shaping business decisions.</a:t>
            </a:r>
          </a:p>
        </p:txBody>
      </p:sp>
      <p:sp>
        <p:nvSpPr>
          <p:cNvPr id="57" name="Google Shape;57;p1">
            <a:extLst xmlns:a="http://schemas.openxmlformats.org/drawingml/2006/main">
              <a:ext uri="{FF2B5EF4-FFF2-40B4-BE49-F238E27FC236}">
                <a16:creationId xmlns:a16="http://schemas.microsoft.com/office/drawing/2014/main" id="{846C81F9-2779-4387-AE0E-FA8C88E9680F}"/>
              </a:ext>
            </a:extLst>
          </p:cNvPr>
          <p:cNvSpPr>
            <a:spLocks xmlns:a="http://schemas.openxmlformats.org/drawingml/2006/main" noGrp="1"/>
          </p:cNvSpPr>
          <p:nvPr>
            <p:ph type="body" idx="7"/>
          </p:nvPr>
        </p:nvSpPr>
        <p:spPr>
          <a:xfrm xmlns:a="http://schemas.openxmlformats.org/drawingml/2006/main">
            <a:off x="5948363" y="1055688"/>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17 years in law, plus AI research experience.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 access to counsel feedback.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Firsthand insight into how lawyers work.</a:t>
            </a:r>
          </a:p>
        </p:txBody>
      </p:sp>
      <p:sp>
        <p:nvSpPr>
          <p:cNvPr id="58" name="Google Shape;58;p1">
            <a:extLst xmlns:a="http://schemas.openxmlformats.org/drawingml/2006/main">
              <a:ext uri="{FF2B5EF4-FFF2-40B4-BE49-F238E27FC236}">
                <a16:creationId xmlns:a16="http://schemas.microsoft.com/office/drawing/2014/main" id="{14692523-9329-4DEB-8404-8A2BF2556D82}"/>
              </a:ext>
            </a:extLst>
          </p:cNvPr>
          <p:cNvSpPr>
            <a:spLocks xmlns:a="http://schemas.openxmlformats.org/drawingml/2006/main" noGrp="1"/>
          </p:cNvSpPr>
          <p:nvPr>
            <p:ph type="body" idx="8"/>
          </p:nvPr>
        </p:nvSpPr>
        <p:spPr>
          <a:xfrm xmlns:a="http://schemas.openxmlformats.org/drawingml/2006/main">
            <a:off x="7835900" y="1055688"/>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Solo general counsel and small in-house legal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Start with product and regulatory work at technology and fintech companies.</a:t>
            </a:r>
          </a:p>
        </p:txBody>
      </p:sp>
      <p:sp>
        <p:nvSpPr>
          <p:cNvPr id="59" name="Google Shape;59;p1">
            <a:extLst xmlns:a="http://schemas.openxmlformats.org/drawingml/2006/main">
              <a:ext uri="{FF2B5EF4-FFF2-40B4-BE49-F238E27FC236}">
                <a16:creationId xmlns:a16="http://schemas.microsoft.com/office/drawing/2014/main" id="{14E3FDD3-7815-4ACE-A104-1ADF81E17FEA}"/>
              </a:ext>
            </a:extLst>
          </p:cNvPr>
          <p:cNvSpPr>
            <a:spLocks xmlns:a="http://schemas.openxmlformats.org/drawingml/2006/main" noGrp="1"/>
          </p:cNvSpPr>
          <p:nvPr>
            <p:ph type="body" idx="13"/>
          </p:nvPr>
        </p:nvSpPr>
        <p:spPr>
          <a:xfrm xmlns:a="http://schemas.openxmlformats.org/drawingml/2006/main">
            <a:off x="21971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Readiness to advise, backed by understanding.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Useful issues surfaced.
Net lawyer time saved.</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Pilot goals: 60% repeat use; 25% less effort.</a:t>
            </a:r>
          </a:p>
        </p:txBody>
      </p:sp>
      <p:sp>
        <p:nvSpPr>
          <p:cNvPr id="60" name="Google Shape;60;p1">
            <a:extLst xmlns:a="http://schemas.openxmlformats.org/drawingml/2006/main">
              <a:ext uri="{FF2B5EF4-FFF2-40B4-BE49-F238E27FC236}">
                <a16:creationId xmlns:a16="http://schemas.microsoft.com/office/drawing/2014/main" id="{F350974F-92B6-441B-B35B-86E25D3B4475}"/>
              </a:ext>
            </a:extLst>
          </p:cNvPr>
          <p:cNvSpPr>
            <a:spLocks xmlns:a="http://schemas.openxmlformats.org/drawingml/2006/main" noGrp="1"/>
          </p:cNvSpPr>
          <p:nvPr>
            <p:ph type="body" idx="14"/>
          </p:nvPr>
        </p:nvSpPr>
        <p:spPr>
          <a:xfrm xmlns:a="http://schemas.openxmlformats.org/drawingml/2006/main">
            <a:off x="4071938" y="2965450"/>
            <a:ext cx="1755775"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capable AI companion built around the lawyer.</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It helps you explore the options so you can give advice you understand and stand behind.</a:t>
            </a:r>
          </a:p>
        </p:txBody>
      </p:sp>
      <p:sp>
        <p:nvSpPr>
          <p:cNvPr id="61" name="Google Shape;61;p1">
            <a:extLst xmlns:a="http://schemas.openxmlformats.org/drawingml/2006/main">
              <a:ext uri="{FF2B5EF4-FFF2-40B4-BE49-F238E27FC236}">
                <a16:creationId xmlns:a16="http://schemas.microsoft.com/office/drawing/2014/main" id="{1A302806-8CA9-427C-82AD-A7E1F4E73B69}"/>
              </a:ext>
            </a:extLst>
          </p:cNvPr>
          <p:cNvSpPr>
            <a:spLocks xmlns:a="http://schemas.openxmlformats.org/drawingml/2006/main" noGrp="1"/>
          </p:cNvSpPr>
          <p:nvPr>
            <p:ph type="body" idx="15"/>
          </p:nvPr>
        </p:nvSpPr>
        <p:spPr>
          <a:xfrm xmlns:a="http://schemas.openxmlformats.org/drawingml/2006/main">
            <a:off x="5951538"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Founder’s counsel network.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Live-matter demos and supported pilots.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Counsel communities and peer referrals.</a:t>
            </a:r>
          </a:p>
        </p:txBody>
      </p:sp>
      <p:sp>
        <p:nvSpPr>
          <p:cNvPr id="62" name="Google Shape;62;p1">
            <a:extLst xmlns:a="http://schemas.openxmlformats.org/drawingml/2006/main">
              <a:ext uri="{FF2B5EF4-FFF2-40B4-BE49-F238E27FC236}">
                <a16:creationId xmlns:a16="http://schemas.microsoft.com/office/drawing/2014/main" id="{6BCF4746-1952-47B1-8EE1-8AB991350EFB}"/>
              </a:ext>
            </a:extLst>
          </p:cNvPr>
          <p:cNvSpPr>
            <a:spLocks xmlns:a="http://schemas.openxmlformats.org/drawingml/2006/main" noGrp="1"/>
          </p:cNvSpPr>
          <p:nvPr>
            <p:ph type="body" idx="16"/>
          </p:nvPr>
        </p:nvSpPr>
        <p:spPr>
          <a:xfrm xmlns:a="http://schemas.openxmlformats.org/drawingml/2006/main">
            <a:off x="78359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Product lawyers with live, unfamiliar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Already using AI and eager for support that fits their 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Ready to try one real matter.</a:t>
            </a:r>
          </a:p>
        </p:txBody>
      </p:sp>
      <p:sp>
        <p:nvSpPr>
          <p:cNvPr id="63" name="Google Shape;63;p1">
            <a:extLst xmlns:a="http://schemas.openxmlformats.org/drawingml/2006/main">
              <a:ext uri="{FF2B5EF4-FFF2-40B4-BE49-F238E27FC236}">
                <a16:creationId xmlns:a16="http://schemas.microsoft.com/office/drawing/2014/main" id="{8DC1A090-E022-4231-8D4B-6790346D1EBD}"/>
              </a:ext>
            </a:extLst>
          </p:cNvPr>
          <p:cNvSpPr>
            <a:spLocks xmlns:a="http://schemas.openxmlformats.org/drawingml/2006/main" noGrp="1"/>
          </p:cNvSpPr>
          <p:nvPr>
            <p:ph type="body" idx="18"/>
          </p:nvPr>
        </p:nvSpPr>
        <p:spPr>
          <a:xfrm xmlns:a="http://schemas.openxmlformats.org/drawingml/2006/main">
            <a:off x="5056188" y="4876800"/>
            <a:ext cx="4533900"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975" b="0" i="0">
                <a:solidFill>
                  <a:srgbClr val="444444"/>
                </a:solidFill>
                <a:latin typeface="Quattrocento Sans"/>
                <a:ea typeface="Quattrocento Sans"/>
                <a:cs typeface="Quattrocento Sans"/>
              </a:defRPr>
            </a:pPr>
            <a:r>
              <a:rPr sz="975" b="0" i="0">
                <a:solidFill>
                  <a:srgbClr val="444444"/>
                </a:solidFill>
                <a:latin typeface="Quattrocento Sans"/>
                <a:ea typeface="Quattrocento Sans"/>
                <a:cs typeface="Quattrocento Sans"/>
              </a:rPr>
              <a:t>Proposed recurring price: $500 per lawyer/month ($6,000/year).
Start with one seat; grow through repeat use and team expansion.
One-time fees: none planned. Gross margin target: 80%.
Illustrative customer lifetime value: $14,400 per seat over 3 years at 80% margin.
Pricing, retention and margin are planning assumptions to test.</a:t>
            </a:r>
          </a:p>
        </p:txBody>
      </p:sp>
      <p:sp>
        <p:nvSpPr>
          <p:cNvPr id="64" name="Google Shape;64;p1">
            <a:extLst xmlns:a="http://schemas.openxmlformats.org/drawingml/2006/main">
              <a:ext uri="{FF2B5EF4-FFF2-40B4-BE49-F238E27FC236}">
                <a16:creationId xmlns:a16="http://schemas.microsoft.com/office/drawing/2014/main" id="{1413A15B-C0B4-46BC-AC6C-A505E5EDA186}"/>
              </a:ext>
            </a:extLst>
          </p:cNvPr>
          <p:cNvSpPr>
            <a:spLocks xmlns:a="http://schemas.openxmlformats.org/drawingml/2006/main" noGrp="1"/>
          </p:cNvSpPr>
          <p:nvPr>
            <p:ph type="body" idx="17"/>
          </p:nvPr>
        </p:nvSpPr>
        <p:spPr>
          <a:xfrm xmlns:a="http://schemas.openxmlformats.org/drawingml/2006/main">
            <a:off x="309563" y="4876800"/>
            <a:ext cx="4560887"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People: product development, engineering and customer support.
Usage: AI models, research tools and hosting.
Customer acquisition: founder outreach, demos and supported pilots.
Distribution: digital access, onboarding and payment processing.
Operations: security, administration and legal costs.</a:t>
            </a:r>
          </a:p>
        </p:txBody>
      </p:sp>
      <p:sp>
        <p:nvSpPr>
          <p:cNvPr id="65" name="Google Shape;65;p1">
            <a:extLst xmlns:a="http://schemas.openxmlformats.org/drawingml/2006/main">
              <a:ext uri="{FF2B5EF4-FFF2-40B4-BE49-F238E27FC236}">
                <a16:creationId xmlns:a16="http://schemas.microsoft.com/office/drawing/2014/main" id="{AA697EBB-5F55-4151-AE36-755B2F7C2C3D}"/>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a:t>
            </a:r>
          </a:p>
        </p:txBody>
      </p:sp>
      <p:sp>
        <p:nvSpPr>
          <p:cNvPr id="66" name="Google Shape;66;p1">
            <a:extLst xmlns:a="http://schemas.openxmlformats.org/drawingml/2006/main">
              <a:ext uri="{FF2B5EF4-FFF2-40B4-BE49-F238E27FC236}">
                <a16:creationId xmlns:a16="http://schemas.microsoft.com/office/drawing/2014/main" id="{46EC2EC6-BD82-495C-82A9-60F24D96DE96}"/>
              </a:ext>
            </a:extLst>
          </p:cNvPr>
          <p:cNvSpPr>
            <a:spLocks xmlns:a="http://schemas.openxmlformats.org/drawingml/2006/main" noGrp="1"/>
          </p:cNvSpPr>
          <p:nvPr>
            <p:ph type="body" idx="2"/>
          </p:nvPr>
        </p:nvSpPr>
        <p:spPr>
          <a:xfrm xmlns:a="http://schemas.openxmlformats.org/drawingml/2006/main">
            <a:off x="6432538"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Brian Harris</a:t>
            </a:r>
          </a:p>
        </p:txBody>
      </p:sp>
      <p:sp>
        <p:nvSpPr>
          <p:cNvPr id="67" name="Google Shape;67;p1">
            <a:extLst xmlns:a="http://schemas.openxmlformats.org/drawingml/2006/main">
              <a:ext uri="{FF2B5EF4-FFF2-40B4-BE49-F238E27FC236}">
                <a16:creationId xmlns:a16="http://schemas.microsoft.com/office/drawing/2014/main" id="{82DA9263-CE49-4803-A7FD-29007C615924}"/>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04/09/2026</a:t>
            </a:r>
          </a:p>
        </p:txBody>
      </p:sp>
      <p:sp>
        <p:nvSpPr>
          <p:cNvPr id="68" name="Google Shape;68;p1">
            <a:extLst xmlns:a="http://schemas.openxmlformats.org/drawingml/2006/main">
              <a:ext uri="{FF2B5EF4-FFF2-40B4-BE49-F238E27FC236}">
                <a16:creationId xmlns:a16="http://schemas.microsoft.com/office/drawing/2014/main" id="{9BFE0002-8823-4790-8E38-37FC2F564046}"/>
              </a:ext>
            </a:extLst>
          </p:cNvPr>
          <p:cNvSpPr>
            <a:spLocks xmlns:a="http://schemas.openxmlformats.org/drawingml/2006/main" noGrp="1"/>
          </p:cNvSpPr>
          <p:nvPr>
            <p:ph type="body" idx="9"/>
          </p:nvPr>
        </p:nvSpPr>
        <p:spPr>
          <a:xfrm xmlns:a="http://schemas.openxmlformats.org/drawingml/2006/main">
            <a:off x="309563"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Claude and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Legal research platforms.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Manual research and drafting.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Colleagues and outside counsel.</a:t>
            </a:r>
          </a:p>
        </p:txBody>
      </p:sp>
    </p:spTree>
    <p:extLst>
      <p:ext uri="{BB962C8B-B14F-4D97-AF65-F5344CB8AC3E}">
        <p14:creationId xmlns:p14="http://schemas.microsoft.com/office/powerpoint/2010/main" val="833035655"/>
      </p:ext>
    </p:extLst>
  </p:cSld>
</p:sld>
</file>

<file path=ppt/theme/theme1.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2026-09-05T03:12:18.9470000Z</dcterms:created>
  <dcterms:modified xsi:type="dcterms:W3CDTF">2026-09-05T03:12:18.9470000Z</dcterms:modified>
</coreProperties>
</file>