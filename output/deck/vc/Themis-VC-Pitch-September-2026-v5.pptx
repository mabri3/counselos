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7593467e2c4f19" /><Relationship Type="http://schemas.openxmlformats.org/officeDocument/2006/relationships/extended-properties" Target="/docProps/app.xml" Id="R68492e1e98ca4961" /><Relationship Type="http://schemas.openxmlformats.org/officeDocument/2006/relationships/officeDocument" Target="/ppt/presentation.xml" Id="R0fbc70edc6bb41f6" /></Relationships>
</file>

<file path=ppt/presentation.xml><?xml version="1.0" encoding="utf-8"?>
<p:presentation xmlns:p="http://schemas.openxmlformats.org/presentationml/2006/main">
  <p:sldMasterIdLst>
    <p:sldMasterId xmlns:r="http://schemas.openxmlformats.org/officeDocument/2006/relationships" id="2147483648" r:id="R528800b809d548b3"/>
  </p:sldMasterIdLst>
  <p:notesMasterIdLst>
    <p:notesMasterId xmlns:r="http://schemas.openxmlformats.org/officeDocument/2006/relationships" r:id="Rd8b4b4c25aae4831"/>
  </p:notesMasterIdLst>
  <p:sldIdLst>
    <p:sldId xmlns:r="http://schemas.openxmlformats.org/officeDocument/2006/relationships" id="256" r:id="R269f7cf22d1c4d44"/>
    <p:sldId xmlns:r="http://schemas.openxmlformats.org/officeDocument/2006/relationships" id="257" r:id="R796de6a832534635"/>
    <p:sldId xmlns:r="http://schemas.openxmlformats.org/officeDocument/2006/relationships" id="258" r:id="R51ceb079b03748d5"/>
    <p:sldId xmlns:r="http://schemas.openxmlformats.org/officeDocument/2006/relationships" id="259" r:id="Ra58d4b794c8d4dc1"/>
    <p:sldId xmlns:r="http://schemas.openxmlformats.org/officeDocument/2006/relationships" id="260" r:id="Rd6c598770e8f4953"/>
    <p:sldId xmlns:r="http://schemas.openxmlformats.org/officeDocument/2006/relationships" id="261" r:id="R230c50a1ee564ada"/>
    <p:sldId xmlns:r="http://schemas.openxmlformats.org/officeDocument/2006/relationships" id="262" r:id="Rac3006bedb944911"/>
    <p:sldId xmlns:r="http://schemas.openxmlformats.org/officeDocument/2006/relationships" id="263" r:id="R2310cb35a212400c"/>
    <p:sldId xmlns:r="http://schemas.openxmlformats.org/officeDocument/2006/relationships" id="264" r:id="Re07f50e4c1e248e9"/>
    <p:sldId xmlns:r="http://schemas.openxmlformats.org/officeDocument/2006/relationships" id="265" r:id="R87294af9e34c4a8e"/>
    <p:sldId xmlns:r="http://schemas.openxmlformats.org/officeDocument/2006/relationships" id="266" r:id="R8e8c19b8314245e2"/>
    <p:sldId xmlns:r="http://schemas.openxmlformats.org/officeDocument/2006/relationships" id="267" r:id="R0a58be2456994e65"/>
    <p:sldId xmlns:r="http://schemas.openxmlformats.org/officeDocument/2006/relationships" id="268" r:id="R7fd2f67434e7485b"/>
    <p:sldId xmlns:r="http://schemas.openxmlformats.org/officeDocument/2006/relationships" id="269" r:id="Rbb58acda891a4450"/>
    <p:sldId xmlns:r="http://schemas.openxmlformats.org/officeDocument/2006/relationships" id="270" r:id="R9eb059cf858b48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89d850da04404e" /><Relationship Type="http://schemas.openxmlformats.org/officeDocument/2006/relationships/slideMaster" Target="/ppt/slideMasters/slideMaster1.xml" Id="R528800b809d548b3" /><Relationship Type="http://schemas.openxmlformats.org/officeDocument/2006/relationships/notesMaster" Target="/ppt/notesMasters/notesMaster1.xml" Id="Rd8b4b4c25aae4831" /><Relationship Type="http://schemas.openxmlformats.org/officeDocument/2006/relationships/presProps" Target="/ppt/presProps.xml" Id="R39c8468a528e4c05" /><Relationship Type="http://schemas.openxmlformats.org/officeDocument/2006/relationships/tableStyles" Target="/ppt/tableStyles.xml" Id="Re68c2739a91d4d2e" /><Relationship Type="http://schemas.openxmlformats.org/officeDocument/2006/relationships/slide" Target="/ppt/slides/slide1.xml" Id="R269f7cf22d1c4d44" /><Relationship Type="http://schemas.openxmlformats.org/officeDocument/2006/relationships/slide" Target="/ppt/slides/slide2.xml" Id="R796de6a832534635" /><Relationship Type="http://schemas.openxmlformats.org/officeDocument/2006/relationships/slide" Target="/ppt/slides/slide3.xml" Id="R51ceb079b03748d5" /><Relationship Type="http://schemas.openxmlformats.org/officeDocument/2006/relationships/slide" Target="/ppt/slides/slide4.xml" Id="Ra58d4b794c8d4dc1" /><Relationship Type="http://schemas.openxmlformats.org/officeDocument/2006/relationships/slide" Target="/ppt/slides/slide5.xml" Id="Rd6c598770e8f4953" /><Relationship Type="http://schemas.openxmlformats.org/officeDocument/2006/relationships/slide" Target="/ppt/slides/slide6.xml" Id="R230c50a1ee564ada" /><Relationship Type="http://schemas.openxmlformats.org/officeDocument/2006/relationships/slide" Target="/ppt/slides/slide7.xml" Id="Rac3006bedb944911" /><Relationship Type="http://schemas.openxmlformats.org/officeDocument/2006/relationships/slide" Target="/ppt/slides/slide8.xml" Id="R2310cb35a212400c" /><Relationship Type="http://schemas.openxmlformats.org/officeDocument/2006/relationships/slide" Target="/ppt/slides/slide9.xml" Id="Re07f50e4c1e248e9" /><Relationship Type="http://schemas.openxmlformats.org/officeDocument/2006/relationships/slide" Target="/ppt/slides/slide10.xml" Id="R87294af9e34c4a8e" /><Relationship Type="http://schemas.openxmlformats.org/officeDocument/2006/relationships/slide" Target="/ppt/slides/slide11.xml" Id="R8e8c19b8314245e2" /><Relationship Type="http://schemas.openxmlformats.org/officeDocument/2006/relationships/slide" Target="/ppt/slides/slide12.xml" Id="R0a58be2456994e65" /><Relationship Type="http://schemas.openxmlformats.org/officeDocument/2006/relationships/slide" Target="/ppt/slides/slide13.xml" Id="R7fd2f67434e7485b" /><Relationship Type="http://schemas.openxmlformats.org/officeDocument/2006/relationships/slide" Target="/ppt/slides/slide14.xml" Id="Rbb58acda891a4450" /><Relationship Type="http://schemas.openxmlformats.org/officeDocument/2006/relationships/slide" Target="/ppt/slides/slide15.xml" Id="R9eb059cf858b48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9488e6e2e4b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5c2436bfbd44c8" /><Relationship Type="http://schemas.openxmlformats.org/officeDocument/2006/relationships/notesMaster" Target="/ppt/notesMasters/notesMaster1.xml" Id="Rd4a5c1f8ac034c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bfc63d7fe44f01" /><Relationship Type="http://schemas.openxmlformats.org/officeDocument/2006/relationships/notesMaster" Target="/ppt/notesMasters/notesMaster1.xml" Id="R2ff9046e78f2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29bac2f2a644c7" /><Relationship Type="http://schemas.openxmlformats.org/officeDocument/2006/relationships/notesMaster" Target="/ppt/notesMasters/notesMaster1.xml" Id="R90e13fe84a4840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1fc7fe5d31450d" /><Relationship Type="http://schemas.openxmlformats.org/officeDocument/2006/relationships/notesMaster" Target="/ppt/notesMasters/notesMaster1.xml" Id="R1c1a11d0042048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13be38decb4102" /><Relationship Type="http://schemas.openxmlformats.org/officeDocument/2006/relationships/notesMaster" Target="/ppt/notesMasters/notesMaster1.xml" Id="Ref680b4d1d794c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9162e76c644c39" /><Relationship Type="http://schemas.openxmlformats.org/officeDocument/2006/relationships/notesMaster" Target="/ppt/notesMasters/notesMaster1.xml" Id="Racc59288a933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a297d4a7a74301" /><Relationship Type="http://schemas.openxmlformats.org/officeDocument/2006/relationships/notesMaster" Target="/ppt/notesMasters/notesMaster1.xml" Id="Rac6843103f5449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9b974712114a85" /><Relationship Type="http://schemas.openxmlformats.org/officeDocument/2006/relationships/notesMaster" Target="/ppt/notesMasters/notesMaster1.xml" Id="R385e2242d3b440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e4dea0c41d4a73" /><Relationship Type="http://schemas.openxmlformats.org/officeDocument/2006/relationships/notesMaster" Target="/ppt/notesMasters/notesMaster1.xml" Id="R8d712737f04f4fe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292daf239a43da" /><Relationship Type="http://schemas.openxmlformats.org/officeDocument/2006/relationships/notesMaster" Target="/ppt/notesMasters/notesMaster1.xml" Id="R43377d18dd074f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1b2102117046e5" /><Relationship Type="http://schemas.openxmlformats.org/officeDocument/2006/relationships/notesMaster" Target="/ppt/notesMasters/notesMaster1.xml" Id="R944e7a1c2e4841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ae1726a8df415a" /><Relationship Type="http://schemas.openxmlformats.org/officeDocument/2006/relationships/notesMaster" Target="/ppt/notesMasters/notesMaster1.xml" Id="Rb556b1945ba34c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e593df463214ef6" /><Relationship Type="http://schemas.openxmlformats.org/officeDocument/2006/relationships/notesMaster" Target="/ppt/notesMasters/notesMaster1.xml" Id="R42132b3718034d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60765e200e4759" /><Relationship Type="http://schemas.openxmlformats.org/officeDocument/2006/relationships/notesMaster" Target="/ppt/notesMasters/notesMaster1.xml" Id="R6023355e3a0e4c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77c58454d4468f" /><Relationship Type="http://schemas.openxmlformats.org/officeDocument/2006/relationships/notesMaster" Target="/ppt/notesMasters/notesMaster1.xml" Id="R9587d0f5a01146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The time, question, and product request are illustrative. They are not a measured customer incident or time study. The slide makes the actor explicit: the in-house lawyer reconstructs the business and legal context and reviews the generic AI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visual issue map and hypothetical comparison are proposed next work.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091e30082d48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5c7f2cd87b4c99" /><Relationship Type="http://schemas.openxmlformats.org/officeDocument/2006/relationships/slideLayout" Target="/ppt/slideLayouts/slideLayout1.xml" Id="R2ca23d1223c44c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a23d1223c44c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552cfe2acf4379" /><Relationship Type="http://schemas.openxmlformats.org/officeDocument/2006/relationships/image" Target="/ppt/media/image.png" Id="R7ca5c109945846e5" /><Relationship Type="http://schemas.openxmlformats.org/officeDocument/2006/relationships/notesSlide" Target="/ppt/notesSlides/notesSlide1.xml" Id="Rfe8b9d4dab4746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8c9f237b664981" /><Relationship Type="http://schemas.openxmlformats.org/officeDocument/2006/relationships/notesSlide" Target="/ppt/notesSlides/notesSlide2.xml" Id="Rbe28a3d820464b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b59f2aab3f4820" /><Relationship Type="http://schemas.openxmlformats.org/officeDocument/2006/relationships/notesSlide" Target="/ppt/notesSlides/notesSlide3.xml" Id="Rd1e06e5d168844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7493696e0048b5" /><Relationship Type="http://schemas.openxmlformats.org/officeDocument/2006/relationships/notesSlide" Target="/ppt/notesSlides/notesSlide4.xml" Id="Rac3893c5f0cd4d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b9b5b154c0493d" /><Relationship Type="http://schemas.openxmlformats.org/officeDocument/2006/relationships/notesSlide" Target="/ppt/notesSlides/notesSlide5.xml" Id="Rf3fe6b3306f74a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77a9126d9042f1" /><Relationship Type="http://schemas.openxmlformats.org/officeDocument/2006/relationships/notesSlide" Target="/ppt/notesSlides/notesSlide6.xml" Id="R74fbb6824a2346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0927aa0d3045d7" /><Relationship Type="http://schemas.openxmlformats.org/officeDocument/2006/relationships/notesSlide" Target="/ppt/notesSlides/notesSlide7.xml" Id="Rd6753fc1b75e44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57cc14e4ed4fbf" /><Relationship Type="http://schemas.openxmlformats.org/officeDocument/2006/relationships/notesSlide" Target="/ppt/notesSlides/notesSlide8.xml" Id="R5aaa0c1c641e40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412f8de76748e8" /><Relationship Type="http://schemas.openxmlformats.org/officeDocument/2006/relationships/notesSlide" Target="/ppt/notesSlides/notesSlide9.xml" Id="R7ec04bc9ecec4a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d05d9d6bdf4cf4" /><Relationship Type="http://schemas.openxmlformats.org/officeDocument/2006/relationships/notesSlide" Target="/ppt/notesSlides/notesSlide10.xml" Id="R76908820effc42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c601a5814f48cd" /><Relationship Type="http://schemas.openxmlformats.org/officeDocument/2006/relationships/notesSlide" Target="/ppt/notesSlides/notesSlide11.xml" Id="Rfd3692a0afc142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8f738e717e439e" /><Relationship Type="http://schemas.openxmlformats.org/officeDocument/2006/relationships/image" Target="/ppt/media/image2.png" Id="Rc394ade0f84649f4" /><Relationship Type="http://schemas.openxmlformats.org/officeDocument/2006/relationships/notesSlide" Target="/ppt/notesSlides/notesSlide12.xml" Id="R3f58feb4797b4c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b7974800f243ba" /><Relationship Type="http://schemas.openxmlformats.org/officeDocument/2006/relationships/notesSlide" Target="/ppt/notesSlides/notesSlide13.xml" Id="R37192ababd7740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92d6c5d3454c68" /><Relationship Type="http://schemas.openxmlformats.org/officeDocument/2006/relationships/image" Target="/ppt/media/image3.png" Id="Rb78d1cb7480546be" /><Relationship Type="http://schemas.openxmlformats.org/officeDocument/2006/relationships/notesSlide" Target="/ppt/notesSlides/notesSlide14.xml" Id="Rf91f7586dbd64d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6ac592805344e0" /><Relationship Type="http://schemas.openxmlformats.org/officeDocument/2006/relationships/notesSlide" Target="/ppt/notesSlides/notesSlide15.xml" Id="R7807af7fd530419b"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a5c109945846e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9A0B00-8622-48BA-838B-F901C55BF4C9}"/>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3B46CCD-E32E-4A58-B4C8-DF68EA6CC54D}"/>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BC34112-9BF4-48C8-8DD0-FCE32BD1FBAF}"/>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E718F4FB-77A5-4228-A9B2-F1F72B269ED9}"/>
              </a:ext>
            </a:extLst>
          </p:cNvPr>
          <p:cNvSpPr>
            <a:spLocks xmlns:a="http://schemas.openxmlformats.org/drawingml/2006/main" noGrp="1"/>
          </p:cNvSpPr>
          <p:nvPr/>
        </p:nvSpPr>
        <p:spPr>
          <a:xfrm xmlns:a="http://schemas.openxmlformats.org/drawingml/2006/main">
            <a:off x="647700" y="476250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DBE1EB"/>
                </a:solidFill>
                <a:latin typeface="Arial"/>
                <a:ea typeface="Arial"/>
                <a:cs typeface="Arial"/>
              </a:defRPr>
            </a:pPr>
            <a:r>
              <a:rPr sz="1875" b="0">
                <a:solidFill>
                  <a:srgbClr val="DBE1EB"/>
                </a:solidFill>
                <a:latin typeface="Arial"/>
                <a:ea typeface="Arial"/>
                <a:cs typeface="Arial"/>
              </a:rPr>
              <a:t>An AI workspace that helps small legal teams turn incomplete business requests into organized analysis, usable work, and lawyer-owned decisions.</a:t>
            </a:r>
          </a:p>
        </p:txBody>
      </p:sp>
      <p:sp>
        <p:nvSpPr>
          <p:cNvPr id="6" name="">
            <a:extLst xmlns:a="http://schemas.openxmlformats.org/drawingml/2006/main">
              <a:ext uri="{FF2B5EF4-FFF2-40B4-BE49-F238E27FC236}">
                <a16:creationId xmlns:a16="http://schemas.microsoft.com/office/drawing/2014/main" id="{F4F76F8F-CB28-41B4-99FF-A227526EC845}"/>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973919308"/>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EF52FF-0A65-4799-8722-439D9B6586E6}"/>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7972276B-91DE-4BCF-A539-922022EDB256}"/>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BD919E89-6084-4AF2-8DDA-B5EC156E884F}"/>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B671376-12F2-4B95-B34E-29EF0559AD7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AF09AFC-7144-4288-AF65-CA70408F64C0}"/>
              </a:ext>
            </a:extLst>
          </p:cNvPr>
          <p:cNvSpPr>
            <a:spLocks xmlns:a="http://schemas.openxmlformats.org/drawingml/2006/main" noGrp="1"/>
          </p:cNvSpPr>
          <p:nvPr/>
        </p:nvSpPr>
        <p:spPr>
          <a:xfrm xmlns:a="http://schemas.openxmlformats.org/drawingml/2006/main">
            <a:off x="609600" y="22574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REQUEST · 4:12 P.M.</a:t>
            </a:r>
          </a:p>
        </p:txBody>
      </p:sp>
      <p:sp>
        <p:nvSpPr>
          <p:cNvPr id="6" name="">
            <a:extLst xmlns:a="http://schemas.openxmlformats.org/drawingml/2006/main">
              <a:ext uri="{FF2B5EF4-FFF2-40B4-BE49-F238E27FC236}">
                <a16:creationId xmlns:a16="http://schemas.microsoft.com/office/drawing/2014/main" id="{8F659CEB-72D3-4A3A-9F83-D40549CF876D}"/>
              </a:ext>
            </a:extLst>
          </p:cNvPr>
          <p:cNvSpPr>
            <a:spLocks xmlns:a="http://schemas.openxmlformats.org/drawingml/2006/main" noGrp="1"/>
          </p:cNvSpPr>
          <p:nvPr/>
        </p:nvSpPr>
        <p:spPr>
          <a:xfrm xmlns:a="http://schemas.openxmlformats.org/drawingml/2006/main">
            <a:off x="609600" y="26955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2D331D86-FFAC-420B-A5C3-10D7F9B24841}"/>
              </a:ext>
            </a:extLst>
          </p:cNvPr>
          <p:cNvSpPr>
            <a:spLocks xmlns:a="http://schemas.openxmlformats.org/drawingml/2006/main" noGrp="1"/>
          </p:cNvSpPr>
          <p:nvPr/>
        </p:nvSpPr>
        <p:spPr>
          <a:xfrm xmlns:a="http://schemas.openxmlformats.org/drawingml/2006/main">
            <a:off x="609600" y="36099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That short message leaves out facts the legal answer may depend on: how the product works, which company does what, when each step happens, and what the company decided before.</a:t>
            </a:r>
          </a:p>
        </p:txBody>
      </p:sp>
      <p:sp>
        <p:nvSpPr>
          <p:cNvPr id="8" name="">
            <a:extLst xmlns:a="http://schemas.openxmlformats.org/drawingml/2006/main">
              <a:ext uri="{FF2B5EF4-FFF2-40B4-BE49-F238E27FC236}">
                <a16:creationId xmlns:a16="http://schemas.microsoft.com/office/drawing/2014/main" id="{383D7CDD-480F-43BF-B0E5-248AD2A08E9C}"/>
              </a:ext>
            </a:extLst>
          </p:cNvPr>
          <p:cNvSpPr>
            <a:spLocks xmlns:a="http://schemas.openxmlformats.org/drawingml/2006/main" noGrp="1"/>
          </p:cNvSpPr>
          <p:nvPr/>
        </p:nvSpPr>
        <p:spPr>
          <a:xfrm xmlns:a="http://schemas.openxmlformats.org/drawingml/2006/main">
            <a:off x="6191250" y="2257425"/>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LAWYER’S WORK BEFORE ANSWERING</a:t>
            </a:r>
          </a:p>
        </p:txBody>
      </p:sp>
      <p:sp>
        <p:nvSpPr>
          <p:cNvPr id="9" name="">
            <a:extLst xmlns:a="http://schemas.openxmlformats.org/drawingml/2006/main">
              <a:ext uri="{FF2B5EF4-FFF2-40B4-BE49-F238E27FC236}">
                <a16:creationId xmlns:a16="http://schemas.microsoft.com/office/drawing/2014/main" id="{6CBE27BC-FBA8-4DFA-B352-EC56D9BD896F}"/>
              </a:ext>
            </a:extLst>
          </p:cNvPr>
          <p:cNvSpPr>
            <a:spLocks xmlns:a="http://schemas.openxmlformats.org/drawingml/2006/main" noGrp="1"/>
          </p:cNvSpPr>
          <p:nvPr/>
        </p:nvSpPr>
        <p:spPr>
          <a:xfrm xmlns:a="http://schemas.openxmlformats.org/drawingml/2006/main">
            <a:off x="6191250" y="2686050"/>
            <a:ext cx="5381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Gather the product documents and history.</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Verify what the business is actually doing.</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Find the governing law and recent developments.</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Explain the options and what could change the answer.</a:t>
            </a:r>
          </a:p>
        </p:txBody>
      </p:sp>
      <p:sp>
        <p:nvSpPr>
          <p:cNvPr id="10" name="">
            <a:extLst xmlns:a="http://schemas.openxmlformats.org/drawingml/2006/main">
              <a:ext uri="{FF2B5EF4-FFF2-40B4-BE49-F238E27FC236}">
                <a16:creationId xmlns:a16="http://schemas.microsoft.com/office/drawing/2014/main" id="{A51044BE-97A7-44F2-B27F-1014B869C107}"/>
              </a:ext>
            </a:extLst>
          </p:cNvPr>
          <p:cNvSpPr>
            <a:spLocks xmlns:a="http://schemas.openxmlformats.org/drawingml/2006/main" noGrp="1"/>
          </p:cNvSpPr>
          <p:nvPr/>
        </p:nvSpPr>
        <p:spPr>
          <a:xfrm xmlns:a="http://schemas.openxmlformats.org/drawingml/2006/main">
            <a:off x="6191250" y="46101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GENERIC AI DOES NOT REMOVE THIS PREPARATION</a:t>
            </a:r>
          </a:p>
        </p:txBody>
      </p:sp>
      <p:sp>
        <p:nvSpPr>
          <p:cNvPr id="11" name="">
            <a:extLst xmlns:a="http://schemas.openxmlformats.org/drawingml/2006/main">
              <a:ext uri="{FF2B5EF4-FFF2-40B4-BE49-F238E27FC236}">
                <a16:creationId xmlns:a16="http://schemas.microsoft.com/office/drawing/2014/main" id="{5BE2CD5B-012B-4530-9D08-38FBD86A8894}"/>
              </a:ext>
            </a:extLst>
          </p:cNvPr>
          <p:cNvSpPr>
            <a:spLocks xmlns:a="http://schemas.openxmlformats.org/drawingml/2006/main" noGrp="1"/>
          </p:cNvSpPr>
          <p:nvPr/>
        </p:nvSpPr>
        <p:spPr>
          <a:xfrm xmlns:a="http://schemas.openxmlformats.org/drawingml/2006/main">
            <a:off x="6191250" y="50196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596273"/>
                </a:solidFill>
                <a:latin typeface="Arial"/>
                <a:ea typeface="Arial"/>
                <a:cs typeface="Arial"/>
              </a:defRPr>
            </a:pPr>
            <a:r>
              <a:rPr sz="1650" b="0">
                <a:solidFill>
                  <a:srgbClr val="596273"/>
                </a:solidFill>
                <a:latin typeface="Arial"/>
                <a:ea typeface="Arial"/>
                <a:cs typeface="Arial"/>
              </a:rPr>
              <a:t>The lawyer must still load the context, point the model toward the right issues, challenge confident assumptions, and check the sources.</a:t>
            </a:r>
          </a:p>
        </p:txBody>
      </p:sp>
      <p:sp>
        <p:nvSpPr>
          <p:cNvPr id="12" name="">
            <a:extLst xmlns:a="http://schemas.openxmlformats.org/drawingml/2006/main">
              <a:ext uri="{FF2B5EF4-FFF2-40B4-BE49-F238E27FC236}">
                <a16:creationId xmlns:a16="http://schemas.microsoft.com/office/drawing/2014/main" id="{EE916C79-9B6C-4C6B-9AB5-10D0A0040781}"/>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17243E"/>
                </a:solidFill>
                <a:latin typeface="Georgia"/>
                <a:ea typeface="Georgia"/>
                <a:cs typeface="Georgia"/>
              </a:defRPr>
            </a:pPr>
            <a:r>
              <a:rPr sz="2100" b="1">
                <a:solidFill>
                  <a:srgbClr val="17243E"/>
                </a:solidFill>
                <a:latin typeface="Georgia"/>
                <a:ea typeface="Georgia"/>
                <a:cs typeface="Georgia"/>
              </a:rPr>
              <a:t>The business asked for an answer. The lawyer first has to build the question.</a:t>
            </a:r>
          </a:p>
        </p:txBody>
      </p:sp>
    </p:spTree>
    <p:extLst>
      <p:ext uri="{BB962C8B-B14F-4D97-AF65-F5344CB8AC3E}">
        <p14:creationId xmlns:p14="http://schemas.microsoft.com/office/powerpoint/2010/main" val="1936456575"/>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7DA407-FE1B-4E7B-A639-F265617D608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9B58EE15-E58B-4B27-8887-9FF5FFE2D6EC}"/>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business asks for a yes or no.</a:t>
            </a:r>
          </a:p>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lawyer needs the conditions behind it.</a:t>
            </a:r>
          </a:p>
        </p:txBody>
      </p:sp>
      <p:sp>
        <p:nvSpPr>
          <p:cNvPr id="3" name="">
            <a:extLst xmlns:a="http://schemas.openxmlformats.org/drawingml/2006/main">
              <a:ext uri="{FF2B5EF4-FFF2-40B4-BE49-F238E27FC236}">
                <a16:creationId xmlns:a16="http://schemas.microsoft.com/office/drawing/2014/main" id="{02E683E3-0C78-4318-B214-F26F119F2635}"/>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8EA28B0-B8E6-4953-90F1-3E9183EC987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6A670F1-A9C6-4EEC-869E-3B6F16CF2F3C}"/>
              </a:ext>
            </a:extLst>
          </p:cNvPr>
          <p:cNvSpPr>
            <a:spLocks xmlns:a="http://schemas.openxmlformats.org/drawingml/2006/main" noGrp="1"/>
          </p:cNvSpPr>
          <p:nvPr/>
        </p:nvSpPr>
        <p:spPr>
          <a:xfrm xmlns:a="http://schemas.openxmlformats.org/drawingml/2006/main">
            <a:off x="609600" y="2466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BUSINESS QUESTION</a:t>
            </a:r>
          </a:p>
        </p:txBody>
      </p:sp>
      <p:sp>
        <p:nvSpPr>
          <p:cNvPr id="6" name="">
            <a:extLst xmlns:a="http://schemas.openxmlformats.org/drawingml/2006/main">
              <a:ext uri="{FF2B5EF4-FFF2-40B4-BE49-F238E27FC236}">
                <a16:creationId xmlns:a16="http://schemas.microsoft.com/office/drawing/2014/main" id="{E9E36076-F84A-493B-8ACB-6A7873E00721}"/>
              </a:ext>
            </a:extLst>
          </p:cNvPr>
          <p:cNvSpPr>
            <a:spLocks xmlns:a="http://schemas.openxmlformats.org/drawingml/2006/main" noGrp="1"/>
          </p:cNvSpPr>
          <p:nvPr/>
        </p:nvSpPr>
        <p:spPr>
          <a:xfrm xmlns:a="http://schemas.openxmlformats.org/drawingml/2006/main">
            <a:off x="609600" y="2981325"/>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0">
                <a:solidFill>
                  <a:srgbClr val="FAF8F2"/>
                </a:solidFill>
                <a:latin typeface="Georgia"/>
                <a:ea typeface="Georgia"/>
                <a:cs typeface="Georgia"/>
              </a:defRPr>
            </a:pPr>
            <a:r>
              <a:rPr sz="3225" b="0">
                <a:solidFill>
                  <a:srgbClr val="FAF8F2"/>
                </a:solidFill>
                <a:latin typeface="Georgia"/>
                <a:ea typeface="Georgia"/>
                <a:cs typeface="Georgia"/>
              </a:rPr>
              <a:t>“Can we launch Friday?”</a:t>
            </a:r>
          </a:p>
        </p:txBody>
      </p:sp>
      <p:sp>
        <p:nvSpPr>
          <p:cNvPr id="7" name="">
            <a:extLst xmlns:a="http://schemas.openxmlformats.org/drawingml/2006/main">
              <a:ext uri="{FF2B5EF4-FFF2-40B4-BE49-F238E27FC236}">
                <a16:creationId xmlns:a16="http://schemas.microsoft.com/office/drawing/2014/main" id="{3623C358-1EDF-4F0D-AE49-D731EE8A9A2E}"/>
              </a:ext>
            </a:extLst>
          </p:cNvPr>
          <p:cNvSpPr>
            <a:spLocks xmlns:a="http://schemas.openxmlformats.org/drawingml/2006/main" noGrp="1"/>
          </p:cNvSpPr>
          <p:nvPr/>
        </p:nvSpPr>
        <p:spPr>
          <a:xfrm xmlns:a="http://schemas.openxmlformats.org/drawingml/2006/main">
            <a:off x="5810250" y="2466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THE ANSWER MAY CHANGE BASED ON</a:t>
            </a:r>
          </a:p>
        </p:txBody>
      </p:sp>
      <p:sp>
        <p:nvSpPr>
          <p:cNvPr id="8" name="">
            <a:extLst xmlns:a="http://schemas.openxmlformats.org/drawingml/2006/main">
              <a:ext uri="{FF2B5EF4-FFF2-40B4-BE49-F238E27FC236}">
                <a16:creationId xmlns:a16="http://schemas.microsoft.com/office/drawing/2014/main" id="{50FF2858-CB47-49C0-BC2A-1D929C6327CD}"/>
              </a:ext>
            </a:extLst>
          </p:cNvPr>
          <p:cNvSpPr>
            <a:spLocks xmlns:a="http://schemas.openxmlformats.org/drawingml/2006/main" noGrp="1"/>
          </p:cNvSpPr>
          <p:nvPr/>
        </p:nvSpPr>
        <p:spPr>
          <a:xfrm xmlns:a="http://schemas.openxmlformats.org/drawingml/2006/main">
            <a:off x="5810250" y="2971800"/>
            <a:ext cx="5715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What the product actually does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company handles the money or data</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When each step happens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Where the product and users are located</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laws and earlier company decisions apply</a:t>
            </a:r>
          </a:p>
        </p:txBody>
      </p:sp>
      <p:sp>
        <p:nvSpPr>
          <p:cNvPr id="9" name="">
            <a:extLst xmlns:a="http://schemas.openxmlformats.org/drawingml/2006/main">
              <a:ext uri="{FF2B5EF4-FFF2-40B4-BE49-F238E27FC236}">
                <a16:creationId xmlns:a16="http://schemas.microsoft.com/office/drawing/2014/main" id="{1FBA1F4B-F33A-47A7-ACE1-EAAE9D161917}"/>
              </a:ext>
            </a:extLst>
          </p:cNvPr>
          <p:cNvSpPr>
            <a:spLocks xmlns:a="http://schemas.openxmlformats.org/drawingml/2006/main" noGrp="1"/>
          </p:cNvSpPr>
          <p:nvPr/>
        </p:nvSpPr>
        <p:spPr>
          <a:xfrm xmlns:a="http://schemas.openxmlformats.org/drawingml/2006/main">
            <a:off x="609600" y="572452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Generic AI often answers from the facts it receives. A lawyer must prepare for facts that are missing, disputed, or wrong.</a:t>
            </a:r>
          </a:p>
        </p:txBody>
      </p:sp>
    </p:spTree>
    <p:extLst>
      <p:ext uri="{BB962C8B-B14F-4D97-AF65-F5344CB8AC3E}">
        <p14:creationId xmlns:p14="http://schemas.microsoft.com/office/powerpoint/2010/main" val="1431564087"/>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4A1142-D59A-4280-9936-D5F6611B22A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5A622B17-A300-436E-8614-3D3FFECCCA3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AI can now do useful legal work.</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It still needs a lawyer to make it useful.</a:t>
            </a:r>
          </a:p>
        </p:txBody>
      </p:sp>
      <p:sp>
        <p:nvSpPr>
          <p:cNvPr id="3" name="">
            <a:extLst xmlns:a="http://schemas.openxmlformats.org/drawingml/2006/main">
              <a:ext uri="{FF2B5EF4-FFF2-40B4-BE49-F238E27FC236}">
                <a16:creationId xmlns:a16="http://schemas.microsoft.com/office/drawing/2014/main" id="{BEA808FE-01D2-42FF-AD50-6A85EF970304}"/>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6BB6337-AFE3-4ED6-A601-4946072AD162}"/>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71026D0-A3FF-4E2B-A5AC-A4D76999186A}"/>
              </a:ext>
            </a:extLst>
          </p:cNvPr>
          <p:cNvSpPr>
            <a:spLocks xmlns:a="http://schemas.openxmlformats.org/drawingml/2006/main" noGrp="1"/>
          </p:cNvSpPr>
          <p:nvPr/>
        </p:nvSpPr>
        <p:spPr>
          <a:xfrm xmlns:a="http://schemas.openxmlformats.org/drawingml/2006/main">
            <a:off x="609600" y="24574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Brian began building Themis after using newer AI models for legal research, synthesis, and drafting in his own work.</a:t>
            </a:r>
          </a:p>
        </p:txBody>
      </p:sp>
      <p:sp>
        <p:nvSpPr>
          <p:cNvPr id="6" name="">
            <a:extLst xmlns:a="http://schemas.openxmlformats.org/drawingml/2006/main">
              <a:ext uri="{FF2B5EF4-FFF2-40B4-BE49-F238E27FC236}">
                <a16:creationId xmlns:a16="http://schemas.microsoft.com/office/drawing/2014/main" id="{74CF356E-5445-4778-894D-B6E827A798D6}"/>
              </a:ext>
            </a:extLst>
          </p:cNvPr>
          <p:cNvSpPr>
            <a:spLocks xmlns:a="http://schemas.openxmlformats.org/drawingml/2006/main" noGrp="1"/>
          </p:cNvSpPr>
          <p:nvPr/>
        </p:nvSpPr>
        <p:spPr>
          <a:xfrm xmlns:a="http://schemas.openxmlformats.org/drawingml/2006/main">
            <a:off x="6667500" y="2457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WITHOUT A LEGAL WORKSPACE, THE LAWYER MUST REPEAT</a:t>
            </a:r>
          </a:p>
        </p:txBody>
      </p:sp>
      <p:sp>
        <p:nvSpPr>
          <p:cNvPr id="7" name="">
            <a:extLst xmlns:a="http://schemas.openxmlformats.org/drawingml/2006/main">
              <a:ext uri="{FF2B5EF4-FFF2-40B4-BE49-F238E27FC236}">
                <a16:creationId xmlns:a16="http://schemas.microsoft.com/office/drawing/2014/main" id="{F512E40B-9C8C-4E0B-8455-00977202DD8E}"/>
              </a:ext>
            </a:extLst>
          </p:cNvPr>
          <p:cNvSpPr>
            <a:spLocks xmlns:a="http://schemas.openxmlformats.org/drawingml/2006/main" noGrp="1"/>
          </p:cNvSpPr>
          <p:nvPr/>
        </p:nvSpPr>
        <p:spPr>
          <a:xfrm xmlns:a="http://schemas.openxmlformats.org/drawingml/2006/main">
            <a:off x="6667500" y="307657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Explain the company and product</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Upload the matter documents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Guide the model toward the relevant law</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Challenge its assumptions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Turn the result into usable legal work</a:t>
            </a:r>
          </a:p>
        </p:txBody>
      </p:sp>
      <p:sp>
        <p:nvSpPr>
          <p:cNvPr id="8" name="">
            <a:extLst xmlns:a="http://schemas.openxmlformats.org/drawingml/2006/main">
              <a:ext uri="{FF2B5EF4-FFF2-40B4-BE49-F238E27FC236}">
                <a16:creationId xmlns:a16="http://schemas.microsoft.com/office/drawing/2014/main" id="{1AAF38B5-30CB-46F7-A1A6-EC5F5B76598D}"/>
              </a:ext>
            </a:extLst>
          </p:cNvPr>
          <p:cNvSpPr>
            <a:spLocks xmlns:a="http://schemas.openxmlformats.org/drawingml/2006/main" noGrp="1"/>
          </p:cNvSpPr>
          <p:nvPr/>
        </p:nvSpPr>
        <p:spPr>
          <a:xfrm xmlns:a="http://schemas.openxmlformats.org/drawingml/2006/main">
            <a:off x="609600" y="57245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The opportunity is to design the product around how lawyers examine questions and reach decisions.</a:t>
            </a:r>
          </a:p>
        </p:txBody>
      </p:sp>
    </p:spTree>
    <p:extLst>
      <p:ext uri="{BB962C8B-B14F-4D97-AF65-F5344CB8AC3E}">
        <p14:creationId xmlns:p14="http://schemas.microsoft.com/office/powerpoint/2010/main" val="540024331"/>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41972B-912F-472C-BB60-0CAE53FC8BBF}"/>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F2200846-2740-4B66-BE34-BA76D114853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Themis turns an incomplete request into</a:t>
            </a:r>
          </a:p>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a legal matter the lawyer can work from.</a:t>
            </a:r>
          </a:p>
        </p:txBody>
      </p:sp>
      <p:sp>
        <p:nvSpPr>
          <p:cNvPr id="3" name="">
            <a:extLst xmlns:a="http://schemas.openxmlformats.org/drawingml/2006/main">
              <a:ext uri="{FF2B5EF4-FFF2-40B4-BE49-F238E27FC236}">
                <a16:creationId xmlns:a16="http://schemas.microsoft.com/office/drawing/2014/main" id="{002E25E3-97CA-474A-AE0D-1E67A35CD211}"/>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8975005-3AE6-4DE6-9774-1EB6880D49E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F4EC2EE-58AA-4F2D-9710-D0D06C491D22}"/>
              </a:ext>
            </a:extLst>
          </p:cNvPr>
          <p:cNvSpPr>
            <a:spLocks xmlns:a="http://schemas.openxmlformats.org/drawingml/2006/main" noGrp="1"/>
          </p:cNvSpPr>
          <p:nvPr/>
        </p:nvSpPr>
        <p:spPr>
          <a:xfrm xmlns:a="http://schemas.openxmlformats.org/drawingml/2006/main">
            <a:off x="609600" y="239077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Themis is a matter-centered AI workspace for in-house lawyers. It keeps the work around a business question together as the facts and law change.</a:t>
            </a:r>
          </a:p>
        </p:txBody>
      </p:sp>
      <p:sp>
        <p:nvSpPr>
          <p:cNvPr id="6" name="">
            <a:extLst xmlns:a="http://schemas.openxmlformats.org/drawingml/2006/main">
              <a:ext uri="{FF2B5EF4-FFF2-40B4-BE49-F238E27FC236}">
                <a16:creationId xmlns:a16="http://schemas.microsoft.com/office/drawing/2014/main" id="{656103B0-5761-4A4C-8D8D-60D5FAC6C6C8}"/>
              </a:ext>
            </a:extLst>
          </p:cNvPr>
          <p:cNvSpPr>
            <a:spLocks xmlns:a="http://schemas.openxmlformats.org/drawingml/2006/main" noGrp="1"/>
          </p:cNvSpPr>
          <p:nvPr/>
        </p:nvSpPr>
        <p:spPr>
          <a:xfrm xmlns:a="http://schemas.openxmlformats.org/drawingml/2006/main">
            <a:off x="6667500" y="23907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EACH MATTER CONNECTS</a:t>
            </a:r>
          </a:p>
        </p:txBody>
      </p:sp>
      <p:sp>
        <p:nvSpPr>
          <p:cNvPr id="7" name="">
            <a:extLst xmlns:a="http://schemas.openxmlformats.org/drawingml/2006/main">
              <a:ext uri="{FF2B5EF4-FFF2-40B4-BE49-F238E27FC236}">
                <a16:creationId xmlns:a16="http://schemas.microsoft.com/office/drawing/2014/main" id="{70F2D80F-FAE1-443F-95DF-1299258865EF}"/>
              </a:ext>
            </a:extLst>
          </p:cNvPr>
          <p:cNvSpPr>
            <a:spLocks xmlns:a="http://schemas.openxmlformats.org/drawingml/2006/main" noGrp="1"/>
          </p:cNvSpPr>
          <p:nvPr/>
        </p:nvSpPr>
        <p:spPr>
          <a:xfrm xmlns:a="http://schemas.openxmlformats.org/drawingml/2006/main">
            <a:off x="6667500" y="294322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Original business request</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Company context and source documents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Facts, assumptions, and open questions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Research and supported analysis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Draft work and lawyer-recorded decisions</a:t>
            </a:r>
          </a:p>
        </p:txBody>
      </p:sp>
      <p:sp>
        <p:nvSpPr>
          <p:cNvPr id="8" name="">
            <a:extLst xmlns:a="http://schemas.openxmlformats.org/drawingml/2006/main">
              <a:ext uri="{FF2B5EF4-FFF2-40B4-BE49-F238E27FC236}">
                <a16:creationId xmlns:a16="http://schemas.microsoft.com/office/drawing/2014/main" id="{53BC2C56-FEE1-4039-BAED-F127F22BD7CA}"/>
              </a:ext>
            </a:extLst>
          </p:cNvPr>
          <p:cNvSpPr>
            <a:spLocks xmlns:a="http://schemas.openxmlformats.org/drawingml/2006/main" noGrp="1"/>
          </p:cNvSpPr>
          <p:nvPr/>
        </p:nvSpPr>
        <p:spPr>
          <a:xfrm xmlns:a="http://schemas.openxmlformats.org/drawingml/2006/main">
            <a:off x="609600" y="51054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625" b="0">
                <a:solidFill>
                  <a:srgbClr val="4169A4"/>
                </a:solidFill>
                <a:latin typeface="Georgia"/>
                <a:ea typeface="Georgia"/>
                <a:cs typeface="Georgia"/>
              </a:defRPr>
            </a:pPr>
            <a:r>
              <a:rPr sz="26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30463355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DD109A-8503-49CB-B6A9-7462090FEFE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7411616F-4B05-422E-A931-D6886E78B35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37160C51-4A82-460B-A720-3B1199E3520D}"/>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2235963-12AF-490B-ACE6-4F90A6C100D9}"/>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88828F1-C5D2-46DF-824F-2099D009C39A}"/>
              </a:ext>
            </a:extLst>
          </p:cNvPr>
          <p:cNvSpPr>
            <a:spLocks xmlns:a="http://schemas.openxmlformats.org/drawingml/2006/main" noGrp="1"/>
          </p:cNvSpPr>
          <p:nvPr/>
        </p:nvSpPr>
        <p:spPr>
          <a:xfrm xmlns:a="http://schemas.openxmlformats.org/drawingml/2006/main">
            <a:off x="609600" y="2028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596273"/>
                </a:solidFill>
                <a:latin typeface="Arial"/>
                <a:ea typeface="Arial"/>
                <a:cs typeface="Arial"/>
              </a:defRPr>
            </a:pPr>
            <a:r>
              <a:rPr sz="1500" b="0">
                <a:solidFill>
                  <a:srgbClr val="596273"/>
                </a:solidFill>
                <a:latin typeface="Arial"/>
                <a:ea typeface="Arial"/>
                <a:cs typeface="Arial"/>
              </a:rPr>
              <a:t>Themis prepares and preserves the work around the decision. The lawyer applies context, risk tolerance, and authority.</a:t>
            </a:r>
          </a:p>
        </p:txBody>
      </p:sp>
      <p:graphicFrame>
        <p:nvGraphicFramePr>
          <p:cNvPr id="13" name=""/>
          <p:cNvGraphicFramePr/>
          <p:nvPr/>
        </p:nvGraphicFramePr>
        <p:xfrm>
          <a:off xmlns:a="http://schemas.openxmlformats.org/drawingml/2006/main" x="609600" y="2505075"/>
          <a:ext xmlns:a="http://schemas.openxmlformats.org/drawingml/2006/main" cx="10972800" cy="284797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7" name="">
            <a:extLst xmlns:a="http://schemas.openxmlformats.org/drawingml/2006/main">
              <a:ext uri="{FF2B5EF4-FFF2-40B4-BE49-F238E27FC236}">
                <a16:creationId xmlns:a16="http://schemas.microsoft.com/office/drawing/2014/main" id="{4B17DC13-2417-467B-8D99-74875A0B575D}"/>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5483876"/>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2D14E7-9D15-4C19-A02D-7F4E2289C029}"/>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3497BFD9-956E-4B31-9F4B-AE0B144BF70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missing fact can change the legal analysis.</a:t>
            </a:r>
          </a:p>
        </p:txBody>
      </p:sp>
      <p:sp>
        <p:nvSpPr>
          <p:cNvPr id="3" name="">
            <a:extLst xmlns:a="http://schemas.openxmlformats.org/drawingml/2006/main">
              <a:ext uri="{FF2B5EF4-FFF2-40B4-BE49-F238E27FC236}">
                <a16:creationId xmlns:a16="http://schemas.microsoft.com/office/drawing/2014/main" id="{946B6CED-1739-4D5E-984E-16E06BF7766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0F5EFE9-38D6-453D-8A5D-CF371B17618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C535A31-6546-4BDC-9D51-D912B1C4BC50}"/>
              </a:ext>
            </a:extLst>
          </p:cNvPr>
          <p:cNvSpPr>
            <a:spLocks xmlns:a="http://schemas.openxmlformats.org/drawingml/2006/main" noGrp="1"/>
          </p:cNvSpPr>
          <p:nvPr/>
        </p:nvSpPr>
        <p:spPr>
          <a:xfrm xmlns:a="http://schemas.openxmlformats.org/drawingml/2006/main">
            <a:off x="609600" y="2057400"/>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BUSINESS REQUEST</a:t>
            </a:r>
          </a:p>
        </p:txBody>
      </p:sp>
      <p:sp>
        <p:nvSpPr>
          <p:cNvPr id="6" name="">
            <a:extLst xmlns:a="http://schemas.openxmlformats.org/drawingml/2006/main">
              <a:ext uri="{FF2B5EF4-FFF2-40B4-BE49-F238E27FC236}">
                <a16:creationId xmlns:a16="http://schemas.microsoft.com/office/drawing/2014/main" id="{ED9AA4D3-DE6A-4E48-9C47-2C2F20E3CC41}"/>
              </a:ext>
            </a:extLst>
          </p:cNvPr>
          <p:cNvSpPr>
            <a:spLocks xmlns:a="http://schemas.openxmlformats.org/drawingml/2006/main" noGrp="1"/>
          </p:cNvSpPr>
          <p:nvPr/>
        </p:nvSpPr>
        <p:spPr>
          <a:xfrm xmlns:a="http://schemas.openxmlformats.org/drawingml/2006/main">
            <a:off x="609600" y="24003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“Our marketplace will move money from a customer to a seller. Do we need to change the launch plan?”</a:t>
            </a:r>
          </a:p>
        </p:txBody>
      </p:sp>
      <p:sp>
        <p:nvSpPr>
          <p:cNvPr id="7" name="">
            <a:extLst xmlns:a="http://schemas.openxmlformats.org/drawingml/2006/main">
              <a:ext uri="{FF2B5EF4-FFF2-40B4-BE49-F238E27FC236}">
                <a16:creationId xmlns:a16="http://schemas.microsoft.com/office/drawing/2014/main" id="{F68FA233-5AC3-435E-8B71-E9E8AE217304}"/>
              </a:ext>
            </a:extLst>
          </p:cNvPr>
          <p:cNvSpPr>
            <a:spLocks xmlns:a="http://schemas.openxmlformats.org/drawingml/2006/main" noGrp="1"/>
          </p:cNvSpPr>
          <p:nvPr/>
        </p:nvSpPr>
        <p:spPr>
          <a:xfrm xmlns:a="http://schemas.openxmlformats.org/drawingml/2006/main">
            <a:off x="6096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7FB42C29-C012-4F6D-8787-D7F5C2DB328F}"/>
              </a:ext>
            </a:extLst>
          </p:cNvPr>
          <p:cNvSpPr>
            <a:spLocks xmlns:a="http://schemas.openxmlformats.org/drawingml/2006/main" noGrp="1"/>
          </p:cNvSpPr>
          <p:nvPr/>
        </p:nvSpPr>
        <p:spPr>
          <a:xfrm xmlns:a="http://schemas.openxmlformats.org/drawingml/2006/main">
            <a:off x="11811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Map transaction</a:t>
            </a:r>
          </a:p>
        </p:txBody>
      </p:sp>
      <p:sp>
        <p:nvSpPr>
          <p:cNvPr id="9" name="">
            <a:extLst xmlns:a="http://schemas.openxmlformats.org/drawingml/2006/main">
              <a:ext uri="{FF2B5EF4-FFF2-40B4-BE49-F238E27FC236}">
                <a16:creationId xmlns:a16="http://schemas.microsoft.com/office/drawing/2014/main" id="{97DE63D3-CC3C-48D1-B0A8-201F16A86D04}"/>
              </a:ext>
            </a:extLst>
          </p:cNvPr>
          <p:cNvSpPr>
            <a:spLocks xmlns:a="http://schemas.openxmlformats.org/drawingml/2006/main" noGrp="1"/>
          </p:cNvSpPr>
          <p:nvPr/>
        </p:nvSpPr>
        <p:spPr>
          <a:xfrm xmlns:a="http://schemas.openxmlformats.org/drawingml/2006/main">
            <a:off x="11811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Organize each party, account, transfer, and point in time.</a:t>
            </a:r>
          </a:p>
        </p:txBody>
      </p:sp>
      <p:sp>
        <p:nvSpPr>
          <p:cNvPr id="10" name="">
            <a:extLst xmlns:a="http://schemas.openxmlformats.org/drawingml/2006/main">
              <a:ext uri="{FF2B5EF4-FFF2-40B4-BE49-F238E27FC236}">
                <a16:creationId xmlns:a16="http://schemas.microsoft.com/office/drawing/2014/main" id="{8822A028-4429-48B3-8206-311C7AEAAF9E}"/>
              </a:ext>
            </a:extLst>
          </p:cNvPr>
          <p:cNvSpPr>
            <a:spLocks xmlns:a="http://schemas.openxmlformats.org/drawingml/2006/main" noGrp="1"/>
          </p:cNvSpPr>
          <p:nvPr/>
        </p:nvSpPr>
        <p:spPr>
          <a:xfrm xmlns:a="http://schemas.openxmlformats.org/drawingml/2006/main">
            <a:off x="43434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14242126-B158-4B03-8089-7E12752689ED}"/>
              </a:ext>
            </a:extLst>
          </p:cNvPr>
          <p:cNvSpPr>
            <a:spLocks xmlns:a="http://schemas.openxmlformats.org/drawingml/2006/main" noGrp="1"/>
          </p:cNvSpPr>
          <p:nvPr/>
        </p:nvSpPr>
        <p:spPr>
          <a:xfrm xmlns:a="http://schemas.openxmlformats.org/drawingml/2006/main">
            <a:off x="49149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Find key fact</a:t>
            </a:r>
          </a:p>
        </p:txBody>
      </p:sp>
      <p:sp>
        <p:nvSpPr>
          <p:cNvPr id="12" name="">
            <a:extLst xmlns:a="http://schemas.openxmlformats.org/drawingml/2006/main">
              <a:ext uri="{FF2B5EF4-FFF2-40B4-BE49-F238E27FC236}">
                <a16:creationId xmlns:a16="http://schemas.microsoft.com/office/drawing/2014/main" id="{CB33C1B2-C7BF-4944-87A5-C093683D38D2}"/>
              </a:ext>
            </a:extLst>
          </p:cNvPr>
          <p:cNvSpPr>
            <a:spLocks xmlns:a="http://schemas.openxmlformats.org/drawingml/2006/main" noGrp="1"/>
          </p:cNvSpPr>
          <p:nvPr/>
        </p:nvSpPr>
        <p:spPr>
          <a:xfrm xmlns:a="http://schemas.openxmlformats.org/drawingml/2006/main">
            <a:off x="49149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Does the company ever receive or control the funds, even briefly?</a:t>
            </a:r>
          </a:p>
        </p:txBody>
      </p:sp>
      <p:sp>
        <p:nvSpPr>
          <p:cNvPr id="13" name="">
            <a:extLst xmlns:a="http://schemas.openxmlformats.org/drawingml/2006/main">
              <a:ext uri="{FF2B5EF4-FFF2-40B4-BE49-F238E27FC236}">
                <a16:creationId xmlns:a16="http://schemas.microsoft.com/office/drawing/2014/main" id="{8DF7DC54-6730-4738-9B0A-260BDD5199A2}"/>
              </a:ext>
            </a:extLst>
          </p:cNvPr>
          <p:cNvSpPr>
            <a:spLocks xmlns:a="http://schemas.openxmlformats.org/drawingml/2006/main" noGrp="1"/>
          </p:cNvSpPr>
          <p:nvPr/>
        </p:nvSpPr>
        <p:spPr>
          <a:xfrm xmlns:a="http://schemas.openxmlformats.org/drawingml/2006/main">
            <a:off x="80772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A6FB4FE1-44B8-46EA-A74B-B7E552E219D0}"/>
              </a:ext>
            </a:extLst>
          </p:cNvPr>
          <p:cNvSpPr>
            <a:spLocks xmlns:a="http://schemas.openxmlformats.org/drawingml/2006/main" noGrp="1"/>
          </p:cNvSpPr>
          <p:nvPr/>
        </p:nvSpPr>
        <p:spPr>
          <a:xfrm xmlns:a="http://schemas.openxmlformats.org/drawingml/2006/main">
            <a:off x="8648700" y="33528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 paths</a:t>
            </a:r>
          </a:p>
        </p:txBody>
      </p:sp>
      <p:sp>
        <p:nvSpPr>
          <p:cNvPr id="15" name="">
            <a:extLst xmlns:a="http://schemas.openxmlformats.org/drawingml/2006/main">
              <a:ext uri="{FF2B5EF4-FFF2-40B4-BE49-F238E27FC236}">
                <a16:creationId xmlns:a16="http://schemas.microsoft.com/office/drawing/2014/main" id="{1265A29A-0B70-46DC-B558-6C41EE0C3F02}"/>
              </a:ext>
            </a:extLst>
          </p:cNvPr>
          <p:cNvSpPr>
            <a:spLocks xmlns:a="http://schemas.openxmlformats.org/drawingml/2006/main" noGrp="1"/>
          </p:cNvSpPr>
          <p:nvPr/>
        </p:nvSpPr>
        <p:spPr>
          <a:xfrm xmlns:a="http://schemas.openxmlformats.org/drawingml/2006/main">
            <a:off x="8648700" y="38576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Explain why the fact matters and research each relevant legal path.</a:t>
            </a:r>
          </a:p>
        </p:txBody>
      </p:sp>
      <p:sp>
        <p:nvSpPr>
          <p:cNvPr id="16" name="">
            <a:extLst xmlns:a="http://schemas.openxmlformats.org/drawingml/2006/main">
              <a:ext uri="{FF2B5EF4-FFF2-40B4-BE49-F238E27FC236}">
                <a16:creationId xmlns:a16="http://schemas.microsoft.com/office/drawing/2014/main" id="{2E967543-E6DD-45A2-B7D6-1A956FF3FDA0}"/>
              </a:ext>
            </a:extLst>
          </p:cNvPr>
          <p:cNvSpPr>
            <a:spLocks xmlns:a="http://schemas.openxmlformats.org/drawingml/2006/main" noGrp="1"/>
          </p:cNvSpPr>
          <p:nvPr/>
        </p:nvSpPr>
        <p:spPr>
          <a:xfrm xmlns:a="http://schemas.openxmlformats.org/drawingml/2006/main">
            <a:off x="60960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Themis shows where the analysis can change. The lawyer determines which facts and path apply.</a:t>
            </a:r>
          </a:p>
        </p:txBody>
      </p:sp>
      <p:sp>
        <p:nvSpPr>
          <p:cNvPr id="17" name="">
            <a:extLst xmlns:a="http://schemas.openxmlformats.org/drawingml/2006/main">
              <a:ext uri="{FF2B5EF4-FFF2-40B4-BE49-F238E27FC236}">
                <a16:creationId xmlns:a16="http://schemas.microsoft.com/office/drawing/2014/main" id="{F3B5659C-8FEE-4586-ABB4-0F054A69509E}"/>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78824237"/>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C66727-3F91-4B67-BF07-3D6E67322DE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271988A1-19A2-434E-83FF-D6DDCD27053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first buyer is the lawyer carrying</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 entire legal function.</a:t>
            </a:r>
          </a:p>
        </p:txBody>
      </p:sp>
      <p:sp>
        <p:nvSpPr>
          <p:cNvPr id="3" name="">
            <a:extLst xmlns:a="http://schemas.openxmlformats.org/drawingml/2006/main">
              <a:ext uri="{FF2B5EF4-FFF2-40B4-BE49-F238E27FC236}">
                <a16:creationId xmlns:a16="http://schemas.microsoft.com/office/drawing/2014/main" id="{74BF8BC3-00FD-4939-BF60-577419DC89BB}"/>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666275C-1F42-4E08-B800-CADDF055127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9B91601-767D-494C-BE7A-7A9EB5EFE6AE}"/>
              </a:ext>
            </a:extLst>
          </p:cNvPr>
          <p:cNvSpPr>
            <a:spLocks xmlns:a="http://schemas.openxmlformats.org/drawingml/2006/main" noGrp="1"/>
          </p:cNvSpPr>
          <p:nvPr/>
        </p:nvSpPr>
        <p:spPr>
          <a:xfrm xmlns:a="http://schemas.openxmlformats.org/drawingml/2006/main">
            <a:off x="609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INITIAL USER</a:t>
            </a:r>
          </a:p>
        </p:txBody>
      </p:sp>
      <p:sp>
        <p:nvSpPr>
          <p:cNvPr id="6" name="">
            <a:extLst xmlns:a="http://schemas.openxmlformats.org/drawingml/2006/main">
              <a:ext uri="{FF2B5EF4-FFF2-40B4-BE49-F238E27FC236}">
                <a16:creationId xmlns:a16="http://schemas.microsoft.com/office/drawing/2014/main" id="{57D6D21E-6110-4A69-8E60-A36114D3162B}"/>
              </a:ext>
            </a:extLst>
          </p:cNvPr>
          <p:cNvSpPr>
            <a:spLocks xmlns:a="http://schemas.openxmlformats.org/drawingml/2006/main" noGrp="1"/>
          </p:cNvSpPr>
          <p:nvPr/>
        </p:nvSpPr>
        <p:spPr>
          <a:xfrm xmlns:a="http://schemas.openxmlformats.org/drawingml/2006/main">
            <a:off x="609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Solo general counsel</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or product lawyer</a:t>
            </a:r>
          </a:p>
        </p:txBody>
      </p:sp>
      <p:sp>
        <p:nvSpPr>
          <p:cNvPr id="7" name="">
            <a:extLst xmlns:a="http://schemas.openxmlformats.org/drawingml/2006/main">
              <a:ext uri="{FF2B5EF4-FFF2-40B4-BE49-F238E27FC236}">
                <a16:creationId xmlns:a16="http://schemas.microsoft.com/office/drawing/2014/main" id="{5AC97810-0E95-4BB2-8CB0-5E0CC58EF7E6}"/>
              </a:ext>
            </a:extLst>
          </p:cNvPr>
          <p:cNvSpPr>
            <a:spLocks xmlns:a="http://schemas.openxmlformats.org/drawingml/2006/main" noGrp="1"/>
          </p:cNvSpPr>
          <p:nvPr/>
        </p:nvSpPr>
        <p:spPr>
          <a:xfrm xmlns:a="http://schemas.openxmlformats.org/drawingml/2006/main">
            <a:off x="609600" y="42100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Often works without junior support and must answer product and business questions across the company.</a:t>
            </a:r>
          </a:p>
        </p:txBody>
      </p:sp>
      <p:sp>
        <p:nvSpPr>
          <p:cNvPr id="8" name="">
            <a:extLst xmlns:a="http://schemas.openxmlformats.org/drawingml/2006/main">
              <a:ext uri="{FF2B5EF4-FFF2-40B4-BE49-F238E27FC236}">
                <a16:creationId xmlns:a16="http://schemas.microsoft.com/office/drawing/2014/main" id="{8A63F9F1-A08B-4C01-8874-F6461D24F89F}"/>
              </a:ext>
            </a:extLst>
          </p:cNvPr>
          <p:cNvSpPr>
            <a:spLocks xmlns:a="http://schemas.openxmlformats.org/drawingml/2006/main" noGrp="1"/>
          </p:cNvSpPr>
          <p:nvPr/>
        </p:nvSpPr>
        <p:spPr>
          <a:xfrm xmlns:a="http://schemas.openxmlformats.org/drawingml/2006/main">
            <a:off x="6705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TEAM EXPANSION</a:t>
            </a:r>
          </a:p>
        </p:txBody>
      </p:sp>
      <p:sp>
        <p:nvSpPr>
          <p:cNvPr id="9" name="">
            <a:extLst xmlns:a="http://schemas.openxmlformats.org/drawingml/2006/main">
              <a:ext uri="{FF2B5EF4-FFF2-40B4-BE49-F238E27FC236}">
                <a16:creationId xmlns:a16="http://schemas.microsoft.com/office/drawing/2014/main" id="{35F4447D-EAFC-4A1D-9959-C6B756943F2A}"/>
              </a:ext>
            </a:extLst>
          </p:cNvPr>
          <p:cNvSpPr>
            <a:spLocks xmlns:a="http://schemas.openxmlformats.org/drawingml/2006/main" noGrp="1"/>
          </p:cNvSpPr>
          <p:nvPr/>
        </p:nvSpPr>
        <p:spPr>
          <a:xfrm xmlns:a="http://schemas.openxmlformats.org/drawingml/2006/main">
            <a:off x="6705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In-house legal team</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with fewer than ten lawyers</a:t>
            </a:r>
          </a:p>
        </p:txBody>
      </p:sp>
      <p:sp>
        <p:nvSpPr>
          <p:cNvPr id="10" name="">
            <a:extLst xmlns:a="http://schemas.openxmlformats.org/drawingml/2006/main">
              <a:ext uri="{FF2B5EF4-FFF2-40B4-BE49-F238E27FC236}">
                <a16:creationId xmlns:a16="http://schemas.microsoft.com/office/drawing/2014/main" id="{85F261A5-CE17-4776-B915-EB7450F4B5A2}"/>
              </a:ext>
            </a:extLst>
          </p:cNvPr>
          <p:cNvSpPr>
            <a:spLocks xmlns:a="http://schemas.openxmlformats.org/drawingml/2006/main" noGrp="1"/>
          </p:cNvSpPr>
          <p:nvPr/>
        </p:nvSpPr>
        <p:spPr>
          <a:xfrm xmlns:a="http://schemas.openxmlformats.org/drawingml/2006/main">
            <a:off x="6705600" y="42100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Shared matters can let a second lawyer see the request, facts, research, decisions, and next open question without a long handoff.</a:t>
            </a:r>
          </a:p>
        </p:txBody>
      </p:sp>
      <p:sp>
        <p:nvSpPr>
          <p:cNvPr id="11" name="">
            <a:extLst xmlns:a="http://schemas.openxmlformats.org/drawingml/2006/main">
              <a:ext uri="{FF2B5EF4-FFF2-40B4-BE49-F238E27FC236}">
                <a16:creationId xmlns:a16="http://schemas.microsoft.com/office/drawing/2014/main" id="{0A5A29C1-D56C-4780-B333-442E226E6860}"/>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596273"/>
                </a:solidFill>
                <a:latin typeface="Arial"/>
                <a:ea typeface="Arial"/>
                <a:cs typeface="Arial"/>
              </a:defRPr>
            </a:pPr>
            <a:r>
              <a:rPr sz="1575" b="0">
                <a:solidFill>
                  <a:srgbClr val="596273"/>
                </a:solidFill>
                <a:latin typeface="Arial"/>
                <a:ea typeface="Arial"/>
                <a:cs typeface="Arial"/>
              </a:rPr>
              <a:t>Business hypothesis: earn repeat use from one lawyer, then prove that shared context supports team adoption.</a:t>
            </a:r>
          </a:p>
        </p:txBody>
      </p:sp>
    </p:spTree>
    <p:extLst>
      <p:ext uri="{BB962C8B-B14F-4D97-AF65-F5344CB8AC3E}">
        <p14:creationId xmlns:p14="http://schemas.microsoft.com/office/powerpoint/2010/main" val="871864173"/>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64906D0-B121-45A2-8F1E-504D738F1EC3}"/>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60002BF9-2835-4107-AB79-48CEAE4037E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FAF8F2"/>
                </a:solidFill>
                <a:latin typeface="Georgia"/>
                <a:ea typeface="Georgia"/>
                <a:cs typeface="Georgia"/>
              </a:defRPr>
            </a:pPr>
            <a:r>
              <a:rPr sz="3225" b="1">
                <a:solidFill>
                  <a:srgbClr val="FAF8F2"/>
                </a:solidFill>
                <a:latin typeface="Georgia"/>
                <a:ea typeface="Georgia"/>
                <a:cs typeface="Georgia"/>
              </a:rPr>
              <a:t>Legal AI earns trust through observable behavior.</a:t>
            </a:r>
          </a:p>
        </p:txBody>
      </p:sp>
      <p:sp>
        <p:nvSpPr>
          <p:cNvPr id="3" name="">
            <a:extLst xmlns:a="http://schemas.openxmlformats.org/drawingml/2006/main">
              <a:ext uri="{FF2B5EF4-FFF2-40B4-BE49-F238E27FC236}">
                <a16:creationId xmlns:a16="http://schemas.microsoft.com/office/drawing/2014/main" id="{F48BC094-8D27-4E57-9C1D-69B9C4A148A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E8772EA-C06E-455D-AFD7-D10772A01982}"/>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E9410DE-E164-4FDD-8228-E6EDF2CD17F6}"/>
              </a:ext>
            </a:extLst>
          </p:cNvPr>
          <p:cNvSpPr>
            <a:spLocks xmlns:a="http://schemas.openxmlformats.org/drawingml/2006/main" noGrp="1"/>
          </p:cNvSpPr>
          <p:nvPr/>
        </p:nvSpPr>
        <p:spPr>
          <a:xfrm xmlns:a="http://schemas.openxmlformats.org/drawingml/2006/main">
            <a:off x="609600" y="19526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DCE1EA"/>
                </a:solidFill>
                <a:latin typeface="Arial"/>
                <a:ea typeface="Arial"/>
                <a:cs typeface="Arial"/>
              </a:defRPr>
            </a:pPr>
            <a:r>
              <a:rPr sz="1575" b="0">
                <a:solidFill>
                  <a:srgbClr val="DCE1EA"/>
                </a:solidFill>
                <a:latin typeface="Arial"/>
                <a:ea typeface="Arial"/>
                <a:cs typeface="Arial"/>
              </a:rPr>
              <a:t>The product must show what it knows, what it does not know, and who owns the decision.</a:t>
            </a:r>
          </a:p>
        </p:txBody>
      </p:sp>
      <p:sp>
        <p:nvSpPr>
          <p:cNvPr id="6" name="">
            <a:extLst xmlns:a="http://schemas.openxmlformats.org/drawingml/2006/main">
              <a:ext uri="{FF2B5EF4-FFF2-40B4-BE49-F238E27FC236}">
                <a16:creationId xmlns:a16="http://schemas.microsoft.com/office/drawing/2014/main" id="{6F8195F0-23D1-4795-B058-98D2C68665BB}"/>
              </a:ext>
            </a:extLst>
          </p:cNvPr>
          <p:cNvSpPr>
            <a:spLocks xmlns:a="http://schemas.openxmlformats.org/drawingml/2006/main" noGrp="1"/>
          </p:cNvSpPr>
          <p:nvPr/>
        </p:nvSpPr>
        <p:spPr>
          <a:xfrm xmlns:a="http://schemas.openxmlformats.org/drawingml/2006/main">
            <a:off x="6096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Humble</a:t>
            </a:r>
          </a:p>
        </p:txBody>
      </p:sp>
      <p:sp>
        <p:nvSpPr>
          <p:cNvPr id="7" name="">
            <a:extLst xmlns:a="http://schemas.openxmlformats.org/drawingml/2006/main">
              <a:ext uri="{FF2B5EF4-FFF2-40B4-BE49-F238E27FC236}">
                <a16:creationId xmlns:a16="http://schemas.microsoft.com/office/drawing/2014/main" id="{90E3C31E-B9F7-4757-9C33-428D436D9DCB}"/>
              </a:ext>
            </a:extLst>
          </p:cNvPr>
          <p:cNvSpPr>
            <a:spLocks xmlns:a="http://schemas.openxmlformats.org/drawingml/2006/main" noGrp="1"/>
          </p:cNvSpPr>
          <p:nvPr/>
        </p:nvSpPr>
        <p:spPr>
          <a:xfrm xmlns:a="http://schemas.openxmlformats.org/drawingml/2006/main">
            <a:off x="6096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Marks uncertainty instead of pretending ambiguity disappeared.</a:t>
            </a:r>
          </a:p>
        </p:txBody>
      </p:sp>
      <p:sp>
        <p:nvSpPr>
          <p:cNvPr id="8" name="">
            <a:extLst xmlns:a="http://schemas.openxmlformats.org/drawingml/2006/main">
              <a:ext uri="{FF2B5EF4-FFF2-40B4-BE49-F238E27FC236}">
                <a16:creationId xmlns:a16="http://schemas.microsoft.com/office/drawing/2014/main" id="{A9B27187-7214-4E25-B598-EFDB50BB1EB3}"/>
              </a:ext>
            </a:extLst>
          </p:cNvPr>
          <p:cNvSpPr>
            <a:spLocks xmlns:a="http://schemas.openxmlformats.org/drawingml/2006/main" noGrp="1"/>
          </p:cNvSpPr>
          <p:nvPr/>
        </p:nvSpPr>
        <p:spPr>
          <a:xfrm xmlns:a="http://schemas.openxmlformats.org/drawingml/2006/main">
            <a:off x="65532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Curious</a:t>
            </a:r>
          </a:p>
        </p:txBody>
      </p:sp>
      <p:sp>
        <p:nvSpPr>
          <p:cNvPr id="9" name="">
            <a:extLst xmlns:a="http://schemas.openxmlformats.org/drawingml/2006/main">
              <a:ext uri="{FF2B5EF4-FFF2-40B4-BE49-F238E27FC236}">
                <a16:creationId xmlns:a16="http://schemas.microsoft.com/office/drawing/2014/main" id="{0804728A-CCA9-43A1-A906-3FBDB9EA508C}"/>
              </a:ext>
            </a:extLst>
          </p:cNvPr>
          <p:cNvSpPr>
            <a:spLocks xmlns:a="http://schemas.openxmlformats.org/drawingml/2006/main" noGrp="1"/>
          </p:cNvSpPr>
          <p:nvPr/>
        </p:nvSpPr>
        <p:spPr>
          <a:xfrm xmlns:a="http://schemas.openxmlformats.org/drawingml/2006/main">
            <a:off x="65532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Asks the factual question that could change the analysis.</a:t>
            </a:r>
          </a:p>
        </p:txBody>
      </p:sp>
      <p:sp>
        <p:nvSpPr>
          <p:cNvPr id="10" name="">
            <a:extLst xmlns:a="http://schemas.openxmlformats.org/drawingml/2006/main">
              <a:ext uri="{FF2B5EF4-FFF2-40B4-BE49-F238E27FC236}">
                <a16:creationId xmlns:a16="http://schemas.microsoft.com/office/drawing/2014/main" id="{6573A126-5FCB-4DA1-8B29-569A91C45A94}"/>
              </a:ext>
            </a:extLst>
          </p:cNvPr>
          <p:cNvSpPr>
            <a:spLocks xmlns:a="http://schemas.openxmlformats.org/drawingml/2006/main" noGrp="1"/>
          </p:cNvSpPr>
          <p:nvPr/>
        </p:nvSpPr>
        <p:spPr>
          <a:xfrm xmlns:a="http://schemas.openxmlformats.org/drawingml/2006/main">
            <a:off x="6096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Present</a:t>
            </a:r>
          </a:p>
        </p:txBody>
      </p:sp>
      <p:sp>
        <p:nvSpPr>
          <p:cNvPr id="11" name="">
            <a:extLst xmlns:a="http://schemas.openxmlformats.org/drawingml/2006/main">
              <a:ext uri="{FF2B5EF4-FFF2-40B4-BE49-F238E27FC236}">
                <a16:creationId xmlns:a16="http://schemas.microsoft.com/office/drawing/2014/main" id="{E1A46EE9-16E1-43D1-BF06-027AEDAB497E}"/>
              </a:ext>
            </a:extLst>
          </p:cNvPr>
          <p:cNvSpPr>
            <a:spLocks xmlns:a="http://schemas.openxmlformats.org/drawingml/2006/main" noGrp="1"/>
          </p:cNvSpPr>
          <p:nvPr/>
        </p:nvSpPr>
        <p:spPr>
          <a:xfrm xmlns:a="http://schemas.openxmlformats.org/drawingml/2006/main">
            <a:off x="6096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Remains available without taking control of the decision.</a:t>
            </a:r>
          </a:p>
        </p:txBody>
      </p:sp>
      <p:sp>
        <p:nvSpPr>
          <p:cNvPr id="12" name="">
            <a:extLst xmlns:a="http://schemas.openxmlformats.org/drawingml/2006/main">
              <a:ext uri="{FF2B5EF4-FFF2-40B4-BE49-F238E27FC236}">
                <a16:creationId xmlns:a16="http://schemas.microsoft.com/office/drawing/2014/main" id="{F01FE55E-7A0E-4A64-BFF2-E15D68B6E67E}"/>
              </a:ext>
            </a:extLst>
          </p:cNvPr>
          <p:cNvSpPr>
            <a:spLocks xmlns:a="http://schemas.openxmlformats.org/drawingml/2006/main" noGrp="1"/>
          </p:cNvSpPr>
          <p:nvPr/>
        </p:nvSpPr>
        <p:spPr>
          <a:xfrm xmlns:a="http://schemas.openxmlformats.org/drawingml/2006/main">
            <a:off x="65532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Persistent</a:t>
            </a:r>
          </a:p>
        </p:txBody>
      </p:sp>
      <p:sp>
        <p:nvSpPr>
          <p:cNvPr id="13" name="">
            <a:extLst xmlns:a="http://schemas.openxmlformats.org/drawingml/2006/main">
              <a:ext uri="{FF2B5EF4-FFF2-40B4-BE49-F238E27FC236}">
                <a16:creationId xmlns:a16="http://schemas.microsoft.com/office/drawing/2014/main" id="{2AD6E18B-5EDA-4B5C-A542-02C33BA89915}"/>
              </a:ext>
            </a:extLst>
          </p:cNvPr>
          <p:cNvSpPr>
            <a:spLocks xmlns:a="http://schemas.openxmlformats.org/drawingml/2006/main" noGrp="1"/>
          </p:cNvSpPr>
          <p:nvPr/>
        </p:nvSpPr>
        <p:spPr>
          <a:xfrm xmlns:a="http://schemas.openxmlformats.org/drawingml/2006/main">
            <a:off x="65532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Carries the matter context forward.</a:t>
            </a:r>
          </a:p>
        </p:txBody>
      </p:sp>
      <p:sp>
        <p:nvSpPr>
          <p:cNvPr id="14" name="">
            <a:extLst xmlns:a="http://schemas.openxmlformats.org/drawingml/2006/main">
              <a:ext uri="{FF2B5EF4-FFF2-40B4-BE49-F238E27FC236}">
                <a16:creationId xmlns:a16="http://schemas.microsoft.com/office/drawing/2014/main" id="{AE034956-A4B8-4A27-9D86-3BF5D56FAE2C}"/>
              </a:ext>
            </a:extLst>
          </p:cNvPr>
          <p:cNvSpPr>
            <a:spLocks xmlns:a="http://schemas.openxmlformats.org/drawingml/2006/main" noGrp="1"/>
          </p:cNvSpPr>
          <p:nvPr/>
        </p:nvSpPr>
        <p:spPr>
          <a:xfrm xmlns:a="http://schemas.openxmlformats.org/drawingml/2006/main">
            <a:off x="6096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Supportive</a:t>
            </a:r>
          </a:p>
        </p:txBody>
      </p:sp>
      <p:sp>
        <p:nvSpPr>
          <p:cNvPr id="15" name="">
            <a:extLst xmlns:a="http://schemas.openxmlformats.org/drawingml/2006/main">
              <a:ext uri="{FF2B5EF4-FFF2-40B4-BE49-F238E27FC236}">
                <a16:creationId xmlns:a16="http://schemas.microsoft.com/office/drawing/2014/main" id="{9A504F4B-5821-472E-BD84-2421210FDF37}"/>
              </a:ext>
            </a:extLst>
          </p:cNvPr>
          <p:cNvSpPr>
            <a:spLocks xmlns:a="http://schemas.openxmlformats.org/drawingml/2006/main" noGrp="1"/>
          </p:cNvSpPr>
          <p:nvPr/>
        </p:nvSpPr>
        <p:spPr>
          <a:xfrm xmlns:a="http://schemas.openxmlformats.org/drawingml/2006/main">
            <a:off x="6096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Strengthens judgment instead of claiming legal authority.</a:t>
            </a:r>
          </a:p>
        </p:txBody>
      </p:sp>
      <p:sp>
        <p:nvSpPr>
          <p:cNvPr id="16" name="">
            <a:extLst xmlns:a="http://schemas.openxmlformats.org/drawingml/2006/main">
              <a:ext uri="{FF2B5EF4-FFF2-40B4-BE49-F238E27FC236}">
                <a16:creationId xmlns:a16="http://schemas.microsoft.com/office/drawing/2014/main" id="{F2ED9AD8-02E1-4021-964D-1FC6097F1E39}"/>
              </a:ext>
            </a:extLst>
          </p:cNvPr>
          <p:cNvSpPr>
            <a:spLocks xmlns:a="http://schemas.openxmlformats.org/drawingml/2006/main" noGrp="1"/>
          </p:cNvSpPr>
          <p:nvPr/>
        </p:nvSpPr>
        <p:spPr>
          <a:xfrm xmlns:a="http://schemas.openxmlformats.org/drawingml/2006/main">
            <a:off x="65532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Faithful</a:t>
            </a:r>
          </a:p>
        </p:txBody>
      </p:sp>
      <p:sp>
        <p:nvSpPr>
          <p:cNvPr id="17" name="">
            <a:extLst xmlns:a="http://schemas.openxmlformats.org/drawingml/2006/main">
              <a:ext uri="{FF2B5EF4-FFF2-40B4-BE49-F238E27FC236}">
                <a16:creationId xmlns:a16="http://schemas.microsoft.com/office/drawing/2014/main" id="{34CFC567-2D24-4CAD-9026-18096778D7E3}"/>
              </a:ext>
            </a:extLst>
          </p:cNvPr>
          <p:cNvSpPr>
            <a:spLocks xmlns:a="http://schemas.openxmlformats.org/drawingml/2006/main" noGrp="1"/>
          </p:cNvSpPr>
          <p:nvPr/>
        </p:nvSpPr>
        <p:spPr>
          <a:xfrm xmlns:a="http://schemas.openxmlformats.org/drawingml/2006/main">
            <a:off x="65532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Records the lawyer’s decision without rewriting it.</a:t>
            </a:r>
          </a:p>
        </p:txBody>
      </p:sp>
    </p:spTree>
    <p:extLst>
      <p:ext uri="{BB962C8B-B14F-4D97-AF65-F5344CB8AC3E}">
        <p14:creationId xmlns:p14="http://schemas.microsoft.com/office/powerpoint/2010/main" val="2105765012"/>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CAADD4-7E44-4978-9C57-D972DD88F53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9B011445-5D93-4481-A31E-4458A86C84CE}"/>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Themis must beat the lawyer’s current tool stack.</a:t>
            </a:r>
          </a:p>
        </p:txBody>
      </p:sp>
      <p:sp>
        <p:nvSpPr>
          <p:cNvPr id="3" name="">
            <a:extLst xmlns:a="http://schemas.openxmlformats.org/drawingml/2006/main">
              <a:ext uri="{FF2B5EF4-FFF2-40B4-BE49-F238E27FC236}">
                <a16:creationId xmlns:a16="http://schemas.microsoft.com/office/drawing/2014/main" id="{AC78AF5B-D085-46A3-9E2E-BB868824BF3C}"/>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C43FF5A-423E-4AA4-9933-8EF5F4A4878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620AA43-6CF7-4278-BA3F-A5DBD78C1201}"/>
              </a:ext>
            </a:extLst>
          </p:cNvPr>
          <p:cNvSpPr>
            <a:spLocks xmlns:a="http://schemas.openxmlformats.org/drawingml/2006/main" noGrp="1"/>
          </p:cNvSpPr>
          <p:nvPr/>
        </p:nvSpPr>
        <p:spPr>
          <a:xfrm xmlns:a="http://schemas.openxmlformats.org/drawingml/2006/main">
            <a:off x="609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CURRENT WORKFLOW</a:t>
            </a:r>
          </a:p>
        </p:txBody>
      </p:sp>
      <p:sp>
        <p:nvSpPr>
          <p:cNvPr id="6" name="">
            <a:extLst xmlns:a="http://schemas.openxmlformats.org/drawingml/2006/main">
              <a:ext uri="{FF2B5EF4-FFF2-40B4-BE49-F238E27FC236}">
                <a16:creationId xmlns:a16="http://schemas.microsoft.com/office/drawing/2014/main" id="{53297A5D-1511-4A4F-9D48-A4048AD406FE}"/>
              </a:ext>
            </a:extLst>
          </p:cNvPr>
          <p:cNvSpPr>
            <a:spLocks xmlns:a="http://schemas.openxmlformats.org/drawingml/2006/main" noGrp="1"/>
          </p:cNvSpPr>
          <p:nvPr/>
        </p:nvSpPr>
        <p:spPr>
          <a:xfrm xmlns:a="http://schemas.openxmlformats.org/drawingml/2006/main">
            <a:off x="609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General AI such as ChatGPT or Claude</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Legal and web research sources</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Documents, email, and Slack</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Manual notes and personal memory</a:t>
            </a:r>
          </a:p>
        </p:txBody>
      </p:sp>
      <p:sp>
        <p:nvSpPr>
          <p:cNvPr id="7" name="">
            <a:extLst xmlns:a="http://schemas.openxmlformats.org/drawingml/2006/main">
              <a:ext uri="{FF2B5EF4-FFF2-40B4-BE49-F238E27FC236}">
                <a16:creationId xmlns:a16="http://schemas.microsoft.com/office/drawing/2014/main" id="{CA6730DD-96C7-4573-B38F-62BB1C37CE68}"/>
              </a:ext>
            </a:extLst>
          </p:cNvPr>
          <p:cNvSpPr>
            <a:spLocks xmlns:a="http://schemas.openxmlformats.org/drawingml/2006/main" noGrp="1"/>
          </p:cNvSpPr>
          <p:nvPr/>
        </p:nvSpPr>
        <p:spPr>
          <a:xfrm xmlns:a="http://schemas.openxmlformats.org/drawingml/2006/main">
            <a:off x="6705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TEST FOR THEMIS</a:t>
            </a:r>
          </a:p>
        </p:txBody>
      </p:sp>
      <p:sp>
        <p:nvSpPr>
          <p:cNvPr id="8" name="">
            <a:extLst xmlns:a="http://schemas.openxmlformats.org/drawingml/2006/main">
              <a:ext uri="{FF2B5EF4-FFF2-40B4-BE49-F238E27FC236}">
                <a16:creationId xmlns:a16="http://schemas.microsoft.com/office/drawing/2014/main" id="{79606A15-D83C-4019-A620-8C8705D56898}"/>
              </a:ext>
            </a:extLst>
          </p:cNvPr>
          <p:cNvSpPr>
            <a:spLocks xmlns:a="http://schemas.openxmlformats.org/drawingml/2006/main" noGrp="1"/>
          </p:cNvSpPr>
          <p:nvPr/>
        </p:nvSpPr>
        <p:spPr>
          <a:xfrm xmlns:a="http://schemas.openxmlformats.org/drawingml/2006/main">
            <a:off x="6705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spend less total effort?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Can the lawyer inspect the sources quickly?</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Themis remember relevant company context?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return with the next matter?</a:t>
            </a:r>
          </a:p>
        </p:txBody>
      </p:sp>
      <p:sp>
        <p:nvSpPr>
          <p:cNvPr id="9" name="">
            <a:extLst xmlns:a="http://schemas.openxmlformats.org/drawingml/2006/main">
              <a:ext uri="{FF2B5EF4-FFF2-40B4-BE49-F238E27FC236}">
                <a16:creationId xmlns:a16="http://schemas.microsoft.com/office/drawing/2014/main" id="{639C8E3A-8CEC-43E7-9507-777DE2F0C2EB}"/>
              </a:ext>
            </a:extLst>
          </p:cNvPr>
          <p:cNvSpPr>
            <a:spLocks xmlns:a="http://schemas.openxmlformats.org/drawingml/2006/main" noGrp="1"/>
          </p:cNvSpPr>
          <p:nvPr/>
        </p:nvSpPr>
        <p:spPr>
          <a:xfrm xmlns:a="http://schemas.openxmlformats.org/drawingml/2006/main">
            <a:off x="6096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Repeat use and willingness to pay remain to be proven.</a:t>
            </a:r>
          </a:p>
        </p:txBody>
      </p:sp>
    </p:spTree>
    <p:extLst>
      <p:ext uri="{BB962C8B-B14F-4D97-AF65-F5344CB8AC3E}">
        <p14:creationId xmlns:p14="http://schemas.microsoft.com/office/powerpoint/2010/main" val="72080557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87DF9A-DA1E-4BB9-9FC2-73D3A68618C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94E0DF9C-88DD-4D47-BB0E-35D9B74D6938}"/>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Founder experience spans the user problem</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and the technology.</a:t>
            </a:r>
          </a:p>
        </p:txBody>
      </p:sp>
      <p:sp>
        <p:nvSpPr>
          <p:cNvPr id="3" name="">
            <a:extLst xmlns:a="http://schemas.openxmlformats.org/drawingml/2006/main">
              <a:ext uri="{FF2B5EF4-FFF2-40B4-BE49-F238E27FC236}">
                <a16:creationId xmlns:a16="http://schemas.microsoft.com/office/drawing/2014/main" id="{9453B0E8-524A-4558-B04B-F850B98C73BB}"/>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A590904-D9A0-4952-AF36-E5027582DEE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AA312A4-B6A2-4214-9EEE-BD1CAEA5DAFD}"/>
              </a:ext>
            </a:extLst>
          </p:cNvPr>
          <p:cNvSpPr>
            <a:spLocks xmlns:a="http://schemas.openxmlformats.org/drawingml/2006/main" noGrp="1"/>
          </p:cNvSpPr>
          <p:nvPr/>
        </p:nvSpPr>
        <p:spPr>
          <a:xfrm xmlns:a="http://schemas.openxmlformats.org/drawingml/2006/main">
            <a:off x="609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LEGAL EXPERIENCE</a:t>
            </a:r>
          </a:p>
        </p:txBody>
      </p:sp>
      <p:sp>
        <p:nvSpPr>
          <p:cNvPr id="6" name="">
            <a:extLst xmlns:a="http://schemas.openxmlformats.org/drawingml/2006/main">
              <a:ext uri="{FF2B5EF4-FFF2-40B4-BE49-F238E27FC236}">
                <a16:creationId xmlns:a16="http://schemas.microsoft.com/office/drawing/2014/main" id="{F7A79DDB-D409-4275-8BB6-85BED36100E8}"/>
              </a:ext>
            </a:extLst>
          </p:cNvPr>
          <p:cNvSpPr>
            <a:spLocks xmlns:a="http://schemas.openxmlformats.org/drawingml/2006/main" noGrp="1"/>
          </p:cNvSpPr>
          <p:nvPr/>
        </p:nvSpPr>
        <p:spPr>
          <a:xfrm xmlns:a="http://schemas.openxmlformats.org/drawingml/2006/main">
            <a:off x="609600" y="28956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17 years as a lawyer</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General counsel and product counsel</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Built legal functions and led teams</a:t>
            </a:r>
          </a:p>
        </p:txBody>
      </p:sp>
      <p:sp>
        <p:nvSpPr>
          <p:cNvPr id="7" name="">
            <a:extLst xmlns:a="http://schemas.openxmlformats.org/drawingml/2006/main">
              <a:ext uri="{FF2B5EF4-FFF2-40B4-BE49-F238E27FC236}">
                <a16:creationId xmlns:a16="http://schemas.microsoft.com/office/drawing/2014/main" id="{97FDB5F6-5201-4CA1-A1D2-81D4C42F00FA}"/>
              </a:ext>
            </a:extLst>
          </p:cNvPr>
          <p:cNvSpPr>
            <a:spLocks xmlns:a="http://schemas.openxmlformats.org/drawingml/2006/main" noGrp="1"/>
          </p:cNvSpPr>
          <p:nvPr/>
        </p:nvSpPr>
        <p:spPr>
          <a:xfrm xmlns:a="http://schemas.openxmlformats.org/drawingml/2006/main">
            <a:off x="6705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TECHNICAL EXPERIENCE</a:t>
            </a:r>
          </a:p>
        </p:txBody>
      </p:sp>
      <p:sp>
        <p:nvSpPr>
          <p:cNvPr id="8" name="">
            <a:extLst xmlns:a="http://schemas.openxmlformats.org/drawingml/2006/main">
              <a:ext uri="{FF2B5EF4-FFF2-40B4-BE49-F238E27FC236}">
                <a16:creationId xmlns:a16="http://schemas.microsoft.com/office/drawing/2014/main" id="{14C293AE-1E8C-4E04-A9D8-644094F6D190}"/>
              </a:ext>
            </a:extLst>
          </p:cNvPr>
          <p:cNvSpPr>
            <a:spLocks xmlns:a="http://schemas.openxmlformats.org/drawingml/2006/main" noGrp="1"/>
          </p:cNvSpPr>
          <p:nvPr/>
        </p:nvSpPr>
        <p:spPr>
          <a:xfrm xmlns:a="http://schemas.openxmlformats.org/drawingml/2006/main">
            <a:off x="6705600" y="28956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Earlier AI and natural-language research at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M.S. in Computer Science,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J.D., Northwestern</a:t>
            </a:r>
          </a:p>
        </p:txBody>
      </p:sp>
      <p:sp>
        <p:nvSpPr>
          <p:cNvPr id="9" name="">
            <a:extLst xmlns:a="http://schemas.openxmlformats.org/drawingml/2006/main">
              <a:ext uri="{FF2B5EF4-FFF2-40B4-BE49-F238E27FC236}">
                <a16:creationId xmlns:a16="http://schemas.microsoft.com/office/drawing/2014/main" id="{EDE2F1EF-02AB-4DB1-AAAE-9E4CB290F3F6}"/>
              </a:ext>
            </a:extLst>
          </p:cNvPr>
          <p:cNvSpPr>
            <a:spLocks xmlns:a="http://schemas.openxmlformats.org/drawingml/2006/main" noGrp="1"/>
          </p:cNvSpPr>
          <p:nvPr/>
        </p:nvSpPr>
        <p:spPr>
          <a:xfrm xmlns:a="http://schemas.openxmlformats.org/drawingml/2006/main">
            <a:off x="609600" y="53816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Brian Harris is the sole founder. He built Themis to give small legal teams the capacity he wanted as a lawyer and legal leader.</a:t>
            </a:r>
          </a:p>
        </p:txBody>
      </p:sp>
    </p:spTree>
    <p:extLst>
      <p:ext uri="{BB962C8B-B14F-4D97-AF65-F5344CB8AC3E}">
        <p14:creationId xmlns:p14="http://schemas.microsoft.com/office/powerpoint/2010/main" val="1633292395"/>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61EE7E-775C-467D-955F-A06272A2026B}"/>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89CB1A47-CBE1-469F-9104-9B6D70338F54}"/>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 working prototype exists.</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next proof is attorney return use.</a:t>
            </a:r>
          </a:p>
        </p:txBody>
      </p:sp>
      <p:sp>
        <p:nvSpPr>
          <p:cNvPr id="3" name="">
            <a:extLst xmlns:a="http://schemas.openxmlformats.org/drawingml/2006/main">
              <a:ext uri="{FF2B5EF4-FFF2-40B4-BE49-F238E27FC236}">
                <a16:creationId xmlns:a16="http://schemas.microsoft.com/office/drawing/2014/main" id="{7D955B7F-2352-44D4-9ADC-FED0610A2ED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136CDFE-626E-48B4-890B-213E876366C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394ade0f84649f4"/>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4F1914-D2C6-48F2-A683-1CDF89F5EE78}"/>
              </a:ext>
            </a:extLst>
          </p:cNvPr>
          <p:cNvSpPr>
            <a:spLocks xmlns:a="http://schemas.openxmlformats.org/drawingml/2006/main" noGrp="1"/>
          </p:cNvSpPr>
          <p:nvPr/>
        </p:nvSpPr>
        <p:spPr>
          <a:xfrm xmlns:a="http://schemas.openxmlformats.org/drawingml/2006/main">
            <a:off x="7696200" y="22574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BUILT TODAY</a:t>
            </a:r>
          </a:p>
        </p:txBody>
      </p:sp>
      <p:sp>
        <p:nvSpPr>
          <p:cNvPr id="7" name="">
            <a:extLst xmlns:a="http://schemas.openxmlformats.org/drawingml/2006/main">
              <a:ext uri="{FF2B5EF4-FFF2-40B4-BE49-F238E27FC236}">
                <a16:creationId xmlns:a16="http://schemas.microsoft.com/office/drawing/2014/main" id="{36178CDA-CC23-460D-8CB2-606E09C17E67}"/>
              </a:ext>
            </a:extLst>
          </p:cNvPr>
          <p:cNvSpPr>
            <a:spLocks xmlns:a="http://schemas.openxmlformats.org/drawingml/2006/main" noGrp="1"/>
          </p:cNvSpPr>
          <p:nvPr/>
        </p:nvSpPr>
        <p:spPr>
          <a:xfrm xmlns:a="http://schemas.openxmlformats.org/drawingml/2006/main">
            <a:off x="7696200" y="2628900"/>
            <a:ext cx="3857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Local prototype with matter context, research, editable drafts, and explicit lawyer-recorded decisions.</a:t>
            </a:r>
          </a:p>
        </p:txBody>
      </p:sp>
      <p:sp>
        <p:nvSpPr>
          <p:cNvPr id="8" name="">
            <a:extLst xmlns:a="http://schemas.openxmlformats.org/drawingml/2006/main">
              <a:ext uri="{FF2B5EF4-FFF2-40B4-BE49-F238E27FC236}">
                <a16:creationId xmlns:a16="http://schemas.microsoft.com/office/drawing/2014/main" id="{E1E28C05-6089-4CE1-994B-D8EA488B719D}"/>
              </a:ext>
            </a:extLst>
          </p:cNvPr>
          <p:cNvSpPr>
            <a:spLocks xmlns:a="http://schemas.openxmlformats.org/drawingml/2006/main" noGrp="1"/>
          </p:cNvSpPr>
          <p:nvPr/>
        </p:nvSpPr>
        <p:spPr>
          <a:xfrm xmlns:a="http://schemas.openxmlformats.org/drawingml/2006/main">
            <a:off x="7696200" y="3924300"/>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NEXT PROOF</a:t>
            </a:r>
          </a:p>
        </p:txBody>
      </p:sp>
      <p:sp>
        <p:nvSpPr>
          <p:cNvPr id="9" name="">
            <a:extLst xmlns:a="http://schemas.openxmlformats.org/drawingml/2006/main">
              <a:ext uri="{FF2B5EF4-FFF2-40B4-BE49-F238E27FC236}">
                <a16:creationId xmlns:a16="http://schemas.microsoft.com/office/drawing/2014/main" id="{20473D9A-9312-4F1A-B29F-37B30FB2340B}"/>
              </a:ext>
            </a:extLst>
          </p:cNvPr>
          <p:cNvSpPr>
            <a:spLocks xmlns:a="http://schemas.openxmlformats.org/drawingml/2006/main" noGrp="1"/>
          </p:cNvSpPr>
          <p:nvPr/>
        </p:nvSpPr>
        <p:spPr>
          <a:xfrm xmlns:a="http://schemas.openxmlformats.org/drawingml/2006/main">
            <a:off x="7696200" y="4295775"/>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Attorneys use Themis on real questions and return with another matter.</a:t>
            </a:r>
          </a:p>
        </p:txBody>
      </p:sp>
      <p:sp>
        <p:nvSpPr>
          <p:cNvPr id="10" name="">
            <a:extLst xmlns:a="http://schemas.openxmlformats.org/drawingml/2006/main">
              <a:ext uri="{FF2B5EF4-FFF2-40B4-BE49-F238E27FC236}">
                <a16:creationId xmlns:a16="http://schemas.microsoft.com/office/drawing/2014/main" id="{5835557A-136C-4986-9DE3-AA69655BC347}"/>
              </a:ext>
            </a:extLst>
          </p:cNvPr>
          <p:cNvSpPr>
            <a:spLocks xmlns:a="http://schemas.openxmlformats.org/drawingml/2006/main" noGrp="1"/>
          </p:cNvSpPr>
          <p:nvPr/>
        </p:nvSpPr>
        <p:spPr>
          <a:xfrm xmlns:a="http://schemas.openxmlformats.org/drawingml/2006/main">
            <a:off x="7696200" y="52673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WHAT TO MEASURE</a:t>
            </a:r>
          </a:p>
        </p:txBody>
      </p:sp>
      <p:sp>
        <p:nvSpPr>
          <p:cNvPr id="11" name="">
            <a:extLst xmlns:a="http://schemas.openxmlformats.org/drawingml/2006/main">
              <a:ext uri="{FF2B5EF4-FFF2-40B4-BE49-F238E27FC236}">
                <a16:creationId xmlns:a16="http://schemas.microsoft.com/office/drawing/2014/main" id="{8F55D275-6A02-4D6D-BDFF-60C198F09B66}"/>
              </a:ext>
            </a:extLst>
          </p:cNvPr>
          <p:cNvSpPr>
            <a:spLocks xmlns:a="http://schemas.openxmlformats.org/drawingml/2006/main" noGrp="1"/>
          </p:cNvSpPr>
          <p:nvPr/>
        </p:nvSpPr>
        <p:spPr>
          <a:xfrm xmlns:a="http://schemas.openxmlformats.org/drawingml/2006/main">
            <a:off x="7696200" y="5638800"/>
            <a:ext cx="3857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425" b="0">
                <a:solidFill>
                  <a:srgbClr val="596273"/>
                </a:solidFill>
                <a:latin typeface="Arial"/>
                <a:ea typeface="Arial"/>
                <a:cs typeface="Arial"/>
              </a:defRPr>
            </a:pPr>
            <a:r>
              <a:rPr sz="1425" b="0">
                <a:solidFill>
                  <a:srgbClr val="596273"/>
                </a:solidFill>
                <a:latin typeface="Arial"/>
                <a:ea typeface="Arial"/>
                <a:cs typeface="Arial"/>
              </a:rPr>
              <a:t>Time to useful orientation · Source correctness · Correction burden · Repeat use</a:t>
            </a:r>
          </a:p>
        </p:txBody>
      </p:sp>
      <p:sp>
        <p:nvSpPr>
          <p:cNvPr id="12" name="">
            <a:extLst xmlns:a="http://schemas.openxmlformats.org/drawingml/2006/main">
              <a:ext uri="{FF2B5EF4-FFF2-40B4-BE49-F238E27FC236}">
                <a16:creationId xmlns:a16="http://schemas.microsoft.com/office/drawing/2014/main" id="{148C3493-5FCE-4413-ACAC-C02D66518C61}"/>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1482119207"/>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9DC002-1BD2-4279-997C-D9EB662AB8AE}"/>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417CF84A-5A94-4D18-9773-A27FA43B99E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Early capital funds the path</a:t>
            </a:r>
          </a:p>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from prototype to repeat use.</a:t>
            </a:r>
          </a:p>
        </p:txBody>
      </p:sp>
      <p:sp>
        <p:nvSpPr>
          <p:cNvPr id="3" name="">
            <a:extLst xmlns:a="http://schemas.openxmlformats.org/drawingml/2006/main">
              <a:ext uri="{FF2B5EF4-FFF2-40B4-BE49-F238E27FC236}">
                <a16:creationId xmlns:a16="http://schemas.microsoft.com/office/drawing/2014/main" id="{93C7EA2B-3E63-4916-B494-9618C1370E52}"/>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ADEBDEF-4206-49BB-8B09-C982C070C0A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5D8CE5DA-1BFD-4E35-828A-E5495E425823}"/>
              </a:ext>
            </a:extLst>
          </p:cNvPr>
          <p:cNvSpPr>
            <a:spLocks xmlns:a="http://schemas.openxmlformats.org/drawingml/2006/main" noGrp="1"/>
          </p:cNvSpPr>
          <p:nvPr/>
        </p:nvSpPr>
        <p:spPr>
          <a:xfrm xmlns:a="http://schemas.openxmlformats.org/drawingml/2006/main">
            <a:off x="609600" y="25431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CAPITAL SUPPORTS</a:t>
            </a:r>
          </a:p>
        </p:txBody>
      </p:sp>
      <p:sp>
        <p:nvSpPr>
          <p:cNvPr id="6" name="">
            <a:extLst xmlns:a="http://schemas.openxmlformats.org/drawingml/2006/main">
              <a:ext uri="{FF2B5EF4-FFF2-40B4-BE49-F238E27FC236}">
                <a16:creationId xmlns:a16="http://schemas.microsoft.com/office/drawing/2014/main" id="{73CB2AB1-4DE3-4867-B3D8-A7E856B67E3E}"/>
              </a:ext>
            </a:extLst>
          </p:cNvPr>
          <p:cNvSpPr>
            <a:spLocks xmlns:a="http://schemas.openxmlformats.org/drawingml/2006/main" noGrp="1"/>
          </p:cNvSpPr>
          <p:nvPr/>
        </p:nvSpPr>
        <p:spPr>
          <a:xfrm xmlns:a="http://schemas.openxmlformats.org/drawingml/2006/main">
            <a:off x="609600" y="303847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Full-time founder focus</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founding technical leader and engineering capacity</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business leader for pilots, pricing, and customer development</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Secure pilot delivery plus model and research costs</a:t>
            </a:r>
          </a:p>
        </p:txBody>
      </p:sp>
      <p:sp>
        <p:nvSpPr>
          <p:cNvPr id="7" name="">
            <a:extLst xmlns:a="http://schemas.openxmlformats.org/drawingml/2006/main">
              <a:ext uri="{FF2B5EF4-FFF2-40B4-BE49-F238E27FC236}">
                <a16:creationId xmlns:a16="http://schemas.microsoft.com/office/drawing/2014/main" id="{E34DA2FE-F86D-4F5E-AAC4-236C507DF446}"/>
              </a:ext>
            </a:extLst>
          </p:cNvPr>
          <p:cNvSpPr>
            <a:spLocks xmlns:a="http://schemas.openxmlformats.org/drawingml/2006/main" noGrp="1"/>
          </p:cNvSpPr>
          <p:nvPr/>
        </p:nvSpPr>
        <p:spPr>
          <a:xfrm xmlns:a="http://schemas.openxmlformats.org/drawingml/2006/main">
            <a:off x="609600" y="509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FUNDED MILESTONE</a:t>
            </a:r>
          </a:p>
        </p:txBody>
      </p:sp>
      <p:sp>
        <p:nvSpPr>
          <p:cNvPr id="8" name="">
            <a:extLst xmlns:a="http://schemas.openxmlformats.org/drawingml/2006/main">
              <a:ext uri="{FF2B5EF4-FFF2-40B4-BE49-F238E27FC236}">
                <a16:creationId xmlns:a16="http://schemas.microsoft.com/office/drawing/2014/main" id="{3E89A0D7-B787-4CC7-9AAC-B56034A5D09B}"/>
              </a:ext>
            </a:extLst>
          </p:cNvPr>
          <p:cNvSpPr>
            <a:spLocks xmlns:a="http://schemas.openxmlformats.org/drawingml/2006/main" noGrp="1"/>
          </p:cNvSpPr>
          <p:nvPr/>
        </p:nvSpPr>
        <p:spPr>
          <a:xfrm xmlns:a="http://schemas.openxmlformats.org/drawingml/2006/main">
            <a:off x="609600" y="54959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Georgia"/>
                <a:ea typeface="Georgia"/>
                <a:cs typeface="Georgia"/>
              </a:defRPr>
            </a:pPr>
            <a:r>
              <a:rPr sz="1800" b="0">
                <a:solidFill>
                  <a:srgbClr val="DCE1EA"/>
                </a:solidFill>
                <a:latin typeface="Georgia"/>
                <a:ea typeface="Georgia"/>
                <a:cs typeface="Georgia"/>
              </a:rPr>
              <a:t>Real attorneys use Themis on real questions, find the work useful enough to return, and provide evidence for the next product and financing decision.</a:t>
            </a:r>
          </a:p>
        </p:txBody>
      </p:sp>
    </p:spTree>
    <p:extLst>
      <p:ext uri="{BB962C8B-B14F-4D97-AF65-F5344CB8AC3E}">
        <p14:creationId xmlns:p14="http://schemas.microsoft.com/office/powerpoint/2010/main" val="1377104853"/>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8d1cb7480546be"/>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735431641"/>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3F85D4-A1C5-4C59-8501-00D8C2F81D8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CD534B16-4708-4D30-8AC7-E3F3CF9E3CA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1A2928F5-26EE-495D-98A9-56D4EDA59CD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656B3CE-7FF2-4ECC-9DF9-BEC4545053CC}"/>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2D8126A-849E-4820-99C5-8F399D9A53D4}"/>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6A91A84B-6E4D-469E-86ED-1FE90293E63B}"/>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D0E03AA7-4770-4197-A4F1-70BDED6F1C37}"/>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7EEED93B-2ECA-4B29-9D8E-658E37324C67}"/>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50BC4A4B-4957-4E77-A98A-43FBAA76329A}"/>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D5684056-C755-4A2C-B1DA-B159D2C93399}"/>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111A8CF1-4E72-4341-9383-D3301F769BC4}"/>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95B64603-3BC1-4491-8BA9-80DCE2B910E7}"/>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1142586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2026-09-05T00:01:43.4500000Z</dcterms:created>
  <dcterms:modified xsi:type="dcterms:W3CDTF">2026-09-05T00:01:43.4500000Z</dcterms:modified>
</coreProperties>
</file>