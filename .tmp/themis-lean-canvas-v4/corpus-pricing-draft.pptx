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f69385d87d4b7e" /><Relationship Type="http://schemas.openxmlformats.org/officeDocument/2006/relationships/extended-properties" Target="/docProps/app.xml" Id="R8d3ce69bcc6b4acb" /><Relationship Type="http://schemas.openxmlformats.org/officeDocument/2006/relationships/officeDocument" Target="/ppt/presentation.xml" Id="Rede7076cbaf44ca7"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01a9f81aeb0d45f4"/>
  </p:sldMasterIdLst>
  <p:notesMasterIdLst>
    <p:notesMasterId xmlns:r="http://schemas.openxmlformats.org/officeDocument/2006/relationships" r:id="R8451090dc925404c"/>
  </p:notesMasterIdLst>
  <p:sldIdLst>
    <p:sldId xmlns:r="http://schemas.openxmlformats.org/officeDocument/2006/relationships" id="256" r:id="R63a2d3e853b24797"/>
  </p:sldIdLst>
  <p:sldSz cx="9906000" cy="6858000"/>
  <p:notesSz cx="6858000" cy="9144000"/>
  <p:embeddedFontLst>
    <p:embeddedFont>
      <p:font typeface="Figtree"/>
      <p:regular xmlns:r="http://schemas.openxmlformats.org/officeDocument/2006/relationships" r:id="R3048a2f88e5b42e3"/>
      <p:bold xmlns:r="http://schemas.openxmlformats.org/officeDocument/2006/relationships" r:id="R1610e87fc76b4124"/>
      <p:italic xmlns:r="http://schemas.openxmlformats.org/officeDocument/2006/relationships" r:id="Rc352494a2303473e"/>
      <p:boldItalic xmlns:r="http://schemas.openxmlformats.org/officeDocument/2006/relationships" r:id="Rc147793311af4516"/>
    </p:embeddedFont>
    <p:embeddedFont>
      <p:font typeface="Libre Baskerville"/>
      <p:regular xmlns:r="http://schemas.openxmlformats.org/officeDocument/2006/relationships" r:id="Rcc9204c06b264d58"/>
      <p:bold xmlns:r="http://schemas.openxmlformats.org/officeDocument/2006/relationships" r:id="R610a69a05de14e30"/>
      <p:italic xmlns:r="http://schemas.openxmlformats.org/officeDocument/2006/relationships" r:id="R5d3a4bcb4f1a44d3"/>
    </p:embeddedFont>
    <p:embeddedFont>
      <p:font typeface="Quattrocento Sans"/>
      <p:regular xmlns:r="http://schemas.openxmlformats.org/officeDocument/2006/relationships" r:id="R35728f3e5fe74ebe"/>
      <p:bold xmlns:r="http://schemas.openxmlformats.org/officeDocument/2006/relationships" r:id="Rb9d4bdf7e1c045d2"/>
      <p:italic xmlns:r="http://schemas.openxmlformats.org/officeDocument/2006/relationships" r:id="R3748850dea6b4834"/>
      <p:boldItalic xmlns:r="http://schemas.openxmlformats.org/officeDocument/2006/relationships" r:id="R3aefa384105a497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35bef4c015394ba4" /><Relationship Type="http://schemas.openxmlformats.org/officeDocument/2006/relationships/slideMaster" Target="/ppt/slideMasters/slideMaster1.xml" Id="R01a9f81aeb0d45f4" /><Relationship Type="http://schemas.openxmlformats.org/officeDocument/2006/relationships/notesMaster" Target="/ppt/notesMasters/notesMaster1.xml" Id="R8451090dc925404c" /><Relationship Type="http://schemas.openxmlformats.org/officeDocument/2006/relationships/presProps" Target="/ppt/presProps.xml" Id="Ra6384d4081784844" /><Relationship Type="http://schemas.openxmlformats.org/officeDocument/2006/relationships/viewProps" Target="/ppt/viewProps.xml" Id="R5bf16aa71af64ecd" /><Relationship Type="http://schemas.openxmlformats.org/officeDocument/2006/relationships/tableStyles" Target="/ppt/tableStyles.xml" Id="R722870510df14364" /><Relationship Type="http://schemas.openxmlformats.org/officeDocument/2006/relationships/font" Target="/ppt/fonts/font.dat" Id="R3048a2f88e5b42e3" /><Relationship Type="http://schemas.openxmlformats.org/officeDocument/2006/relationships/font" Target="/ppt/fonts/font2.dat" Id="R1610e87fc76b4124" /><Relationship Type="http://schemas.openxmlformats.org/officeDocument/2006/relationships/font" Target="/ppt/fonts/font3.dat" Id="Rc352494a2303473e" /><Relationship Type="http://schemas.openxmlformats.org/officeDocument/2006/relationships/font" Target="/ppt/fonts/font4.dat" Id="Rc147793311af4516" /><Relationship Type="http://schemas.openxmlformats.org/officeDocument/2006/relationships/font" Target="/ppt/fonts/font5.dat" Id="Rcc9204c06b264d58" /><Relationship Type="http://schemas.openxmlformats.org/officeDocument/2006/relationships/font" Target="/ppt/fonts/font6.dat" Id="R610a69a05de14e30" /><Relationship Type="http://schemas.openxmlformats.org/officeDocument/2006/relationships/font" Target="/ppt/fonts/font7.dat" Id="R5d3a4bcb4f1a44d3" /><Relationship Type="http://schemas.openxmlformats.org/officeDocument/2006/relationships/font" Target="/ppt/fonts/font8.dat" Id="R35728f3e5fe74ebe" /><Relationship Type="http://schemas.openxmlformats.org/officeDocument/2006/relationships/font" Target="/ppt/fonts/font9.dat" Id="Rb9d4bdf7e1c045d2" /><Relationship Type="http://schemas.openxmlformats.org/officeDocument/2006/relationships/font" Target="/ppt/fonts/font10.dat" Id="R3748850dea6b4834" /><Relationship Type="http://schemas.openxmlformats.org/officeDocument/2006/relationships/font" Target="/ppt/fonts/font11.dat" Id="R3aefa384105a497e" /><Relationship Type="http://schemas.openxmlformats.org/officeDocument/2006/relationships/slide" Target="/ppt/slides/slide1.xml" Id="R63a2d3e853b247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7fabc031774b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Neos Chronos">
      <a:dk1>
        <a:srgbClr val="444444"/>
      </a:dk1>
      <a:lt1>
        <a:srgbClr val="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os Chron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3f5fa29d664e9c" /><Relationship Type="http://schemas.openxmlformats.org/officeDocument/2006/relationships/notesMaster" Target="/ppt/notesMasters/notesMaster1.xml" Id="R81591dfaa54840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Themis Lean Canvas, September 4, 2026. Source: founder-approved positioning and Themis VC Pitch September 2026 v10; brand_pitch.md; four exploratory counsel interviews. Companion is the approved product relationship. Product outcomes, channels and early-adopter criteria are business hypotheses, not measured results. Founder experience is founder-reported. Alternatives include Claude, ChatGPT, Harvey, Legora, CoCounsel and GC AI. The founder requested the named legal platforms. Their inclusion makes no claim that they lack research or legal workflows. Proposed subscription is $400 per lawyer per month, billed monthly, with no minimum seat count, annual commitment or setup fee. Annualized revenue per seat is $4,800, not an annual plan price. Proposed gross margin target is 80%, not measured. Illustrative lifetime value uses gross profit: $400 × 12 months × 3 years × 80% = $11,520 per seat, undiscounted and before acquisition costs; 3-year retention is an assumption. Pilot goals: 60% of activated lawyers start a second matter within 30 days of completing the first; median 25% less total lawyer effort versus matched tasks using configured usual tools. Measure setup, prompting, verification, correction and drafting. Pair readiness with the lawyer’s understanding of the recommendation and what could change it. Team expansion requires further product development. Pricing research: Repository Reddit research, source reddit-163 in output/research/raw/legal-ai-reddit-source-corpus.jsonl, records a buyer-reported Harvey quote of $425 per seat per month with a five-seat minimum and a 12-month term. The live comment was checked again: https://www.reddit.com/r/legaltech/comments/1v1q70k/help_me_understand_what_harvey_has_that_claude/ . That specific quote implies a $25,500 annual commitment (425 × 5 × 12). This is an anonymous reported quote, not a verified payment, standard rate or universal minimum. Repository source reddit-110 describes a GC of a three-lawyer department rejecting approximately $30,000/year of proposed Harvey spending: https://www.reddit.com/r/legaltech/comments/1n9l2sk/harvey_for_inhouse_counsel/ . It does not establish a per-seat price or an actual purchase. The proposed Themis offer emphasizes a lower initial commitment: one lawyer can start at $400/month; three lawyers cost $1,200/month; neither requires an annual term. This pricing evidence supports testing the offer but does not prove willingness to pay for Themis. Harvey https://www.harvey.ai/ and Legora https://legora.com/ offer demo-led buying with no public standard rate card found. A self-reported buyer quote for Harvey was $1,200/user/month, $2,400 with Lexis, and later about $399 for a lower tier; the same post relayed a colleague’s Legora estimate of $400/user/month: https://www.reddit.com/r/legaltech/comments/1qvwswa/pricing_harvey_v_claude_v_legora_v_cocounsel_from/ . These are anonymous, unverified reports about different scopes, not vendor-published prices. Contrary Research cites a competitor-reported Legora figure of $3,000/seat/year ($250/month) and a 10-seat minimum, not confirmed by Legora: https://research.contrary.com/company/legora . Other reports disagree about minimums, so this canvas makes no factual minimum-seat claim about competitors. Legora’s June 23, 2026 blog listing announces usage-based pricing for Agent Pro: https://legora.com/blog . Thus seat reports are not a reliable current all-in price for every tier. GC AI publicly lists $500/month for an Individual plan: https://gc.ai/pricing . Themis’s $400 is a launch-price hypothesis, not a computed market average or a claim to undercut every enterprise quote. It is 20% below the public GC AI individual benchmark and offers access one seat at a time. The 80% gross margin target requires average direct delivery costs at or below $80 per paid seat/month, including model, research, hosting and attributable support costs. Included usage should be set after pilot cost measurement; unlimited use is not promised. Sources accessed September 2026. Template branding and section structure retained.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66315e5f9844e5" /></Relationships>
</file>

<file path=ppt/slideLayouts/slideLayout1.xml><?xml version="1.0" encoding="utf-8"?>
<p:sldLayout xmlns:p="http://schemas.openxmlformats.org/presentationml/2006/main" matchingName="Lean Canvas">
  <p:cSld name="Lean Canvas">
    <p:spTree>
      <p:nvGrpSpPr>
        <p:cNvPr id="1" name=""/>
        <p:cNvGrpSpPr/>
        <p:nvPr/>
      </p:nvGrpSpPr>
      <p:grpSpPr>
        <a:xfrm xmlns:a="http://schemas.openxmlformats.org/drawingml/2006/main"/>
      </p:grpSpPr>
      <p:sp>
        <p:nvSpPr>
          <p:cNvPr id="35" name="Google Shape;35;p3">
            <a:extLst xmlns:a="http://schemas.openxmlformats.org/drawingml/2006/main">
              <a:ext uri="{FF2B5EF4-FFF2-40B4-BE49-F238E27FC236}">
                <a16:creationId xmlns:a16="http://schemas.microsoft.com/office/drawing/2014/main" id="{55F7572D-B8F7-4038-8251-26540CE169EC}"/>
              </a:ext>
            </a:extLst>
          </p:cNvPr>
          <p:cNvSpPr>
            <a:spLocks xmlns:a="http://schemas.openxmlformats.org/drawingml/2006/main" noGrp="1"/>
          </p:cNvSpPr>
          <p:nvPr>
            <p:ph type="body" idx="1"/>
          </p:nvPr>
        </p:nvSpPr>
        <p:spPr>
          <a:xfrm xmlns:a="http://schemas.openxmlformats.org/drawingml/2006/main">
            <a:off x="4696022"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Arial"/>
              <a:buNone/>
              <a:defRPr sz="900" b="0" i="0" u="none" cap="none">
                <a:solidFill>
                  <a:schemeClr val="dk1"/>
                </a:solidFill>
                <a:latin typeface="Arial"/>
                <a:ea typeface="Arial"/>
                <a:cs typeface="Arial"/>
              </a:defRPr>
            </a:lvl1pPr>
            <a:lvl2pPr marL="914400" marR="0" indent="-285750" algn="l">
              <a:lnSpc>
                <a:spcPct val="100000"/>
              </a:lnSpc>
              <a:spcBef>
                <a:spcPts val="560"/>
              </a:spcBef>
              <a:spcAft>
                <a:spcPts val="0"/>
              </a:spcAft>
              <a:buClr>
                <a:schemeClr val="dk1"/>
              </a:buClr>
              <a:buSzPts val="900"/>
              <a:buFont typeface="Arial"/>
              <a:buChar char="–"/>
              <a:defRPr sz="900" b="0" i="0" u="none" cap="none">
                <a:solidFill>
                  <a:schemeClr val="dk1"/>
                </a:solidFill>
                <a:latin typeface="Arial"/>
                <a:ea typeface="Arial"/>
                <a:cs typeface="Arial"/>
              </a:defRPr>
            </a:lvl2pPr>
            <a:lvl3pPr marL="1371600" marR="0" indent="-285750" algn="l">
              <a:lnSpc>
                <a:spcPct val="100000"/>
              </a:lnSpc>
              <a:spcBef>
                <a:spcPts val="480"/>
              </a:spcBef>
              <a:spcAft>
                <a:spcPts val="0"/>
              </a:spcAft>
              <a:buClr>
                <a:schemeClr val="dk1"/>
              </a:buClr>
              <a:buSzPts val="900"/>
              <a:buFont typeface="Arial"/>
              <a:buChar char="•"/>
              <a:defRPr sz="900" b="0" i="0" u="none" cap="none">
                <a:solidFill>
                  <a:schemeClr val="dk1"/>
                </a:solidFill>
                <a:latin typeface="Arial"/>
                <a:ea typeface="Arial"/>
                <a:cs typeface="Arial"/>
              </a:defRPr>
            </a:lvl3pPr>
            <a:lvl4pPr marL="1828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4pPr>
            <a:lvl5pPr marL="22860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5pPr>
            <a:lvl6pPr marL="27432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6pPr>
            <a:lvl7pPr marL="32004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7pPr>
            <a:lvl8pPr marL="36576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8pPr>
            <a:lvl9pPr marL="4114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9pPr>
          </a:lstStyle>
          <a:p xmlns:a="http://schemas.openxmlformats.org/drawingml/2006/main"/>
        </p:txBody>
      </p:sp>
      <p:sp>
        <p:nvSpPr>
          <p:cNvPr id="36" name="Google Shape;36;p3">
            <a:extLst xmlns:a="http://schemas.openxmlformats.org/drawingml/2006/main">
              <a:ext uri="{FF2B5EF4-FFF2-40B4-BE49-F238E27FC236}">
                <a16:creationId xmlns:a16="http://schemas.microsoft.com/office/drawing/2014/main" id="{A8B59457-CF89-4086-BAD2-DC1A2611F3FB}"/>
              </a:ext>
            </a:extLst>
          </p:cNvPr>
          <p:cNvSpPr>
            <a:spLocks xmlns:a="http://schemas.openxmlformats.org/drawingml/2006/main" noGrp="1"/>
          </p:cNvSpPr>
          <p:nvPr>
            <p:ph type="body" idx="2"/>
          </p:nvPr>
        </p:nvSpPr>
        <p:spPr>
          <a:xfrm xmlns:a="http://schemas.openxmlformats.org/drawingml/2006/main">
            <a:off x="6418823"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Arial"/>
              <a:buNone/>
              <a:defRPr sz="900" b="0" i="0" u="none" cap="none">
                <a:solidFill>
                  <a:schemeClr val="dk1"/>
                </a:solidFill>
                <a:latin typeface="Arial"/>
                <a:ea typeface="Arial"/>
                <a:cs typeface="Arial"/>
              </a:defRPr>
            </a:lvl1pPr>
            <a:lvl2pPr marL="914400" marR="0" indent="-285750" algn="l">
              <a:lnSpc>
                <a:spcPct val="100000"/>
              </a:lnSpc>
              <a:spcBef>
                <a:spcPts val="560"/>
              </a:spcBef>
              <a:spcAft>
                <a:spcPts val="0"/>
              </a:spcAft>
              <a:buClr>
                <a:schemeClr val="dk1"/>
              </a:buClr>
              <a:buSzPts val="900"/>
              <a:buFont typeface="Arial"/>
              <a:buChar char="–"/>
              <a:defRPr sz="900" b="0" i="0" u="none" cap="none">
                <a:solidFill>
                  <a:schemeClr val="dk1"/>
                </a:solidFill>
                <a:latin typeface="Arial"/>
                <a:ea typeface="Arial"/>
                <a:cs typeface="Arial"/>
              </a:defRPr>
            </a:lvl2pPr>
            <a:lvl3pPr marL="1371600" marR="0" indent="-285750" algn="l">
              <a:lnSpc>
                <a:spcPct val="100000"/>
              </a:lnSpc>
              <a:spcBef>
                <a:spcPts val="480"/>
              </a:spcBef>
              <a:spcAft>
                <a:spcPts val="0"/>
              </a:spcAft>
              <a:buClr>
                <a:schemeClr val="dk1"/>
              </a:buClr>
              <a:buSzPts val="900"/>
              <a:buFont typeface="Arial"/>
              <a:buChar char="•"/>
              <a:defRPr sz="900" b="0" i="0" u="none" cap="none">
                <a:solidFill>
                  <a:schemeClr val="dk1"/>
                </a:solidFill>
                <a:latin typeface="Arial"/>
                <a:ea typeface="Arial"/>
                <a:cs typeface="Arial"/>
              </a:defRPr>
            </a:lvl3pPr>
            <a:lvl4pPr marL="1828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4pPr>
            <a:lvl5pPr marL="22860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5pPr>
            <a:lvl6pPr marL="27432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6pPr>
            <a:lvl7pPr marL="32004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7pPr>
            <a:lvl8pPr marL="36576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8pPr>
            <a:lvl9pPr marL="4114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9pPr>
          </a:lstStyle>
          <a:p xmlns:a="http://schemas.openxmlformats.org/drawingml/2006/main"/>
        </p:txBody>
      </p:sp>
      <p:sp>
        <p:nvSpPr>
          <p:cNvPr id="37" name="Google Shape;37;p3">
            <a:extLst xmlns:a="http://schemas.openxmlformats.org/drawingml/2006/main">
              <a:ext uri="{FF2B5EF4-FFF2-40B4-BE49-F238E27FC236}">
                <a16:creationId xmlns:a16="http://schemas.microsoft.com/office/drawing/2014/main" id="{460E12C9-DA52-4BCF-B42A-FA0FCB45DBE4}"/>
              </a:ext>
            </a:extLst>
          </p:cNvPr>
          <p:cNvSpPr>
            <a:spLocks xmlns:a="http://schemas.openxmlformats.org/drawingml/2006/main" noGrp="1"/>
          </p:cNvSpPr>
          <p:nvPr>
            <p:ph type="body" idx="3"/>
          </p:nvPr>
        </p:nvSpPr>
        <p:spPr>
          <a:xfrm xmlns:a="http://schemas.openxmlformats.org/drawingml/2006/main">
            <a:off x="8493322" y="381000"/>
            <a:ext cx="11556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Arial"/>
              <a:buNone/>
              <a:defRPr sz="900" b="0" i="0" u="none" cap="none">
                <a:solidFill>
                  <a:schemeClr val="dk1"/>
                </a:solidFill>
                <a:latin typeface="Arial"/>
                <a:ea typeface="Arial"/>
                <a:cs typeface="Arial"/>
              </a:defRPr>
            </a:lvl1pPr>
            <a:lvl2pPr marL="914400" marR="0" indent="-285750" algn="l">
              <a:lnSpc>
                <a:spcPct val="100000"/>
              </a:lnSpc>
              <a:spcBef>
                <a:spcPts val="560"/>
              </a:spcBef>
              <a:spcAft>
                <a:spcPts val="0"/>
              </a:spcAft>
              <a:buClr>
                <a:schemeClr val="dk1"/>
              </a:buClr>
              <a:buSzPts val="900"/>
              <a:buFont typeface="Arial"/>
              <a:buChar char="–"/>
              <a:defRPr sz="900" b="0" i="0" u="none" cap="none">
                <a:solidFill>
                  <a:schemeClr val="dk1"/>
                </a:solidFill>
                <a:latin typeface="Arial"/>
                <a:ea typeface="Arial"/>
                <a:cs typeface="Arial"/>
              </a:defRPr>
            </a:lvl2pPr>
            <a:lvl3pPr marL="1371600" marR="0" indent="-285750" algn="l">
              <a:lnSpc>
                <a:spcPct val="100000"/>
              </a:lnSpc>
              <a:spcBef>
                <a:spcPts val="480"/>
              </a:spcBef>
              <a:spcAft>
                <a:spcPts val="0"/>
              </a:spcAft>
              <a:buClr>
                <a:schemeClr val="dk1"/>
              </a:buClr>
              <a:buSzPts val="900"/>
              <a:buFont typeface="Arial"/>
              <a:buChar char="•"/>
              <a:defRPr sz="900" b="0" i="0" u="none" cap="none">
                <a:solidFill>
                  <a:schemeClr val="dk1"/>
                </a:solidFill>
                <a:latin typeface="Arial"/>
                <a:ea typeface="Arial"/>
                <a:cs typeface="Arial"/>
              </a:defRPr>
            </a:lvl3pPr>
            <a:lvl4pPr marL="1828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4pPr>
            <a:lvl5pPr marL="22860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5pPr>
            <a:lvl6pPr marL="27432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6pPr>
            <a:lvl7pPr marL="32004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7pPr>
            <a:lvl8pPr marL="36576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8pPr>
            <a:lvl9pPr marL="4114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9pPr>
          </a:lstStyle>
          <a:p xmlns:a="http://schemas.openxmlformats.org/drawingml/2006/main"/>
        </p:txBody>
      </p:sp>
      <p:sp>
        <p:nvSpPr>
          <p:cNvPr id="38" name="Google Shape;38;p3">
            <a:extLst xmlns:a="http://schemas.openxmlformats.org/drawingml/2006/main">
              <a:ext uri="{FF2B5EF4-FFF2-40B4-BE49-F238E27FC236}">
                <a16:creationId xmlns:a16="http://schemas.microsoft.com/office/drawing/2014/main" id="{CD4A630B-43D2-46AC-BF53-D2F401DE8722}"/>
              </a:ext>
            </a:extLst>
          </p:cNvPr>
          <p:cNvSpPr>
            <a:spLocks xmlns:a="http://schemas.openxmlformats.org/drawingml/2006/main" noGrp="1"/>
          </p:cNvSpPr>
          <p:nvPr>
            <p:ph type="body" idx="4"/>
          </p:nvPr>
        </p:nvSpPr>
        <p:spPr>
          <a:xfrm xmlns:a="http://schemas.openxmlformats.org/drawingml/2006/main">
            <a:off x="309424" y="1066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39" name="Google Shape;39;p3">
            <a:extLst xmlns:a="http://schemas.openxmlformats.org/drawingml/2006/main">
              <a:ext uri="{FF2B5EF4-FFF2-40B4-BE49-F238E27FC236}">
                <a16:creationId xmlns:a16="http://schemas.microsoft.com/office/drawing/2014/main" id="{69A982CF-7908-48CF-B3B9-A844C29655B9}"/>
              </a:ext>
            </a:extLst>
          </p:cNvPr>
          <p:cNvSpPr>
            <a:spLocks xmlns:a="http://schemas.openxmlformats.org/drawingml/2006/main" noGrp="1"/>
          </p:cNvSpPr>
          <p:nvPr>
            <p:ph type="body" idx="5"/>
          </p:nvPr>
        </p:nvSpPr>
        <p:spPr>
          <a:xfrm xmlns:a="http://schemas.openxmlformats.org/drawingml/2006/main">
            <a:off x="2185335" y="1066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0" name="Google Shape;40;p3">
            <a:extLst xmlns:a="http://schemas.openxmlformats.org/drawingml/2006/main">
              <a:ext uri="{FF2B5EF4-FFF2-40B4-BE49-F238E27FC236}">
                <a16:creationId xmlns:a16="http://schemas.microsoft.com/office/drawing/2014/main" id="{422DE764-74E1-47C2-8630-76DCF7132B9C}"/>
              </a:ext>
            </a:extLst>
          </p:cNvPr>
          <p:cNvSpPr>
            <a:spLocks xmlns:a="http://schemas.openxmlformats.org/drawingml/2006/main" noGrp="1"/>
          </p:cNvSpPr>
          <p:nvPr>
            <p:ph type="body" idx="6"/>
          </p:nvPr>
        </p:nvSpPr>
        <p:spPr>
          <a:xfrm xmlns:a="http://schemas.openxmlformats.org/drawingml/2006/main">
            <a:off x="4067689" y="1066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1" name="Google Shape;41;p3">
            <a:extLst xmlns:a="http://schemas.openxmlformats.org/drawingml/2006/main">
              <a:ext uri="{FF2B5EF4-FFF2-40B4-BE49-F238E27FC236}">
                <a16:creationId xmlns:a16="http://schemas.microsoft.com/office/drawing/2014/main" id="{F59C5B72-8517-4117-A788-2680D0950E3B}"/>
              </a:ext>
            </a:extLst>
          </p:cNvPr>
          <p:cNvSpPr>
            <a:spLocks xmlns:a="http://schemas.openxmlformats.org/drawingml/2006/main" noGrp="1"/>
          </p:cNvSpPr>
          <p:nvPr>
            <p:ph type="body" idx="7"/>
          </p:nvPr>
        </p:nvSpPr>
        <p:spPr>
          <a:xfrm xmlns:a="http://schemas.openxmlformats.org/drawingml/2006/main">
            <a:off x="5948526" y="1056067"/>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2" name="Google Shape;42;p3">
            <a:extLst xmlns:a="http://schemas.openxmlformats.org/drawingml/2006/main">
              <a:ext uri="{FF2B5EF4-FFF2-40B4-BE49-F238E27FC236}">
                <a16:creationId xmlns:a16="http://schemas.microsoft.com/office/drawing/2014/main" id="{D4AB9B6C-507E-4744-9763-63E52977CBD8}"/>
              </a:ext>
            </a:extLst>
          </p:cNvPr>
          <p:cNvSpPr>
            <a:spLocks xmlns:a="http://schemas.openxmlformats.org/drawingml/2006/main" noGrp="1"/>
          </p:cNvSpPr>
          <p:nvPr>
            <p:ph type="body" idx="8"/>
          </p:nvPr>
        </p:nvSpPr>
        <p:spPr>
          <a:xfrm xmlns:a="http://schemas.openxmlformats.org/drawingml/2006/main">
            <a:off x="7835806" y="1056067"/>
            <a:ext cx="1754326" cy="15300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3" name="Google Shape;43;p3">
            <a:extLst xmlns:a="http://schemas.openxmlformats.org/drawingml/2006/main">
              <a:ext uri="{FF2B5EF4-FFF2-40B4-BE49-F238E27FC236}">
                <a16:creationId xmlns:a16="http://schemas.microsoft.com/office/drawing/2014/main" id="{F3C26F77-EA9A-4A6A-B554-B32A2510E6D9}"/>
              </a:ext>
            </a:extLst>
          </p:cNvPr>
          <p:cNvSpPr>
            <a:spLocks xmlns:a="http://schemas.openxmlformats.org/drawingml/2006/main" noGrp="1"/>
          </p:cNvSpPr>
          <p:nvPr>
            <p:ph type="body" idx="9"/>
          </p:nvPr>
        </p:nvSpPr>
        <p:spPr>
          <a:xfrm xmlns:a="http://schemas.openxmlformats.org/drawingml/2006/main">
            <a:off x="309424"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4" name="Google Shape;44;p3">
            <a:extLst xmlns:a="http://schemas.openxmlformats.org/drawingml/2006/main">
              <a:ext uri="{FF2B5EF4-FFF2-40B4-BE49-F238E27FC236}">
                <a16:creationId xmlns:a16="http://schemas.microsoft.com/office/drawing/2014/main" id="{D8905887-5096-4DE9-8FC5-9F1F087C8544}"/>
              </a:ext>
            </a:extLst>
          </p:cNvPr>
          <p:cNvSpPr>
            <a:spLocks xmlns:a="http://schemas.openxmlformats.org/drawingml/2006/main" noGrp="1"/>
          </p:cNvSpPr>
          <p:nvPr>
            <p:ph type="body" idx="13"/>
          </p:nvPr>
        </p:nvSpPr>
        <p:spPr>
          <a:xfrm xmlns:a="http://schemas.openxmlformats.org/drawingml/2006/main">
            <a:off x="2196704"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5" name="Google Shape;45;p3">
            <a:extLst xmlns:a="http://schemas.openxmlformats.org/drawingml/2006/main">
              <a:ext uri="{FF2B5EF4-FFF2-40B4-BE49-F238E27FC236}">
                <a16:creationId xmlns:a16="http://schemas.microsoft.com/office/drawing/2014/main" id="{1F46D897-C928-49BE-95F8-B077A2A0E5F5}"/>
              </a:ext>
            </a:extLst>
          </p:cNvPr>
          <p:cNvSpPr>
            <a:spLocks xmlns:a="http://schemas.openxmlformats.org/drawingml/2006/main" noGrp="1"/>
          </p:cNvSpPr>
          <p:nvPr>
            <p:ph type="body" idx="14"/>
          </p:nvPr>
        </p:nvSpPr>
        <p:spPr>
          <a:xfrm xmlns:a="http://schemas.openxmlformats.org/drawingml/2006/main">
            <a:off x="4072615"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6" name="Google Shape;46;p3">
            <a:extLst xmlns:a="http://schemas.openxmlformats.org/drawingml/2006/main">
              <a:ext uri="{FF2B5EF4-FFF2-40B4-BE49-F238E27FC236}">
                <a16:creationId xmlns:a16="http://schemas.microsoft.com/office/drawing/2014/main" id="{DF112B03-B2DE-4A8A-9DDA-9A78A6A5CB79}"/>
              </a:ext>
            </a:extLst>
          </p:cNvPr>
          <p:cNvSpPr>
            <a:spLocks xmlns:a="http://schemas.openxmlformats.org/drawingml/2006/main" noGrp="1"/>
          </p:cNvSpPr>
          <p:nvPr>
            <p:ph type="body" idx="15"/>
          </p:nvPr>
        </p:nvSpPr>
        <p:spPr>
          <a:xfrm xmlns:a="http://schemas.openxmlformats.org/drawingml/2006/main">
            <a:off x="5952078"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7" name="Google Shape;47;p3">
            <a:extLst xmlns:a="http://schemas.openxmlformats.org/drawingml/2006/main">
              <a:ext uri="{FF2B5EF4-FFF2-40B4-BE49-F238E27FC236}">
                <a16:creationId xmlns:a16="http://schemas.microsoft.com/office/drawing/2014/main" id="{7B18A664-AD46-44E1-98D3-4EDAA596A65F}"/>
              </a:ext>
            </a:extLst>
          </p:cNvPr>
          <p:cNvSpPr>
            <a:spLocks xmlns:a="http://schemas.openxmlformats.org/drawingml/2006/main" noGrp="1"/>
          </p:cNvSpPr>
          <p:nvPr>
            <p:ph type="body" idx="16"/>
          </p:nvPr>
        </p:nvSpPr>
        <p:spPr>
          <a:xfrm xmlns:a="http://schemas.openxmlformats.org/drawingml/2006/main">
            <a:off x="7835806" y="2965563"/>
            <a:ext cx="1754326" cy="15300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8" name="Google Shape;48;p3">
            <a:extLst xmlns:a="http://schemas.openxmlformats.org/drawingml/2006/main">
              <a:ext uri="{FF2B5EF4-FFF2-40B4-BE49-F238E27FC236}">
                <a16:creationId xmlns:a16="http://schemas.microsoft.com/office/drawing/2014/main" id="{DD54F9DA-AD71-4085-A4FA-B35BFE7AC0DC}"/>
              </a:ext>
            </a:extLst>
          </p:cNvPr>
          <p:cNvSpPr>
            <a:spLocks xmlns:a="http://schemas.openxmlformats.org/drawingml/2006/main" noGrp="1"/>
          </p:cNvSpPr>
          <p:nvPr>
            <p:ph type="body" idx="17"/>
          </p:nvPr>
        </p:nvSpPr>
        <p:spPr>
          <a:xfrm xmlns:a="http://schemas.openxmlformats.org/drawingml/2006/main">
            <a:off x="309424" y="4876800"/>
            <a:ext cx="4561026" cy="14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9" name="Google Shape;49;p3">
            <a:extLst xmlns:a="http://schemas.openxmlformats.org/drawingml/2006/main">
              <a:ext uri="{FF2B5EF4-FFF2-40B4-BE49-F238E27FC236}">
                <a16:creationId xmlns:a16="http://schemas.microsoft.com/office/drawing/2014/main" id="{33937C06-D304-4834-ACAB-607F746945ED}"/>
              </a:ext>
            </a:extLst>
          </p:cNvPr>
          <p:cNvSpPr>
            <a:spLocks xmlns:a="http://schemas.openxmlformats.org/drawingml/2006/main" noGrp="1"/>
          </p:cNvSpPr>
          <p:nvPr>
            <p:ph type="body" idx="18"/>
          </p:nvPr>
        </p:nvSpPr>
        <p:spPr>
          <a:xfrm xmlns:a="http://schemas.openxmlformats.org/drawingml/2006/main">
            <a:off x="5056350" y="4876800"/>
            <a:ext cx="4533783" cy="14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bac4ab8431b344f1" /><Relationship Type="http://schemas.openxmlformats.org/officeDocument/2006/relationships/theme" Target="/ppt/slideMasters/theme/theme2.xml" Id="Rcbee764268cd41ea" /><Relationship Type="http://schemas.openxmlformats.org/officeDocument/2006/relationships/slideLayout" Target="/ppt/slideLayouts/slideLayout1.xml" Id="R4dd25581ed344b1c" /></Relationships>
</file>

<file path=ppt/slideMasters/slideMaster1.xml><?xml version="1.0" encoding="utf-8"?>
<p:sldMaster xmlns:p="http://schemas.openxmlformats.org/presentationml/2006/main">
  <p:cSld>
    <p:bg>
      <p:bgPr>
        <a:solidFill xmlns:a="http://schemas.openxmlformats.org/drawingml/2006/main">
          <a:srgbClr val="FFFCF8"/>
        </a:solidFill>
      </p:bgPr>
    </p:bg>
    <p:spTree>
      <p:nvGrpSpPr>
        <p:cNvPr id="1" name=""/>
        <p:cNvGrpSpPr/>
        <p:nvPr/>
      </p:nvGrpSpPr>
      <p:grpSpPr>
        <a:xfrm xmlns:a="http://schemas.openxmlformats.org/drawingml/2006/main"/>
      </p:grpSpPr>
      <p:sp>
        <p:nvSpPr>
          <p:cNvPr id="6" name="Google Shape;6;p2">
            <a:extLst xmlns:a="http://schemas.openxmlformats.org/drawingml/2006/main">
              <a:ext uri="{FF2B5EF4-FFF2-40B4-BE49-F238E27FC236}">
                <a16:creationId xmlns:a16="http://schemas.microsoft.com/office/drawing/2014/main" id="{0DC53802-6A20-47C7-B80C-61FD88E73086}"/>
              </a:ext>
            </a:extLst>
          </p:cNvPr>
          <p:cNvSpPr>
            <a:spLocks xmlns:a="http://schemas.openxmlformats.org/drawingml/2006/main" noGrp="1"/>
          </p:cNvSpPr>
          <p:nvPr/>
        </p:nvSpPr>
        <p:spPr>
          <a:xfrm xmlns:a="http://schemas.openxmlformats.org/drawingml/2006/main">
            <a:off x="244475" y="762000"/>
            <a:ext cx="9407400" cy="56388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7" name="Google Shape;7;p2">
            <a:extLst xmlns:a="http://schemas.openxmlformats.org/drawingml/2006/main">
              <a:ext uri="{FF2B5EF4-FFF2-40B4-BE49-F238E27FC236}">
                <a16:creationId xmlns:a16="http://schemas.microsoft.com/office/drawing/2014/main" id="{02F44842-3F73-40CB-BEBF-C415324F78FA}"/>
              </a:ext>
            </a:extLst>
          </p:cNvPr>
          <p:cNvSpPr>
            <a:spLocks xmlns:a="http://schemas.openxmlformats.org/drawingml/2006/main" noGrp="1"/>
          </p:cNvSpPr>
          <p:nvPr/>
        </p:nvSpPr>
        <p:spPr>
          <a:xfrm xmlns:a="http://schemas.openxmlformats.org/drawingml/2006/main">
            <a:off x="244475" y="762000"/>
            <a:ext cx="1879500" cy="3810000"/>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8" name="Google Shape;8;p2">
            <a:extLst xmlns:a="http://schemas.openxmlformats.org/drawingml/2006/main">
              <a:ext uri="{FF2B5EF4-FFF2-40B4-BE49-F238E27FC236}">
                <a16:creationId xmlns:a16="http://schemas.microsoft.com/office/drawing/2014/main" id="{46520C09-DD55-4DAA-B5D7-56180181B04C}"/>
              </a:ext>
            </a:extLst>
          </p:cNvPr>
          <p:cNvSpPr>
            <a:spLocks xmlns:a="http://schemas.openxmlformats.org/drawingml/2006/main" noGrp="1"/>
          </p:cNvSpPr>
          <p:nvPr/>
        </p:nvSpPr>
        <p:spPr>
          <a:xfrm xmlns:a="http://schemas.openxmlformats.org/drawingml/2006/main">
            <a:off x="2124075" y="760413"/>
            <a:ext cx="1881188" cy="1882775"/>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9" name="Google Shape;9;p2">
            <a:extLst xmlns:a="http://schemas.openxmlformats.org/drawingml/2006/main">
              <a:ext uri="{FF2B5EF4-FFF2-40B4-BE49-F238E27FC236}">
                <a16:creationId xmlns:a16="http://schemas.microsoft.com/office/drawing/2014/main" id="{C97D0299-6B50-4E7B-BD32-3354EA51475B}"/>
              </a:ext>
            </a:extLst>
          </p:cNvPr>
          <p:cNvSpPr>
            <a:spLocks xmlns:a="http://schemas.openxmlformats.org/drawingml/2006/main" noGrp="1"/>
          </p:cNvSpPr>
          <p:nvPr/>
        </p:nvSpPr>
        <p:spPr>
          <a:xfrm xmlns:a="http://schemas.openxmlformats.org/drawingml/2006/main">
            <a:off x="2124075" y="2643188"/>
            <a:ext cx="1881188" cy="192881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0" name="Google Shape;10;p2">
            <a:extLst xmlns:a="http://schemas.openxmlformats.org/drawingml/2006/main">
              <a:ext uri="{FF2B5EF4-FFF2-40B4-BE49-F238E27FC236}">
                <a16:creationId xmlns:a16="http://schemas.microsoft.com/office/drawing/2014/main" id="{861719ED-3986-454C-8150-F9DC65057272}"/>
              </a:ext>
            </a:extLst>
          </p:cNvPr>
          <p:cNvSpPr>
            <a:spLocks xmlns:a="http://schemas.openxmlformats.org/drawingml/2006/main" noGrp="1"/>
          </p:cNvSpPr>
          <p:nvPr/>
        </p:nvSpPr>
        <p:spPr>
          <a:xfrm xmlns:a="http://schemas.openxmlformats.org/drawingml/2006/main">
            <a:off x="4005263" y="762000"/>
            <a:ext cx="1879600" cy="3810000"/>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1" name="Google Shape;11;p2">
            <a:extLst xmlns:a="http://schemas.openxmlformats.org/drawingml/2006/main">
              <a:ext uri="{FF2B5EF4-FFF2-40B4-BE49-F238E27FC236}">
                <a16:creationId xmlns:a16="http://schemas.microsoft.com/office/drawing/2014/main" id="{48BD2A82-B710-4150-9601-EB98F8AC7FD4}"/>
              </a:ext>
            </a:extLst>
          </p:cNvPr>
          <p:cNvSpPr>
            <a:spLocks xmlns:a="http://schemas.openxmlformats.org/drawingml/2006/main" noGrp="1"/>
          </p:cNvSpPr>
          <p:nvPr/>
        </p:nvSpPr>
        <p:spPr>
          <a:xfrm xmlns:a="http://schemas.openxmlformats.org/drawingml/2006/main">
            <a:off x="5884863" y="762000"/>
            <a:ext cx="1879600" cy="1882775"/>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2" name="Google Shape;12;p2">
            <a:extLst xmlns:a="http://schemas.openxmlformats.org/drawingml/2006/main">
              <a:ext uri="{FF2B5EF4-FFF2-40B4-BE49-F238E27FC236}">
                <a16:creationId xmlns:a16="http://schemas.microsoft.com/office/drawing/2014/main" id="{2ED45E46-D2FB-4AAE-BFB1-E81EDACA16A7}"/>
              </a:ext>
            </a:extLst>
          </p:cNvPr>
          <p:cNvSpPr>
            <a:spLocks xmlns:a="http://schemas.openxmlformats.org/drawingml/2006/main" noGrp="1"/>
          </p:cNvSpPr>
          <p:nvPr/>
        </p:nvSpPr>
        <p:spPr>
          <a:xfrm xmlns:a="http://schemas.openxmlformats.org/drawingml/2006/main">
            <a:off x="5884863" y="2643188"/>
            <a:ext cx="1879600" cy="192881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3" name="Google Shape;13;p2">
            <a:extLst xmlns:a="http://schemas.openxmlformats.org/drawingml/2006/main">
              <a:ext uri="{FF2B5EF4-FFF2-40B4-BE49-F238E27FC236}">
                <a16:creationId xmlns:a16="http://schemas.microsoft.com/office/drawing/2014/main" id="{51372505-2276-4EA5-819D-2D9A79165021}"/>
              </a:ext>
            </a:extLst>
          </p:cNvPr>
          <p:cNvSpPr>
            <a:spLocks xmlns:a="http://schemas.openxmlformats.org/drawingml/2006/main" noGrp="1"/>
          </p:cNvSpPr>
          <p:nvPr/>
        </p:nvSpPr>
        <p:spPr>
          <a:xfrm xmlns:a="http://schemas.openxmlformats.org/drawingml/2006/main">
            <a:off x="7770813" y="762000"/>
            <a:ext cx="1881187" cy="3810000"/>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4" name="Google Shape;14;p2">
            <a:extLst xmlns:a="http://schemas.openxmlformats.org/drawingml/2006/main">
              <a:ext uri="{FF2B5EF4-FFF2-40B4-BE49-F238E27FC236}">
                <a16:creationId xmlns:a16="http://schemas.microsoft.com/office/drawing/2014/main" id="{006E3B67-83C0-4C66-A166-574A1748A786}"/>
              </a:ext>
            </a:extLst>
          </p:cNvPr>
          <p:cNvSpPr>
            <a:spLocks xmlns:a="http://schemas.openxmlformats.org/drawingml/2006/main" noGrp="1"/>
          </p:cNvSpPr>
          <p:nvPr/>
        </p:nvSpPr>
        <p:spPr>
          <a:xfrm xmlns:a="http://schemas.openxmlformats.org/drawingml/2006/main">
            <a:off x="244475" y="4579938"/>
            <a:ext cx="4713288" cy="182086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5" name="Google Shape;15;p2">
            <a:extLst xmlns:a="http://schemas.openxmlformats.org/drawingml/2006/main">
              <a:ext uri="{FF2B5EF4-FFF2-40B4-BE49-F238E27FC236}">
                <a16:creationId xmlns:a16="http://schemas.microsoft.com/office/drawing/2014/main" id="{2656B9A0-768A-4535-81FF-32F419A29EB9}"/>
              </a:ext>
            </a:extLst>
          </p:cNvPr>
          <p:cNvSpPr>
            <a:spLocks xmlns:a="http://schemas.openxmlformats.org/drawingml/2006/main" noGrp="1"/>
          </p:cNvSpPr>
          <p:nvPr/>
        </p:nvSpPr>
        <p:spPr>
          <a:xfrm xmlns:a="http://schemas.openxmlformats.org/drawingml/2006/main">
            <a:off x="4957763" y="4579938"/>
            <a:ext cx="4692650" cy="182086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6" name="Google Shape;16;p2">
            <a:extLst xmlns:a="http://schemas.openxmlformats.org/drawingml/2006/main">
              <a:ext uri="{FF2B5EF4-FFF2-40B4-BE49-F238E27FC236}">
                <a16:creationId xmlns:a16="http://schemas.microsoft.com/office/drawing/2014/main" id="{75CDA97E-AF96-4CE3-9FEB-3DE8EA169056}"/>
              </a:ext>
            </a:extLst>
          </p:cNvPr>
          <p:cNvSpPr>
            <a:spLocks xmlns:a="http://schemas.openxmlformats.org/drawingml/2006/main" noGrp="1"/>
          </p:cNvSpPr>
          <p:nvPr/>
        </p:nvSpPr>
        <p:spPr>
          <a:xfrm xmlns:a="http://schemas.openxmlformats.org/drawingml/2006/main">
            <a:off x="4632375" y="184150"/>
            <a:ext cx="1403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b="0" i="1" u="none" cap="none">
                <a:solidFill>
                  <a:schemeClr val="dk1"/>
                </a:solidFill>
                <a:latin typeface="Figtree"/>
                <a:ea typeface="Figtree"/>
                <a:cs typeface="Figtree"/>
              </a:rPr>
              <a:t>Project / Company Name:</a:t>
            </a:r>
            <a:endParaRPr sz="1400" b="0" i="0" u="none" cap="none">
              <a:solidFill>
                <a:srgbClr val="000000"/>
              </a:solidFill>
              <a:latin typeface="Figtree"/>
              <a:ea typeface="Figtree"/>
              <a:cs typeface="Figtree"/>
            </a:endParaRPr>
          </a:p>
        </p:txBody>
      </p:sp>
      <p:sp>
        <p:nvSpPr>
          <p:cNvPr id="17" name="Google Shape;17;p2">
            <a:extLst xmlns:a="http://schemas.openxmlformats.org/drawingml/2006/main">
              <a:ext uri="{FF2B5EF4-FFF2-40B4-BE49-F238E27FC236}">
                <a16:creationId xmlns:a16="http://schemas.microsoft.com/office/drawing/2014/main" id="{3A91E5E7-1794-4C74-8935-B53705E1284D}"/>
              </a:ext>
            </a:extLst>
          </p:cNvPr>
          <p:cNvSpPr>
            <a:spLocks xmlns:a="http://schemas.openxmlformats.org/drawingml/2006/main" noGrp="1"/>
          </p:cNvSpPr>
          <p:nvPr/>
        </p:nvSpPr>
        <p:spPr>
          <a:xfrm xmlns:a="http://schemas.openxmlformats.org/drawingml/2006/main">
            <a:off x="6357988" y="180975"/>
            <a:ext cx="1403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b="0" i="1" u="none" cap="none">
                <a:solidFill>
                  <a:schemeClr val="dk1"/>
                </a:solidFill>
                <a:latin typeface="Figtree"/>
                <a:ea typeface="Figtree"/>
                <a:cs typeface="Figtree"/>
              </a:rPr>
              <a:t>Owner:</a:t>
            </a:r>
            <a:endParaRPr sz="1400" b="0" i="0" u="none" cap="none">
              <a:solidFill>
                <a:srgbClr val="000000"/>
              </a:solidFill>
              <a:latin typeface="Figtree"/>
              <a:ea typeface="Figtree"/>
              <a:cs typeface="Figtree"/>
            </a:endParaRPr>
          </a:p>
        </p:txBody>
      </p:sp>
      <p:sp>
        <p:nvSpPr>
          <p:cNvPr id="18" name="Google Shape;18;p2">
            <a:extLst xmlns:a="http://schemas.openxmlformats.org/drawingml/2006/main">
              <a:ext uri="{FF2B5EF4-FFF2-40B4-BE49-F238E27FC236}">
                <a16:creationId xmlns:a16="http://schemas.microsoft.com/office/drawing/2014/main" id="{A1DB6B49-9298-405B-8690-6CA07C1414A9}"/>
              </a:ext>
            </a:extLst>
          </p:cNvPr>
          <p:cNvSpPr>
            <a:spLocks xmlns:a="http://schemas.openxmlformats.org/drawingml/2006/main" noGrp="1"/>
          </p:cNvSpPr>
          <p:nvPr/>
        </p:nvSpPr>
        <p:spPr>
          <a:xfrm xmlns:a="http://schemas.openxmlformats.org/drawingml/2006/main">
            <a:off x="8436025" y="180975"/>
            <a:ext cx="1214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b="0" i="1" u="none" cap="none">
                <a:solidFill>
                  <a:schemeClr val="dk1"/>
                </a:solidFill>
                <a:latin typeface="Figtree"/>
                <a:ea typeface="Figtree"/>
                <a:cs typeface="Figtree"/>
              </a:rPr>
              <a:t>Date:</a:t>
            </a:r>
            <a:endParaRPr sz="1400" b="0" i="0" u="none" cap="none">
              <a:solidFill>
                <a:srgbClr val="000000"/>
              </a:solidFill>
              <a:latin typeface="Figtree"/>
              <a:ea typeface="Figtree"/>
              <a:cs typeface="Figtree"/>
            </a:endParaRPr>
          </a:p>
        </p:txBody>
      </p:sp>
      <p:sp>
        <p:nvSpPr>
          <p:cNvPr id="19" name="Google Shape;19;p2">
            <a:extLst xmlns:a="http://schemas.openxmlformats.org/drawingml/2006/main">
              <a:ext uri="{FF2B5EF4-FFF2-40B4-BE49-F238E27FC236}">
                <a16:creationId xmlns:a16="http://schemas.microsoft.com/office/drawing/2014/main" id="{BD5BCCFB-BC3D-483F-9B3F-5AC6097302DE}"/>
              </a:ext>
            </a:extLst>
          </p:cNvPr>
          <p:cNvSpPr>
            <a:spLocks xmlns:a="http://schemas.openxmlformats.org/drawingml/2006/main" noGrp="1"/>
          </p:cNvSpPr>
          <p:nvPr/>
        </p:nvSpPr>
        <p:spPr>
          <a:xfrm xmlns:a="http://schemas.openxmlformats.org/drawingml/2006/main">
            <a:off x="244475" y="7889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Problem</a:t>
            </a:r>
            <a:endParaRPr sz="1400" b="0" i="0" u="none" cap="none">
              <a:solidFill>
                <a:srgbClr val="000000"/>
              </a:solidFill>
              <a:latin typeface="Figtree"/>
              <a:ea typeface="Figtree"/>
              <a:cs typeface="Figtree"/>
            </a:endParaRPr>
          </a:p>
        </p:txBody>
      </p:sp>
      <p:sp>
        <p:nvSpPr>
          <p:cNvPr id="20" name="Google Shape;20;p2">
            <a:extLst xmlns:a="http://schemas.openxmlformats.org/drawingml/2006/main">
              <a:ext uri="{FF2B5EF4-FFF2-40B4-BE49-F238E27FC236}">
                <a16:creationId xmlns:a16="http://schemas.microsoft.com/office/drawing/2014/main" id="{4CC202B0-6307-47CE-A000-86F4D5E22AF0}"/>
              </a:ext>
            </a:extLst>
          </p:cNvPr>
          <p:cNvSpPr>
            <a:spLocks xmlns:a="http://schemas.openxmlformats.org/drawingml/2006/main" noGrp="1"/>
          </p:cNvSpPr>
          <p:nvPr/>
        </p:nvSpPr>
        <p:spPr>
          <a:xfrm xmlns:a="http://schemas.openxmlformats.org/drawingml/2006/main">
            <a:off x="244475" y="26495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Existing Alternatives</a:t>
            </a:r>
            <a:endParaRPr sz="1400" b="0" i="0" u="none" cap="none">
              <a:solidFill>
                <a:srgbClr val="000000"/>
              </a:solidFill>
              <a:latin typeface="Figtree"/>
              <a:ea typeface="Figtree"/>
              <a:cs typeface="Figtree"/>
            </a:endParaRPr>
          </a:p>
        </p:txBody>
      </p:sp>
      <p:sp>
        <p:nvSpPr>
          <p:cNvPr id="21" name="Google Shape;21;p2">
            <a:extLst xmlns:a="http://schemas.openxmlformats.org/drawingml/2006/main">
              <a:ext uri="{FF2B5EF4-FFF2-40B4-BE49-F238E27FC236}">
                <a16:creationId xmlns:a16="http://schemas.microsoft.com/office/drawing/2014/main" id="{0E7BFBEB-65D1-42CE-98E8-4F1B4436C629}"/>
              </a:ext>
            </a:extLst>
          </p:cNvPr>
          <p:cNvSpPr>
            <a:spLocks xmlns:a="http://schemas.openxmlformats.org/drawingml/2006/main" noGrp="1"/>
          </p:cNvSpPr>
          <p:nvPr/>
        </p:nvSpPr>
        <p:spPr>
          <a:xfrm xmlns:a="http://schemas.openxmlformats.org/drawingml/2006/main">
            <a:off x="244475" y="4572000"/>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Cost Structure</a:t>
            </a:r>
            <a:endParaRPr sz="1400" b="0" i="0" u="none" cap="none">
              <a:solidFill>
                <a:srgbClr val="000000"/>
              </a:solidFill>
              <a:latin typeface="Figtree"/>
              <a:ea typeface="Figtree"/>
              <a:cs typeface="Figtree"/>
            </a:endParaRPr>
          </a:p>
        </p:txBody>
      </p:sp>
      <p:sp>
        <p:nvSpPr>
          <p:cNvPr id="22" name="Google Shape;22;p2">
            <a:extLst xmlns:a="http://schemas.openxmlformats.org/drawingml/2006/main">
              <a:ext uri="{FF2B5EF4-FFF2-40B4-BE49-F238E27FC236}">
                <a16:creationId xmlns:a16="http://schemas.microsoft.com/office/drawing/2014/main" id="{C0BB5C36-9437-4DEF-B5BA-AE235E65D710}"/>
              </a:ext>
            </a:extLst>
          </p:cNvPr>
          <p:cNvSpPr>
            <a:spLocks xmlns:a="http://schemas.openxmlformats.org/drawingml/2006/main" noGrp="1"/>
          </p:cNvSpPr>
          <p:nvPr/>
        </p:nvSpPr>
        <p:spPr>
          <a:xfrm xmlns:a="http://schemas.openxmlformats.org/drawingml/2006/main">
            <a:off x="2124075" y="788988"/>
            <a:ext cx="17511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Solution</a:t>
            </a:r>
            <a:endParaRPr sz="1400" b="0" i="0" u="none" cap="none">
              <a:solidFill>
                <a:srgbClr val="000000"/>
              </a:solidFill>
              <a:latin typeface="Figtree"/>
              <a:ea typeface="Figtree"/>
              <a:cs typeface="Figtree"/>
            </a:endParaRPr>
          </a:p>
        </p:txBody>
      </p:sp>
      <p:sp>
        <p:nvSpPr>
          <p:cNvPr id="23" name="Google Shape;23;p2">
            <a:extLst xmlns:a="http://schemas.openxmlformats.org/drawingml/2006/main">
              <a:ext uri="{FF2B5EF4-FFF2-40B4-BE49-F238E27FC236}">
                <a16:creationId xmlns:a16="http://schemas.microsoft.com/office/drawing/2014/main" id="{EBE19981-3685-4EB8-B19E-8F32BCD66E95}"/>
              </a:ext>
            </a:extLst>
          </p:cNvPr>
          <p:cNvSpPr>
            <a:spLocks xmlns:a="http://schemas.openxmlformats.org/drawingml/2006/main" noGrp="1"/>
          </p:cNvSpPr>
          <p:nvPr/>
        </p:nvSpPr>
        <p:spPr>
          <a:xfrm xmlns:a="http://schemas.openxmlformats.org/drawingml/2006/main">
            <a:off x="2124075" y="2649538"/>
            <a:ext cx="17511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Key Metrics</a:t>
            </a:r>
            <a:endParaRPr sz="1400" b="0" i="0" u="none" cap="none">
              <a:solidFill>
                <a:srgbClr val="000000"/>
              </a:solidFill>
              <a:latin typeface="Figtree"/>
              <a:ea typeface="Figtree"/>
              <a:cs typeface="Figtree"/>
            </a:endParaRPr>
          </a:p>
        </p:txBody>
      </p:sp>
      <p:sp>
        <p:nvSpPr>
          <p:cNvPr id="24" name="Google Shape;24;p2">
            <a:extLst xmlns:a="http://schemas.openxmlformats.org/drawingml/2006/main">
              <a:ext uri="{FF2B5EF4-FFF2-40B4-BE49-F238E27FC236}">
                <a16:creationId xmlns:a16="http://schemas.microsoft.com/office/drawing/2014/main" id="{9D183C48-23ED-4C89-9FBD-BD5B69A24FDB}"/>
              </a:ext>
            </a:extLst>
          </p:cNvPr>
          <p:cNvSpPr>
            <a:spLocks xmlns:a="http://schemas.openxmlformats.org/drawingml/2006/main" noGrp="1"/>
          </p:cNvSpPr>
          <p:nvPr/>
        </p:nvSpPr>
        <p:spPr>
          <a:xfrm xmlns:a="http://schemas.openxmlformats.org/drawingml/2006/main">
            <a:off x="4025900" y="7889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Unique Value Proposition</a:t>
            </a:r>
            <a:endParaRPr sz="1400" b="0" i="0" u="none" cap="none">
              <a:solidFill>
                <a:srgbClr val="000000"/>
              </a:solidFill>
              <a:latin typeface="Figtree"/>
              <a:ea typeface="Figtree"/>
              <a:cs typeface="Figtree"/>
            </a:endParaRPr>
          </a:p>
        </p:txBody>
      </p:sp>
      <p:sp>
        <p:nvSpPr>
          <p:cNvPr id="25" name="Google Shape;25;p2">
            <a:extLst xmlns:a="http://schemas.openxmlformats.org/drawingml/2006/main">
              <a:ext uri="{FF2B5EF4-FFF2-40B4-BE49-F238E27FC236}">
                <a16:creationId xmlns:a16="http://schemas.microsoft.com/office/drawing/2014/main" id="{31348FC6-BD42-4C18-91E8-40C21CCE8699}"/>
              </a:ext>
            </a:extLst>
          </p:cNvPr>
          <p:cNvSpPr>
            <a:spLocks xmlns:a="http://schemas.openxmlformats.org/drawingml/2006/main" noGrp="1"/>
          </p:cNvSpPr>
          <p:nvPr/>
        </p:nvSpPr>
        <p:spPr>
          <a:xfrm xmlns:a="http://schemas.openxmlformats.org/drawingml/2006/main">
            <a:off x="4025900" y="26495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High-Level Concept</a:t>
            </a:r>
            <a:endParaRPr sz="1400" b="0" i="0" u="none" cap="none">
              <a:solidFill>
                <a:srgbClr val="000000"/>
              </a:solidFill>
              <a:latin typeface="Figtree"/>
              <a:ea typeface="Figtree"/>
              <a:cs typeface="Figtree"/>
            </a:endParaRPr>
          </a:p>
        </p:txBody>
      </p:sp>
      <p:sp>
        <p:nvSpPr>
          <p:cNvPr id="26" name="Google Shape;26;p2">
            <a:extLst xmlns:a="http://schemas.openxmlformats.org/drawingml/2006/main">
              <a:ext uri="{FF2B5EF4-FFF2-40B4-BE49-F238E27FC236}">
                <a16:creationId xmlns:a16="http://schemas.microsoft.com/office/drawing/2014/main" id="{D9A1DC81-9C49-412A-B1E9-BE92F96924FA}"/>
              </a:ext>
            </a:extLst>
          </p:cNvPr>
          <p:cNvSpPr>
            <a:spLocks xmlns:a="http://schemas.openxmlformats.org/drawingml/2006/main" noGrp="1"/>
          </p:cNvSpPr>
          <p:nvPr/>
        </p:nvSpPr>
        <p:spPr>
          <a:xfrm xmlns:a="http://schemas.openxmlformats.org/drawingml/2006/main">
            <a:off x="5919788" y="7826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Unfair Advantage</a:t>
            </a:r>
            <a:endParaRPr sz="1400" b="0" i="0" u="none" cap="none">
              <a:solidFill>
                <a:srgbClr val="000000"/>
              </a:solidFill>
              <a:latin typeface="Figtree"/>
              <a:ea typeface="Figtree"/>
              <a:cs typeface="Figtree"/>
            </a:endParaRPr>
          </a:p>
        </p:txBody>
      </p:sp>
      <p:sp>
        <p:nvSpPr>
          <p:cNvPr id="27" name="Google Shape;27;p2">
            <a:extLst xmlns:a="http://schemas.openxmlformats.org/drawingml/2006/main">
              <a:ext uri="{FF2B5EF4-FFF2-40B4-BE49-F238E27FC236}">
                <a16:creationId xmlns:a16="http://schemas.microsoft.com/office/drawing/2014/main" id="{636E3B4F-A61B-44A7-A978-15B7D878ACE9}"/>
              </a:ext>
            </a:extLst>
          </p:cNvPr>
          <p:cNvSpPr>
            <a:spLocks xmlns:a="http://schemas.openxmlformats.org/drawingml/2006/main" noGrp="1"/>
          </p:cNvSpPr>
          <p:nvPr/>
        </p:nvSpPr>
        <p:spPr>
          <a:xfrm xmlns:a="http://schemas.openxmlformats.org/drawingml/2006/main">
            <a:off x="5919788" y="26431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Channels</a:t>
            </a:r>
            <a:endParaRPr sz="1400" b="0" i="0" u="none" cap="none">
              <a:solidFill>
                <a:srgbClr val="000000"/>
              </a:solidFill>
              <a:latin typeface="Figtree"/>
              <a:ea typeface="Figtree"/>
              <a:cs typeface="Figtree"/>
            </a:endParaRPr>
          </a:p>
        </p:txBody>
      </p:sp>
      <p:sp>
        <p:nvSpPr>
          <p:cNvPr id="28" name="Google Shape;28;p2">
            <a:extLst xmlns:a="http://schemas.openxmlformats.org/drawingml/2006/main">
              <a:ext uri="{FF2B5EF4-FFF2-40B4-BE49-F238E27FC236}">
                <a16:creationId xmlns:a16="http://schemas.microsoft.com/office/drawing/2014/main" id="{DBFEC84E-A982-4D83-A4C3-649B2A0B0D94}"/>
              </a:ext>
            </a:extLst>
          </p:cNvPr>
          <p:cNvSpPr>
            <a:spLocks xmlns:a="http://schemas.openxmlformats.org/drawingml/2006/main" noGrp="1"/>
          </p:cNvSpPr>
          <p:nvPr/>
        </p:nvSpPr>
        <p:spPr>
          <a:xfrm xmlns:a="http://schemas.openxmlformats.org/drawingml/2006/main">
            <a:off x="7818438" y="7889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Customer Segments</a:t>
            </a:r>
            <a:endParaRPr sz="1400" b="0" i="0" u="none" cap="none">
              <a:solidFill>
                <a:srgbClr val="000000"/>
              </a:solidFill>
              <a:latin typeface="Figtree"/>
              <a:ea typeface="Figtree"/>
              <a:cs typeface="Figtree"/>
            </a:endParaRPr>
          </a:p>
        </p:txBody>
      </p:sp>
      <p:sp>
        <p:nvSpPr>
          <p:cNvPr id="29" name="Google Shape;29;p2">
            <a:extLst xmlns:a="http://schemas.openxmlformats.org/drawingml/2006/main">
              <a:ext uri="{FF2B5EF4-FFF2-40B4-BE49-F238E27FC236}">
                <a16:creationId xmlns:a16="http://schemas.microsoft.com/office/drawing/2014/main" id="{15F25721-C92F-4A76-842F-BF110A32DABE}"/>
              </a:ext>
            </a:extLst>
          </p:cNvPr>
          <p:cNvSpPr>
            <a:spLocks xmlns:a="http://schemas.openxmlformats.org/drawingml/2006/main" noGrp="1"/>
          </p:cNvSpPr>
          <p:nvPr/>
        </p:nvSpPr>
        <p:spPr>
          <a:xfrm xmlns:a="http://schemas.openxmlformats.org/drawingml/2006/main">
            <a:off x="7818438" y="26495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Early Adopters</a:t>
            </a:r>
            <a:endParaRPr sz="1400" b="0" i="0" u="none" cap="none">
              <a:solidFill>
                <a:srgbClr val="000000"/>
              </a:solidFill>
              <a:latin typeface="Figtree"/>
              <a:ea typeface="Figtree"/>
              <a:cs typeface="Figtree"/>
            </a:endParaRPr>
          </a:p>
        </p:txBody>
      </p:sp>
      <p:sp>
        <p:nvSpPr>
          <p:cNvPr id="30" name="Google Shape;30;p2">
            <a:extLst xmlns:a="http://schemas.openxmlformats.org/drawingml/2006/main">
              <a:ext uri="{FF2B5EF4-FFF2-40B4-BE49-F238E27FC236}">
                <a16:creationId xmlns:a16="http://schemas.microsoft.com/office/drawing/2014/main" id="{D838584E-C5F5-4A61-B75A-47DD8A160B9F}"/>
              </a:ext>
            </a:extLst>
          </p:cNvPr>
          <p:cNvSpPr>
            <a:spLocks xmlns:a="http://schemas.openxmlformats.org/drawingml/2006/main" noGrp="1"/>
          </p:cNvSpPr>
          <p:nvPr/>
        </p:nvSpPr>
        <p:spPr>
          <a:xfrm xmlns:a="http://schemas.openxmlformats.org/drawingml/2006/main">
            <a:off x="4973638" y="4572000"/>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Revenue Streams</a:t>
            </a:r>
            <a:endParaRPr sz="1400" b="0" i="0" u="none" cap="none">
              <a:solidFill>
                <a:srgbClr val="000000"/>
              </a:solidFill>
              <a:latin typeface="Figtree"/>
              <a:ea typeface="Figtree"/>
              <a:cs typeface="Figtree"/>
            </a:endParaRPr>
          </a:p>
        </p:txBody>
      </p:sp>
      <p:sp>
        <p:nvSpPr>
          <p:cNvPr id="31" name="Google Shape;31;p2">
            <a:extLst xmlns:a="http://schemas.openxmlformats.org/drawingml/2006/main">
              <a:ext uri="{FF2B5EF4-FFF2-40B4-BE49-F238E27FC236}">
                <a16:creationId xmlns:a16="http://schemas.microsoft.com/office/drawing/2014/main" id="{69535687-AFFF-440E-9894-60C2798C3E39}"/>
              </a:ext>
            </a:extLst>
          </p:cNvPr>
          <p:cNvSpPr>
            <a:spLocks xmlns:a="http://schemas.openxmlformats.org/drawingml/2006/main" noGrp="1"/>
          </p:cNvSpPr>
          <p:nvPr/>
        </p:nvSpPr>
        <p:spPr>
          <a:xfrm xmlns:a="http://schemas.openxmlformats.org/drawingml/2006/main">
            <a:off x="560775" y="122419"/>
            <a:ext cx="2400300" cy="53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pPr>
            <a:br/>
            <a:r>
              <a:rPr sz="1300" b="1" i="0" u="none" cap="none">
                <a:solidFill>
                  <a:srgbClr val="444444"/>
                </a:solidFill>
                <a:latin typeface="Figtree"/>
                <a:ea typeface="Figtree"/>
                <a:cs typeface="Figtree"/>
              </a:rPr>
              <a:t>Lean Canvas</a:t>
            </a:r>
            <a:endParaRPr sz="1100" b="1" i="0" u="none" cap="none">
              <a:solidFill>
                <a:srgbClr val="000000"/>
              </a:solidFill>
              <a:latin typeface="Figtree"/>
              <a:ea typeface="Figtree"/>
              <a:cs typeface="Figtree"/>
            </a:endParaRPr>
          </a:p>
        </p:txBody>
      </p:sp>
      <p:sp>
        <p:nvSpPr>
          <p:cNvPr id="32" name="Google Shape;32;p2">
            <a:extLst xmlns:a="http://schemas.openxmlformats.org/drawingml/2006/main">
              <a:ext uri="{FF2B5EF4-FFF2-40B4-BE49-F238E27FC236}">
                <a16:creationId xmlns:a16="http://schemas.microsoft.com/office/drawing/2014/main" id="{E38EDECE-F72E-4E02-B60A-71D9AAB47E0D}"/>
              </a:ext>
            </a:extLst>
          </p:cNvPr>
          <p:cNvSpPr>
            <a:spLocks xmlns:a="http://schemas.openxmlformats.org/drawingml/2006/main" noGrp="1"/>
          </p:cNvSpPr>
          <p:nvPr/>
        </p:nvSpPr>
        <p:spPr>
          <a:xfrm xmlns:a="http://schemas.openxmlformats.org/drawingml/2006/main">
            <a:off x="247650" y="6457950"/>
            <a:ext cx="9410700" cy="31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u="sng">
                <a:solidFill>
                  <a:srgbClr val="787828"/>
                </a:solidFill>
                <a:latin typeface="Quattrocento Sans"/>
                <a:ea typeface="Quattrocento Sans"/>
                <a:cs typeface="Quattrocento Sans"/>
              </a:rPr>
              <a:t>www.builtdifferent.vc</a:t>
            </a:r>
            <a:r>
              <a:rPr sz="700">
                <a:solidFill>
                  <a:srgbClr val="808080"/>
                </a:solidFill>
                <a:latin typeface="Quattrocento Sans"/>
                <a:ea typeface="Quattrocento Sans"/>
                <a:cs typeface="Quattrocento Sans"/>
              </a:rPr>
              <a:t> </a:t>
            </a:r>
            <a:br/>
            <a:r>
              <a:rPr sz="700" b="0" i="0" u="none" cap="none">
                <a:solidFill>
                  <a:srgbClr val="808080"/>
                </a:solidFill>
                <a:latin typeface="Quattrocento Sans"/>
                <a:ea typeface="Quattrocento Sans"/>
                <a:cs typeface="Quattrocento Sans"/>
              </a:rPr>
              <a:t>Lean Canvas template is adapted from Running Lean, by Ash Maurya. (</a:t>
            </a:r>
            <a:r>
              <a:rPr sz="700" b="0" i="0" u="sng" cap="none">
                <a:solidFill>
                  <a:srgbClr val="787828"/>
                </a:solidFill>
                <a:latin typeface="Quattrocento Sans"/>
                <a:ea typeface="Quattrocento Sans"/>
                <a:cs typeface="Quattrocento Sans"/>
              </a:rPr>
              <a:t>Link to Book</a:t>
            </a:r>
            <a:r>
              <a:rPr sz="700" b="0" i="0" u="none" cap="none">
                <a:solidFill>
                  <a:srgbClr val="808080"/>
                </a:solidFill>
                <a:latin typeface="Quattrocento Sans"/>
                <a:ea typeface="Quattrocento Sans"/>
                <a:cs typeface="Quattrocento Sans"/>
              </a:rPr>
              <a:t>)</a:t>
            </a:r>
            <a:endParaRPr sz="700" b="0" i="0" u="none" cap="none">
              <a:solidFill>
                <a:srgbClr val="444444"/>
              </a:solidFill>
              <a:latin typeface="Quattrocento Sans"/>
              <a:ea typeface="Quattrocento Sans"/>
              <a:cs typeface="Quattrocento Sans"/>
            </a:endParaRPr>
          </a:p>
        </p:txBody>
      </p:sp>
      <p:pic>
        <p:nvPicPr>
          <p:cNvPr id="61" name="Google Shape;33;p2"/>
          <p:cNvPicPr>
            <a:picLocks xmlns:a="http://schemas.openxmlformats.org/drawingml/2006/main" noChangeAspect="1"/>
          </p:cNvPicPr>
          <p:nvPr/>
        </p:nvPicPr>
        <p:blipFill>
          <a:blip xmlns:r="http://schemas.openxmlformats.org/officeDocument/2006/relationships" xmlns:a="http://schemas.openxmlformats.org/drawingml/2006/main" r:embed="Rbac4ab8431b344f1">
            <a:alphaModFix/>
          </a:blip>
          <a:stretch xmlns:a="http://schemas.openxmlformats.org/drawingml/2006/main">
            <a:fillRect l="0" t="0" r="0" b="0"/>
          </a:stretch>
        </p:blipFill>
        <p:spPr>
          <a:xfrm xmlns:a="http://schemas.openxmlformats.org/drawingml/2006/main">
            <a:off x="244475" y="152400"/>
            <a:ext cx="1327675" cy="35145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dd25581ed344b1c"/>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Neos Chronos">
      <a:dk1>
        <a:srgbClr val="444444"/>
      </a:dk1>
      <a:lt1>
        <a:srgbClr val="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os Chron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cde87229bd64086" /><Relationship Type="http://schemas.openxmlformats.org/officeDocument/2006/relationships/notesSlide" Target="/ppt/notesSlides/notesSlide1.xml" Id="Re32bdcb11dce482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4" name="Google Shape;54;p1">
            <a:extLst xmlns:a="http://schemas.openxmlformats.org/drawingml/2006/main">
              <a:ext uri="{FF2B5EF4-FFF2-40B4-BE49-F238E27FC236}">
                <a16:creationId xmlns:a16="http://schemas.microsoft.com/office/drawing/2014/main" id="{0AC2A713-FB44-45BF-9AFC-1DD42387E281}"/>
              </a:ext>
            </a:extLst>
          </p:cNvPr>
          <p:cNvSpPr>
            <a:spLocks xmlns:a="http://schemas.openxmlformats.org/drawingml/2006/main" noGrp="1"/>
          </p:cNvSpPr>
          <p:nvPr>
            <p:ph type="body" idx="4"/>
          </p:nvPr>
        </p:nvSpPr>
        <p:spPr>
          <a:xfrm xmlns:a="http://schemas.openxmlformats.org/drawingml/2006/main">
            <a:off x="309563" y="1066800"/>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Unseen issues can change the advice.</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Research and preparation absorb time.</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Directing general AI adds work.</a:t>
            </a:r>
          </a:p>
        </p:txBody>
      </p:sp>
      <p:sp>
        <p:nvSpPr>
          <p:cNvPr id="55" name="Google Shape;55;p1">
            <a:extLst xmlns:a="http://schemas.openxmlformats.org/drawingml/2006/main">
              <a:ext uri="{FF2B5EF4-FFF2-40B4-BE49-F238E27FC236}">
                <a16:creationId xmlns:a16="http://schemas.microsoft.com/office/drawing/2014/main" id="{E13F9516-14A9-4683-A3D4-DB4E65CE1894}"/>
              </a:ext>
            </a:extLst>
          </p:cNvPr>
          <p:cNvSpPr>
            <a:spLocks xmlns:a="http://schemas.openxmlformats.org/drawingml/2006/main" noGrp="1"/>
          </p:cNvSpPr>
          <p:nvPr>
            <p:ph type="body" idx="5"/>
          </p:nvPr>
        </p:nvSpPr>
        <p:spPr>
          <a:xfrm xmlns:a="http://schemas.openxmlformats.org/drawingml/2006/main">
            <a:off x="2185988" y="1066800"/>
            <a:ext cx="1754100" cy="15303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Explore the matter and surface useful questions.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Deliver research and editable drafts.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A system already adapted to lawyers.</a:t>
            </a:r>
          </a:p>
        </p:txBody>
      </p:sp>
      <p:sp>
        <p:nvSpPr>
          <p:cNvPr id="56" name="Google Shape;56;p1">
            <a:extLst xmlns:a="http://schemas.openxmlformats.org/drawingml/2006/main">
              <a:ext uri="{FF2B5EF4-FFF2-40B4-BE49-F238E27FC236}">
                <a16:creationId xmlns:a16="http://schemas.microsoft.com/office/drawing/2014/main" id="{7D4EB781-519D-4E48-9A12-BF0101605A16}"/>
              </a:ext>
            </a:extLst>
          </p:cNvPr>
          <p:cNvSpPr>
            <a:spLocks xmlns:a="http://schemas.openxmlformats.org/drawingml/2006/main" noGrp="1"/>
          </p:cNvSpPr>
          <p:nvPr>
            <p:ph type="body" idx="6"/>
          </p:nvPr>
        </p:nvSpPr>
        <p:spPr>
          <a:xfrm xmlns:a="http://schemas.openxmlformats.org/drawingml/2006/main">
            <a:off x="4067175" y="1200150"/>
            <a:ext cx="1754219" cy="1397032"/>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Themis equips lawyers to advise with confidence—and gives them more time to be present in the room, shaping business decisions.</a:t>
            </a:r>
          </a:p>
        </p:txBody>
      </p:sp>
      <p:sp>
        <p:nvSpPr>
          <p:cNvPr id="57" name="Google Shape;57;p1">
            <a:extLst xmlns:a="http://schemas.openxmlformats.org/drawingml/2006/main">
              <a:ext uri="{FF2B5EF4-FFF2-40B4-BE49-F238E27FC236}">
                <a16:creationId xmlns:a16="http://schemas.microsoft.com/office/drawing/2014/main" id="{78988CDE-E525-4743-B8D6-1003B67DB942}"/>
              </a:ext>
            </a:extLst>
          </p:cNvPr>
          <p:cNvSpPr>
            <a:spLocks xmlns:a="http://schemas.openxmlformats.org/drawingml/2006/main" noGrp="1"/>
          </p:cNvSpPr>
          <p:nvPr>
            <p:ph type="body" idx="7"/>
          </p:nvPr>
        </p:nvSpPr>
        <p:spPr>
          <a:xfrm xmlns:a="http://schemas.openxmlformats.org/drawingml/2006/main">
            <a:off x="5948363" y="1055688"/>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17 years in law, plus AI research experience.</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Direct access to counsel feedback.</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Firsthand insight into how lawyers work.</a:t>
            </a:r>
          </a:p>
        </p:txBody>
      </p:sp>
      <p:sp>
        <p:nvSpPr>
          <p:cNvPr id="58" name="Google Shape;58;p1">
            <a:extLst xmlns:a="http://schemas.openxmlformats.org/drawingml/2006/main">
              <a:ext uri="{FF2B5EF4-FFF2-40B4-BE49-F238E27FC236}">
                <a16:creationId xmlns:a16="http://schemas.microsoft.com/office/drawing/2014/main" id="{EF23D793-44A4-4C18-8830-01E9FD489B30}"/>
              </a:ext>
            </a:extLst>
          </p:cNvPr>
          <p:cNvSpPr>
            <a:spLocks xmlns:a="http://schemas.openxmlformats.org/drawingml/2006/main" noGrp="1"/>
          </p:cNvSpPr>
          <p:nvPr>
            <p:ph type="body" idx="8"/>
          </p:nvPr>
        </p:nvSpPr>
        <p:spPr>
          <a:xfrm xmlns:a="http://schemas.openxmlformats.org/drawingml/2006/main">
            <a:off x="7835900" y="1055688"/>
            <a:ext cx="1754188"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Solo general counsel and small in-house legal teams.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Start with product and regulatory work at technology and fintech companies.</a:t>
            </a:r>
          </a:p>
        </p:txBody>
      </p:sp>
      <p:sp>
        <p:nvSpPr>
          <p:cNvPr id="59" name="Google Shape;59;p1">
            <a:extLst xmlns:a="http://schemas.openxmlformats.org/drawingml/2006/main">
              <a:ext uri="{FF2B5EF4-FFF2-40B4-BE49-F238E27FC236}">
                <a16:creationId xmlns:a16="http://schemas.microsoft.com/office/drawing/2014/main" id="{E2C5962F-289A-41C4-82E5-476340F7CDD9}"/>
              </a:ext>
            </a:extLst>
          </p:cNvPr>
          <p:cNvSpPr>
            <a:spLocks xmlns:a="http://schemas.openxmlformats.org/drawingml/2006/main" noGrp="1"/>
          </p:cNvSpPr>
          <p:nvPr>
            <p:ph type="body" idx="13"/>
          </p:nvPr>
        </p:nvSpPr>
        <p:spPr>
          <a:xfrm xmlns:a="http://schemas.openxmlformats.org/drawingml/2006/main">
            <a:off x="2197100" y="2965450"/>
            <a:ext cx="1754188"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Readiness to advise, backed by understanding.</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Useful issues surfaced.
Net lawyer time saved.</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Pilot goals: 60% repeat use; 25% less effort.</a:t>
            </a:r>
          </a:p>
        </p:txBody>
      </p:sp>
      <p:sp>
        <p:nvSpPr>
          <p:cNvPr id="60" name="Google Shape;60;p1">
            <a:extLst xmlns:a="http://schemas.openxmlformats.org/drawingml/2006/main">
              <a:ext uri="{FF2B5EF4-FFF2-40B4-BE49-F238E27FC236}">
                <a16:creationId xmlns:a16="http://schemas.microsoft.com/office/drawing/2014/main" id="{38FEB8B7-DE79-4331-A51C-DEAB3B9BCEC8}"/>
              </a:ext>
            </a:extLst>
          </p:cNvPr>
          <p:cNvSpPr>
            <a:spLocks xmlns:a="http://schemas.openxmlformats.org/drawingml/2006/main" noGrp="1"/>
          </p:cNvSpPr>
          <p:nvPr>
            <p:ph type="body" idx="14"/>
          </p:nvPr>
        </p:nvSpPr>
        <p:spPr>
          <a:xfrm xmlns:a="http://schemas.openxmlformats.org/drawingml/2006/main">
            <a:off x="4071938" y="2965450"/>
            <a:ext cx="1755775"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A capable AI companion built around the lawyer.</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It helps the lawyer explore options so the lawyer can give advice they understand and stand behind.</a:t>
            </a:r>
          </a:p>
        </p:txBody>
      </p:sp>
      <p:sp>
        <p:nvSpPr>
          <p:cNvPr id="61" name="Google Shape;61;p1">
            <a:extLst xmlns:a="http://schemas.openxmlformats.org/drawingml/2006/main">
              <a:ext uri="{FF2B5EF4-FFF2-40B4-BE49-F238E27FC236}">
                <a16:creationId xmlns:a16="http://schemas.microsoft.com/office/drawing/2014/main" id="{43FC580C-33A2-4F4C-B4B3-0F48D89C8BEA}"/>
              </a:ext>
            </a:extLst>
          </p:cNvPr>
          <p:cNvSpPr>
            <a:spLocks xmlns:a="http://schemas.openxmlformats.org/drawingml/2006/main" noGrp="1"/>
          </p:cNvSpPr>
          <p:nvPr>
            <p:ph type="body" idx="15"/>
          </p:nvPr>
        </p:nvSpPr>
        <p:spPr>
          <a:xfrm xmlns:a="http://schemas.openxmlformats.org/drawingml/2006/main">
            <a:off x="5951538" y="2965450"/>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Founder’s counsel network.</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Live-matter demos and supported pilots.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Counsel communities and peer referrals.</a:t>
            </a:r>
          </a:p>
        </p:txBody>
      </p:sp>
      <p:sp>
        <p:nvSpPr>
          <p:cNvPr id="62" name="Google Shape;62;p1">
            <a:extLst xmlns:a="http://schemas.openxmlformats.org/drawingml/2006/main">
              <a:ext uri="{FF2B5EF4-FFF2-40B4-BE49-F238E27FC236}">
                <a16:creationId xmlns:a16="http://schemas.microsoft.com/office/drawing/2014/main" id="{7A79B331-8D8C-4108-B401-51B7DCF676BD}"/>
              </a:ext>
            </a:extLst>
          </p:cNvPr>
          <p:cNvSpPr>
            <a:spLocks xmlns:a="http://schemas.openxmlformats.org/drawingml/2006/main" noGrp="1"/>
          </p:cNvSpPr>
          <p:nvPr>
            <p:ph type="body" idx="16"/>
          </p:nvPr>
        </p:nvSpPr>
        <p:spPr>
          <a:xfrm xmlns:a="http://schemas.openxmlformats.org/drawingml/2006/main">
            <a:off x="7835900" y="2965450"/>
            <a:ext cx="1754188"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First legal hires and product counsel on small tech or fintech teams.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Already using Claude or ChatGPT.</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Frequent launches with limited time and research support.</a:t>
            </a:r>
          </a:p>
        </p:txBody>
      </p:sp>
      <p:sp>
        <p:nvSpPr>
          <p:cNvPr id="63" name="Google Shape;63;p1">
            <a:extLst xmlns:a="http://schemas.openxmlformats.org/drawingml/2006/main">
              <a:ext uri="{FF2B5EF4-FFF2-40B4-BE49-F238E27FC236}">
                <a16:creationId xmlns:a16="http://schemas.microsoft.com/office/drawing/2014/main" id="{96E01A25-5ADD-4214-B033-674E614DD2BE}"/>
              </a:ext>
            </a:extLst>
          </p:cNvPr>
          <p:cNvSpPr>
            <a:spLocks xmlns:a="http://schemas.openxmlformats.org/drawingml/2006/main" noGrp="1"/>
          </p:cNvSpPr>
          <p:nvPr>
            <p:ph type="body" idx="18"/>
          </p:nvPr>
        </p:nvSpPr>
        <p:spPr>
          <a:xfrm xmlns:a="http://schemas.openxmlformats.org/drawingml/2006/main">
            <a:off x="5056188" y="4876800"/>
            <a:ext cx="4533900" cy="14478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975" b="0" i="0">
                <a:solidFill>
                  <a:srgbClr val="444444"/>
                </a:solidFill>
                <a:latin typeface="Quattrocento Sans"/>
                <a:ea typeface="Quattrocento Sans"/>
                <a:cs typeface="Quattrocento Sans"/>
              </a:defRPr>
            </a:pPr>
            <a:r>
              <a:rPr sz="975" b="0" i="0">
                <a:solidFill>
                  <a:srgbClr val="444444"/>
                </a:solidFill>
                <a:latin typeface="Quattrocento Sans"/>
                <a:ea typeface="Quattrocento Sans"/>
                <a:cs typeface="Quattrocento Sans"/>
              </a:rPr>
              <a:t>Proposed price: $400 per lawyer/month, billed monthly.
Buy one seat or more. No minimum seat count or annual commitment.
No setup fee. Gross margin target: 80%.
Illustrative lifetime value: $11,520 per seat (3 years at 80% margin).
Pricing, retention and margin are assumptions to test.</a:t>
            </a:r>
          </a:p>
        </p:txBody>
      </p:sp>
      <p:sp>
        <p:nvSpPr>
          <p:cNvPr id="64" name="Google Shape;64;p1">
            <a:extLst xmlns:a="http://schemas.openxmlformats.org/drawingml/2006/main">
              <a:ext uri="{FF2B5EF4-FFF2-40B4-BE49-F238E27FC236}">
                <a16:creationId xmlns:a16="http://schemas.microsoft.com/office/drawing/2014/main" id="{70250506-81EF-4428-80DD-3E37630A6FAE}"/>
              </a:ext>
            </a:extLst>
          </p:cNvPr>
          <p:cNvSpPr>
            <a:spLocks xmlns:a="http://schemas.openxmlformats.org/drawingml/2006/main" noGrp="1"/>
          </p:cNvSpPr>
          <p:nvPr>
            <p:ph type="body" idx="17"/>
          </p:nvPr>
        </p:nvSpPr>
        <p:spPr>
          <a:xfrm xmlns:a="http://schemas.openxmlformats.org/drawingml/2006/main">
            <a:off x="309563" y="4876800"/>
            <a:ext cx="4560887" cy="14478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People: product development, engineering and customer support.
Usage: AI models, research tools and hosting.
Customer acquisition: founder outreach, demos and supported pilots.
Distribution: digital access, onboarding and payment processing.
Operations: security, administration and legal costs.</a:t>
            </a:r>
          </a:p>
        </p:txBody>
      </p:sp>
      <p:sp>
        <p:nvSpPr>
          <p:cNvPr id="65" name="Google Shape;65;p1">
            <a:extLst xmlns:a="http://schemas.openxmlformats.org/drawingml/2006/main">
              <a:ext uri="{FF2B5EF4-FFF2-40B4-BE49-F238E27FC236}">
                <a16:creationId xmlns:a16="http://schemas.microsoft.com/office/drawing/2014/main" id="{98DC193C-D342-4098-AE7A-B7F8A0EA43AF}"/>
              </a:ext>
            </a:extLst>
          </p:cNvPr>
          <p:cNvSpPr>
            <a:spLocks xmlns:a="http://schemas.openxmlformats.org/drawingml/2006/main" noGrp="1"/>
          </p:cNvSpPr>
          <p:nvPr>
            <p:ph type="body" idx="1"/>
          </p:nvPr>
        </p:nvSpPr>
        <p:spPr>
          <a:xfrm xmlns:a="http://schemas.openxmlformats.org/drawingml/2006/main">
            <a:off x="4696022"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Themis</a:t>
            </a:r>
          </a:p>
        </p:txBody>
      </p:sp>
      <p:sp>
        <p:nvSpPr>
          <p:cNvPr id="66" name="Google Shape;66;p1">
            <a:extLst xmlns:a="http://schemas.openxmlformats.org/drawingml/2006/main">
              <a:ext uri="{FF2B5EF4-FFF2-40B4-BE49-F238E27FC236}">
                <a16:creationId xmlns:a16="http://schemas.microsoft.com/office/drawing/2014/main" id="{C657B656-5162-446C-88CB-8FD57F10F0D6}"/>
              </a:ext>
            </a:extLst>
          </p:cNvPr>
          <p:cNvSpPr>
            <a:spLocks xmlns:a="http://schemas.openxmlformats.org/drawingml/2006/main" noGrp="1"/>
          </p:cNvSpPr>
          <p:nvPr>
            <p:ph type="body" idx="2"/>
          </p:nvPr>
        </p:nvSpPr>
        <p:spPr>
          <a:xfrm xmlns:a="http://schemas.openxmlformats.org/drawingml/2006/main">
            <a:off x="6432538"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Brian Harris</a:t>
            </a:r>
          </a:p>
        </p:txBody>
      </p:sp>
      <p:sp>
        <p:nvSpPr>
          <p:cNvPr id="67" name="Google Shape;67;p1">
            <a:extLst xmlns:a="http://schemas.openxmlformats.org/drawingml/2006/main">
              <a:ext uri="{FF2B5EF4-FFF2-40B4-BE49-F238E27FC236}">
                <a16:creationId xmlns:a16="http://schemas.microsoft.com/office/drawing/2014/main" id="{076F2F04-4BCA-41F9-B87C-0C214639FEE9}"/>
              </a:ext>
            </a:extLst>
          </p:cNvPr>
          <p:cNvSpPr>
            <a:spLocks xmlns:a="http://schemas.openxmlformats.org/drawingml/2006/main" noGrp="1"/>
          </p:cNvSpPr>
          <p:nvPr>
            <p:ph type="body" idx="3"/>
          </p:nvPr>
        </p:nvSpPr>
        <p:spPr>
          <a:xfrm xmlns:a="http://schemas.openxmlformats.org/drawingml/2006/main">
            <a:off x="8493322" y="381000"/>
            <a:ext cx="11556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04/09/2026</a:t>
            </a:r>
          </a:p>
        </p:txBody>
      </p:sp>
      <p:sp>
        <p:nvSpPr>
          <p:cNvPr id="68" name="Google Shape;68;p1">
            <a:extLst xmlns:a="http://schemas.openxmlformats.org/drawingml/2006/main">
              <a:ext uri="{FF2B5EF4-FFF2-40B4-BE49-F238E27FC236}">
                <a16:creationId xmlns:a16="http://schemas.microsoft.com/office/drawing/2014/main" id="{BF869103-73CF-4A3D-8683-B1C943A7C2FE}"/>
              </a:ext>
            </a:extLst>
          </p:cNvPr>
          <p:cNvSpPr>
            <a:spLocks xmlns:a="http://schemas.openxmlformats.org/drawingml/2006/main" noGrp="1"/>
          </p:cNvSpPr>
          <p:nvPr>
            <p:ph type="body" idx="9"/>
          </p:nvPr>
        </p:nvSpPr>
        <p:spPr>
          <a:xfrm xmlns:a="http://schemas.openxmlformats.org/drawingml/2006/main">
            <a:off x="309563" y="2965450"/>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Claude and ChatGPT.</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Harvey, Legora, CoCounsel and GC AI.</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Manual research and drafting.</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Colleagues and outside counsel.</a:t>
            </a:r>
          </a:p>
        </p:txBody>
      </p:sp>
    </p:spTree>
    <p:extLst>
      <p:ext uri="{BB962C8B-B14F-4D97-AF65-F5344CB8AC3E}">
        <p14:creationId xmlns:p14="http://schemas.microsoft.com/office/powerpoint/2010/main" val="1413490750"/>
      </p:ext>
    </p:extLst>
  </p:cSld>
</p:sld>
</file>

<file path=ppt/theme/theme1.xml><?xml version="1.0" encoding="utf-8"?>
<a:theme xmlns:a="http://schemas.openxmlformats.org/drawingml/2006/main" name="Office Theme">
  <a:themeElements>
    <a:clrScheme name="Neos Chronos">
      <a:dk1>
        <a:srgbClr val="444444"/>
      </a:dk1>
      <a:lt1>
        <a:srgbClr val="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os Chron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2026-09-05T03:56:30.6480000Z</dcterms:created>
  <dcterms:modified xsi:type="dcterms:W3CDTF">2026-09-05T03:56:30.6480000Z</dcterms:modified>
</coreProperties>
</file>