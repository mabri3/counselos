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40b908c79c467d" /><Relationship Type="http://schemas.openxmlformats.org/officeDocument/2006/relationships/extended-properties" Target="/docProps/app.xml" Id="R44eea4b81c2d4713" /><Relationship Type="http://schemas.openxmlformats.org/officeDocument/2006/relationships/officeDocument" Target="/ppt/presentation.xml" Id="R458d9ee7a51b40e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84e914b75704316"/>
  </p:sldMasterIdLst>
  <p:notesMasterIdLst>
    <p:notesMasterId xmlns:r="http://schemas.openxmlformats.org/officeDocument/2006/relationships" r:id="R54f9a3b3f5f94971"/>
  </p:notesMasterIdLst>
  <p:sldIdLst>
    <p:sldId xmlns:r="http://schemas.openxmlformats.org/officeDocument/2006/relationships" id="256" r:id="R0af2df8344e54b8e"/>
  </p:sldIdLst>
  <p:sldSz cx="9906000" cy="6858000"/>
  <p:notesSz cx="6858000" cy="9144000"/>
  <p:embeddedFontLst>
    <p:embeddedFont>
      <p:font typeface="Figtree"/>
      <p:regular xmlns:r="http://schemas.openxmlformats.org/officeDocument/2006/relationships" r:id="R3e8c36b5910546dc"/>
      <p:bold xmlns:r="http://schemas.openxmlformats.org/officeDocument/2006/relationships" r:id="Rfd518843b3534f5c"/>
      <p:italic xmlns:r="http://schemas.openxmlformats.org/officeDocument/2006/relationships" r:id="R955c44189ec147b6"/>
      <p:boldItalic xmlns:r="http://schemas.openxmlformats.org/officeDocument/2006/relationships" r:id="Rf6f2a6f15181405e"/>
    </p:embeddedFont>
    <p:embeddedFont>
      <p:font typeface="Libre Baskerville"/>
      <p:regular xmlns:r="http://schemas.openxmlformats.org/officeDocument/2006/relationships" r:id="R9464e7ab01f24d89"/>
      <p:bold xmlns:r="http://schemas.openxmlformats.org/officeDocument/2006/relationships" r:id="R59c6152c63f349ec"/>
      <p:italic xmlns:r="http://schemas.openxmlformats.org/officeDocument/2006/relationships" r:id="R2e8f8cc4f0174b86"/>
    </p:embeddedFont>
    <p:embeddedFont>
      <p:font typeface="Quattrocento Sans"/>
      <p:regular xmlns:r="http://schemas.openxmlformats.org/officeDocument/2006/relationships" r:id="R1d4622fdfb0a4c7c"/>
      <p:bold xmlns:r="http://schemas.openxmlformats.org/officeDocument/2006/relationships" r:id="R103536ceae884b73"/>
      <p:italic xmlns:r="http://schemas.openxmlformats.org/officeDocument/2006/relationships" r:id="Rfda6760a3ddc4879"/>
      <p:boldItalic xmlns:r="http://schemas.openxmlformats.org/officeDocument/2006/relationships" r:id="Rb35f966628ab42a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66719862f1b4f97" /><Relationship Type="http://schemas.openxmlformats.org/officeDocument/2006/relationships/slideMaster" Target="/ppt/slideMasters/slideMaster1.xml" Id="R784e914b75704316" /><Relationship Type="http://schemas.openxmlformats.org/officeDocument/2006/relationships/notesMaster" Target="/ppt/notesMasters/notesMaster1.xml" Id="R54f9a3b3f5f94971" /><Relationship Type="http://schemas.openxmlformats.org/officeDocument/2006/relationships/presProps" Target="/ppt/presProps.xml" Id="R2aec43c1707f4df8" /><Relationship Type="http://schemas.openxmlformats.org/officeDocument/2006/relationships/viewProps" Target="/ppt/viewProps.xml" Id="R905d543c2f464fdb" /><Relationship Type="http://schemas.openxmlformats.org/officeDocument/2006/relationships/tableStyles" Target="/ppt/tableStyles.xml" Id="R69de995dd0c54019" /><Relationship Type="http://schemas.openxmlformats.org/officeDocument/2006/relationships/font" Target="/ppt/fonts/font.dat" Id="R3e8c36b5910546dc" /><Relationship Type="http://schemas.openxmlformats.org/officeDocument/2006/relationships/font" Target="/ppt/fonts/font2.dat" Id="Rfd518843b3534f5c" /><Relationship Type="http://schemas.openxmlformats.org/officeDocument/2006/relationships/font" Target="/ppt/fonts/font3.dat" Id="R955c44189ec147b6" /><Relationship Type="http://schemas.openxmlformats.org/officeDocument/2006/relationships/font" Target="/ppt/fonts/font4.dat" Id="Rf6f2a6f15181405e" /><Relationship Type="http://schemas.openxmlformats.org/officeDocument/2006/relationships/font" Target="/ppt/fonts/font5.dat" Id="R9464e7ab01f24d89" /><Relationship Type="http://schemas.openxmlformats.org/officeDocument/2006/relationships/font" Target="/ppt/fonts/font6.dat" Id="R59c6152c63f349ec" /><Relationship Type="http://schemas.openxmlformats.org/officeDocument/2006/relationships/font" Target="/ppt/fonts/font7.dat" Id="R2e8f8cc4f0174b86" /><Relationship Type="http://schemas.openxmlformats.org/officeDocument/2006/relationships/font" Target="/ppt/fonts/font8.dat" Id="R1d4622fdfb0a4c7c" /><Relationship Type="http://schemas.openxmlformats.org/officeDocument/2006/relationships/font" Target="/ppt/fonts/font9.dat" Id="R103536ceae884b73" /><Relationship Type="http://schemas.openxmlformats.org/officeDocument/2006/relationships/font" Target="/ppt/fonts/font10.dat" Id="Rfda6760a3ddc4879" /><Relationship Type="http://schemas.openxmlformats.org/officeDocument/2006/relationships/font" Target="/ppt/fonts/font11.dat" Id="Rb35f966628ab42a7" /><Relationship Type="http://schemas.openxmlformats.org/officeDocument/2006/relationships/slide" Target="/ppt/slides/slide1.xml" Id="R0af2df8344e54b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dbb9328a7f4b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b6feb84e6c4872" /><Relationship Type="http://schemas.openxmlformats.org/officeDocument/2006/relationships/notesMaster" Target="/ppt/notesMasters/notesMaster1.xml" Id="R17fb1ce8d3de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$500/seat/month; no annual discount or setup fee assumed. Proposed gross margin target is 80%, not measured. Illustrative lifetime value uses gross profit: $500 × 12 months × 3 years × 80% = $14,400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bf0e0667b04a05"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6542B86C-B3DF-40AB-9D15-07BC656302BE}"/>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0DA36D2B-B3CF-44CC-85BB-6F616662C207}"/>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53F97677-2AD9-4CB4-8B30-25766886B09E}"/>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365B76A8-5605-4BB5-9108-C4DB6BAE329C}"/>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40448B9D-7184-4891-A7FB-AE44C394D246}"/>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2505790F-7D84-4F19-88BF-EE49D0230A28}"/>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0F46D07A-E83F-41F0-968D-2AEC00FFAC93}"/>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30F6D2F7-F8A8-4766-85D9-82A8D879A9CF}"/>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4590B0BB-E788-4448-903B-0C0198365406}"/>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49E7CEBB-990E-4BFF-8547-AD247BD49E54}"/>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2313050A-A123-4968-B6EE-C23FD652DD12}"/>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6C1EBE06-66BD-4900-ACE2-F930873A5AB4}"/>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511903AC-7F4F-4FBC-945C-03B68DCA00F6}"/>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9758EE8C-E59D-405A-8921-55A272C591D9}"/>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12210930-640F-4426-857B-C8B64DC6CFCC}"/>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e5166c7ea4a496f" /><Relationship Type="http://schemas.openxmlformats.org/officeDocument/2006/relationships/theme" Target="/ppt/slideMasters/theme/theme2.xml" Id="Rd4aea0e209c9405e" /><Relationship Type="http://schemas.openxmlformats.org/officeDocument/2006/relationships/slideLayout" Target="/ppt/slideLayouts/slideLayout1.xml" Id="R1449854906e948f2"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F5FBBEAB-8786-4A32-8B9B-8C95B6F3E2C6}"/>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00FBACDB-1201-4AC6-982D-0EF43B810D1B}"/>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9520CB95-E681-41C1-B1D1-BE69337A461D}"/>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5A43450D-5055-4C6C-B369-B0457D2C4A7F}"/>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6A25D7AF-19AC-4E7C-BA70-04C9D9B8E1BA}"/>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FBB519B3-A759-4D40-B760-5D8D8B24A350}"/>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2EE9673D-E211-425B-B87C-A5775AE8A243}"/>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B76C39AF-399C-41C2-90DB-A636A177DEDF}"/>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D3953F7F-BCCA-46AD-A366-BFD2221029ED}"/>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EB8A0EB8-28E2-4627-8B22-95B74C81BC82}"/>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0E14654B-8292-4C5E-81E8-4C1214E4EB10}"/>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AC80CFC2-82B7-4D23-9A76-EB7BB3A6D537}"/>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15E83B79-49A3-416F-AD80-487FCCD95C88}"/>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F4649567-68EF-44F0-BEB7-60D4486AFF43}"/>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6055A1F0-0305-4356-86A1-AFC31C9EE588}"/>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CAB325A2-70B0-4375-A24B-32C75FDF6F8B}"/>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9FE81AF5-542B-4F5A-98EA-4057EADC21A9}"/>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CB17EE48-BF7B-4BED-8FCF-1AACA6BF84EF}"/>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A3AD482A-D94E-47D9-A049-048E05E233CD}"/>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62FD3032-11F1-4DA1-9983-27F0ACE0BFB5}"/>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A580FDCA-6674-44EC-87B8-3845CC040058}"/>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F9AFB0A6-930F-446C-B545-DDE3C4E0C468}"/>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73407270-0EB2-4F37-AE91-9F06022D2EF7}"/>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C3354424-2FA6-4E54-88D9-0B50C531AD2A}"/>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A310E546-3E01-4DB4-ABBA-EAC68527FC4B}"/>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BA1B6BB3-4AFF-46E8-8CC7-7FA65963B277}"/>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7EFAD452-2863-4709-9B6F-E55B42D711D5}"/>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de5166c7ea4a496f">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449854906e948f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4c4e66a5644411" /><Relationship Type="http://schemas.openxmlformats.org/officeDocument/2006/relationships/notesSlide" Target="/ppt/notesSlides/notesSlide1.xml" Id="R7773aabf5e424a7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A04AE122-A95D-4A4E-975D-3271EFD84808}"/>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70B64674-6B43-41B5-AA5C-44120ECEBA4E}"/>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Bring back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Adapt to the lawyer’s working style.</a:t>
            </a:r>
          </a:p>
        </p:txBody>
      </p:sp>
      <p:sp>
        <p:nvSpPr>
          <p:cNvPr id="56" name="Google Shape;56;p1">
            <a:extLst xmlns:a="http://schemas.openxmlformats.org/drawingml/2006/main">
              <a:ext uri="{FF2B5EF4-FFF2-40B4-BE49-F238E27FC236}">
                <a16:creationId xmlns:a16="http://schemas.microsoft.com/office/drawing/2014/main" id="{11BB6AE8-B5DA-4108-8E6C-D1AB3F8B94BC}"/>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3D17FE48-C16B-49B0-BEC2-1A2640413D7A}"/>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99FFF485-4FC8-4190-96C7-78A961B44F32}"/>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07582432-7456-4E3B-B1F5-4EC652BEECD9}"/>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AA8A9602-654B-4436-90E5-9810574E2AE4}"/>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you explore the options so you can give advice you understand and stand behind.</a:t>
            </a:r>
          </a:p>
        </p:txBody>
      </p:sp>
      <p:sp>
        <p:nvSpPr>
          <p:cNvPr id="61" name="Google Shape;61;p1">
            <a:extLst xmlns:a="http://schemas.openxmlformats.org/drawingml/2006/main">
              <a:ext uri="{FF2B5EF4-FFF2-40B4-BE49-F238E27FC236}">
                <a16:creationId xmlns:a16="http://schemas.microsoft.com/office/drawing/2014/main" id="{E4063E60-31A4-4BF3-97F1-74E0426C1E8B}"/>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D0997856-5C4C-4CFA-B076-B0F1F2A10F2F}"/>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Product lawyers with live, unfamiliar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AI and eager for support that fits their 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Ready to try one real matter.</a:t>
            </a:r>
          </a:p>
        </p:txBody>
      </p:sp>
      <p:sp>
        <p:nvSpPr>
          <p:cNvPr id="63" name="Google Shape;63;p1">
            <a:extLst xmlns:a="http://schemas.openxmlformats.org/drawingml/2006/main">
              <a:ext uri="{FF2B5EF4-FFF2-40B4-BE49-F238E27FC236}">
                <a16:creationId xmlns:a16="http://schemas.microsoft.com/office/drawing/2014/main" id="{9A128383-1661-4DA6-A222-E38DA4B5D137}"/>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recurring price: $500 per lawyer/month ($6,000/year).
Start with one seat; grow through repeat use and team expansion.
One-time fees: none planned. Gross margin target: 80%.
Illustrative customer lifetime value: $14,400 per seat over 3 years at 80% margin.
Pricing, retention and margin are planning assumptions to test.</a:t>
            </a:r>
          </a:p>
        </p:txBody>
      </p:sp>
      <p:sp>
        <p:nvSpPr>
          <p:cNvPr id="64" name="Google Shape;64;p1">
            <a:extLst xmlns:a="http://schemas.openxmlformats.org/drawingml/2006/main">
              <a:ext uri="{FF2B5EF4-FFF2-40B4-BE49-F238E27FC236}">
                <a16:creationId xmlns:a16="http://schemas.microsoft.com/office/drawing/2014/main" id="{947974F2-173A-4099-8A0E-61586674E1B4}"/>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CDEC8D97-89E1-4991-88C8-F945FCAC5E72}"/>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2750C571-1960-4C0C-AFE4-A6483A37EE34}"/>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69026EC1-0768-46BC-84D1-D6B1D99F9F3E}"/>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0D35184A-1FD7-4269-9123-36B716E7D666}"/>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611274755"/>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2026-09-05T03:36:03.3380000Z</dcterms:created>
  <dcterms:modified xsi:type="dcterms:W3CDTF">2026-09-05T03:36:03.3380000Z</dcterms:modified>
</coreProperties>
</file>