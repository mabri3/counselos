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829a38c6fe46e7" /><Relationship Type="http://schemas.openxmlformats.org/officeDocument/2006/relationships/extended-properties" Target="/docProps/app.xml" Id="R8f8840ee23d34e94" /><Relationship Type="http://schemas.openxmlformats.org/officeDocument/2006/relationships/officeDocument" Target="/ppt/presentation.xml" Id="R9807dec715a54e21" /></Relationships>
</file>

<file path=ppt/presentation.xml><?xml version="1.0" encoding="utf-8"?>
<p:presentation xmlns:p="http://schemas.openxmlformats.org/presentationml/2006/main">
  <p:sldMasterIdLst>
    <p:sldMasterId xmlns:r="http://schemas.openxmlformats.org/officeDocument/2006/relationships" id="2147483648" r:id="Rb67b8e69aa6c4b22"/>
  </p:sldMasterIdLst>
  <p:notesMasterIdLst>
    <p:notesMasterId xmlns:r="http://schemas.openxmlformats.org/officeDocument/2006/relationships" r:id="Rbb9a37ef0f554b82"/>
  </p:notesMasterIdLst>
  <p:sldIdLst>
    <p:sldId xmlns:r="http://schemas.openxmlformats.org/officeDocument/2006/relationships" id="256" r:id="R6908b93f16074b47"/>
    <p:sldId xmlns:r="http://schemas.openxmlformats.org/officeDocument/2006/relationships" id="257" r:id="Rc4edba779e504b5a"/>
    <p:sldId xmlns:r="http://schemas.openxmlformats.org/officeDocument/2006/relationships" id="258" r:id="Rc5772ed2db9f402d"/>
    <p:sldId xmlns:r="http://schemas.openxmlformats.org/officeDocument/2006/relationships" id="259" r:id="R6432f4d2c252418f"/>
    <p:sldId xmlns:r="http://schemas.openxmlformats.org/officeDocument/2006/relationships" id="260" r:id="Rec1fbff59ab24aac"/>
    <p:sldId xmlns:r="http://schemas.openxmlformats.org/officeDocument/2006/relationships" id="261" r:id="R25f15e3ec5c0479a"/>
    <p:sldId xmlns:r="http://schemas.openxmlformats.org/officeDocument/2006/relationships" id="262" r:id="R835b40335ae84c8c"/>
    <p:sldId xmlns:r="http://schemas.openxmlformats.org/officeDocument/2006/relationships" id="263" r:id="R97922a11a0fa4977"/>
    <p:sldId xmlns:r="http://schemas.openxmlformats.org/officeDocument/2006/relationships" id="264" r:id="R4e6484df945f49e6"/>
    <p:sldId xmlns:r="http://schemas.openxmlformats.org/officeDocument/2006/relationships" id="265" r:id="Rb5488704b6bd4952"/>
    <p:sldId xmlns:r="http://schemas.openxmlformats.org/officeDocument/2006/relationships" id="266" r:id="R1683993e60594f0e"/>
    <p:sldId xmlns:r="http://schemas.openxmlformats.org/officeDocument/2006/relationships" id="267" r:id="R59ee09af82814874"/>
    <p:sldId xmlns:r="http://schemas.openxmlformats.org/officeDocument/2006/relationships" id="268" r:id="R8dce6060e21d453f"/>
    <p:sldId xmlns:r="http://schemas.openxmlformats.org/officeDocument/2006/relationships" id="269" r:id="R9a0dc99275f64947"/>
    <p:sldId xmlns:r="http://schemas.openxmlformats.org/officeDocument/2006/relationships" id="270" r:id="R3a9724ed2cee47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8baaa24a9e4de7" /><Relationship Type="http://schemas.openxmlformats.org/officeDocument/2006/relationships/slideMaster" Target="/ppt/slideMasters/slideMaster1.xml" Id="Rb67b8e69aa6c4b22" /><Relationship Type="http://schemas.openxmlformats.org/officeDocument/2006/relationships/notesMaster" Target="/ppt/notesMasters/notesMaster1.xml" Id="Rbb9a37ef0f554b82" /><Relationship Type="http://schemas.openxmlformats.org/officeDocument/2006/relationships/presProps" Target="/ppt/presProps.xml" Id="R28da5717e5f1419b" /><Relationship Type="http://schemas.openxmlformats.org/officeDocument/2006/relationships/tableStyles" Target="/ppt/tableStyles.xml" Id="Rcb7fe864bc6d4b2f" /><Relationship Type="http://schemas.openxmlformats.org/officeDocument/2006/relationships/slide" Target="/ppt/slides/slide1.xml" Id="R6908b93f16074b47" /><Relationship Type="http://schemas.openxmlformats.org/officeDocument/2006/relationships/slide" Target="/ppt/slides/slide2.xml" Id="Rc4edba779e504b5a" /><Relationship Type="http://schemas.openxmlformats.org/officeDocument/2006/relationships/slide" Target="/ppt/slides/slide3.xml" Id="Rc5772ed2db9f402d" /><Relationship Type="http://schemas.openxmlformats.org/officeDocument/2006/relationships/slide" Target="/ppt/slides/slide4.xml" Id="R6432f4d2c252418f" /><Relationship Type="http://schemas.openxmlformats.org/officeDocument/2006/relationships/slide" Target="/ppt/slides/slide5.xml" Id="Rec1fbff59ab24aac" /><Relationship Type="http://schemas.openxmlformats.org/officeDocument/2006/relationships/slide" Target="/ppt/slides/slide6.xml" Id="R25f15e3ec5c0479a" /><Relationship Type="http://schemas.openxmlformats.org/officeDocument/2006/relationships/slide" Target="/ppt/slides/slide7.xml" Id="R835b40335ae84c8c" /><Relationship Type="http://schemas.openxmlformats.org/officeDocument/2006/relationships/slide" Target="/ppt/slides/slide8.xml" Id="R97922a11a0fa4977" /><Relationship Type="http://schemas.openxmlformats.org/officeDocument/2006/relationships/slide" Target="/ppt/slides/slide9.xml" Id="R4e6484df945f49e6" /><Relationship Type="http://schemas.openxmlformats.org/officeDocument/2006/relationships/slide" Target="/ppt/slides/slide10.xml" Id="Rb5488704b6bd4952" /><Relationship Type="http://schemas.openxmlformats.org/officeDocument/2006/relationships/slide" Target="/ppt/slides/slide11.xml" Id="R1683993e60594f0e" /><Relationship Type="http://schemas.openxmlformats.org/officeDocument/2006/relationships/slide" Target="/ppt/slides/slide12.xml" Id="R59ee09af82814874" /><Relationship Type="http://schemas.openxmlformats.org/officeDocument/2006/relationships/slide" Target="/ppt/slides/slide13.xml" Id="R8dce6060e21d453f" /><Relationship Type="http://schemas.openxmlformats.org/officeDocument/2006/relationships/slide" Target="/ppt/slides/slide14.xml" Id="R9a0dc99275f64947" /><Relationship Type="http://schemas.openxmlformats.org/officeDocument/2006/relationships/slide" Target="/ppt/slides/slide15.xml" Id="R3a9724ed2cee47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ec143bd7374e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f5f43948644d5c" /><Relationship Type="http://schemas.openxmlformats.org/officeDocument/2006/relationships/notesMaster" Target="/ppt/notesMasters/notesMaster1.xml" Id="R0c1dbd1d743b46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0c8fffe4f44995" /><Relationship Type="http://schemas.openxmlformats.org/officeDocument/2006/relationships/notesMaster" Target="/ppt/notesMasters/notesMaster1.xml" Id="R6edcd691dd8d45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1030884276445c" /><Relationship Type="http://schemas.openxmlformats.org/officeDocument/2006/relationships/notesMaster" Target="/ppt/notesMasters/notesMaster1.xml" Id="Rc006c5da820e4f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79987e6d914520" /><Relationship Type="http://schemas.openxmlformats.org/officeDocument/2006/relationships/notesMaster" Target="/ppt/notesMasters/notesMaster1.xml" Id="R5d41b10f2f3246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fd3b9899884441" /><Relationship Type="http://schemas.openxmlformats.org/officeDocument/2006/relationships/notesMaster" Target="/ppt/notesMasters/notesMaster1.xml" Id="Rd46fcfcfe78145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bdb0a0a7914ef1" /><Relationship Type="http://schemas.openxmlformats.org/officeDocument/2006/relationships/notesMaster" Target="/ppt/notesMasters/notesMaster1.xml" Id="R00f449ce778348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7614e183d74bc4" /><Relationship Type="http://schemas.openxmlformats.org/officeDocument/2006/relationships/notesMaster" Target="/ppt/notesMasters/notesMaster1.xml" Id="Rada6b944c7d14f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ad8ece80c64cd4" /><Relationship Type="http://schemas.openxmlformats.org/officeDocument/2006/relationships/notesMaster" Target="/ppt/notesMasters/notesMaster1.xml" Id="Rca6b0516f4f349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2256f3dd47414b" /><Relationship Type="http://schemas.openxmlformats.org/officeDocument/2006/relationships/notesMaster" Target="/ppt/notesMasters/notesMaster1.xml" Id="R35a29410123c45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7a995a05a74129" /><Relationship Type="http://schemas.openxmlformats.org/officeDocument/2006/relationships/notesMaster" Target="/ppt/notesMasters/notesMaster1.xml" Id="R49fe65076a9a4f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f0842c0bbc48b2" /><Relationship Type="http://schemas.openxmlformats.org/officeDocument/2006/relationships/notesMaster" Target="/ppt/notesMasters/notesMaster1.xml" Id="R65e0a557c9114a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fb1611695b4be5" /><Relationship Type="http://schemas.openxmlformats.org/officeDocument/2006/relationships/notesMaster" Target="/ppt/notesMasters/notesMaster1.xml" Id="R03fe117fec084b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f92ef45ac74e6d" /><Relationship Type="http://schemas.openxmlformats.org/officeDocument/2006/relationships/notesMaster" Target="/ppt/notesMasters/notesMaster1.xml" Id="Rfdebf4a8f5b647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f892399f2a418f" /><Relationship Type="http://schemas.openxmlformats.org/officeDocument/2006/relationships/notesMaster" Target="/ppt/notesMasters/notesMaster1.xml" Id="Re52eef157dba43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4bc9f048fd41da" /><Relationship Type="http://schemas.openxmlformats.org/officeDocument/2006/relationships/notesMaster" Target="/ppt/notesMasters/notesMaster1.xml" Id="Rc5062326c8414c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The time, question, and product request are illustrative. They are not a measured customer incident or time study. The slide makes the actor explicit: the in-house lawyer reconstructs the business and legal context and reviews the generic AI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visual issue map and hypothetical comparison are proposed next work.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capacity statement summarizes the founder’s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1d75b2bdbf4f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01abf7d67c40fe" /><Relationship Type="http://schemas.openxmlformats.org/officeDocument/2006/relationships/slideLayout" Target="/ppt/slideLayouts/slideLayout1.xml" Id="R975a8346f0a349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5a8346f0a349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8572bb79b74968" /><Relationship Type="http://schemas.openxmlformats.org/officeDocument/2006/relationships/image" Target="/ppt/media/image.png" Id="R0278ae34dcf246c1" /><Relationship Type="http://schemas.openxmlformats.org/officeDocument/2006/relationships/notesSlide" Target="/ppt/notesSlides/notesSlide1.xml" Id="Re8eec6a55ffb4e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935b4c6cd94703" /><Relationship Type="http://schemas.openxmlformats.org/officeDocument/2006/relationships/notesSlide" Target="/ppt/notesSlides/notesSlide2.xml" Id="R08f5a9c08bc24e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30e712688c4ea4" /><Relationship Type="http://schemas.openxmlformats.org/officeDocument/2006/relationships/notesSlide" Target="/ppt/notesSlides/notesSlide3.xml" Id="Raaf22b34f82942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b275ef12414980" /><Relationship Type="http://schemas.openxmlformats.org/officeDocument/2006/relationships/notesSlide" Target="/ppt/notesSlides/notesSlide4.xml" Id="R295d9540e90540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1bca7ad35a4c84" /><Relationship Type="http://schemas.openxmlformats.org/officeDocument/2006/relationships/notesSlide" Target="/ppt/notesSlides/notesSlide5.xml" Id="R65d43daf275f4a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16641267114b4c" /><Relationship Type="http://schemas.openxmlformats.org/officeDocument/2006/relationships/notesSlide" Target="/ppt/notesSlides/notesSlide6.xml" Id="R3ba14aa9f93c4b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22b98244d54e5f" /><Relationship Type="http://schemas.openxmlformats.org/officeDocument/2006/relationships/notesSlide" Target="/ppt/notesSlides/notesSlide7.xml" Id="Re260ec5e4eac4b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d238940e8747e0" /><Relationship Type="http://schemas.openxmlformats.org/officeDocument/2006/relationships/notesSlide" Target="/ppt/notesSlides/notesSlide8.xml" Id="R46fa06cdfc904f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7d4847917640b3" /><Relationship Type="http://schemas.openxmlformats.org/officeDocument/2006/relationships/notesSlide" Target="/ppt/notesSlides/notesSlide9.xml" Id="R952e79aaeebf42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fe99979e1448b3" /><Relationship Type="http://schemas.openxmlformats.org/officeDocument/2006/relationships/notesSlide" Target="/ppt/notesSlides/notesSlide10.xml" Id="R9d4ba4af9fb74b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8203c4e0674fc0" /><Relationship Type="http://schemas.openxmlformats.org/officeDocument/2006/relationships/notesSlide" Target="/ppt/notesSlides/notesSlide11.xml" Id="R8792282e143f48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9e2a8251464244" /><Relationship Type="http://schemas.openxmlformats.org/officeDocument/2006/relationships/image" Target="/ppt/media/image2.png" Id="R4806301d35244af6" /><Relationship Type="http://schemas.openxmlformats.org/officeDocument/2006/relationships/notesSlide" Target="/ppt/notesSlides/notesSlide12.xml" Id="R1475ac32991e41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b00a18bc4445de" /><Relationship Type="http://schemas.openxmlformats.org/officeDocument/2006/relationships/notesSlide" Target="/ppt/notesSlides/notesSlide13.xml" Id="R2e08ba8d927d4f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76e9bc1e314bdd" /><Relationship Type="http://schemas.openxmlformats.org/officeDocument/2006/relationships/image" Target="/ppt/media/image3.png" Id="Rfda4500296cd4362" /><Relationship Type="http://schemas.openxmlformats.org/officeDocument/2006/relationships/notesSlide" Target="/ppt/notesSlides/notesSlide14.xml" Id="Rb18eb5193d4a4d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d7931396504d60" /><Relationship Type="http://schemas.openxmlformats.org/officeDocument/2006/relationships/notesSlide" Target="/ppt/notesSlides/notesSlide15.xml" Id="Refd76e6f30c84fa0"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278ae34dcf246c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AE506B-AD4A-40FE-A901-4E0821CF8438}"/>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C8F72110-F300-4DD7-BE5B-091AB276F272}"/>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C7F88D0-18DC-4145-830D-F9AAD7C51EE5}"/>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5" name="">
            <a:extLst xmlns:a="http://schemas.openxmlformats.org/drawingml/2006/main">
              <a:ext uri="{FF2B5EF4-FFF2-40B4-BE49-F238E27FC236}">
                <a16:creationId xmlns:a16="http://schemas.microsoft.com/office/drawing/2014/main" id="{A1071C64-087E-4FBF-9322-188AC5F8CEB2}"/>
              </a:ext>
            </a:extLst>
          </p:cNvPr>
          <p:cNvSpPr>
            <a:spLocks xmlns:a="http://schemas.openxmlformats.org/drawingml/2006/main" noGrp="1"/>
          </p:cNvSpPr>
          <p:nvPr/>
        </p:nvSpPr>
        <p:spPr>
          <a:xfrm xmlns:a="http://schemas.openxmlformats.org/drawingml/2006/main">
            <a:off x="647700" y="476250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DBE1EB"/>
                </a:solidFill>
                <a:latin typeface="Arial"/>
                <a:ea typeface="Arial"/>
                <a:cs typeface="Arial"/>
              </a:defRPr>
            </a:pPr>
            <a:r>
              <a:rPr sz="1875" b="0">
                <a:solidFill>
                  <a:srgbClr val="DBE1EB"/>
                </a:solidFill>
                <a:latin typeface="Arial"/>
                <a:ea typeface="Arial"/>
                <a:cs typeface="Arial"/>
              </a:rPr>
              <a:t>An AI workspace that helps small legal teams turn incomplete business requests into organized analysis, usable work, and lawyer-owned decisions.</a:t>
            </a:r>
          </a:p>
        </p:txBody>
      </p:sp>
      <p:sp>
        <p:nvSpPr>
          <p:cNvPr id="6" name="">
            <a:extLst xmlns:a="http://schemas.openxmlformats.org/drawingml/2006/main">
              <a:ext uri="{FF2B5EF4-FFF2-40B4-BE49-F238E27FC236}">
                <a16:creationId xmlns:a16="http://schemas.microsoft.com/office/drawing/2014/main" id="{577B7333-BB43-4ADE-B05E-EF0370C0980B}"/>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818101876"/>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2DD9DD-205E-4E9F-B7F7-ADEBCBD77C38}"/>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47D31539-F598-44C2-A0C5-74AC0737B80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18D4F598-3C6D-4487-BA92-A1689EAF1715}"/>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B4A25D0-C74C-4C75-84A1-4D8D8E8DC83C}"/>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EB2A2D5-E645-4956-AA64-0E756BA154FA}"/>
              </a:ext>
            </a:extLst>
          </p:cNvPr>
          <p:cNvSpPr>
            <a:spLocks xmlns:a="http://schemas.openxmlformats.org/drawingml/2006/main" noGrp="1"/>
          </p:cNvSpPr>
          <p:nvPr/>
        </p:nvSpPr>
        <p:spPr>
          <a:xfrm xmlns:a="http://schemas.openxmlformats.org/drawingml/2006/main">
            <a:off x="609600" y="22574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REQUEST · 4:12 P.M.</a:t>
            </a:r>
          </a:p>
        </p:txBody>
      </p:sp>
      <p:sp>
        <p:nvSpPr>
          <p:cNvPr id="6" name="">
            <a:extLst xmlns:a="http://schemas.openxmlformats.org/drawingml/2006/main">
              <a:ext uri="{FF2B5EF4-FFF2-40B4-BE49-F238E27FC236}">
                <a16:creationId xmlns:a16="http://schemas.microsoft.com/office/drawing/2014/main" id="{AAB8E531-0B05-44EF-A4E8-D382B81CF1B9}"/>
              </a:ext>
            </a:extLst>
          </p:cNvPr>
          <p:cNvSpPr>
            <a:spLocks xmlns:a="http://schemas.openxmlformats.org/drawingml/2006/main" noGrp="1"/>
          </p:cNvSpPr>
          <p:nvPr/>
        </p:nvSpPr>
        <p:spPr>
          <a:xfrm xmlns:a="http://schemas.openxmlformats.org/drawingml/2006/main">
            <a:off x="609600" y="26955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FB65EFB1-EEF2-4B21-9214-4FF319073BE7}"/>
              </a:ext>
            </a:extLst>
          </p:cNvPr>
          <p:cNvSpPr>
            <a:spLocks xmlns:a="http://schemas.openxmlformats.org/drawingml/2006/main" noGrp="1"/>
          </p:cNvSpPr>
          <p:nvPr/>
        </p:nvSpPr>
        <p:spPr>
          <a:xfrm xmlns:a="http://schemas.openxmlformats.org/drawingml/2006/main">
            <a:off x="609600" y="36099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That short message leaves out facts the legal answer may depend on: how the product works, which company does what, when each step happens, and what the company decided before.</a:t>
            </a:r>
          </a:p>
        </p:txBody>
      </p:sp>
      <p:sp>
        <p:nvSpPr>
          <p:cNvPr id="8" name="">
            <a:extLst xmlns:a="http://schemas.openxmlformats.org/drawingml/2006/main">
              <a:ext uri="{FF2B5EF4-FFF2-40B4-BE49-F238E27FC236}">
                <a16:creationId xmlns:a16="http://schemas.microsoft.com/office/drawing/2014/main" id="{3A6B2CC4-6F99-4CDD-8275-8C30E87E6636}"/>
              </a:ext>
            </a:extLst>
          </p:cNvPr>
          <p:cNvSpPr>
            <a:spLocks xmlns:a="http://schemas.openxmlformats.org/drawingml/2006/main" noGrp="1"/>
          </p:cNvSpPr>
          <p:nvPr/>
        </p:nvSpPr>
        <p:spPr>
          <a:xfrm xmlns:a="http://schemas.openxmlformats.org/drawingml/2006/main">
            <a:off x="6191250" y="2257425"/>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LAWYER’S WORK BEFORE ANSWERING</a:t>
            </a:r>
          </a:p>
        </p:txBody>
      </p:sp>
      <p:sp>
        <p:nvSpPr>
          <p:cNvPr id="9" name="">
            <a:extLst xmlns:a="http://schemas.openxmlformats.org/drawingml/2006/main">
              <a:ext uri="{FF2B5EF4-FFF2-40B4-BE49-F238E27FC236}">
                <a16:creationId xmlns:a16="http://schemas.microsoft.com/office/drawing/2014/main" id="{76F2539B-A888-4217-A788-882CA18DBBC7}"/>
              </a:ext>
            </a:extLst>
          </p:cNvPr>
          <p:cNvSpPr>
            <a:spLocks xmlns:a="http://schemas.openxmlformats.org/drawingml/2006/main" noGrp="1"/>
          </p:cNvSpPr>
          <p:nvPr/>
        </p:nvSpPr>
        <p:spPr>
          <a:xfrm xmlns:a="http://schemas.openxmlformats.org/drawingml/2006/main">
            <a:off x="6191250" y="2686050"/>
            <a:ext cx="53816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Gather the product documents and history.</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Verify what the business is actually doing.</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Find the governing law and recent developments.</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Explain the options and what could change the answer.</a:t>
            </a:r>
          </a:p>
        </p:txBody>
      </p:sp>
      <p:sp>
        <p:nvSpPr>
          <p:cNvPr id="10" name="">
            <a:extLst xmlns:a="http://schemas.openxmlformats.org/drawingml/2006/main">
              <a:ext uri="{FF2B5EF4-FFF2-40B4-BE49-F238E27FC236}">
                <a16:creationId xmlns:a16="http://schemas.microsoft.com/office/drawing/2014/main" id="{D245FC02-336D-4B5D-B2AB-D0C7D4199AC4}"/>
              </a:ext>
            </a:extLst>
          </p:cNvPr>
          <p:cNvSpPr>
            <a:spLocks xmlns:a="http://schemas.openxmlformats.org/drawingml/2006/main" noGrp="1"/>
          </p:cNvSpPr>
          <p:nvPr/>
        </p:nvSpPr>
        <p:spPr>
          <a:xfrm xmlns:a="http://schemas.openxmlformats.org/drawingml/2006/main">
            <a:off x="6191250" y="46101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GENERIC AI DOES NOT REMOVE THIS PREPARATION</a:t>
            </a:r>
          </a:p>
        </p:txBody>
      </p:sp>
      <p:sp>
        <p:nvSpPr>
          <p:cNvPr id="11" name="">
            <a:extLst xmlns:a="http://schemas.openxmlformats.org/drawingml/2006/main">
              <a:ext uri="{FF2B5EF4-FFF2-40B4-BE49-F238E27FC236}">
                <a16:creationId xmlns:a16="http://schemas.microsoft.com/office/drawing/2014/main" id="{77D32FFD-0E44-4014-8FED-EBE38C4FD38C}"/>
              </a:ext>
            </a:extLst>
          </p:cNvPr>
          <p:cNvSpPr>
            <a:spLocks xmlns:a="http://schemas.openxmlformats.org/drawingml/2006/main" noGrp="1"/>
          </p:cNvSpPr>
          <p:nvPr/>
        </p:nvSpPr>
        <p:spPr>
          <a:xfrm xmlns:a="http://schemas.openxmlformats.org/drawingml/2006/main">
            <a:off x="6191250" y="5019675"/>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0">
                <a:solidFill>
                  <a:srgbClr val="596273"/>
                </a:solidFill>
                <a:latin typeface="Arial"/>
                <a:ea typeface="Arial"/>
                <a:cs typeface="Arial"/>
              </a:defRPr>
            </a:pPr>
            <a:r>
              <a:rPr sz="1650" b="0">
                <a:solidFill>
                  <a:srgbClr val="596273"/>
                </a:solidFill>
                <a:latin typeface="Arial"/>
                <a:ea typeface="Arial"/>
                <a:cs typeface="Arial"/>
              </a:rPr>
              <a:t>The lawyer must still load the context, point the model toward the right issues, challenge confident assumptions, and check the sources.</a:t>
            </a:r>
          </a:p>
        </p:txBody>
      </p:sp>
      <p:sp>
        <p:nvSpPr>
          <p:cNvPr id="12" name="">
            <a:extLst xmlns:a="http://schemas.openxmlformats.org/drawingml/2006/main">
              <a:ext uri="{FF2B5EF4-FFF2-40B4-BE49-F238E27FC236}">
                <a16:creationId xmlns:a16="http://schemas.microsoft.com/office/drawing/2014/main" id="{EA7F4DAA-4BD1-42A1-9FC1-FD16F0523854}"/>
              </a:ext>
            </a:extLst>
          </p:cNvPr>
          <p:cNvSpPr>
            <a:spLocks xmlns:a="http://schemas.openxmlformats.org/drawingml/2006/main" noGrp="1"/>
          </p:cNvSpPr>
          <p:nvPr/>
        </p:nvSpPr>
        <p:spPr>
          <a:xfrm xmlns:a="http://schemas.openxmlformats.org/drawingml/2006/main">
            <a:off x="609600" y="5857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17243E"/>
                </a:solidFill>
                <a:latin typeface="Georgia"/>
                <a:ea typeface="Georgia"/>
                <a:cs typeface="Georgia"/>
              </a:defRPr>
            </a:pPr>
            <a:r>
              <a:rPr sz="2100" b="1">
                <a:solidFill>
                  <a:srgbClr val="17243E"/>
                </a:solidFill>
                <a:latin typeface="Georgia"/>
                <a:ea typeface="Georgia"/>
                <a:cs typeface="Georgia"/>
              </a:rPr>
              <a:t>The business asked for an answer. The lawyer first has to build the question.</a:t>
            </a:r>
          </a:p>
        </p:txBody>
      </p:sp>
    </p:spTree>
    <p:extLst>
      <p:ext uri="{BB962C8B-B14F-4D97-AF65-F5344CB8AC3E}">
        <p14:creationId xmlns:p14="http://schemas.microsoft.com/office/powerpoint/2010/main" val="774113691"/>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724BD3-FE8C-4DB0-A41E-0B6108762469}"/>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A188509B-98BC-4585-92BB-F7130B10A0B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business asks for a yes or no.</a:t>
            </a:r>
          </a:p>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lawyer needs the conditions behind it.</a:t>
            </a:r>
          </a:p>
        </p:txBody>
      </p:sp>
      <p:sp>
        <p:nvSpPr>
          <p:cNvPr id="3" name="">
            <a:extLst xmlns:a="http://schemas.openxmlformats.org/drawingml/2006/main">
              <a:ext uri="{FF2B5EF4-FFF2-40B4-BE49-F238E27FC236}">
                <a16:creationId xmlns:a16="http://schemas.microsoft.com/office/drawing/2014/main" id="{2B2C1690-0063-4E67-8D55-9051DC0EB770}"/>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D58C525-12C9-4B68-A457-E97722340B5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C6A07D4-A92B-4BCE-A115-F374D2A31C66}"/>
              </a:ext>
            </a:extLst>
          </p:cNvPr>
          <p:cNvSpPr>
            <a:spLocks xmlns:a="http://schemas.openxmlformats.org/drawingml/2006/main" noGrp="1"/>
          </p:cNvSpPr>
          <p:nvPr/>
        </p:nvSpPr>
        <p:spPr>
          <a:xfrm xmlns:a="http://schemas.openxmlformats.org/drawingml/2006/main">
            <a:off x="609600" y="2466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BUSINESS QUESTION</a:t>
            </a:r>
          </a:p>
        </p:txBody>
      </p:sp>
      <p:sp>
        <p:nvSpPr>
          <p:cNvPr id="6" name="">
            <a:extLst xmlns:a="http://schemas.openxmlformats.org/drawingml/2006/main">
              <a:ext uri="{FF2B5EF4-FFF2-40B4-BE49-F238E27FC236}">
                <a16:creationId xmlns:a16="http://schemas.microsoft.com/office/drawing/2014/main" id="{D00AFCD4-3CEC-4BD0-9453-61BFAFD6D645}"/>
              </a:ext>
            </a:extLst>
          </p:cNvPr>
          <p:cNvSpPr>
            <a:spLocks xmlns:a="http://schemas.openxmlformats.org/drawingml/2006/main" noGrp="1"/>
          </p:cNvSpPr>
          <p:nvPr/>
        </p:nvSpPr>
        <p:spPr>
          <a:xfrm xmlns:a="http://schemas.openxmlformats.org/drawingml/2006/main">
            <a:off x="609600" y="2981325"/>
            <a:ext cx="438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0">
                <a:solidFill>
                  <a:srgbClr val="FAF8F2"/>
                </a:solidFill>
                <a:latin typeface="Georgia"/>
                <a:ea typeface="Georgia"/>
                <a:cs typeface="Georgia"/>
              </a:defRPr>
            </a:pPr>
            <a:r>
              <a:rPr sz="3225" b="0">
                <a:solidFill>
                  <a:srgbClr val="FAF8F2"/>
                </a:solidFill>
                <a:latin typeface="Georgia"/>
                <a:ea typeface="Georgia"/>
                <a:cs typeface="Georgia"/>
              </a:rPr>
              <a:t>“Can we launch Friday?”</a:t>
            </a:r>
          </a:p>
        </p:txBody>
      </p:sp>
      <p:sp>
        <p:nvSpPr>
          <p:cNvPr id="7" name="">
            <a:extLst xmlns:a="http://schemas.openxmlformats.org/drawingml/2006/main">
              <a:ext uri="{FF2B5EF4-FFF2-40B4-BE49-F238E27FC236}">
                <a16:creationId xmlns:a16="http://schemas.microsoft.com/office/drawing/2014/main" id="{22235339-F179-4AFA-A77A-5029687FC77F}"/>
              </a:ext>
            </a:extLst>
          </p:cNvPr>
          <p:cNvSpPr>
            <a:spLocks xmlns:a="http://schemas.openxmlformats.org/drawingml/2006/main" noGrp="1"/>
          </p:cNvSpPr>
          <p:nvPr/>
        </p:nvSpPr>
        <p:spPr>
          <a:xfrm xmlns:a="http://schemas.openxmlformats.org/drawingml/2006/main">
            <a:off x="5810250" y="24669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THE ANSWER MAY CHANGE BASED ON</a:t>
            </a:r>
          </a:p>
        </p:txBody>
      </p:sp>
      <p:sp>
        <p:nvSpPr>
          <p:cNvPr id="8" name="">
            <a:extLst xmlns:a="http://schemas.openxmlformats.org/drawingml/2006/main">
              <a:ext uri="{FF2B5EF4-FFF2-40B4-BE49-F238E27FC236}">
                <a16:creationId xmlns:a16="http://schemas.microsoft.com/office/drawing/2014/main" id="{5919AA3B-58BD-4FBB-8AB6-D8828532E2C0}"/>
              </a:ext>
            </a:extLst>
          </p:cNvPr>
          <p:cNvSpPr>
            <a:spLocks xmlns:a="http://schemas.openxmlformats.org/drawingml/2006/main" noGrp="1"/>
          </p:cNvSpPr>
          <p:nvPr/>
        </p:nvSpPr>
        <p:spPr>
          <a:xfrm xmlns:a="http://schemas.openxmlformats.org/drawingml/2006/main">
            <a:off x="5810250" y="2971800"/>
            <a:ext cx="5715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What the product actually does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company handles the money or data</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When each step happens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Where the product and users are located</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laws and earlier company decisions apply</a:t>
            </a:r>
          </a:p>
        </p:txBody>
      </p:sp>
      <p:sp>
        <p:nvSpPr>
          <p:cNvPr id="9" name="">
            <a:extLst xmlns:a="http://schemas.openxmlformats.org/drawingml/2006/main">
              <a:ext uri="{FF2B5EF4-FFF2-40B4-BE49-F238E27FC236}">
                <a16:creationId xmlns:a16="http://schemas.microsoft.com/office/drawing/2014/main" id="{2D4F0869-2FC8-403A-994E-689BAAE03F95}"/>
              </a:ext>
            </a:extLst>
          </p:cNvPr>
          <p:cNvSpPr>
            <a:spLocks xmlns:a="http://schemas.openxmlformats.org/drawingml/2006/main" noGrp="1"/>
          </p:cNvSpPr>
          <p:nvPr/>
        </p:nvSpPr>
        <p:spPr>
          <a:xfrm xmlns:a="http://schemas.openxmlformats.org/drawingml/2006/main">
            <a:off x="609600" y="572452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Generic AI often answers from the facts it receives. A lawyer must prepare for facts that are missing, disputed, or wrong.</a:t>
            </a:r>
          </a:p>
        </p:txBody>
      </p:sp>
    </p:spTree>
    <p:extLst>
      <p:ext uri="{BB962C8B-B14F-4D97-AF65-F5344CB8AC3E}">
        <p14:creationId xmlns:p14="http://schemas.microsoft.com/office/powerpoint/2010/main" val="817340508"/>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1F392E-ED59-4A36-B238-19D9DF5A7C3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A6DA39C7-52D5-4628-8E17-C32D3568327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AI can now do useful legal work.</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It still needs a lawyer to make it useful.</a:t>
            </a:r>
          </a:p>
        </p:txBody>
      </p:sp>
      <p:sp>
        <p:nvSpPr>
          <p:cNvPr id="3" name="">
            <a:extLst xmlns:a="http://schemas.openxmlformats.org/drawingml/2006/main">
              <a:ext uri="{FF2B5EF4-FFF2-40B4-BE49-F238E27FC236}">
                <a16:creationId xmlns:a16="http://schemas.microsoft.com/office/drawing/2014/main" id="{E8ED6F26-351C-4B49-B5C3-CE2D6F4BD18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AA5719A-736D-4B2A-9693-1CBE1318437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EE01B19-5A4C-4440-B501-E8F39EA60374}"/>
              </a:ext>
            </a:extLst>
          </p:cNvPr>
          <p:cNvSpPr>
            <a:spLocks xmlns:a="http://schemas.openxmlformats.org/drawingml/2006/main" noGrp="1"/>
          </p:cNvSpPr>
          <p:nvPr/>
        </p:nvSpPr>
        <p:spPr>
          <a:xfrm xmlns:a="http://schemas.openxmlformats.org/drawingml/2006/main">
            <a:off x="609600" y="245745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Brian began building Themis after using newer AI models for legal research, synthesis, and drafting in his own work.</a:t>
            </a:r>
          </a:p>
        </p:txBody>
      </p:sp>
      <p:sp>
        <p:nvSpPr>
          <p:cNvPr id="6" name="">
            <a:extLst xmlns:a="http://schemas.openxmlformats.org/drawingml/2006/main">
              <a:ext uri="{FF2B5EF4-FFF2-40B4-BE49-F238E27FC236}">
                <a16:creationId xmlns:a16="http://schemas.microsoft.com/office/drawing/2014/main" id="{E8F5E1BD-52D0-45D5-8D43-87E9887FFB7C}"/>
              </a:ext>
            </a:extLst>
          </p:cNvPr>
          <p:cNvSpPr>
            <a:spLocks xmlns:a="http://schemas.openxmlformats.org/drawingml/2006/main" noGrp="1"/>
          </p:cNvSpPr>
          <p:nvPr/>
        </p:nvSpPr>
        <p:spPr>
          <a:xfrm xmlns:a="http://schemas.openxmlformats.org/drawingml/2006/main">
            <a:off x="6667500" y="2457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WITHOUT A LEGAL WORKSPACE, THE LAWYER MUST REPEAT</a:t>
            </a:r>
          </a:p>
        </p:txBody>
      </p:sp>
      <p:sp>
        <p:nvSpPr>
          <p:cNvPr id="7" name="">
            <a:extLst xmlns:a="http://schemas.openxmlformats.org/drawingml/2006/main">
              <a:ext uri="{FF2B5EF4-FFF2-40B4-BE49-F238E27FC236}">
                <a16:creationId xmlns:a16="http://schemas.microsoft.com/office/drawing/2014/main" id="{75877107-EC93-41B3-B651-48D79264251E}"/>
              </a:ext>
            </a:extLst>
          </p:cNvPr>
          <p:cNvSpPr>
            <a:spLocks xmlns:a="http://schemas.openxmlformats.org/drawingml/2006/main" noGrp="1"/>
          </p:cNvSpPr>
          <p:nvPr/>
        </p:nvSpPr>
        <p:spPr>
          <a:xfrm xmlns:a="http://schemas.openxmlformats.org/drawingml/2006/main">
            <a:off x="6667500" y="3076575"/>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Explain the company and product</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Upload the matter documents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Guide the model toward the relevant law</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Challenge its assumptions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Turn the result into usable legal work</a:t>
            </a:r>
          </a:p>
        </p:txBody>
      </p:sp>
      <p:sp>
        <p:nvSpPr>
          <p:cNvPr id="8" name="">
            <a:extLst xmlns:a="http://schemas.openxmlformats.org/drawingml/2006/main">
              <a:ext uri="{FF2B5EF4-FFF2-40B4-BE49-F238E27FC236}">
                <a16:creationId xmlns:a16="http://schemas.microsoft.com/office/drawing/2014/main" id="{CED461A6-798C-45D7-A038-D1B810BE67E8}"/>
              </a:ext>
            </a:extLst>
          </p:cNvPr>
          <p:cNvSpPr>
            <a:spLocks xmlns:a="http://schemas.openxmlformats.org/drawingml/2006/main" noGrp="1"/>
          </p:cNvSpPr>
          <p:nvPr/>
        </p:nvSpPr>
        <p:spPr>
          <a:xfrm xmlns:a="http://schemas.openxmlformats.org/drawingml/2006/main">
            <a:off x="609600" y="57245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The opportunity is to design the product around how lawyers examine questions and reach decisions.</a:t>
            </a:r>
          </a:p>
        </p:txBody>
      </p:sp>
    </p:spTree>
    <p:extLst>
      <p:ext uri="{BB962C8B-B14F-4D97-AF65-F5344CB8AC3E}">
        <p14:creationId xmlns:p14="http://schemas.microsoft.com/office/powerpoint/2010/main" val="1586841215"/>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EBF3B3-0808-4702-BE6E-9188ED01F21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50F5B355-5F0E-4E75-BAD1-93D03764A78C}"/>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Themis turns an incomplete request into</a:t>
            </a:r>
          </a:p>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a legal matter the lawyer can work from.</a:t>
            </a:r>
          </a:p>
        </p:txBody>
      </p:sp>
      <p:sp>
        <p:nvSpPr>
          <p:cNvPr id="3" name="">
            <a:extLst xmlns:a="http://schemas.openxmlformats.org/drawingml/2006/main">
              <a:ext uri="{FF2B5EF4-FFF2-40B4-BE49-F238E27FC236}">
                <a16:creationId xmlns:a16="http://schemas.microsoft.com/office/drawing/2014/main" id="{B6D85FC0-603F-44B6-B123-993A7BBCACB3}"/>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D7B4188-0AAF-4D9F-922B-BA892696177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D11E444-E11A-4D7B-97C8-7ED0B935E7B3}"/>
              </a:ext>
            </a:extLst>
          </p:cNvPr>
          <p:cNvSpPr>
            <a:spLocks xmlns:a="http://schemas.openxmlformats.org/drawingml/2006/main" noGrp="1"/>
          </p:cNvSpPr>
          <p:nvPr/>
        </p:nvSpPr>
        <p:spPr>
          <a:xfrm xmlns:a="http://schemas.openxmlformats.org/drawingml/2006/main">
            <a:off x="609600" y="239077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Themis is a matter-centered AI workspace for in-house lawyers. It keeps the work around a business question together as the facts and law change.</a:t>
            </a:r>
          </a:p>
        </p:txBody>
      </p:sp>
      <p:sp>
        <p:nvSpPr>
          <p:cNvPr id="6" name="">
            <a:extLst xmlns:a="http://schemas.openxmlformats.org/drawingml/2006/main">
              <a:ext uri="{FF2B5EF4-FFF2-40B4-BE49-F238E27FC236}">
                <a16:creationId xmlns:a16="http://schemas.microsoft.com/office/drawing/2014/main" id="{44BB4A9E-F2F4-4287-AE96-B54711506DDE}"/>
              </a:ext>
            </a:extLst>
          </p:cNvPr>
          <p:cNvSpPr>
            <a:spLocks xmlns:a="http://schemas.openxmlformats.org/drawingml/2006/main" noGrp="1"/>
          </p:cNvSpPr>
          <p:nvPr/>
        </p:nvSpPr>
        <p:spPr>
          <a:xfrm xmlns:a="http://schemas.openxmlformats.org/drawingml/2006/main">
            <a:off x="6667500" y="23907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EACH MATTER CONNECTS</a:t>
            </a:r>
          </a:p>
        </p:txBody>
      </p:sp>
      <p:sp>
        <p:nvSpPr>
          <p:cNvPr id="7" name="">
            <a:extLst xmlns:a="http://schemas.openxmlformats.org/drawingml/2006/main">
              <a:ext uri="{FF2B5EF4-FFF2-40B4-BE49-F238E27FC236}">
                <a16:creationId xmlns:a16="http://schemas.microsoft.com/office/drawing/2014/main" id="{0CF6EBAA-E750-44F2-9503-6EEB8C170FE2}"/>
              </a:ext>
            </a:extLst>
          </p:cNvPr>
          <p:cNvSpPr>
            <a:spLocks xmlns:a="http://schemas.openxmlformats.org/drawingml/2006/main" noGrp="1"/>
          </p:cNvSpPr>
          <p:nvPr/>
        </p:nvSpPr>
        <p:spPr>
          <a:xfrm xmlns:a="http://schemas.openxmlformats.org/drawingml/2006/main">
            <a:off x="6667500" y="294322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Original business request</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Company context and source documents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Facts, assumptions, and open questions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Research and supported analysis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Draft work and lawyer-recorded decisions</a:t>
            </a:r>
          </a:p>
        </p:txBody>
      </p:sp>
      <p:sp>
        <p:nvSpPr>
          <p:cNvPr id="8" name="">
            <a:extLst xmlns:a="http://schemas.openxmlformats.org/drawingml/2006/main">
              <a:ext uri="{FF2B5EF4-FFF2-40B4-BE49-F238E27FC236}">
                <a16:creationId xmlns:a16="http://schemas.microsoft.com/office/drawing/2014/main" id="{25D8D521-D155-4EBD-A6DB-5305B534DBE0}"/>
              </a:ext>
            </a:extLst>
          </p:cNvPr>
          <p:cNvSpPr>
            <a:spLocks xmlns:a="http://schemas.openxmlformats.org/drawingml/2006/main" noGrp="1"/>
          </p:cNvSpPr>
          <p:nvPr/>
        </p:nvSpPr>
        <p:spPr>
          <a:xfrm xmlns:a="http://schemas.openxmlformats.org/drawingml/2006/main">
            <a:off x="609600" y="51054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625" b="0">
                <a:solidFill>
                  <a:srgbClr val="4169A4"/>
                </a:solidFill>
                <a:latin typeface="Georgia"/>
                <a:ea typeface="Georgia"/>
                <a:cs typeface="Georgia"/>
              </a:defRPr>
            </a:pPr>
            <a:r>
              <a:rPr sz="26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1129871194"/>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5868DB-4E6B-4116-AAB7-272677E34954}"/>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350F37C0-DCD1-470A-B5AE-D9EAB0522C1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AA2C6A96-2EDC-49B6-A935-8E9B25A57C41}"/>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F08A071-B097-4E40-B283-2D791F27F4F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0427F30-03A8-4976-9F34-A58D68C2A6D6}"/>
              </a:ext>
            </a:extLst>
          </p:cNvPr>
          <p:cNvSpPr>
            <a:spLocks xmlns:a="http://schemas.openxmlformats.org/drawingml/2006/main" noGrp="1"/>
          </p:cNvSpPr>
          <p:nvPr/>
        </p:nvSpPr>
        <p:spPr>
          <a:xfrm xmlns:a="http://schemas.openxmlformats.org/drawingml/2006/main">
            <a:off x="609600" y="20288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596273"/>
                </a:solidFill>
                <a:latin typeface="Arial"/>
                <a:ea typeface="Arial"/>
                <a:cs typeface="Arial"/>
              </a:defRPr>
            </a:pPr>
            <a:r>
              <a:rPr sz="1500" b="0">
                <a:solidFill>
                  <a:srgbClr val="596273"/>
                </a:solidFill>
                <a:latin typeface="Arial"/>
                <a:ea typeface="Arial"/>
                <a:cs typeface="Arial"/>
              </a:rPr>
              <a:t>Themis prepares and preserves the work around the decision. The lawyer applies context, risk tolerance, and authority.</a:t>
            </a:r>
          </a:p>
        </p:txBody>
      </p:sp>
      <p:graphicFrame>
        <p:nvGraphicFramePr>
          <p:cNvPr id="13" name=""/>
          <p:cNvGraphicFramePr/>
          <p:nvPr/>
        </p:nvGraphicFramePr>
        <p:xfrm>
          <a:off xmlns:a="http://schemas.openxmlformats.org/drawingml/2006/main" x="609600" y="2505075"/>
          <a:ext xmlns:a="http://schemas.openxmlformats.org/drawingml/2006/main" cx="10972800" cy="284797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7" name="">
            <a:extLst xmlns:a="http://schemas.openxmlformats.org/drawingml/2006/main">
              <a:ext uri="{FF2B5EF4-FFF2-40B4-BE49-F238E27FC236}">
                <a16:creationId xmlns:a16="http://schemas.microsoft.com/office/drawing/2014/main" id="{0665BC9D-D1F8-4FBD-A5CC-E2A91518AABF}"/>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691747945"/>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4605BE9-99D4-4EAC-B3AE-784AFD4E9E18}"/>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38A1FECB-3A30-426D-AB3E-5152C38ADD53}"/>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missing fact can change the legal analysis.</a:t>
            </a:r>
          </a:p>
        </p:txBody>
      </p:sp>
      <p:sp>
        <p:nvSpPr>
          <p:cNvPr id="3" name="">
            <a:extLst xmlns:a="http://schemas.openxmlformats.org/drawingml/2006/main">
              <a:ext uri="{FF2B5EF4-FFF2-40B4-BE49-F238E27FC236}">
                <a16:creationId xmlns:a16="http://schemas.microsoft.com/office/drawing/2014/main" id="{8391714C-F595-4B19-90C6-0CB36407DA67}"/>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8B730C4-11F1-475A-8BC1-11D42DFDC0C0}"/>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4220F12-A8D5-46BB-8E71-3CCCBD0900B9}"/>
              </a:ext>
            </a:extLst>
          </p:cNvPr>
          <p:cNvSpPr>
            <a:spLocks xmlns:a="http://schemas.openxmlformats.org/drawingml/2006/main" noGrp="1"/>
          </p:cNvSpPr>
          <p:nvPr/>
        </p:nvSpPr>
        <p:spPr>
          <a:xfrm xmlns:a="http://schemas.openxmlformats.org/drawingml/2006/main">
            <a:off x="609600" y="2057400"/>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BUSINESS REQUEST</a:t>
            </a:r>
          </a:p>
        </p:txBody>
      </p:sp>
      <p:sp>
        <p:nvSpPr>
          <p:cNvPr id="6" name="">
            <a:extLst xmlns:a="http://schemas.openxmlformats.org/drawingml/2006/main">
              <a:ext uri="{FF2B5EF4-FFF2-40B4-BE49-F238E27FC236}">
                <a16:creationId xmlns:a16="http://schemas.microsoft.com/office/drawing/2014/main" id="{1374AB6E-085D-439B-9BC3-AD61F8C684F6}"/>
              </a:ext>
            </a:extLst>
          </p:cNvPr>
          <p:cNvSpPr>
            <a:spLocks xmlns:a="http://schemas.openxmlformats.org/drawingml/2006/main" noGrp="1"/>
          </p:cNvSpPr>
          <p:nvPr/>
        </p:nvSpPr>
        <p:spPr>
          <a:xfrm xmlns:a="http://schemas.openxmlformats.org/drawingml/2006/main">
            <a:off x="609600" y="24003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“Our marketplace will move money from a customer to a seller. Do we need to change the launch plan?”</a:t>
            </a:r>
          </a:p>
        </p:txBody>
      </p:sp>
      <p:sp>
        <p:nvSpPr>
          <p:cNvPr id="7" name="">
            <a:extLst xmlns:a="http://schemas.openxmlformats.org/drawingml/2006/main">
              <a:ext uri="{FF2B5EF4-FFF2-40B4-BE49-F238E27FC236}">
                <a16:creationId xmlns:a16="http://schemas.microsoft.com/office/drawing/2014/main" id="{7AA14C37-BE97-41AA-A055-DF06EE52A54B}"/>
              </a:ext>
            </a:extLst>
          </p:cNvPr>
          <p:cNvSpPr>
            <a:spLocks xmlns:a="http://schemas.openxmlformats.org/drawingml/2006/main" noGrp="1"/>
          </p:cNvSpPr>
          <p:nvPr/>
        </p:nvSpPr>
        <p:spPr>
          <a:xfrm xmlns:a="http://schemas.openxmlformats.org/drawingml/2006/main">
            <a:off x="6096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2D7CCCFD-6C85-4F7D-B1B9-1709C256B085}"/>
              </a:ext>
            </a:extLst>
          </p:cNvPr>
          <p:cNvSpPr>
            <a:spLocks xmlns:a="http://schemas.openxmlformats.org/drawingml/2006/main" noGrp="1"/>
          </p:cNvSpPr>
          <p:nvPr/>
        </p:nvSpPr>
        <p:spPr>
          <a:xfrm xmlns:a="http://schemas.openxmlformats.org/drawingml/2006/main">
            <a:off x="11811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Map the transaction</a:t>
            </a:r>
          </a:p>
        </p:txBody>
      </p:sp>
      <p:sp>
        <p:nvSpPr>
          <p:cNvPr id="9" name="">
            <a:extLst xmlns:a="http://schemas.openxmlformats.org/drawingml/2006/main">
              <a:ext uri="{FF2B5EF4-FFF2-40B4-BE49-F238E27FC236}">
                <a16:creationId xmlns:a16="http://schemas.microsoft.com/office/drawing/2014/main" id="{5FB80F31-9999-4646-94F2-4F5F52788221}"/>
              </a:ext>
            </a:extLst>
          </p:cNvPr>
          <p:cNvSpPr>
            <a:spLocks xmlns:a="http://schemas.openxmlformats.org/drawingml/2006/main" noGrp="1"/>
          </p:cNvSpPr>
          <p:nvPr/>
        </p:nvSpPr>
        <p:spPr>
          <a:xfrm xmlns:a="http://schemas.openxmlformats.org/drawingml/2006/main">
            <a:off x="11811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Organize each party, account, transfer, and point in time.</a:t>
            </a:r>
          </a:p>
        </p:txBody>
      </p:sp>
      <p:sp>
        <p:nvSpPr>
          <p:cNvPr id="10" name="">
            <a:extLst xmlns:a="http://schemas.openxmlformats.org/drawingml/2006/main">
              <a:ext uri="{FF2B5EF4-FFF2-40B4-BE49-F238E27FC236}">
                <a16:creationId xmlns:a16="http://schemas.microsoft.com/office/drawing/2014/main" id="{422FD4CC-E5D0-49BC-BE24-C692CAD3A98E}"/>
              </a:ext>
            </a:extLst>
          </p:cNvPr>
          <p:cNvSpPr>
            <a:spLocks xmlns:a="http://schemas.openxmlformats.org/drawingml/2006/main" noGrp="1"/>
          </p:cNvSpPr>
          <p:nvPr/>
        </p:nvSpPr>
        <p:spPr>
          <a:xfrm xmlns:a="http://schemas.openxmlformats.org/drawingml/2006/main">
            <a:off x="43434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027BEDD3-8D20-4E0C-9602-EA1E583C1EC8}"/>
              </a:ext>
            </a:extLst>
          </p:cNvPr>
          <p:cNvSpPr>
            <a:spLocks xmlns:a="http://schemas.openxmlformats.org/drawingml/2006/main" noGrp="1"/>
          </p:cNvSpPr>
          <p:nvPr/>
        </p:nvSpPr>
        <p:spPr>
          <a:xfrm xmlns:a="http://schemas.openxmlformats.org/drawingml/2006/main">
            <a:off x="49149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Find the missing fact</a:t>
            </a:r>
          </a:p>
        </p:txBody>
      </p:sp>
      <p:sp>
        <p:nvSpPr>
          <p:cNvPr id="12" name="">
            <a:extLst xmlns:a="http://schemas.openxmlformats.org/drawingml/2006/main">
              <a:ext uri="{FF2B5EF4-FFF2-40B4-BE49-F238E27FC236}">
                <a16:creationId xmlns:a16="http://schemas.microsoft.com/office/drawing/2014/main" id="{7F144817-4943-4DDD-9E11-6B7D7F0A9F01}"/>
              </a:ext>
            </a:extLst>
          </p:cNvPr>
          <p:cNvSpPr>
            <a:spLocks xmlns:a="http://schemas.openxmlformats.org/drawingml/2006/main" noGrp="1"/>
          </p:cNvSpPr>
          <p:nvPr/>
        </p:nvSpPr>
        <p:spPr>
          <a:xfrm xmlns:a="http://schemas.openxmlformats.org/drawingml/2006/main">
            <a:off x="49149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Does the company ever receive or control the funds, even briefly?</a:t>
            </a:r>
          </a:p>
        </p:txBody>
      </p:sp>
      <p:sp>
        <p:nvSpPr>
          <p:cNvPr id="13" name="">
            <a:extLst xmlns:a="http://schemas.openxmlformats.org/drawingml/2006/main">
              <a:ext uri="{FF2B5EF4-FFF2-40B4-BE49-F238E27FC236}">
                <a16:creationId xmlns:a16="http://schemas.microsoft.com/office/drawing/2014/main" id="{CC5E420F-8259-4262-BF3F-07B7539A9C73}"/>
              </a:ext>
            </a:extLst>
          </p:cNvPr>
          <p:cNvSpPr>
            <a:spLocks xmlns:a="http://schemas.openxmlformats.org/drawingml/2006/main" noGrp="1"/>
          </p:cNvSpPr>
          <p:nvPr/>
        </p:nvSpPr>
        <p:spPr>
          <a:xfrm xmlns:a="http://schemas.openxmlformats.org/drawingml/2006/main">
            <a:off x="80772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B57CFA51-D50D-4D82-8ADB-2438B65A51B9}"/>
              </a:ext>
            </a:extLst>
          </p:cNvPr>
          <p:cNvSpPr>
            <a:spLocks xmlns:a="http://schemas.openxmlformats.org/drawingml/2006/main" noGrp="1"/>
          </p:cNvSpPr>
          <p:nvPr/>
        </p:nvSpPr>
        <p:spPr>
          <a:xfrm xmlns:a="http://schemas.openxmlformats.org/drawingml/2006/main">
            <a:off x="8648700" y="33528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Compare the paths</a:t>
            </a:r>
          </a:p>
        </p:txBody>
      </p:sp>
      <p:sp>
        <p:nvSpPr>
          <p:cNvPr id="15" name="">
            <a:extLst xmlns:a="http://schemas.openxmlformats.org/drawingml/2006/main">
              <a:ext uri="{FF2B5EF4-FFF2-40B4-BE49-F238E27FC236}">
                <a16:creationId xmlns:a16="http://schemas.microsoft.com/office/drawing/2014/main" id="{48B95AE4-9066-4245-B496-743FE283BADD}"/>
              </a:ext>
            </a:extLst>
          </p:cNvPr>
          <p:cNvSpPr>
            <a:spLocks xmlns:a="http://schemas.openxmlformats.org/drawingml/2006/main" noGrp="1"/>
          </p:cNvSpPr>
          <p:nvPr/>
        </p:nvSpPr>
        <p:spPr>
          <a:xfrm xmlns:a="http://schemas.openxmlformats.org/drawingml/2006/main">
            <a:off x="8648700" y="38576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Explain why the fact matters and research each relevant legal path.</a:t>
            </a:r>
          </a:p>
        </p:txBody>
      </p:sp>
      <p:sp>
        <p:nvSpPr>
          <p:cNvPr id="16" name="">
            <a:extLst xmlns:a="http://schemas.openxmlformats.org/drawingml/2006/main">
              <a:ext uri="{FF2B5EF4-FFF2-40B4-BE49-F238E27FC236}">
                <a16:creationId xmlns:a16="http://schemas.microsoft.com/office/drawing/2014/main" id="{9ECB92C9-4A24-43A7-BD54-1DD9B5623BFA}"/>
              </a:ext>
            </a:extLst>
          </p:cNvPr>
          <p:cNvSpPr>
            <a:spLocks xmlns:a="http://schemas.openxmlformats.org/drawingml/2006/main" noGrp="1"/>
          </p:cNvSpPr>
          <p:nvPr/>
        </p:nvSpPr>
        <p:spPr>
          <a:xfrm xmlns:a="http://schemas.openxmlformats.org/drawingml/2006/main">
            <a:off x="609600"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Themis shows where the analysis can change. The lawyer determines which facts and path apply.</a:t>
            </a:r>
          </a:p>
        </p:txBody>
      </p:sp>
      <p:sp>
        <p:nvSpPr>
          <p:cNvPr id="17" name="">
            <a:extLst xmlns:a="http://schemas.openxmlformats.org/drawingml/2006/main">
              <a:ext uri="{FF2B5EF4-FFF2-40B4-BE49-F238E27FC236}">
                <a16:creationId xmlns:a16="http://schemas.microsoft.com/office/drawing/2014/main" id="{5DDC9D4A-EE05-49BD-9236-91EE0B5ADBB6}"/>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1467842169"/>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5288BF-DB43-437A-BB06-B11B5D97362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65FEC306-7922-4152-BCB1-32FBB5AB5F8C}"/>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first buyer is the lawyer carrying</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 entire legal function.</a:t>
            </a:r>
          </a:p>
        </p:txBody>
      </p:sp>
      <p:sp>
        <p:nvSpPr>
          <p:cNvPr id="3" name="">
            <a:extLst xmlns:a="http://schemas.openxmlformats.org/drawingml/2006/main">
              <a:ext uri="{FF2B5EF4-FFF2-40B4-BE49-F238E27FC236}">
                <a16:creationId xmlns:a16="http://schemas.microsoft.com/office/drawing/2014/main" id="{2DA1B86C-7C13-40A9-A4DE-087164D0A50E}"/>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2E58243-A913-45A6-BAA9-4C0E9E527BD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5330FA4-08B3-46CC-8E19-6957438E3242}"/>
              </a:ext>
            </a:extLst>
          </p:cNvPr>
          <p:cNvSpPr>
            <a:spLocks xmlns:a="http://schemas.openxmlformats.org/drawingml/2006/main" noGrp="1"/>
          </p:cNvSpPr>
          <p:nvPr/>
        </p:nvSpPr>
        <p:spPr>
          <a:xfrm xmlns:a="http://schemas.openxmlformats.org/drawingml/2006/main">
            <a:off x="609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INITIAL USER</a:t>
            </a:r>
          </a:p>
        </p:txBody>
      </p:sp>
      <p:sp>
        <p:nvSpPr>
          <p:cNvPr id="6" name="">
            <a:extLst xmlns:a="http://schemas.openxmlformats.org/drawingml/2006/main">
              <a:ext uri="{FF2B5EF4-FFF2-40B4-BE49-F238E27FC236}">
                <a16:creationId xmlns:a16="http://schemas.microsoft.com/office/drawing/2014/main" id="{304C62CA-BB99-4E04-AE69-A29CB88E62E2}"/>
              </a:ext>
            </a:extLst>
          </p:cNvPr>
          <p:cNvSpPr>
            <a:spLocks xmlns:a="http://schemas.openxmlformats.org/drawingml/2006/main" noGrp="1"/>
          </p:cNvSpPr>
          <p:nvPr/>
        </p:nvSpPr>
        <p:spPr>
          <a:xfrm xmlns:a="http://schemas.openxmlformats.org/drawingml/2006/main">
            <a:off x="609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Solo general counsel</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or product lawyer</a:t>
            </a:r>
          </a:p>
        </p:txBody>
      </p:sp>
      <p:sp>
        <p:nvSpPr>
          <p:cNvPr id="7" name="">
            <a:extLst xmlns:a="http://schemas.openxmlformats.org/drawingml/2006/main">
              <a:ext uri="{FF2B5EF4-FFF2-40B4-BE49-F238E27FC236}">
                <a16:creationId xmlns:a16="http://schemas.microsoft.com/office/drawing/2014/main" id="{D3B32049-AFFD-40AF-9574-A325ED11D502}"/>
              </a:ext>
            </a:extLst>
          </p:cNvPr>
          <p:cNvSpPr>
            <a:spLocks xmlns:a="http://schemas.openxmlformats.org/drawingml/2006/main" noGrp="1"/>
          </p:cNvSpPr>
          <p:nvPr/>
        </p:nvSpPr>
        <p:spPr>
          <a:xfrm xmlns:a="http://schemas.openxmlformats.org/drawingml/2006/main">
            <a:off x="609600" y="42100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Often works without junior support and must answer product and business questions across the company.</a:t>
            </a:r>
          </a:p>
        </p:txBody>
      </p:sp>
      <p:sp>
        <p:nvSpPr>
          <p:cNvPr id="8" name="">
            <a:extLst xmlns:a="http://schemas.openxmlformats.org/drawingml/2006/main">
              <a:ext uri="{FF2B5EF4-FFF2-40B4-BE49-F238E27FC236}">
                <a16:creationId xmlns:a16="http://schemas.microsoft.com/office/drawing/2014/main" id="{39220C7E-1FB5-4173-B6DF-935AB4C0344F}"/>
              </a:ext>
            </a:extLst>
          </p:cNvPr>
          <p:cNvSpPr>
            <a:spLocks xmlns:a="http://schemas.openxmlformats.org/drawingml/2006/main" noGrp="1"/>
          </p:cNvSpPr>
          <p:nvPr/>
        </p:nvSpPr>
        <p:spPr>
          <a:xfrm xmlns:a="http://schemas.openxmlformats.org/drawingml/2006/main">
            <a:off x="6705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TEAM EXPANSION</a:t>
            </a:r>
          </a:p>
        </p:txBody>
      </p:sp>
      <p:sp>
        <p:nvSpPr>
          <p:cNvPr id="9" name="">
            <a:extLst xmlns:a="http://schemas.openxmlformats.org/drawingml/2006/main">
              <a:ext uri="{FF2B5EF4-FFF2-40B4-BE49-F238E27FC236}">
                <a16:creationId xmlns:a16="http://schemas.microsoft.com/office/drawing/2014/main" id="{E166923C-A559-4478-BECA-24E90D0C89DB}"/>
              </a:ext>
            </a:extLst>
          </p:cNvPr>
          <p:cNvSpPr>
            <a:spLocks xmlns:a="http://schemas.openxmlformats.org/drawingml/2006/main" noGrp="1"/>
          </p:cNvSpPr>
          <p:nvPr/>
        </p:nvSpPr>
        <p:spPr>
          <a:xfrm xmlns:a="http://schemas.openxmlformats.org/drawingml/2006/main">
            <a:off x="6705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In-house legal team</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with fewer than ten lawyers</a:t>
            </a:r>
          </a:p>
        </p:txBody>
      </p:sp>
      <p:sp>
        <p:nvSpPr>
          <p:cNvPr id="10" name="">
            <a:extLst xmlns:a="http://schemas.openxmlformats.org/drawingml/2006/main">
              <a:ext uri="{FF2B5EF4-FFF2-40B4-BE49-F238E27FC236}">
                <a16:creationId xmlns:a16="http://schemas.microsoft.com/office/drawing/2014/main" id="{131F437D-0EB1-4492-99E5-90E582721C3A}"/>
              </a:ext>
            </a:extLst>
          </p:cNvPr>
          <p:cNvSpPr>
            <a:spLocks xmlns:a="http://schemas.openxmlformats.org/drawingml/2006/main" noGrp="1"/>
          </p:cNvSpPr>
          <p:nvPr/>
        </p:nvSpPr>
        <p:spPr>
          <a:xfrm xmlns:a="http://schemas.openxmlformats.org/drawingml/2006/main">
            <a:off x="6705600" y="42100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Shared matters can let a second lawyer see the request, facts, research, decisions, and next open question without a long handoff.</a:t>
            </a:r>
          </a:p>
        </p:txBody>
      </p:sp>
      <p:sp>
        <p:nvSpPr>
          <p:cNvPr id="11" name="">
            <a:extLst xmlns:a="http://schemas.openxmlformats.org/drawingml/2006/main">
              <a:ext uri="{FF2B5EF4-FFF2-40B4-BE49-F238E27FC236}">
                <a16:creationId xmlns:a16="http://schemas.microsoft.com/office/drawing/2014/main" id="{5F3F7BEE-37EA-4BEC-AB73-96824A6276BC}"/>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596273"/>
                </a:solidFill>
                <a:latin typeface="Arial"/>
                <a:ea typeface="Arial"/>
                <a:cs typeface="Arial"/>
              </a:defRPr>
            </a:pPr>
            <a:r>
              <a:rPr sz="1575" b="0">
                <a:solidFill>
                  <a:srgbClr val="596273"/>
                </a:solidFill>
                <a:latin typeface="Arial"/>
                <a:ea typeface="Arial"/>
                <a:cs typeface="Arial"/>
              </a:rPr>
              <a:t>Business hypothesis: earn repeat use from one lawyer, then prove that shared context supports team adoption.</a:t>
            </a:r>
          </a:p>
        </p:txBody>
      </p:sp>
    </p:spTree>
    <p:extLst>
      <p:ext uri="{BB962C8B-B14F-4D97-AF65-F5344CB8AC3E}">
        <p14:creationId xmlns:p14="http://schemas.microsoft.com/office/powerpoint/2010/main" val="914421905"/>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DD681E-2F38-452D-897E-783940932D68}"/>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CD56B055-33F6-4A0C-A7BB-EAB8747C37E8}"/>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FAF8F2"/>
                </a:solidFill>
                <a:latin typeface="Georgia"/>
                <a:ea typeface="Georgia"/>
                <a:cs typeface="Georgia"/>
              </a:defRPr>
            </a:pPr>
            <a:r>
              <a:rPr sz="3225" b="1">
                <a:solidFill>
                  <a:srgbClr val="FAF8F2"/>
                </a:solidFill>
                <a:latin typeface="Georgia"/>
                <a:ea typeface="Georgia"/>
                <a:cs typeface="Georgia"/>
              </a:rPr>
              <a:t>Legal AI earns trust through observable behavior.</a:t>
            </a:r>
          </a:p>
        </p:txBody>
      </p:sp>
      <p:sp>
        <p:nvSpPr>
          <p:cNvPr id="3" name="">
            <a:extLst xmlns:a="http://schemas.openxmlformats.org/drawingml/2006/main">
              <a:ext uri="{FF2B5EF4-FFF2-40B4-BE49-F238E27FC236}">
                <a16:creationId xmlns:a16="http://schemas.microsoft.com/office/drawing/2014/main" id="{495FA29A-34D4-4DDD-B39C-8977A213512D}"/>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518B478-408F-4D70-927D-E8D1BAB7446D}"/>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6B781AB-0C8B-49BF-9711-571E18536027}"/>
              </a:ext>
            </a:extLst>
          </p:cNvPr>
          <p:cNvSpPr>
            <a:spLocks xmlns:a="http://schemas.openxmlformats.org/drawingml/2006/main" noGrp="1"/>
          </p:cNvSpPr>
          <p:nvPr/>
        </p:nvSpPr>
        <p:spPr>
          <a:xfrm xmlns:a="http://schemas.openxmlformats.org/drawingml/2006/main">
            <a:off x="609600" y="19526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DCE1EA"/>
                </a:solidFill>
                <a:latin typeface="Arial"/>
                <a:ea typeface="Arial"/>
                <a:cs typeface="Arial"/>
              </a:defRPr>
            </a:pPr>
            <a:r>
              <a:rPr sz="1575" b="0">
                <a:solidFill>
                  <a:srgbClr val="DCE1EA"/>
                </a:solidFill>
                <a:latin typeface="Arial"/>
                <a:ea typeface="Arial"/>
                <a:cs typeface="Arial"/>
              </a:rPr>
              <a:t>The product must show what it knows, what it does not know, and who owns the decision.</a:t>
            </a:r>
          </a:p>
        </p:txBody>
      </p:sp>
      <p:sp>
        <p:nvSpPr>
          <p:cNvPr id="6" name="">
            <a:extLst xmlns:a="http://schemas.openxmlformats.org/drawingml/2006/main">
              <a:ext uri="{FF2B5EF4-FFF2-40B4-BE49-F238E27FC236}">
                <a16:creationId xmlns:a16="http://schemas.microsoft.com/office/drawing/2014/main" id="{0092DC27-BA6D-4B29-AEC1-E471F6AE0A64}"/>
              </a:ext>
            </a:extLst>
          </p:cNvPr>
          <p:cNvSpPr>
            <a:spLocks xmlns:a="http://schemas.openxmlformats.org/drawingml/2006/main" noGrp="1"/>
          </p:cNvSpPr>
          <p:nvPr/>
        </p:nvSpPr>
        <p:spPr>
          <a:xfrm xmlns:a="http://schemas.openxmlformats.org/drawingml/2006/main">
            <a:off x="6096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Humble</a:t>
            </a:r>
          </a:p>
        </p:txBody>
      </p:sp>
      <p:sp>
        <p:nvSpPr>
          <p:cNvPr id="7" name="">
            <a:extLst xmlns:a="http://schemas.openxmlformats.org/drawingml/2006/main">
              <a:ext uri="{FF2B5EF4-FFF2-40B4-BE49-F238E27FC236}">
                <a16:creationId xmlns:a16="http://schemas.microsoft.com/office/drawing/2014/main" id="{208DF7DC-F80C-416E-93B0-8E51FBEBD990}"/>
              </a:ext>
            </a:extLst>
          </p:cNvPr>
          <p:cNvSpPr>
            <a:spLocks xmlns:a="http://schemas.openxmlformats.org/drawingml/2006/main" noGrp="1"/>
          </p:cNvSpPr>
          <p:nvPr/>
        </p:nvSpPr>
        <p:spPr>
          <a:xfrm xmlns:a="http://schemas.openxmlformats.org/drawingml/2006/main">
            <a:off x="6096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Marks uncertainty instead of pretending ambiguity disappeared.</a:t>
            </a:r>
          </a:p>
        </p:txBody>
      </p:sp>
      <p:sp>
        <p:nvSpPr>
          <p:cNvPr id="8" name="">
            <a:extLst xmlns:a="http://schemas.openxmlformats.org/drawingml/2006/main">
              <a:ext uri="{FF2B5EF4-FFF2-40B4-BE49-F238E27FC236}">
                <a16:creationId xmlns:a16="http://schemas.microsoft.com/office/drawing/2014/main" id="{F96615BF-6BCE-4A07-A3F5-7625D94EFFE7}"/>
              </a:ext>
            </a:extLst>
          </p:cNvPr>
          <p:cNvSpPr>
            <a:spLocks xmlns:a="http://schemas.openxmlformats.org/drawingml/2006/main" noGrp="1"/>
          </p:cNvSpPr>
          <p:nvPr/>
        </p:nvSpPr>
        <p:spPr>
          <a:xfrm xmlns:a="http://schemas.openxmlformats.org/drawingml/2006/main">
            <a:off x="65532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Curious</a:t>
            </a:r>
          </a:p>
        </p:txBody>
      </p:sp>
      <p:sp>
        <p:nvSpPr>
          <p:cNvPr id="9" name="">
            <a:extLst xmlns:a="http://schemas.openxmlformats.org/drawingml/2006/main">
              <a:ext uri="{FF2B5EF4-FFF2-40B4-BE49-F238E27FC236}">
                <a16:creationId xmlns:a16="http://schemas.microsoft.com/office/drawing/2014/main" id="{DB57DA4E-5976-41F9-969C-D9BAED3929ED}"/>
              </a:ext>
            </a:extLst>
          </p:cNvPr>
          <p:cNvSpPr>
            <a:spLocks xmlns:a="http://schemas.openxmlformats.org/drawingml/2006/main" noGrp="1"/>
          </p:cNvSpPr>
          <p:nvPr/>
        </p:nvSpPr>
        <p:spPr>
          <a:xfrm xmlns:a="http://schemas.openxmlformats.org/drawingml/2006/main">
            <a:off x="65532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Asks the factual question that could change the analysis.</a:t>
            </a:r>
          </a:p>
        </p:txBody>
      </p:sp>
      <p:sp>
        <p:nvSpPr>
          <p:cNvPr id="10" name="">
            <a:extLst xmlns:a="http://schemas.openxmlformats.org/drawingml/2006/main">
              <a:ext uri="{FF2B5EF4-FFF2-40B4-BE49-F238E27FC236}">
                <a16:creationId xmlns:a16="http://schemas.microsoft.com/office/drawing/2014/main" id="{4551222D-C8D3-47D3-BF9E-7F1CF6236596}"/>
              </a:ext>
            </a:extLst>
          </p:cNvPr>
          <p:cNvSpPr>
            <a:spLocks xmlns:a="http://schemas.openxmlformats.org/drawingml/2006/main" noGrp="1"/>
          </p:cNvSpPr>
          <p:nvPr/>
        </p:nvSpPr>
        <p:spPr>
          <a:xfrm xmlns:a="http://schemas.openxmlformats.org/drawingml/2006/main">
            <a:off x="6096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Present</a:t>
            </a:r>
          </a:p>
        </p:txBody>
      </p:sp>
      <p:sp>
        <p:nvSpPr>
          <p:cNvPr id="11" name="">
            <a:extLst xmlns:a="http://schemas.openxmlformats.org/drawingml/2006/main">
              <a:ext uri="{FF2B5EF4-FFF2-40B4-BE49-F238E27FC236}">
                <a16:creationId xmlns:a16="http://schemas.microsoft.com/office/drawing/2014/main" id="{606734D4-1592-4D6A-8442-9477D565DCFC}"/>
              </a:ext>
            </a:extLst>
          </p:cNvPr>
          <p:cNvSpPr>
            <a:spLocks xmlns:a="http://schemas.openxmlformats.org/drawingml/2006/main" noGrp="1"/>
          </p:cNvSpPr>
          <p:nvPr/>
        </p:nvSpPr>
        <p:spPr>
          <a:xfrm xmlns:a="http://schemas.openxmlformats.org/drawingml/2006/main">
            <a:off x="6096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Remains available without taking control of the decision.</a:t>
            </a:r>
          </a:p>
        </p:txBody>
      </p:sp>
      <p:sp>
        <p:nvSpPr>
          <p:cNvPr id="12" name="">
            <a:extLst xmlns:a="http://schemas.openxmlformats.org/drawingml/2006/main">
              <a:ext uri="{FF2B5EF4-FFF2-40B4-BE49-F238E27FC236}">
                <a16:creationId xmlns:a16="http://schemas.microsoft.com/office/drawing/2014/main" id="{A845F3C4-3941-4880-8CDD-95CC3E2BAC87}"/>
              </a:ext>
            </a:extLst>
          </p:cNvPr>
          <p:cNvSpPr>
            <a:spLocks xmlns:a="http://schemas.openxmlformats.org/drawingml/2006/main" noGrp="1"/>
          </p:cNvSpPr>
          <p:nvPr/>
        </p:nvSpPr>
        <p:spPr>
          <a:xfrm xmlns:a="http://schemas.openxmlformats.org/drawingml/2006/main">
            <a:off x="65532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Persistent</a:t>
            </a:r>
          </a:p>
        </p:txBody>
      </p:sp>
      <p:sp>
        <p:nvSpPr>
          <p:cNvPr id="13" name="">
            <a:extLst xmlns:a="http://schemas.openxmlformats.org/drawingml/2006/main">
              <a:ext uri="{FF2B5EF4-FFF2-40B4-BE49-F238E27FC236}">
                <a16:creationId xmlns:a16="http://schemas.microsoft.com/office/drawing/2014/main" id="{9CA668C4-0776-43D2-A976-CC6944F33E3A}"/>
              </a:ext>
            </a:extLst>
          </p:cNvPr>
          <p:cNvSpPr>
            <a:spLocks xmlns:a="http://schemas.openxmlformats.org/drawingml/2006/main" noGrp="1"/>
          </p:cNvSpPr>
          <p:nvPr/>
        </p:nvSpPr>
        <p:spPr>
          <a:xfrm xmlns:a="http://schemas.openxmlformats.org/drawingml/2006/main">
            <a:off x="65532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Carries the matter context forward.</a:t>
            </a:r>
          </a:p>
        </p:txBody>
      </p:sp>
      <p:sp>
        <p:nvSpPr>
          <p:cNvPr id="14" name="">
            <a:extLst xmlns:a="http://schemas.openxmlformats.org/drawingml/2006/main">
              <a:ext uri="{FF2B5EF4-FFF2-40B4-BE49-F238E27FC236}">
                <a16:creationId xmlns:a16="http://schemas.microsoft.com/office/drawing/2014/main" id="{3834EA96-0D73-416E-B02C-86139C05B408}"/>
              </a:ext>
            </a:extLst>
          </p:cNvPr>
          <p:cNvSpPr>
            <a:spLocks xmlns:a="http://schemas.openxmlformats.org/drawingml/2006/main" noGrp="1"/>
          </p:cNvSpPr>
          <p:nvPr/>
        </p:nvSpPr>
        <p:spPr>
          <a:xfrm xmlns:a="http://schemas.openxmlformats.org/drawingml/2006/main">
            <a:off x="6096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Supportive</a:t>
            </a:r>
          </a:p>
        </p:txBody>
      </p:sp>
      <p:sp>
        <p:nvSpPr>
          <p:cNvPr id="15" name="">
            <a:extLst xmlns:a="http://schemas.openxmlformats.org/drawingml/2006/main">
              <a:ext uri="{FF2B5EF4-FFF2-40B4-BE49-F238E27FC236}">
                <a16:creationId xmlns:a16="http://schemas.microsoft.com/office/drawing/2014/main" id="{09EBD650-2249-4858-BBD3-4120A150BE45}"/>
              </a:ext>
            </a:extLst>
          </p:cNvPr>
          <p:cNvSpPr>
            <a:spLocks xmlns:a="http://schemas.openxmlformats.org/drawingml/2006/main" noGrp="1"/>
          </p:cNvSpPr>
          <p:nvPr/>
        </p:nvSpPr>
        <p:spPr>
          <a:xfrm xmlns:a="http://schemas.openxmlformats.org/drawingml/2006/main">
            <a:off x="6096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Strengthens judgment instead of claiming legal authority.</a:t>
            </a:r>
          </a:p>
        </p:txBody>
      </p:sp>
      <p:sp>
        <p:nvSpPr>
          <p:cNvPr id="16" name="">
            <a:extLst xmlns:a="http://schemas.openxmlformats.org/drawingml/2006/main">
              <a:ext uri="{FF2B5EF4-FFF2-40B4-BE49-F238E27FC236}">
                <a16:creationId xmlns:a16="http://schemas.microsoft.com/office/drawing/2014/main" id="{9E61060C-5C22-40FB-A93F-BDF67AB01DFD}"/>
              </a:ext>
            </a:extLst>
          </p:cNvPr>
          <p:cNvSpPr>
            <a:spLocks xmlns:a="http://schemas.openxmlformats.org/drawingml/2006/main" noGrp="1"/>
          </p:cNvSpPr>
          <p:nvPr/>
        </p:nvSpPr>
        <p:spPr>
          <a:xfrm xmlns:a="http://schemas.openxmlformats.org/drawingml/2006/main">
            <a:off x="65532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Faithful</a:t>
            </a:r>
          </a:p>
        </p:txBody>
      </p:sp>
      <p:sp>
        <p:nvSpPr>
          <p:cNvPr id="17" name="">
            <a:extLst xmlns:a="http://schemas.openxmlformats.org/drawingml/2006/main">
              <a:ext uri="{FF2B5EF4-FFF2-40B4-BE49-F238E27FC236}">
                <a16:creationId xmlns:a16="http://schemas.microsoft.com/office/drawing/2014/main" id="{125E015C-8241-4C7D-B995-420844BD28CC}"/>
              </a:ext>
            </a:extLst>
          </p:cNvPr>
          <p:cNvSpPr>
            <a:spLocks xmlns:a="http://schemas.openxmlformats.org/drawingml/2006/main" noGrp="1"/>
          </p:cNvSpPr>
          <p:nvPr/>
        </p:nvSpPr>
        <p:spPr>
          <a:xfrm xmlns:a="http://schemas.openxmlformats.org/drawingml/2006/main">
            <a:off x="65532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Records the lawyer’s decision without rewriting it.</a:t>
            </a:r>
          </a:p>
        </p:txBody>
      </p:sp>
    </p:spTree>
    <p:extLst>
      <p:ext uri="{BB962C8B-B14F-4D97-AF65-F5344CB8AC3E}">
        <p14:creationId xmlns:p14="http://schemas.microsoft.com/office/powerpoint/2010/main" val="519269117"/>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2EB49C-D8DA-43D5-829F-546CE317C77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6E143CAF-65BA-4712-97FF-35E520B3664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Themis must beat the lawyer’s current tool stack.</a:t>
            </a:r>
          </a:p>
        </p:txBody>
      </p:sp>
      <p:sp>
        <p:nvSpPr>
          <p:cNvPr id="3" name="">
            <a:extLst xmlns:a="http://schemas.openxmlformats.org/drawingml/2006/main">
              <a:ext uri="{FF2B5EF4-FFF2-40B4-BE49-F238E27FC236}">
                <a16:creationId xmlns:a16="http://schemas.microsoft.com/office/drawing/2014/main" id="{2708CFC3-210E-400D-B86A-2159880DEA0A}"/>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97E5FAF-A85A-406F-8706-5B47F13FEDD4}"/>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B1CF6B5-7CAF-4622-9DD3-9AFE30AE5800}"/>
              </a:ext>
            </a:extLst>
          </p:cNvPr>
          <p:cNvSpPr>
            <a:spLocks xmlns:a="http://schemas.openxmlformats.org/drawingml/2006/main" noGrp="1"/>
          </p:cNvSpPr>
          <p:nvPr/>
        </p:nvSpPr>
        <p:spPr>
          <a:xfrm xmlns:a="http://schemas.openxmlformats.org/drawingml/2006/main">
            <a:off x="609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CURRENT WORKFLOW</a:t>
            </a:r>
          </a:p>
        </p:txBody>
      </p:sp>
      <p:sp>
        <p:nvSpPr>
          <p:cNvPr id="6" name="">
            <a:extLst xmlns:a="http://schemas.openxmlformats.org/drawingml/2006/main">
              <a:ext uri="{FF2B5EF4-FFF2-40B4-BE49-F238E27FC236}">
                <a16:creationId xmlns:a16="http://schemas.microsoft.com/office/drawing/2014/main" id="{24E053FB-CBBF-4BC2-8776-77250E698A03}"/>
              </a:ext>
            </a:extLst>
          </p:cNvPr>
          <p:cNvSpPr>
            <a:spLocks xmlns:a="http://schemas.openxmlformats.org/drawingml/2006/main" noGrp="1"/>
          </p:cNvSpPr>
          <p:nvPr/>
        </p:nvSpPr>
        <p:spPr>
          <a:xfrm xmlns:a="http://schemas.openxmlformats.org/drawingml/2006/main">
            <a:off x="609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General AI such as ChatGPT or Claude</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Legal and web research sources</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Documents, email, and Slack</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Manual notes and personal memory</a:t>
            </a:r>
          </a:p>
        </p:txBody>
      </p:sp>
      <p:sp>
        <p:nvSpPr>
          <p:cNvPr id="7" name="">
            <a:extLst xmlns:a="http://schemas.openxmlformats.org/drawingml/2006/main">
              <a:ext uri="{FF2B5EF4-FFF2-40B4-BE49-F238E27FC236}">
                <a16:creationId xmlns:a16="http://schemas.microsoft.com/office/drawing/2014/main" id="{6F594D1B-0543-40FF-B054-DC64BFCE9328}"/>
              </a:ext>
            </a:extLst>
          </p:cNvPr>
          <p:cNvSpPr>
            <a:spLocks xmlns:a="http://schemas.openxmlformats.org/drawingml/2006/main" noGrp="1"/>
          </p:cNvSpPr>
          <p:nvPr/>
        </p:nvSpPr>
        <p:spPr>
          <a:xfrm xmlns:a="http://schemas.openxmlformats.org/drawingml/2006/main">
            <a:off x="6705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THE TEST FOR THEMIS</a:t>
            </a:r>
          </a:p>
        </p:txBody>
      </p:sp>
      <p:sp>
        <p:nvSpPr>
          <p:cNvPr id="8" name="">
            <a:extLst xmlns:a="http://schemas.openxmlformats.org/drawingml/2006/main">
              <a:ext uri="{FF2B5EF4-FFF2-40B4-BE49-F238E27FC236}">
                <a16:creationId xmlns:a16="http://schemas.microsoft.com/office/drawing/2014/main" id="{BAD6AE55-6973-4782-B414-C9446345AC9D}"/>
              </a:ext>
            </a:extLst>
          </p:cNvPr>
          <p:cNvSpPr>
            <a:spLocks xmlns:a="http://schemas.openxmlformats.org/drawingml/2006/main" noGrp="1"/>
          </p:cNvSpPr>
          <p:nvPr/>
        </p:nvSpPr>
        <p:spPr>
          <a:xfrm xmlns:a="http://schemas.openxmlformats.org/drawingml/2006/main">
            <a:off x="6705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spend less total effort?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Can the lawyer inspect the sources quickly?</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Themis remember relevant company context?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return with the next matter?</a:t>
            </a:r>
          </a:p>
        </p:txBody>
      </p:sp>
      <p:sp>
        <p:nvSpPr>
          <p:cNvPr id="9" name="">
            <a:extLst xmlns:a="http://schemas.openxmlformats.org/drawingml/2006/main">
              <a:ext uri="{FF2B5EF4-FFF2-40B4-BE49-F238E27FC236}">
                <a16:creationId xmlns:a16="http://schemas.microsoft.com/office/drawing/2014/main" id="{E0454B0E-6EF2-40BA-8233-C4FE5C021407}"/>
              </a:ext>
            </a:extLst>
          </p:cNvPr>
          <p:cNvSpPr>
            <a:spLocks xmlns:a="http://schemas.openxmlformats.org/drawingml/2006/main" noGrp="1"/>
          </p:cNvSpPr>
          <p:nvPr/>
        </p:nvSpPr>
        <p:spPr>
          <a:xfrm xmlns:a="http://schemas.openxmlformats.org/drawingml/2006/main">
            <a:off x="6096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Repeat use and willingness to pay remain to be proven.</a:t>
            </a:r>
          </a:p>
        </p:txBody>
      </p:sp>
    </p:spTree>
    <p:extLst>
      <p:ext uri="{BB962C8B-B14F-4D97-AF65-F5344CB8AC3E}">
        <p14:creationId xmlns:p14="http://schemas.microsoft.com/office/powerpoint/2010/main" val="1001932327"/>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A7D09B-DA7C-44C1-9667-1CAF2366F1C8}"/>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22421BBB-6B6D-49B7-AF9C-4A0FD964AD3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Founder experience spans the user problem</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and the technology.</a:t>
            </a:r>
          </a:p>
        </p:txBody>
      </p:sp>
      <p:sp>
        <p:nvSpPr>
          <p:cNvPr id="3" name="">
            <a:extLst xmlns:a="http://schemas.openxmlformats.org/drawingml/2006/main">
              <a:ext uri="{FF2B5EF4-FFF2-40B4-BE49-F238E27FC236}">
                <a16:creationId xmlns:a16="http://schemas.microsoft.com/office/drawing/2014/main" id="{83B10C22-8978-48E2-BADC-6EF5BC184B51}"/>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090A722-0217-402F-80AB-A511F377195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1BD5E10-33DD-4140-8F56-B0DD79B12AC9}"/>
              </a:ext>
            </a:extLst>
          </p:cNvPr>
          <p:cNvSpPr>
            <a:spLocks xmlns:a="http://schemas.openxmlformats.org/drawingml/2006/main" noGrp="1"/>
          </p:cNvSpPr>
          <p:nvPr/>
        </p:nvSpPr>
        <p:spPr>
          <a:xfrm xmlns:a="http://schemas.openxmlformats.org/drawingml/2006/main">
            <a:off x="609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LEGAL EXPERIENCE</a:t>
            </a:r>
          </a:p>
        </p:txBody>
      </p:sp>
      <p:sp>
        <p:nvSpPr>
          <p:cNvPr id="6" name="">
            <a:extLst xmlns:a="http://schemas.openxmlformats.org/drawingml/2006/main">
              <a:ext uri="{FF2B5EF4-FFF2-40B4-BE49-F238E27FC236}">
                <a16:creationId xmlns:a16="http://schemas.microsoft.com/office/drawing/2014/main" id="{D7A4817D-4472-4E46-99E8-2CA9AB0A4109}"/>
              </a:ext>
            </a:extLst>
          </p:cNvPr>
          <p:cNvSpPr>
            <a:spLocks xmlns:a="http://schemas.openxmlformats.org/drawingml/2006/main" noGrp="1"/>
          </p:cNvSpPr>
          <p:nvPr/>
        </p:nvSpPr>
        <p:spPr>
          <a:xfrm xmlns:a="http://schemas.openxmlformats.org/drawingml/2006/main">
            <a:off x="609600" y="28956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17 years as a lawyer</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General counsel and product counsel</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Built legal functions and led teams</a:t>
            </a:r>
          </a:p>
        </p:txBody>
      </p:sp>
      <p:sp>
        <p:nvSpPr>
          <p:cNvPr id="7" name="">
            <a:extLst xmlns:a="http://schemas.openxmlformats.org/drawingml/2006/main">
              <a:ext uri="{FF2B5EF4-FFF2-40B4-BE49-F238E27FC236}">
                <a16:creationId xmlns:a16="http://schemas.microsoft.com/office/drawing/2014/main" id="{B72B83AB-3063-4943-B5E9-A9EA9E188966}"/>
              </a:ext>
            </a:extLst>
          </p:cNvPr>
          <p:cNvSpPr>
            <a:spLocks xmlns:a="http://schemas.openxmlformats.org/drawingml/2006/main" noGrp="1"/>
          </p:cNvSpPr>
          <p:nvPr/>
        </p:nvSpPr>
        <p:spPr>
          <a:xfrm xmlns:a="http://schemas.openxmlformats.org/drawingml/2006/main">
            <a:off x="6705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TECHNICAL EXPERIENCE</a:t>
            </a:r>
          </a:p>
        </p:txBody>
      </p:sp>
      <p:sp>
        <p:nvSpPr>
          <p:cNvPr id="8" name="">
            <a:extLst xmlns:a="http://schemas.openxmlformats.org/drawingml/2006/main">
              <a:ext uri="{FF2B5EF4-FFF2-40B4-BE49-F238E27FC236}">
                <a16:creationId xmlns:a16="http://schemas.microsoft.com/office/drawing/2014/main" id="{72B877D4-F30F-467D-A773-5D888A29A94C}"/>
              </a:ext>
            </a:extLst>
          </p:cNvPr>
          <p:cNvSpPr>
            <a:spLocks xmlns:a="http://schemas.openxmlformats.org/drawingml/2006/main" noGrp="1"/>
          </p:cNvSpPr>
          <p:nvPr/>
        </p:nvSpPr>
        <p:spPr>
          <a:xfrm xmlns:a="http://schemas.openxmlformats.org/drawingml/2006/main">
            <a:off x="6705600" y="28956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Earlier AI and natural-language research at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M.S. in Computer Science,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J.D., Northwestern</a:t>
            </a:r>
          </a:p>
        </p:txBody>
      </p:sp>
      <p:sp>
        <p:nvSpPr>
          <p:cNvPr id="9" name="">
            <a:extLst xmlns:a="http://schemas.openxmlformats.org/drawingml/2006/main">
              <a:ext uri="{FF2B5EF4-FFF2-40B4-BE49-F238E27FC236}">
                <a16:creationId xmlns:a16="http://schemas.microsoft.com/office/drawing/2014/main" id="{1E30F2B7-851F-4A33-883A-25636CD05757}"/>
              </a:ext>
            </a:extLst>
          </p:cNvPr>
          <p:cNvSpPr>
            <a:spLocks xmlns:a="http://schemas.openxmlformats.org/drawingml/2006/main" noGrp="1"/>
          </p:cNvSpPr>
          <p:nvPr/>
        </p:nvSpPr>
        <p:spPr>
          <a:xfrm xmlns:a="http://schemas.openxmlformats.org/drawingml/2006/main">
            <a:off x="609600" y="53816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Brian Harris is the sole founder. He built Themis to give small legal teams the capacity he wanted as a lawyer and legal leader.</a:t>
            </a:r>
          </a:p>
        </p:txBody>
      </p:sp>
    </p:spTree>
    <p:extLst>
      <p:ext uri="{BB962C8B-B14F-4D97-AF65-F5344CB8AC3E}">
        <p14:creationId xmlns:p14="http://schemas.microsoft.com/office/powerpoint/2010/main" val="1769625239"/>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3185FA3-5241-400A-976F-D2648B20062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DE211442-47BA-44C4-B8E2-EB6DC793FF88}"/>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 working prototype exists.</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next proof is attorney return use.</a:t>
            </a:r>
          </a:p>
        </p:txBody>
      </p:sp>
      <p:sp>
        <p:nvSpPr>
          <p:cNvPr id="3" name="">
            <a:extLst xmlns:a="http://schemas.openxmlformats.org/drawingml/2006/main">
              <a:ext uri="{FF2B5EF4-FFF2-40B4-BE49-F238E27FC236}">
                <a16:creationId xmlns:a16="http://schemas.microsoft.com/office/drawing/2014/main" id="{7572927A-DD99-4541-95E2-91F0F9CA413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E792FD3-311A-4715-BD9B-5F0F33085136}"/>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806301d35244af6"/>
          <a:stretch xmlns:a="http://schemas.openxmlformats.org/drawingml/2006/main"/>
        </p:blipFill>
        <p:spPr>
          <a:xfrm xmlns:a="http://schemas.openxmlformats.org/drawingml/2006/main">
            <a:off x="695325" y="2257425"/>
            <a:ext cx="6019800"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00AFEE8-C6E5-4EDF-BED5-1AB049F8E2AB}"/>
              </a:ext>
            </a:extLst>
          </p:cNvPr>
          <p:cNvSpPr>
            <a:spLocks xmlns:a="http://schemas.openxmlformats.org/drawingml/2006/main" noGrp="1"/>
          </p:cNvSpPr>
          <p:nvPr/>
        </p:nvSpPr>
        <p:spPr>
          <a:xfrm xmlns:a="http://schemas.openxmlformats.org/drawingml/2006/main">
            <a:off x="7696200" y="22574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BUILT TODAY</a:t>
            </a:r>
          </a:p>
        </p:txBody>
      </p:sp>
      <p:sp>
        <p:nvSpPr>
          <p:cNvPr id="7" name="">
            <a:extLst xmlns:a="http://schemas.openxmlformats.org/drawingml/2006/main">
              <a:ext uri="{FF2B5EF4-FFF2-40B4-BE49-F238E27FC236}">
                <a16:creationId xmlns:a16="http://schemas.microsoft.com/office/drawing/2014/main" id="{A3486148-45B9-4707-AD56-7DC7CF0D674D}"/>
              </a:ext>
            </a:extLst>
          </p:cNvPr>
          <p:cNvSpPr>
            <a:spLocks xmlns:a="http://schemas.openxmlformats.org/drawingml/2006/main" noGrp="1"/>
          </p:cNvSpPr>
          <p:nvPr/>
        </p:nvSpPr>
        <p:spPr>
          <a:xfrm xmlns:a="http://schemas.openxmlformats.org/drawingml/2006/main">
            <a:off x="7696200" y="2628900"/>
            <a:ext cx="3857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Local prototype with matter context, research, editable drafts, and explicit lawyer-recorded decisions.</a:t>
            </a:r>
          </a:p>
        </p:txBody>
      </p:sp>
      <p:sp>
        <p:nvSpPr>
          <p:cNvPr id="8" name="">
            <a:extLst xmlns:a="http://schemas.openxmlformats.org/drawingml/2006/main">
              <a:ext uri="{FF2B5EF4-FFF2-40B4-BE49-F238E27FC236}">
                <a16:creationId xmlns:a16="http://schemas.microsoft.com/office/drawing/2014/main" id="{761E4FB2-08B4-4F94-A4CB-BE385E37C18B}"/>
              </a:ext>
            </a:extLst>
          </p:cNvPr>
          <p:cNvSpPr>
            <a:spLocks xmlns:a="http://schemas.openxmlformats.org/drawingml/2006/main" noGrp="1"/>
          </p:cNvSpPr>
          <p:nvPr/>
        </p:nvSpPr>
        <p:spPr>
          <a:xfrm xmlns:a="http://schemas.openxmlformats.org/drawingml/2006/main">
            <a:off x="7696200" y="3924300"/>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NEXT PROOF</a:t>
            </a:r>
          </a:p>
        </p:txBody>
      </p:sp>
      <p:sp>
        <p:nvSpPr>
          <p:cNvPr id="9" name="">
            <a:extLst xmlns:a="http://schemas.openxmlformats.org/drawingml/2006/main">
              <a:ext uri="{FF2B5EF4-FFF2-40B4-BE49-F238E27FC236}">
                <a16:creationId xmlns:a16="http://schemas.microsoft.com/office/drawing/2014/main" id="{7C24EF77-8709-4537-8A9D-09AED383DB23}"/>
              </a:ext>
            </a:extLst>
          </p:cNvPr>
          <p:cNvSpPr>
            <a:spLocks xmlns:a="http://schemas.openxmlformats.org/drawingml/2006/main" noGrp="1"/>
          </p:cNvSpPr>
          <p:nvPr/>
        </p:nvSpPr>
        <p:spPr>
          <a:xfrm xmlns:a="http://schemas.openxmlformats.org/drawingml/2006/main">
            <a:off x="7696200" y="4295775"/>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Attorneys use Themis on real questions and return with another matter.</a:t>
            </a:r>
          </a:p>
        </p:txBody>
      </p:sp>
      <p:sp>
        <p:nvSpPr>
          <p:cNvPr id="10" name="">
            <a:extLst xmlns:a="http://schemas.openxmlformats.org/drawingml/2006/main">
              <a:ext uri="{FF2B5EF4-FFF2-40B4-BE49-F238E27FC236}">
                <a16:creationId xmlns:a16="http://schemas.microsoft.com/office/drawing/2014/main" id="{C07F1A20-B864-4E9E-B7F6-807C4E00F300}"/>
              </a:ext>
            </a:extLst>
          </p:cNvPr>
          <p:cNvSpPr>
            <a:spLocks xmlns:a="http://schemas.openxmlformats.org/drawingml/2006/main" noGrp="1"/>
          </p:cNvSpPr>
          <p:nvPr/>
        </p:nvSpPr>
        <p:spPr>
          <a:xfrm xmlns:a="http://schemas.openxmlformats.org/drawingml/2006/main">
            <a:off x="7696200" y="52673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WHAT TO MEASURE</a:t>
            </a:r>
          </a:p>
        </p:txBody>
      </p:sp>
      <p:sp>
        <p:nvSpPr>
          <p:cNvPr id="11" name="">
            <a:extLst xmlns:a="http://schemas.openxmlformats.org/drawingml/2006/main">
              <a:ext uri="{FF2B5EF4-FFF2-40B4-BE49-F238E27FC236}">
                <a16:creationId xmlns:a16="http://schemas.microsoft.com/office/drawing/2014/main" id="{BC342E5F-60AD-48B4-B13A-D03D5213701C}"/>
              </a:ext>
            </a:extLst>
          </p:cNvPr>
          <p:cNvSpPr>
            <a:spLocks xmlns:a="http://schemas.openxmlformats.org/drawingml/2006/main" noGrp="1"/>
          </p:cNvSpPr>
          <p:nvPr/>
        </p:nvSpPr>
        <p:spPr>
          <a:xfrm xmlns:a="http://schemas.openxmlformats.org/drawingml/2006/main">
            <a:off x="7696200" y="5638800"/>
            <a:ext cx="3857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425" b="0">
                <a:solidFill>
                  <a:srgbClr val="596273"/>
                </a:solidFill>
                <a:latin typeface="Arial"/>
                <a:ea typeface="Arial"/>
                <a:cs typeface="Arial"/>
              </a:defRPr>
            </a:pPr>
            <a:r>
              <a:rPr sz="1425" b="0">
                <a:solidFill>
                  <a:srgbClr val="596273"/>
                </a:solidFill>
                <a:latin typeface="Arial"/>
                <a:ea typeface="Arial"/>
                <a:cs typeface="Arial"/>
              </a:rPr>
              <a:t>Time to useful orientation · Source correctness · Correction burden · Repeat use</a:t>
            </a:r>
          </a:p>
        </p:txBody>
      </p:sp>
      <p:sp>
        <p:nvSpPr>
          <p:cNvPr id="12" name="">
            <a:extLst xmlns:a="http://schemas.openxmlformats.org/drawingml/2006/main">
              <a:ext uri="{FF2B5EF4-FFF2-40B4-BE49-F238E27FC236}">
                <a16:creationId xmlns:a16="http://schemas.microsoft.com/office/drawing/2014/main" id="{8F63B6C4-07FB-40E0-892D-479FD65641AD}"/>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25938598"/>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65057B-FBC3-44BE-B11E-7C4D0BF63800}"/>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D0941592-2FF8-4D9C-8F86-BDD786E777A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Early capital funds the path</a:t>
            </a:r>
          </a:p>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from prototype to repeat use.</a:t>
            </a:r>
          </a:p>
        </p:txBody>
      </p:sp>
      <p:sp>
        <p:nvSpPr>
          <p:cNvPr id="3" name="">
            <a:extLst xmlns:a="http://schemas.openxmlformats.org/drawingml/2006/main">
              <a:ext uri="{FF2B5EF4-FFF2-40B4-BE49-F238E27FC236}">
                <a16:creationId xmlns:a16="http://schemas.microsoft.com/office/drawing/2014/main" id="{DC3F65C5-00BE-44E3-92DC-200D2752C2C5}"/>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13BE2F9-20EB-428F-BB3F-203FFFC54D3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BB0AB2C4-AF20-4358-B9B3-DC9150EC89E3}"/>
              </a:ext>
            </a:extLst>
          </p:cNvPr>
          <p:cNvSpPr>
            <a:spLocks xmlns:a="http://schemas.openxmlformats.org/drawingml/2006/main" noGrp="1"/>
          </p:cNvSpPr>
          <p:nvPr/>
        </p:nvSpPr>
        <p:spPr>
          <a:xfrm xmlns:a="http://schemas.openxmlformats.org/drawingml/2006/main">
            <a:off x="609600" y="25431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CAPITAL SUPPORTS</a:t>
            </a:r>
          </a:p>
        </p:txBody>
      </p:sp>
      <p:sp>
        <p:nvSpPr>
          <p:cNvPr id="6" name="">
            <a:extLst xmlns:a="http://schemas.openxmlformats.org/drawingml/2006/main">
              <a:ext uri="{FF2B5EF4-FFF2-40B4-BE49-F238E27FC236}">
                <a16:creationId xmlns:a16="http://schemas.microsoft.com/office/drawing/2014/main" id="{4F9A4229-3B62-4891-B03D-7347C05E67FF}"/>
              </a:ext>
            </a:extLst>
          </p:cNvPr>
          <p:cNvSpPr>
            <a:spLocks xmlns:a="http://schemas.openxmlformats.org/drawingml/2006/main" noGrp="1"/>
          </p:cNvSpPr>
          <p:nvPr/>
        </p:nvSpPr>
        <p:spPr>
          <a:xfrm xmlns:a="http://schemas.openxmlformats.org/drawingml/2006/main">
            <a:off x="609600" y="3038475"/>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Full-time founder focus</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founding technical leader and engineering capacity</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business leader for pilots, pricing, and customer development</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Secure pilot delivery plus model and research costs</a:t>
            </a:r>
          </a:p>
        </p:txBody>
      </p:sp>
      <p:sp>
        <p:nvSpPr>
          <p:cNvPr id="7" name="">
            <a:extLst xmlns:a="http://schemas.openxmlformats.org/drawingml/2006/main">
              <a:ext uri="{FF2B5EF4-FFF2-40B4-BE49-F238E27FC236}">
                <a16:creationId xmlns:a16="http://schemas.microsoft.com/office/drawing/2014/main" id="{9B7A8EB9-62C4-4D80-B981-BB216B2D5724}"/>
              </a:ext>
            </a:extLst>
          </p:cNvPr>
          <p:cNvSpPr>
            <a:spLocks xmlns:a="http://schemas.openxmlformats.org/drawingml/2006/main" noGrp="1"/>
          </p:cNvSpPr>
          <p:nvPr/>
        </p:nvSpPr>
        <p:spPr>
          <a:xfrm xmlns:a="http://schemas.openxmlformats.org/drawingml/2006/main">
            <a:off x="609600" y="509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FUNDED MILESTONE</a:t>
            </a:r>
          </a:p>
        </p:txBody>
      </p:sp>
      <p:sp>
        <p:nvSpPr>
          <p:cNvPr id="8" name="">
            <a:extLst xmlns:a="http://schemas.openxmlformats.org/drawingml/2006/main">
              <a:ext uri="{FF2B5EF4-FFF2-40B4-BE49-F238E27FC236}">
                <a16:creationId xmlns:a16="http://schemas.microsoft.com/office/drawing/2014/main" id="{597F607D-D680-4141-8E31-88F8A0AE411F}"/>
              </a:ext>
            </a:extLst>
          </p:cNvPr>
          <p:cNvSpPr>
            <a:spLocks xmlns:a="http://schemas.openxmlformats.org/drawingml/2006/main" noGrp="1"/>
          </p:cNvSpPr>
          <p:nvPr/>
        </p:nvSpPr>
        <p:spPr>
          <a:xfrm xmlns:a="http://schemas.openxmlformats.org/drawingml/2006/main">
            <a:off x="609600" y="54959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Georgia"/>
                <a:ea typeface="Georgia"/>
                <a:cs typeface="Georgia"/>
              </a:defRPr>
            </a:pPr>
            <a:r>
              <a:rPr sz="1800" b="0">
                <a:solidFill>
                  <a:srgbClr val="DCE1EA"/>
                </a:solidFill>
                <a:latin typeface="Georgia"/>
                <a:ea typeface="Georgia"/>
                <a:cs typeface="Georgia"/>
              </a:rPr>
              <a:t>Real attorneys use Themis on real questions, find the work useful enough to return, and provide evidence for the next product and financing decision.</a:t>
            </a:r>
          </a:p>
        </p:txBody>
      </p:sp>
    </p:spTree>
    <p:extLst>
      <p:ext uri="{BB962C8B-B14F-4D97-AF65-F5344CB8AC3E}">
        <p14:creationId xmlns:p14="http://schemas.microsoft.com/office/powerpoint/2010/main" val="1830370058"/>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da4500296cd4362"/>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487626087"/>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106270-7E10-4AD3-AC67-E78034A2D08F}"/>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269D9338-A4FB-4886-8056-B35379914C3A}"/>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5FB3C4FF-B285-4C7F-A343-0B007C60F15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B255E2D-53D3-4C0E-8676-D554035DF34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B989D17A-365E-448D-BED3-872B49947A0E}"/>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19C27F8B-4897-4042-BE03-22091CA594D1}"/>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FF15D483-E33E-4CA1-8DDB-6543DAD4E745}"/>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F10D6234-EE21-457B-AF56-276DE3CEDE51}"/>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93B771DE-22AA-4137-9F3C-95060EE62F6E}"/>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816993E2-40B6-44C9-8DCC-D699B2679950}"/>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1FB11FCA-46A0-4804-AB9D-EA4DC5DA8117}"/>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EE11D555-C3C9-4A5A-AC9C-BA129F34B3E9}"/>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1859982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2026-09-05T00:01:14.5740000Z</dcterms:created>
  <dcterms:modified xsi:type="dcterms:W3CDTF">2026-09-05T00:01:14.5740000Z</dcterms:modified>
</coreProperties>
</file>