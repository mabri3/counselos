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0649c8d5b24efd" /><Relationship Type="http://schemas.openxmlformats.org/officeDocument/2006/relationships/extended-properties" Target="/docProps/app.xml" Id="R1f60fa4cfbf046ed" /><Relationship Type="http://schemas.openxmlformats.org/officeDocument/2006/relationships/officeDocument" Target="/ppt/presentation.xml" Id="Rf2f8398e782743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185ffccf3465f"/>
  </p:sldMasterIdLst>
  <p:notesMasterIdLst>
    <p:notesMasterId xmlns:r="http://schemas.openxmlformats.org/officeDocument/2006/relationships" r:id="Rcdce068643824fd9"/>
  </p:notesMasterIdLst>
  <p:sldIdLst>
    <p:sldId xmlns:r="http://schemas.openxmlformats.org/officeDocument/2006/relationships" id="256" r:id="R303674004ca8454d"/>
    <p:sldId xmlns:r="http://schemas.openxmlformats.org/officeDocument/2006/relationships" id="257" r:id="Rf52c9ce3a367441f"/>
    <p:sldId xmlns:r="http://schemas.openxmlformats.org/officeDocument/2006/relationships" id="258" r:id="Rbd1a23174c904adb"/>
    <p:sldId xmlns:r="http://schemas.openxmlformats.org/officeDocument/2006/relationships" id="259" r:id="R84f6dbcda3f346d2"/>
    <p:sldId xmlns:r="http://schemas.openxmlformats.org/officeDocument/2006/relationships" id="260" r:id="R8b0e78390855405b"/>
    <p:sldId xmlns:r="http://schemas.openxmlformats.org/officeDocument/2006/relationships" id="261" r:id="R106c8c29ff6f44b1"/>
    <p:sldId xmlns:r="http://schemas.openxmlformats.org/officeDocument/2006/relationships" id="262" r:id="R8c2ffa7574054f45"/>
    <p:sldId xmlns:r="http://schemas.openxmlformats.org/officeDocument/2006/relationships" id="263" r:id="R25944f1a54a74914"/>
    <p:sldId xmlns:r="http://schemas.openxmlformats.org/officeDocument/2006/relationships" id="264" r:id="R25c67863273a4b70"/>
    <p:sldId xmlns:r="http://schemas.openxmlformats.org/officeDocument/2006/relationships" id="265" r:id="R1854dbf131114b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8a6ae0f7e94b5d" /><Relationship Type="http://schemas.openxmlformats.org/officeDocument/2006/relationships/slideMaster" Target="/ppt/slideMasters/slideMaster1.xml" Id="Ra3d185ffccf3465f" /><Relationship Type="http://schemas.openxmlformats.org/officeDocument/2006/relationships/notesMaster" Target="/ppt/notesMasters/notesMaster1.xml" Id="Rcdce068643824fd9" /><Relationship Type="http://schemas.openxmlformats.org/officeDocument/2006/relationships/presProps" Target="/ppt/presProps.xml" Id="R31b08a2de45a49a8" /><Relationship Type="http://schemas.openxmlformats.org/officeDocument/2006/relationships/viewProps" Target="/ppt/viewProps.xml" Id="Racd0de3125804ccb" /><Relationship Type="http://schemas.openxmlformats.org/officeDocument/2006/relationships/tableStyles" Target="/ppt/tableStyles.xml" Id="Rc4debfce7b104571" /><Relationship Type="http://schemas.openxmlformats.org/officeDocument/2006/relationships/slide" Target="/ppt/slides/slide1.xml" Id="R303674004ca8454d" /><Relationship Type="http://schemas.openxmlformats.org/officeDocument/2006/relationships/slide" Target="/ppt/slides/slide2.xml" Id="Rf52c9ce3a367441f" /><Relationship Type="http://schemas.openxmlformats.org/officeDocument/2006/relationships/slide" Target="/ppt/slides/slide3.xml" Id="Rbd1a23174c904adb" /><Relationship Type="http://schemas.openxmlformats.org/officeDocument/2006/relationships/slide" Target="/ppt/slides/slide4.xml" Id="R84f6dbcda3f346d2" /><Relationship Type="http://schemas.openxmlformats.org/officeDocument/2006/relationships/slide" Target="/ppt/slides/slide5.xml" Id="R8b0e78390855405b" /><Relationship Type="http://schemas.openxmlformats.org/officeDocument/2006/relationships/slide" Target="/ppt/slides/slide6.xml" Id="R106c8c29ff6f44b1" /><Relationship Type="http://schemas.openxmlformats.org/officeDocument/2006/relationships/slide" Target="/ppt/slides/slide7.xml" Id="R8c2ffa7574054f45" /><Relationship Type="http://schemas.openxmlformats.org/officeDocument/2006/relationships/slide" Target="/ppt/slides/slide8.xml" Id="R25944f1a54a74914" /><Relationship Type="http://schemas.openxmlformats.org/officeDocument/2006/relationships/slide" Target="/ppt/slides/slide9.xml" Id="R25c67863273a4b70" /><Relationship Type="http://schemas.openxmlformats.org/officeDocument/2006/relationships/slide" Target="/ppt/slides/slide10.xml" Id="R1854dbf131114b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cd9b99d46a41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5b72db5ae64a06" /><Relationship Type="http://schemas.openxmlformats.org/officeDocument/2006/relationships/notesMaster" Target="/ppt/notesMasters/notesMaster1.xml" Id="R0833b0a37d034b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b2fa275d7c41a2" /><Relationship Type="http://schemas.openxmlformats.org/officeDocument/2006/relationships/notesMaster" Target="/ppt/notesMasters/notesMaster1.xml" Id="R3a3e5ceea97744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dad47cadb5423b" /><Relationship Type="http://schemas.openxmlformats.org/officeDocument/2006/relationships/notesMaster" Target="/ppt/notesMasters/notesMaster1.xml" Id="R749d66428e9e40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a552ded3c94b9a" /><Relationship Type="http://schemas.openxmlformats.org/officeDocument/2006/relationships/notesMaster" Target="/ppt/notesMasters/notesMaster1.xml" Id="R714ee86cf81f45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123bf65854415e" /><Relationship Type="http://schemas.openxmlformats.org/officeDocument/2006/relationships/notesMaster" Target="/ppt/notesMasters/notesMaster1.xml" Id="Rae2338a005ce4e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e55e4c338c4902" /><Relationship Type="http://schemas.openxmlformats.org/officeDocument/2006/relationships/notesMaster" Target="/ppt/notesMasters/notesMaster1.xml" Id="Re21525bb3bef4f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4c4a68eb7340a6" /><Relationship Type="http://schemas.openxmlformats.org/officeDocument/2006/relationships/notesMaster" Target="/ppt/notesMasters/notesMaster1.xml" Id="R670e071596b04f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5dff90962840d2" /><Relationship Type="http://schemas.openxmlformats.org/officeDocument/2006/relationships/notesMaster" Target="/ppt/notesMasters/notesMaster1.xml" Id="R747d0c6a7c1e4d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673571d8fa42b4" /><Relationship Type="http://schemas.openxmlformats.org/officeDocument/2006/relationships/notesMaster" Target="/ppt/notesMasters/notesMaster1.xml" Id="Racb583c9e03e4e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81ce73f18243c6" /><Relationship Type="http://schemas.openxmlformats.org/officeDocument/2006/relationships/notesMaster" Target="/ppt/notesMasters/notesMaster1.xml" Id="Rbe879460b1b441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Themis is a companion for legal judgment, not an oracle and not a replacement for counsel.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/Users/bharris/Programs/counsel-os-mvp/docs/PRD.md</a:t>
            </a:r>
            <a:endParaRPr/>
          </a:p>
          <a:p xmlns:a="http://schemas.openxmlformats.org/drawingml/2006/main">
            <a:r>
              <a:t>- /Users/bharris/Programs/counsel-os-mvp/output/deck/screenshots/v-today.png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emotional burden is the unseen part of the question. This is an inference that the final assumptions slide makes explicit.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/Users/bharris/Programs/counsel-os-mvp/docs/PRD.md, sections 2.1 and 2.2</a:t>
            </a:r>
            <a:endParaRPr/>
          </a:p>
          <a:p xmlns:a="http://schemas.openxmlformats.org/drawingml/2006/main">
            <a:r>
              <a:t>- https://www.americanbar.org/groups/law_practice/resources/tech-report/2024/2024-artificial-intelligence-techreport/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Themis expands the lawyer’s field of view, tests the path, and remembers the basis. The lawyer remains the decision-maker.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/Users/bharris/Programs/counsel-os-mvp/docs/PRD.md, sections 1, 2.2, 3.7, and 7.8</a:t>
            </a:r>
            <a:endParaRPr/>
          </a:p>
          <a:p xmlns:a="http://schemas.openxmlformats.org/drawingml/2006/main">
            <a:r>
              <a:t>- /Users/bharris/Programs/counsel-os-mvp/output/research/raw/legal-ai-reddit-source-corpus.jsonl, records reddit-140, reddit-151, reddit-175, and reddit-183</a:t>
            </a:r>
            <a:endParaRPr/>
          </a:p>
          <a:p xmlns:a="http://schemas.openxmlformats.org/drawingml/2006/main">
            <a:r>
              <a:t>- https://www.americanbar.org/content/dam/aba/administrative/professional_responsibility/ethics-opinions/aba-formal-opinion-512.pdf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four short, high-confidence practitioner excerpts from the supplied qualitative corpus. They illustrate desired behaviors; they do not establish prevalence or willingness to pay.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https://www.reddit.com/r/legaltech/comments/1w2piu1/we_trialed_cocounsel_harvey_and_legora</a:t>
            </a:r>
            <a:endParaRPr/>
          </a:p>
          <a:p xmlns:a="http://schemas.openxmlformats.org/drawingml/2006/main">
            <a:r>
              <a:t>- https://www.reddit.com/r/paralegal/comments/1s1xebn/thoughts_on_ai_in_the_legal_field</a:t>
            </a:r>
            <a:endParaRPr/>
          </a:p>
          <a:p xmlns:a="http://schemas.openxmlformats.org/drawingml/2006/main">
            <a:r>
              <a:t>- https://www.reddit.com/r/legaltech/comments/1tb9cxl/claude_cocounsel_mcp_released</a:t>
            </a:r>
            <a:endParaRPr/>
          </a:p>
          <a:p xmlns:a="http://schemas.openxmlformats.org/drawingml/2006/main">
            <a:r>
              <a:t>- https://www.reddit.com/r/biglaw/comments/1uerava/harvey</a:t>
            </a:r>
            <a:endParaRPr/>
          </a:p>
          <a:p xmlns:a="http://schemas.openxmlformats.org/drawingml/2006/main">
            <a:r>
              <a:t>- /Users/bharris/Programs/counsel-os-mvp/output/research/raw/legal-ai-reddit-source-corpus.jsonl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mechanism follows the relationship: shared understanding first, then exploration, judgment, and return.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/Users/bharris/Programs/counsel-os-mvp/docs/PRD.md, sections 2.2, 7.2–7.9, and 11.5</a:t>
            </a:r>
            <a:endParaRPr/>
          </a:p>
          <a:p xmlns:a="http://schemas.openxmlformats.org/drawingml/2006/main">
            <a:r>
              <a:t>- /Users/bharris/Programs/counsel-os-mvp/output/deck/screenshots/matter.png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 is from the working local application. Recommendation and decision are separate acts by product rule.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/Users/bharris/Programs/counsel-os-mvp/docs/PRD.md, sections 3.7, 7.4, 7.8, and 8.3</a:t>
            </a:r>
            <a:endParaRPr/>
          </a:p>
          <a:p xmlns:a="http://schemas.openxmlformats.org/drawingml/2006/main">
            <a:r>
              <a:t>- /Users/bharris/Programs/counsel-os-mvp/output/deck/screenshots/matter-relay.png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product rules are the ethos made concrete. They are also the limits on what Themis claims to be.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/Users/bharris/Programs/counsel-os-mvp/docs/PRD.md, sections 1, 3.1, 3.4, 3.7, 5, and 6</a:t>
            </a:r>
            <a:endParaRPr/>
          </a:p>
          <a:p xmlns:a="http://schemas.openxmlformats.org/drawingml/2006/main">
            <a:r>
              <a:t>- https://law.stanford.edu/publications/hallucination-free-assessing-the-reliability-of-leading-ai-legal-research-tools/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market claim is a synthesis of the supplied competitive research. Product categories overlap; the claim is that continuity from question through remembered judgment is not clearly owned for small teams.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/Users/bharris/Programs/counsel-os-mvp/output/research/themis-counselos-legal-ai-competitive-strategy.docx</a:t>
            </a:r>
            <a:endParaRPr/>
          </a:p>
          <a:p xmlns:a="http://schemas.openxmlformats.org/drawingml/2006/main">
            <a:r>
              <a:t>- https://www.harvey.ai/</a:t>
            </a:r>
            <a:endParaRPr/>
          </a:p>
          <a:p xmlns:a="http://schemas.openxmlformats.org/drawingml/2006/main">
            <a:r>
              <a:t>- https://legora.com/about</a:t>
            </a:r>
            <a:endParaRPr/>
          </a:p>
          <a:p xmlns:a="http://schemas.openxmlformats.org/drawingml/2006/main">
            <a:r>
              <a:t>- https://legal.thomsonreuters.com/en/products/cocounsel-legal</a:t>
            </a:r>
            <a:endParaRPr/>
          </a:p>
          <a:p xmlns:a="http://schemas.openxmlformats.org/drawingml/2006/main">
            <a:r>
              <a:t>- https://www.lexisnexis.com/en-us/products/lexis-plus-ai.page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run on September 3, 2026: 824 backend tests passed with one existing dependency warning. Frontend typecheck and production build passed; 16 product routes were generated.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/Users/bharris/Programs/counsel-os-mvp/docs/mosaic-relay-ux-repair-2026-09-03.handoff-progress.md</a:t>
            </a:r>
            <a:endParaRPr/>
          </a:p>
          <a:p xmlns:a="http://schemas.openxmlformats.org/drawingml/2006/main">
            <a:r>
              <a:t>- /Users/bharris/Programs/counsel-os-mvp/backend/tests</a:t>
            </a:r>
            <a:endParaRPr/>
          </a:p>
          <a:p xmlns:a="http://schemas.openxmlformats.org/drawingml/2006/main">
            <a:r>
              <a:t>- /Users/bharris/Programs/counsel-os-mvp/frontend/app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central thesis and each supporting bet are hypotheses. The deck states the observations that would make them weaker or false.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/Users/bharris/Programs/counsel-os-mvp/output/research/raw/legal-ai-reddit-source-corpus.jsonl</a:t>
            </a:r>
            <a:endParaRPr/>
          </a:p>
          <a:p xmlns:a="http://schemas.openxmlformats.org/drawingml/2006/main">
            <a:r>
              <a:t>- /Users/bharris/Programs/counsel-os-mvp/docs/PRD.md</a:t>
            </a:r>
            <a:endParaRPr/>
          </a:p>
          <a:p xmlns:a="http://schemas.openxmlformats.org/drawingml/2006/main">
            <a:r>
              <a:t>- https://www.americanbar.org/groups/law_practice/resources/tech-report/2024/2024-artificial-intelligence-techreport/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12f54face486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21469b78784646" /><Relationship Type="http://schemas.openxmlformats.org/officeDocument/2006/relationships/slideLayout" Target="/ppt/slideLayouts/slideLayout1.xml" Id="Rcaeecb5561da463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ecb5561da463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f407b477a4e1f" /><Relationship Type="http://schemas.openxmlformats.org/officeDocument/2006/relationships/image" Target="/ppt/media/image.jpeg" Id="R99e593933edd4504" /><Relationship Type="http://schemas.openxmlformats.org/officeDocument/2006/relationships/notesSlide" Target="/ppt/notesSlides/notesSlide1.xml" Id="Rabddaeb568d247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bfdbdaca744ea" /><Relationship Type="http://schemas.openxmlformats.org/officeDocument/2006/relationships/notesSlide" Target="/ppt/notesSlides/notesSlide2.xml" Id="R18e1b994448e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f5bf7f99f4f69" /><Relationship Type="http://schemas.openxmlformats.org/officeDocument/2006/relationships/notesSlide" Target="/ppt/notesSlides/notesSlide3.xml" Id="Re4f950769cbd4e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da8a1c56e4f83" /><Relationship Type="http://schemas.openxmlformats.org/officeDocument/2006/relationships/notesSlide" Target="/ppt/notesSlides/notesSlide4.xml" Id="Recc3ff4affbb4c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83a27795e4a42" /><Relationship Type="http://schemas.openxmlformats.org/officeDocument/2006/relationships/image" Target="/ppt/media/image.png" Id="Rf05b0425b6d94bd8" /><Relationship Type="http://schemas.openxmlformats.org/officeDocument/2006/relationships/notesSlide" Target="/ppt/notesSlides/notesSlide5.xml" Id="R12abad238c8944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d78429c6345c0" /><Relationship Type="http://schemas.openxmlformats.org/officeDocument/2006/relationships/image" Target="/ppt/media/image2.jpeg" Id="Rf2465174391f45a0" /><Relationship Type="http://schemas.openxmlformats.org/officeDocument/2006/relationships/notesSlide" Target="/ppt/notesSlides/notesSlide6.xml" Id="R778d29cee1a249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8372bd7a64910" /><Relationship Type="http://schemas.openxmlformats.org/officeDocument/2006/relationships/notesSlide" Target="/ppt/notesSlides/notesSlide7.xml" Id="Re947e2e07ac44d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53037b1c2477d" /><Relationship Type="http://schemas.openxmlformats.org/officeDocument/2006/relationships/notesSlide" Target="/ppt/notesSlides/notesSlide8.xml" Id="R86728f07bc2e42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26250e82f43e1" /><Relationship Type="http://schemas.openxmlformats.org/officeDocument/2006/relationships/notesSlide" Target="/ppt/notesSlides/notesSlide9.xml" Id="R06038071317347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40e3ffdf945dc" /><Relationship Type="http://schemas.openxmlformats.org/officeDocument/2006/relationships/notesSlide" Target="/ppt/notesSlides/notesSlide10.xml" Id="R89a2762f295d43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6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CFD9F8-E4D8-4D32-B7CB-867F7F74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7498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60">
                <a:solidFill>
                  <a:srgbClr val="8F897C"/>
                </a:solidFill>
                <a:latin typeface="Courier New"/>
                <a:ea typeface="Courier New"/>
                <a:cs typeface="Courier New"/>
              </a:rPr>
              <a:t>THEMIS.AI  ·  INVESTOR OVERVIEW  ·  SEPTEMBER 2026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355C7F-A5EE-4643-B1FB-B11609DD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56692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00" b="1">
                <a:solidFill>
                  <a:srgbClr val="F7F5F1"/>
                </a:solidFill>
                <a:latin typeface="Cambria"/>
                <a:ea typeface="Cambria"/>
                <a:cs typeface="Cambria"/>
              </a:rPr>
              <a:t>Themis.ai</a:t>
            </a:r>
            <a:endParaRPr sz="5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775EEF-3AF1-465D-BDE2-EC0A443A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5029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900">
                <a:solidFill>
                  <a:srgbClr val="E6E1D6"/>
                </a:solidFill>
                <a:latin typeface="Cambria"/>
                <a:ea typeface="Cambria"/>
                <a:cs typeface="Cambria"/>
              </a:rPr>
              <a:t>The lawyer makes the call. Themis makes sure they do not face it alone.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914FED-8792-4936-96DA-98ABD9E6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1645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0A008"/>
                </a:solidFill>
                <a:latin typeface="Cambria"/>
                <a:ea typeface="Cambria"/>
                <a:cs typeface="Cambria"/>
              </a:rPr>
              <a:t>01</a:t>
            </a:r>
            <a:endParaRPr sz="3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5CB135D-4251-49FD-9A26-C1B90AE5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45152"/>
            <a:ext cx="1691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9C4B9"/>
                </a:solidFill>
                <a:latin typeface="Calibri"/>
                <a:ea typeface="Calibri"/>
                <a:cs typeface="Calibri"/>
              </a:rPr>
              <a:t>See the full legal space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2F2099-DEC5-4B29-B3D1-05EA9128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069080"/>
            <a:ext cx="1645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0A008"/>
                </a:solidFill>
                <a:latin typeface="Cambria"/>
                <a:ea typeface="Cambria"/>
                <a:cs typeface="Cambria"/>
              </a:rPr>
              <a:t>02</a:t>
            </a:r>
            <a:endParaRPr sz="3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3BCE488-D2B2-4EE0-ADB2-F4E767F5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645152"/>
            <a:ext cx="1691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9C4B9"/>
                </a:solidFill>
                <a:latin typeface="Calibri"/>
                <a:ea typeface="Calibri"/>
                <a:cs typeface="Calibri"/>
              </a:rPr>
              <a:t>Challenge blind spots and assumptions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7984A4-AD08-4B63-B0FC-63A44ACF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069080"/>
            <a:ext cx="1645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0A008"/>
                </a:solidFill>
                <a:latin typeface="Cambria"/>
                <a:ea typeface="Cambria"/>
                <a:cs typeface="Cambria"/>
              </a:rPr>
              <a:t>03</a:t>
            </a:r>
            <a:endParaRPr sz="3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D9DAF6F-6A12-43A8-A2E6-B24E9474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45152"/>
            <a:ext cx="1691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9C4B9"/>
                </a:solidFill>
                <a:latin typeface="Calibri"/>
                <a:ea typeface="Calibri"/>
                <a:cs typeface="Calibri"/>
              </a:rPr>
              <a:t>Remember the context and decision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D4C9FAC-FCF4-4D33-8801-21773396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16752"/>
            <a:ext cx="6035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F897C"/>
                </a:solidFill>
                <a:latin typeface="Courier New"/>
                <a:ea typeface="Courier New"/>
                <a:cs typeface="Courier New"/>
              </a:rPr>
              <a:t>A working product-counsel companion. Built around the matter, not the chat.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9DC28EA-F932-47BF-90F0-F47CD6D2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764" y="2290572"/>
            <a:ext cx="5477256" cy="2517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B1A17">
                <a:alpha val="10000"/>
              </a:srgbClr>
            </a:outerShdw>
          </a:effectLst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593933edd45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912" y="2331720"/>
            <a:ext cx="5394960" cy="2435208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DC73778-0B44-4915-B20E-23074FAD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4919472"/>
            <a:ext cx="5394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F897C"/>
                </a:solidFill>
                <a:latin typeface="Courier New"/>
                <a:ea typeface="Courier New"/>
                <a:cs typeface="Courier New"/>
              </a:rPr>
              <a:t>Today — the work that needs the lawyer’s judgment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588737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129DA32-4E9B-4F27-9813-CED4F44F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0881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6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THE HUMAN PROBLEM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0239645-4B12-4ED8-8EE5-5DF57982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68096"/>
            <a:ext cx="108813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696"/>
              </a:lnSpc>
              <a:buNone/>
            </a:pPr>
            <a:r>
              <a:rPr sz="3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The lawyer must first map the whole question</a:t>
            </a:r>
            <a:endParaRPr sz="3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EC6431-700F-427E-906C-8D7788B0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4572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88"/>
              </a:lnSpc>
              <a:buNone/>
            </a:pPr>
            <a:r>
              <a:rPr sz="140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A product question arrives with mixed goals, missing facts, prior decisions, and a deadline. The lawyer must still act before every fact is known.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E1DBDF0-DB23-4221-91F5-A87F8856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6642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C0"/>
          </a:solidFill>
          <a:ln xmlns:a="http://schemas.openxmlformats.org/drawingml/2006/main" w="9525">
            <a:solidFill>
              <a:srgbClr val="F0D89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AE7EBC5-7F90-4945-90A1-B6AC5015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66420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1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C1C92D1-A1F9-44CF-8322-7E7C3FA6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673352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75"/>
              </a:lnSpc>
              <a:buNone/>
            </a:pPr>
            <a:r>
              <a:rPr sz="125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What is the business trying to do?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DBD9722-17A4-4E5A-8022-6546290D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C0"/>
          </a:solidFill>
          <a:ln xmlns:a="http://schemas.openxmlformats.org/drawingml/2006/main" w="9525">
            <a:solidFill>
              <a:srgbClr val="F0D89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60E14D7-D0B5-471D-8835-C9B7DACD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2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24C7310-23B1-45F3-A39B-E27C3F48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673352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75"/>
              </a:lnSpc>
              <a:buNone/>
            </a:pPr>
            <a:r>
              <a:rPr sz="125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Which facts change the result?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456A2A0-D472-45D5-9210-D771643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74320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C0"/>
          </a:solidFill>
          <a:ln xmlns:a="http://schemas.openxmlformats.org/drawingml/2006/main" w="9525">
            <a:solidFill>
              <a:srgbClr val="F0D89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BE48873-A3CC-41EB-B221-4014EA2F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74320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3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2506779-0692-4094-A0D0-10714FF5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752344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75"/>
              </a:lnSpc>
              <a:buNone/>
            </a:pPr>
            <a:r>
              <a:rPr sz="125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What law, policy, and precedent apply?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E719572-E709-416D-BE38-11C93992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C0"/>
          </a:solidFill>
          <a:ln xmlns:a="http://schemas.openxmlformats.org/drawingml/2006/main" w="9525">
            <a:solidFill>
              <a:srgbClr val="F0D89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221C905-4443-45A4-8E76-F32D1320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4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CC51CF6-3A4F-41AF-A509-13372700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752344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75"/>
              </a:lnSpc>
              <a:buNone/>
            </a:pPr>
            <a:r>
              <a:rPr sz="125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What has not been asked?</a:t>
            </a:r>
            <a:endParaRPr sz="12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B7D778C-9C29-4BFB-95FE-125690F6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822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C0"/>
          </a:solidFill>
          <a:ln xmlns:a="http://schemas.openxmlformats.org/drawingml/2006/main" w="9525">
            <a:solidFill>
              <a:srgbClr val="F0D896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2DFF383-A531-4067-9109-EE393FDB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822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5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533888-8F95-4290-97F9-E1478A16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831336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75"/>
              </a:lnSpc>
              <a:buNone/>
            </a:pPr>
            <a:r>
              <a:rPr sz="125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Which paths are realistic?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185D238-0AD1-44FC-BCE7-782DFD5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822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C0"/>
          </a:solidFill>
          <a:ln xmlns:a="http://schemas.openxmlformats.org/drawingml/2006/main" w="9525">
            <a:solidFill>
              <a:srgbClr val="F0D89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F7E9993-AC98-4FC3-84A4-0712236E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822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6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97792B1-194B-401E-93DF-0311B08F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831336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75"/>
              </a:lnSpc>
              <a:buNone/>
            </a:pPr>
            <a:r>
              <a:rPr sz="125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What must be supported or revisited?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A16DE18-73A1-45DB-859A-1912BDDE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457200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0D896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EEBCCA6-F811-4EAC-87C9-39F5C885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4680"/>
            <a:ext cx="40233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500" i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The private burden is not simply being wrong. It is missing something the lawyer should have seen.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DB6CD9B-F552-48C9-894A-E37E0C41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17"/>
              </a:lnSpc>
              <a:buNone/>
            </a:pPr>
            <a:r>
              <a:rPr sz="13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Most AI starts with the prompt. The lawyer’s work starts with understanding the space around it.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8880C7E-1770-47CE-9677-18C416EA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6355080"/>
            <a:ext cx="457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8A298"/>
                </a:solidFill>
                <a:latin typeface="Courier New"/>
                <a:ea typeface="Courier New"/>
                <a:cs typeface="Courier New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32277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E5ED07-7BE5-4699-8E7A-31BB5AA6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0881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6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THE THESIS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D3051E-7A14-409F-BCB9-81AF32F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68096"/>
            <a:ext cx="108813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696"/>
              </a:lnSpc>
              <a:buNone/>
            </a:pPr>
            <a:r>
              <a:rPr sz="3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The lawyer decides. Themis stays with them.</a:t>
            </a:r>
            <a:endParaRPr sz="3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7157DF4-CF08-47D0-A944-0B28289E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91056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88"/>
              </a:lnSpc>
              <a:buNone/>
            </a:pPr>
            <a:r>
              <a:rPr sz="140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A persistent second perspective helps counsel understand the legal space, work toward an answer, and preserve the context needed to support it later.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6EEDEEF-E4E6-4225-9A7A-16D96F8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7168"/>
            <a:ext cx="3502152" cy="1993392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30BF327-2A88-4171-8D32-3E7CEAFD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662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12700">
            <a:solidFill>
              <a:srgbClr val="1B1A17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0B0C825-7C28-4548-8BF9-7164AC64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662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01</a:t>
            </a:r>
            <a:endParaRPr sz="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B0624E-7C8B-4C95-BF9D-5D56971D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8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Sees the whole space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A4BAD0D-DF56-4089-8FFA-56B94009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4720"/>
            <a:ext cx="297180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91"/>
              </a:lnSpc>
              <a:buNone/>
            </a:pPr>
            <a:r>
              <a:rPr sz="10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Maps the business objective, legal issues, possible paths, material facts, and gaps that could change the result.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8A8D48D-DB63-45E1-840F-B3D320AD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487168"/>
            <a:ext cx="3502152" cy="1993392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0DE6EC-DBC9-429A-8674-3F394F08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70662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12700">
            <a:solidFill>
              <a:srgbClr val="1B1A17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38A3725-AC39-4EC5-91FC-1CE2111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70662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02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3BB76E-E006-446F-89A6-10A7044F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3108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Tests the path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622DD87-4418-4CE0-896F-1E7C14E3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3474720"/>
            <a:ext cx="297180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91"/>
              </a:lnSpc>
              <a:buNone/>
            </a:pPr>
            <a:r>
              <a:rPr sz="10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Asks the next question, checks assumptions, surfaces blind spots, and shows where more support is needed.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B5568E6-1ABF-4429-9E71-5E4E4F8A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487168"/>
            <a:ext cx="3502152" cy="1993392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6E6856-25DC-4450-81C3-C8FD99F9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70662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12700">
            <a:solidFill>
              <a:srgbClr val="1B1A1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A7232D1-1635-4417-AA18-A9899D8A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70662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03</a:t>
            </a:r>
            <a:endParaRPr sz="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42F2236-6A9A-4D00-B699-5DAED829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108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Remembers why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2014EA2-F372-484C-B72C-4377D061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474720"/>
            <a:ext cx="297180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91"/>
              </a:lnSpc>
              <a:buNone/>
            </a:pPr>
            <a:r>
              <a:rPr sz="10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Keeps the conversation, sources, recommendation, recorded decision, and the facts that may require another look.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6B35C55-795D-4EBD-BD1B-E203558B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0016"/>
            <a:ext cx="10881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WHY WE BELIEVE THIS</a:t>
            </a:r>
            <a:endParaRPr sz="8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A9E0D21-B9EB-472C-B2F6-C759CB55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47488"/>
            <a:ext cx="914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008"/>
          </a:solidFill>
          <a:ln xmlns:a="http://schemas.openxmlformats.org/drawingml/2006/main" w="12700">
            <a:solidFill>
              <a:srgbClr val="E0A00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312CE5D-440D-4208-9956-16619384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974336"/>
            <a:ext cx="5029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 b="1">
                <a:solidFill>
                  <a:srgbClr val="1B1A17"/>
                </a:solidFill>
                <a:latin typeface="Calibri"/>
                <a:ea typeface="Calibri"/>
                <a:cs typeface="Calibri"/>
              </a:rPr>
              <a:t>Practitioners praise tools that clarify uncertainty and catch issues without extra prompting.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5D525E1-EB53-4503-B05B-000524C2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47488"/>
            <a:ext cx="914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008"/>
          </a:solidFill>
          <a:ln xmlns:a="http://schemas.openxmlformats.org/drawingml/2006/main" w="12700">
            <a:solidFill>
              <a:srgbClr val="E0A00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CC7D3C9-CF4E-4CB2-AE7D-31563F1D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974336"/>
            <a:ext cx="5029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 b="1">
                <a:solidFill>
                  <a:srgbClr val="1B1A17"/>
                </a:solidFill>
                <a:latin typeface="Calibri"/>
                <a:ea typeface="Calibri"/>
                <a:cs typeface="Calibri"/>
              </a:rPr>
              <a:t>They reject work they cannot verify, explain, or own.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646866A-1B4B-4E86-865A-52F2F177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5596128"/>
            <a:ext cx="11082528" cy="676656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0D896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10A370D-3E84-4696-97EF-1AD2D32C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596128"/>
            <a:ext cx="1060704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Themis does not define the answer. It helps the lawyer reach one they can stand behind.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26FC82B-2632-4A57-9AC8-C4729356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6355080"/>
            <a:ext cx="457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8A298"/>
                </a:solidFill>
                <a:latin typeface="Courier New"/>
                <a:ea typeface="Courier New"/>
                <a:cs typeface="Courier New"/>
              </a:rPr>
              <a:t>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27490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C369269-7658-4879-9817-57D0791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0881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6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PRIMARY RESEARCH  ·  203 DE-DUPLICATED REDDIT THREADS  ·  MARCH–AUGUST 2026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F7CC6C-90CE-4982-AC73-E5449A7F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68096"/>
            <a:ext cx="108813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696"/>
              </a:lnSpc>
              <a:buNone/>
            </a:pPr>
            <a:r>
              <a:rPr sz="3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Lawyers reward companion behavior, not just prose</a:t>
            </a:r>
            <a:endParaRPr sz="3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7DECC83-EA5F-4218-9452-DE3F4279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1208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7073C1F-7019-4020-A14C-978A8C5F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3852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20"/>
          </a:solidFill>
          <a:ln xmlns:a="http://schemas.openxmlformats.org/drawingml/2006/main" w="12700">
            <a:solidFill>
              <a:srgbClr val="B33A2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E982183-36AE-4268-8418-2177A424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088"/>
            <a:ext cx="448056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“The only one that caught it without further prompting was Claude Opus.”</a:t>
            </a:r>
            <a:endParaRPr sz="13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16FC9A3-FD9C-4FB0-991F-D012D95E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4805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5F5B54"/>
                </a:solidFill>
                <a:latin typeface="Calibri"/>
                <a:ea typeface="Calibri"/>
                <a:cs typeface="Calibri"/>
              </a:rPr>
              <a:t>~30-attorney firm after trialing CoCounsel, Harvey, and Legora  ·  r/legaltech, Aug 30 2026</a:t>
            </a:r>
            <a:endParaRPr sz="1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8985D7-5724-44F6-BD89-F652C078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45920"/>
            <a:ext cx="521208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AA6030D-B54D-41AF-A81F-B413F043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93852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3A20"/>
          </a:solidFill>
          <a:ln xmlns:a="http://schemas.openxmlformats.org/drawingml/2006/main" w="12700">
            <a:solidFill>
              <a:srgbClr val="B33A2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3FA201-895A-4DF5-806D-37BF5494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47088"/>
            <a:ext cx="448056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“…it asks for clarification when it doesn’t know.”</a:t>
            </a:r>
            <a:endParaRPr sz="13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754F00-8DEC-43A5-B4FC-6EAF9866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743200"/>
            <a:ext cx="44805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5F5B54"/>
                </a:solidFill>
                <a:latin typeface="Calibri"/>
                <a:ea typeface="Calibri"/>
                <a:cs typeface="Calibri"/>
              </a:rPr>
              <a:t>Why one practitioner preferred Claude  ·  r/paralegal, Mar 23 2026</a:t>
            </a:r>
            <a:endParaRPr sz="1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5D54FCF-07E3-49C1-A034-396DE786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521208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A59ED48-0F59-46B8-A522-4CD3ABF7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9040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008"/>
          </a:solidFill>
          <a:ln xmlns:a="http://schemas.openxmlformats.org/drawingml/2006/main" w="12700">
            <a:solidFill>
              <a:srgbClr val="E0A00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16ADA20-2F2D-47D0-A906-5A6558B3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48056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“Lawyers need workspaces tied to matters, not chat sessions tied to nothing.”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728F3AC-9A15-4BA0-8257-36894906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3712"/>
            <a:ext cx="44805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5F5B54"/>
                </a:solidFill>
                <a:latin typeface="Calibri"/>
                <a:ea typeface="Calibri"/>
                <a:cs typeface="Calibri"/>
              </a:rPr>
              <a:t>The demand for continuity, not another chat window  ·  r/legaltech, May 12 2026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E1196D3-A47C-4A33-A5D0-6270A126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56432"/>
            <a:ext cx="521208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211132A-CAB6-4FCD-A1BE-5A5C36AA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749040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008"/>
          </a:solidFill>
          <a:ln xmlns:a="http://schemas.openxmlformats.org/drawingml/2006/main" w="12700">
            <a:solidFill>
              <a:srgbClr val="E0A00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3FFDD89-7687-4CB5-9A20-905DCD07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657600"/>
            <a:ext cx="448056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“I feel more confident with my work product using Harvey.”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C9A0DC1-6DDD-4F83-89CE-8B521C98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553712"/>
            <a:ext cx="44805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5F5B54"/>
                </a:solidFill>
                <a:latin typeface="Calibri"/>
                <a:ea typeface="Calibri"/>
                <a:cs typeface="Calibri"/>
              </a:rPr>
              <a:t>A mid-level lawyer describing the desired outcome  ·  r/biglaw, Jun 24 2026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00194E3-35F1-4CBE-92E8-8DBBBFCF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62"/>
              </a:lnSpc>
              <a:buNone/>
            </a:pPr>
            <a:r>
              <a:rPr sz="110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widen the field of view  ·  expose uncertainty  ·  keep context  ·  leave ownership with the lawyer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E584BF8-E93E-48BD-8B83-F142827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6355080"/>
            <a:ext cx="457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8A298"/>
                </a:solidFill>
                <a:latin typeface="Courier New"/>
                <a:ea typeface="Courier New"/>
                <a:cs typeface="Courier New"/>
              </a:rPr>
              <a:t>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15275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BA7026-3F58-4435-BB24-687E1B74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0881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6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HOW THE THESIS BECOMES A PRODUCT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8E63A8-02A7-4BEE-9F7C-C2D6EDCD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68096"/>
            <a:ext cx="108813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696"/>
              </a:lnSpc>
              <a:buNone/>
            </a:pPr>
            <a:r>
              <a:rPr sz="3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One matter stays intact through the judgment</a:t>
            </a:r>
            <a:endParaRPr sz="3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C924EA2-72F1-466D-866B-6A852FC1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12700">
            <a:solidFill>
              <a:srgbClr val="1B1A1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81F518-0DC3-4349-9B32-AE3F78E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1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A19017-2680-484B-8806-09967713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1627632"/>
            <a:ext cx="4846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30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BRING IN THE REAL QUESTION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8ABAA3F-3181-42A6-952D-2E716DE5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1883664"/>
            <a:ext cx="48463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33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Paste the request, messages, specifications, and documents. Start from the actual matter.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7F60483-4802-452E-A124-9B0CE9F8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12700">
            <a:solidFill>
              <a:srgbClr val="1B1A17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913BABA-194B-4A66-A5A4-944D15A7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2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B4EF3A1-2EA0-4A4C-80F3-341E2E11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2496312"/>
            <a:ext cx="4846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30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BUILD SHARED UNDERSTANDING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E64C8F-3ACA-4A4F-9302-14DBFF20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2752344"/>
            <a:ext cx="48463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33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Business objective, facts, gaps, issues, prior decisions, and the next useful question.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823B4E6-E19D-43A4-8256-63BB61B9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12700">
            <a:solidFill>
              <a:srgbClr val="1B1A17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A4C204D-15A5-4C13-8823-2A649E84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3D4E010-CE79-4DB1-B3CE-86C16F1C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3364992"/>
            <a:ext cx="4846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30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EXPLORE AND TEST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307BE31-B534-4899-BAEB-BE23BA55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3621024"/>
            <a:ext cx="48463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33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Research, compare paths, draft, and name the assumptions and blind spots that remain.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743ECCD-68A0-487C-BB02-A2A6B676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12700">
            <a:solidFill>
              <a:srgbClr val="1B1A1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649AF2C-43BA-49DB-9926-71544E58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4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BA7EC21-0F31-412F-97A8-C8E8DC62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233672"/>
            <a:ext cx="4846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30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KEEP JUDGMENT WITH THE LAWYER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3FDA4B1-0D2C-4B8B-A2E3-070A7B83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489704"/>
            <a:ext cx="48463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33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A recommendation stays a proposal until the lawyer explicitly records the decision.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8FDC8E3-D46F-4909-948F-BB5E0DB8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12700">
            <a:solidFill>
              <a:srgbClr val="1B1A1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D56770-D5C8-44CA-9B8B-B3A4EAEB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5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E1C765D-441C-481E-A74C-062FF6B1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102352"/>
            <a:ext cx="4846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30">
                <a:solidFill>
                  <a:srgbClr val="8A6612"/>
                </a:solidFill>
                <a:latin typeface="Courier New"/>
                <a:ea typeface="Courier New"/>
                <a:cs typeface="Courier New"/>
              </a:rPr>
              <a:t>RETURN WITHOUT RECONSTRUCTING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5ABEA1C-89BD-43D3-ACEB-3EA2E4E5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358384"/>
            <a:ext cx="48463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33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The conversation, work, rationale, decision, and next action survive the model and the session.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B8409CD-0037-4AF6-A2BB-254AF9F3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052" y="1741932"/>
            <a:ext cx="5458968" cy="344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B1A17">
                <a:alpha val="10000"/>
              </a:srgbClr>
            </a:outerShdw>
          </a:effectLst>
        </p:spPr>
      </p:sp>
      <p:pic>
        <p:nvPicPr>
          <p:cNvPr id="5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b0425b6d94b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72200" y="1783080"/>
            <a:ext cx="5376672" cy="3360420"/>
          </a:xfrm>
          <a:prstGeom xmlns:a="http://schemas.openxmlformats.org/drawingml/2006/main" prst="rect">
            <a:avLst/>
          </a:prstGeom>
        </p:spPr>
      </p:pic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A08511B-A8DE-4E8F-BF0D-634879E2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21808"/>
            <a:ext cx="53766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A857C"/>
                </a:solidFill>
                <a:latin typeface="Courier New"/>
                <a:ea typeface="Courier New"/>
                <a:cs typeface="Courier New"/>
              </a:rPr>
              <a:t>The model can change. The matter remembers.</a:t>
            </a:r>
            <a:endParaRPr sz="8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2C39D22-281E-470F-B12C-882EB808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6355080"/>
            <a:ext cx="457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8A298"/>
                </a:solidFill>
                <a:latin typeface="Courier New"/>
                <a:ea typeface="Courier New"/>
                <a:cs typeface="Courier New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91300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2EEE2D-8D6B-4A7F-B05C-3D5F229A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0881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6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THE MATTER IS THE COMPANION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88FE29-17CE-4CF8-89CB-D03241FF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68096"/>
            <a:ext cx="108813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696"/>
              </a:lnSpc>
              <a:buNone/>
            </a:pPr>
            <a:r>
              <a:rPr sz="3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One page holds the full matter</a:t>
            </a:r>
            <a:endParaRPr sz="3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46E89C1-4770-41E5-A115-6573EF6C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" y="1586484"/>
            <a:ext cx="6345936" cy="3909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B1A17">
                <a:alpha val="10000"/>
              </a:srgbClr>
            </a:outerShdw>
          </a:effectLst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65174391f45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627632"/>
            <a:ext cx="6263640" cy="3827695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4C37BE7-23AE-47F0-A34B-033EFD10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645920"/>
            <a:ext cx="4297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The question comes before the files</a:t>
            </a:r>
            <a:endParaRPr sz="1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EE2E5F7-7F34-43C9-92BB-898D04DA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956816"/>
            <a:ext cx="42976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33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The business goal and exact legal question anchor the matter.</a:t>
            </a:r>
            <a:endParaRPr sz="11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DCBDADB-1C64-4203-B2A0-0842C1C5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779776"/>
            <a:ext cx="4297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Blind spots remain visible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2BA690-EA86-440B-898D-5BD44D3A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3090672"/>
            <a:ext cx="42976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33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Missing facts, research questions, and required work do not disappear in chat.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86F4B57-7902-49C2-90F9-EB1CB77F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3913632"/>
            <a:ext cx="4297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Recommendation is not decision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AFF48E3-927B-439C-92DB-0A2C1959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224528"/>
            <a:ext cx="42976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33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Themis can propose. Only the lawyer records the call.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BE40A1F-47DE-4EE4-B3B0-9B0CC81D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5047488"/>
            <a:ext cx="4297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Return without starting over</a:t>
            </a:r>
            <a:endParaRPr sz="1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EE2A7C8-9525-419E-B767-7769213C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5358384"/>
            <a:ext cx="42976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33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Current work, owner, rationale, and next action persist.</a:t>
            </a:r>
            <a:endParaRPr sz="11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D49A603-9CA4-4549-91E7-B4C72282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6355080"/>
            <a:ext cx="457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8A298"/>
                </a:solidFill>
                <a:latin typeface="Courier New"/>
                <a:ea typeface="Courier New"/>
                <a:cs typeface="Courier New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34157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24A618-F53A-4156-BFA7-58DEFF6B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0881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6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THE ETHOS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E3186B-294C-4C1D-917D-881F8501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68096"/>
            <a:ext cx="108813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696"/>
              </a:lnSpc>
              <a:buNone/>
            </a:pPr>
            <a:r>
              <a:rPr sz="3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The architecture keeps judgment with the lawyer</a:t>
            </a:r>
            <a:endParaRPr sz="3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E98838A-E709-456F-A509-95652985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5212080" cy="1938528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EB2E13-D73E-46E9-902B-16966E25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47088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E0A008"/>
                </a:solidFill>
                <a:latin typeface="Courier New"/>
                <a:ea typeface="Courier New"/>
                <a:cs typeface="Courier New"/>
              </a:rPr>
              <a:t>01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917F8A-6A5D-4D55-9448-C21D5C2A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139696"/>
            <a:ext cx="46634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5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Useful before perfect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E37B3A-772D-419A-9B8F-6B2BF62F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633472"/>
            <a:ext cx="46634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62"/>
              </a:lnSpc>
              <a:buNone/>
            </a:pPr>
            <a:r>
              <a:rPr sz="110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Deliver the strongest useful first pass. Missing support reduces certainty; it does not erase useful work.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04006B1-E43C-415B-A62C-BD386E54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27632"/>
            <a:ext cx="5212080" cy="1938528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7745812-D447-451F-8C36-44843CF7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1847088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E0A008"/>
                </a:solidFill>
                <a:latin typeface="Courier New"/>
                <a:ea typeface="Courier New"/>
                <a:cs typeface="Courier New"/>
              </a:rPr>
              <a:t>02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286024E-9601-4514-9B24-E8E06B6B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39696"/>
            <a:ext cx="46634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5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Honest about the edge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6DE7C7-7915-4089-B9D4-20E4370D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633472"/>
            <a:ext cx="46634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62"/>
              </a:lnSpc>
              <a:buNone/>
            </a:pPr>
            <a:r>
              <a:rPr sz="110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Show assumptions, missing facts, source status, and what was not reviewed. Never invent support.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0531D10-486A-4379-A05B-5EDCF6E8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5212080" cy="1938528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34B37B7-0C11-44D9-833B-E3DC9370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96849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E0A008"/>
                </a:solidFill>
                <a:latin typeface="Courier New"/>
                <a:ea typeface="Courier New"/>
                <a:cs typeface="Courier New"/>
              </a:rPr>
              <a:t>03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E6A389B-C78B-4222-842A-200C558F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61104"/>
            <a:ext cx="46634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5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Human decision by design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40F0CF-E394-4415-8358-A4AFBBBA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54880"/>
            <a:ext cx="46634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62"/>
              </a:lnSpc>
              <a:buNone/>
            </a:pPr>
            <a:r>
              <a:rPr sz="110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Recommendations never silently become decisions. Recording the call requires explicit lawyer action.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3E615B6-C0A4-4DF7-9C29-90848E50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49040"/>
            <a:ext cx="5212080" cy="1938528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CE6CB08-A453-43B6-8FA3-8A4842F7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396849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E0A008"/>
                </a:solidFill>
                <a:latin typeface="Courier New"/>
                <a:ea typeface="Courier New"/>
                <a:cs typeface="Courier New"/>
              </a:rPr>
              <a:t>04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F0801DA-7C2F-4716-8533-FCFF0128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261104"/>
            <a:ext cx="46634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5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Durable, portable context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36FA8A5-66C6-4EFA-85C2-4C695E87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754880"/>
            <a:ext cx="46634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62"/>
              </a:lnSpc>
              <a:buNone/>
            </a:pPr>
            <a:r>
              <a:rPr sz="110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Markdown is the source of truth. The index rebuilds. Five provider adapters let the customer keep the record and change the model.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F776CC2-D7AC-44C6-B022-F0E5C6EB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6355080"/>
            <a:ext cx="457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8A298"/>
                </a:solidFill>
                <a:latin typeface="Courier New"/>
                <a:ea typeface="Courier New"/>
                <a:cs typeface="Courier New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57692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291BD0-1FF7-4B28-AEEC-A9D79B05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0881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6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THE OPENING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89B142-23CC-4F32-8A41-E1A15F69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68096"/>
            <a:ext cx="108813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696"/>
              </a:lnSpc>
              <a:buNone/>
            </a:pPr>
            <a:r>
              <a:rPr sz="3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No one owns continuity of judgment</a:t>
            </a:r>
            <a:endParaRPr sz="3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B71774-CC8F-4537-A273-CA5A72CC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9344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2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PART OF THE JOB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C3F6C4D-F04E-4EC2-B1AA-0535A24F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609344"/>
            <a:ext cx="3017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2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WHO WINS IT TODAY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10B4487-6BF0-4136-AC27-D1A7E0D2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09344"/>
            <a:ext cx="4114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2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WHAT REMAINS</a:t>
            </a:r>
            <a:endParaRPr sz="8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3419E79-672D-4F5C-AEE2-B39C5AC0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938528"/>
            <a:ext cx="11082528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EAE6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B2135C8-1189-4FC9-A22A-634465EE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29968"/>
            <a:ext cx="3291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Think and draft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6F50D82-8995-4389-94A4-3067FDCA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029968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ChatGPT / Claude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F9948A8-A45A-40A6-A089-EE452310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29968"/>
            <a:ext cx="4023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General reasoning; matter context resets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4DE80B-6247-46F8-9204-D31220E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688336"/>
            <a:ext cx="11082528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EAE6D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88D2CA-F59F-4DDD-9CBC-6B8B64BB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79776"/>
            <a:ext cx="3291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Find legal authority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A5920B8-5287-4196-82C3-B5FFDC76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779776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Westlaw / Lexis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BB18C88-FD62-42AD-8D52-9D163BBB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779776"/>
            <a:ext cx="4023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Trusted corpus; business context lives elsewhere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D491C20-C7DF-4289-AB58-33DACAAE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438144"/>
            <a:ext cx="11082528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EAE6D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750ED22-BF6F-43ED-A012-C0473E53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9584"/>
            <a:ext cx="3291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Repeat document work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01DA4CE-D2A6-420A-97CD-59A2A566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29584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Harvey / Legora / CoCounsel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67D4C9D-F15C-4852-8984-78FC7E6A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529584"/>
            <a:ext cx="4023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Strong workflows; broad suite and rollout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424A6EB-21D7-4FD1-ABFF-A4C73B0C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187952"/>
            <a:ext cx="11082528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EAE6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DA44FEB-20FD-47D1-B190-D601A1B5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79392"/>
            <a:ext cx="3291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Store records and tasks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04E396C-94F2-4AD0-9AF3-BFDBE45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279392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Practice systems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F3A2F5B-73DA-46A8-8C7B-7345F2C9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279392"/>
            <a:ext cx="4023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Files persist; legal orientation does not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1423609-0449-4B34-8ED1-B3AA69F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937760"/>
            <a:ext cx="11082528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0D896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A4D9955-9018-4228-9918-CB372009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3291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Understand, decide, remember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F27326-DCAA-4797-8606-CB1D5D8D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029200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8A6612"/>
                </a:solidFill>
                <a:latin typeface="Calibri"/>
                <a:ea typeface="Calibri"/>
                <a:cs typeface="Calibri"/>
              </a:rPr>
              <a:t>Themis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A63744F-FDB8-4ACD-BBDC-9718F16E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029200"/>
            <a:ext cx="4023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One matter holds the question, work, judgment, and return state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80FA676-E2E1-494E-934F-BAD9D3A7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7044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Beachhead: solo GC and 1–5 person legal teams—broad responsibility, little junior support, and no appetite for an enterprise rollout.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FEEF3D9-B97F-4A34-BA74-1CD80B21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6355080"/>
            <a:ext cx="457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8A298"/>
                </a:solidFill>
                <a:latin typeface="Courier New"/>
                <a:ea typeface="Courier New"/>
                <a:cs typeface="Courier New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108196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6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0FE497-EBCE-486B-830E-CBF3FC15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"/>
            <a:ext cx="10881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60">
                <a:solidFill>
                  <a:srgbClr val="8F897C"/>
                </a:solidFill>
                <a:latin typeface="Courier New"/>
                <a:ea typeface="Courier New"/>
                <a:cs typeface="Courier New"/>
              </a:rPr>
              <a:t>STATUS  ·  SEPTEMBER 2026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A6F0E95-C6AC-4CCE-BC0F-B9ACAB1E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77824"/>
            <a:ext cx="108813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300" b="1">
                <a:solidFill>
                  <a:srgbClr val="F7F5F1"/>
                </a:solidFill>
                <a:latin typeface="Cambria"/>
                <a:ea typeface="Cambria"/>
                <a:cs typeface="Cambria"/>
              </a:rPr>
              <a:t>The thesis is already a working system</a:t>
            </a:r>
            <a:endParaRPr sz="3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29AFD69-1689-47F1-9686-B0AAEC85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55648"/>
            <a:ext cx="914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54"/>
          </a:solidFill>
          <a:ln xmlns:a="http://schemas.openxmlformats.org/drawingml/2006/main" w="12700">
            <a:solidFill>
              <a:srgbClr val="146B54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A1FE4DB-9327-480D-84F6-B0F0D00F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70078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146B54"/>
                </a:solidFill>
                <a:latin typeface="Courier New"/>
                <a:ea typeface="Courier New"/>
                <a:cs typeface="Courier New"/>
              </a:rPr>
              <a:t>BUILT AND PASSING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42CC3-0B30-48B0-99F4-875E8DB1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21408"/>
            <a:ext cx="3401568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16 product routes; matter intake, context, agents, and saved work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Research queues, document review, recommendations, and decisions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824 backend tests passed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Frontend typecheck and production build passed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Five model providers; Markdown vault; rebuildable SQLite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44B53B-0176-48C0-BB9C-81C648A2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5648"/>
            <a:ext cx="914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008"/>
          </a:solidFill>
          <a:ln xmlns:a="http://schemas.openxmlformats.org/drawingml/2006/main" w="12700">
            <a:solidFill>
              <a:srgbClr val="E0A00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BB6550E-1042-4D4A-B572-2DD1875B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170078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E0A008"/>
                </a:solidFill>
                <a:latin typeface="Courier New"/>
                <a:ea typeface="Courier New"/>
                <a:cs typeface="Courier New"/>
              </a:rPr>
              <a:t>HONEST BOUNDARY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0D5BBA9-0EF6-44F4-8556-567FE9C9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1408"/>
            <a:ext cx="3401568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Single-user local application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No authentication, tenancy, or team permissions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No court-grade citation validation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No source-layout-preserving Word round trip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Not for privileged material in an untrusted environment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Narrow by design while the thesis is tested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511C3E-E99F-4FD3-82E8-90A2709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755648"/>
            <a:ext cx="914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C0"/>
          </a:solidFill>
          <a:ln xmlns:a="http://schemas.openxmlformats.org/drawingml/2006/main" w="12700">
            <a:solidFill>
              <a:srgbClr val="5F5AC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A41BA89-5B8B-44D5-B75F-66B9C66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170078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5F5AC0"/>
                </a:solidFill>
                <a:latin typeface="Courier New"/>
                <a:ea typeface="Courier New"/>
                <a:cs typeface="Courier New"/>
              </a:rPr>
              <a:t>WHAT WE PROVE NEXT</a:t>
            </a:r>
            <a:endParaRPr sz="8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D03731E-F5CE-404D-8FA6-DBF81B67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121408"/>
            <a:ext cx="3401568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Passage-level source proof and a coverage receipt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Faster return-to-matter orientation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Stronger decision-support review loops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Real product-counsel design partners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Repeat use, willingness to pay, and retention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DCD7CC"/>
                </a:solidFill>
                <a:latin typeface="Calibri"/>
                <a:ea typeface="Calibri"/>
                <a:cs typeface="Calibri"/>
              </a:rPr>
              <a:t>The sentence: “It helped me see what I was missing.”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3C0C08-F650-4852-BE3B-2C554BA5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00" i="1">
                <a:solidFill>
                  <a:srgbClr val="A8A298"/>
                </a:solidFill>
                <a:latin typeface="Cambria"/>
                <a:ea typeface="Cambria"/>
                <a:cs typeface="Cambria"/>
              </a:rPr>
              <a:t>The working build proves the product can carry the matter. Design partners must prove that lawyers want this relationship.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9FBFD5-CB7D-4336-9318-ADDB27B0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6355080"/>
            <a:ext cx="457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8A298"/>
                </a:solidFill>
                <a:latin typeface="Courier New"/>
                <a:ea typeface="Courier New"/>
                <a:cs typeface="Courier New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44159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D0E373-9609-46BE-842D-A07ABB9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0881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6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WHAT WOULD CHANGE THIS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EA2684-E4CC-47E1-9487-BDBBD792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68096"/>
            <a:ext cx="108813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696"/>
              </a:lnSpc>
              <a:buNone/>
            </a:pPr>
            <a:r>
              <a:rPr sz="3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The thesis rests on one human assumption</a:t>
            </a:r>
            <a:endParaRPr sz="3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797FB8B-1C64-470A-8D49-03F1E075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17"/>
              </a:lnSpc>
              <a:buNone/>
            </a:pPr>
            <a:r>
              <a:rPr sz="1350">
                <a:solidFill>
                  <a:srgbClr val="55524B"/>
                </a:solidFill>
                <a:latin typeface="Calibri"/>
                <a:ea typeface="Calibri"/>
                <a:cs typeface="Calibri"/>
              </a:rPr>
              <a:t>Lawyers do not want AI to make the judgment. They want help seeing the full legal space before they make it.</a:t>
            </a:r>
            <a:endParaRPr sz="13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807DA8-DF4A-45C9-B133-20D9AAC5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01952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2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THE BET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AB4A31C-BE56-426B-9C2F-616BBBEF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901952"/>
            <a:ext cx="5577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20">
                <a:solidFill>
                  <a:srgbClr val="5F5B54"/>
                </a:solidFill>
                <a:latin typeface="Courier New"/>
                <a:ea typeface="Courier New"/>
                <a:cs typeface="Courier New"/>
              </a:rPr>
              <a:t>WHAT WOULD PROVE IT WRONG</a:t>
            </a:r>
            <a:endParaRPr sz="8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DF3B7C-0AF5-45E1-AECF-7199164B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194560"/>
            <a:ext cx="11082528" cy="768096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9B5873-4101-4FE8-BE20-F325EB79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76856"/>
            <a:ext cx="4846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A wider field of view matters more than faster prose.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EEDF70-643C-4896-89BF-ED582F7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78608"/>
            <a:ext cx="4846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>
                <a:solidFill>
                  <a:srgbClr val="5F5B54"/>
                </a:solidFill>
                <a:latin typeface="Calibri"/>
                <a:ea typeface="Calibri"/>
                <a:cs typeface="Calibri"/>
              </a:rPr>
              <a:t>The product earns trust by surfacing issues, paths, gaps, and uncertainty.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265DE98-2F28-4E71-BF3A-CFF7A38A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322576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20"/>
          </a:solidFill>
          <a:ln xmlns:a="http://schemas.openxmlformats.org/drawingml/2006/main" w="12700">
            <a:solidFill>
              <a:srgbClr val="B33A2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30AE913-819E-4347-8AFA-15BCE2C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276856"/>
            <a:ext cx="55778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Lawyers skip the issue map and use Themis only to copy a conclusion.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4A9EDF5-08BF-4BC3-90E1-4DA99281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017520"/>
            <a:ext cx="11082528" cy="768096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D861D19-0D1B-4D41-BB0F-9ED48596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9816"/>
            <a:ext cx="4846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Matter memory becomes part of the relationship.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7D5ACB9-8933-48B2-83D3-6C029CE5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01568"/>
            <a:ext cx="4846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>
                <a:solidFill>
                  <a:srgbClr val="5F5B54"/>
                </a:solidFill>
                <a:latin typeface="Calibri"/>
                <a:ea typeface="Calibri"/>
                <a:cs typeface="Calibri"/>
              </a:rPr>
              <a:t>Value compounds when the lawyer returns to the same facts, reasoning, and decisions.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C5518E4-17B7-4A9E-B9BD-A03DDEB2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3145536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20"/>
          </a:solidFill>
          <a:ln xmlns:a="http://schemas.openxmlformats.org/drawingml/2006/main" w="12700">
            <a:solidFill>
              <a:srgbClr val="B33A2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E87575-2F4B-433F-90CD-DA48DE5A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3099816"/>
            <a:ext cx="55778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Use remains one-off, or keeping the record current costs more than it returns.</a:t>
            </a:r>
            <a:endParaRPr sz="11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472593D-ECF6-4777-A9AE-1C793A79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840480"/>
            <a:ext cx="11082528" cy="768096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A4E4B9D-3A89-4F57-99EC-88D90C65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22776"/>
            <a:ext cx="4846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Visible limits and human control create comfort.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AFE6AAC-DBFB-4048-BF69-BE69989A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24528"/>
            <a:ext cx="4846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>
                <a:solidFill>
                  <a:srgbClr val="5F5B54"/>
                </a:solidFill>
                <a:latin typeface="Calibri"/>
                <a:ea typeface="Calibri"/>
                <a:cs typeface="Calibri"/>
              </a:rPr>
              <a:t>Themis shows where it stops and leaves the final call explicit.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1D9D5AD-5F48-4A23-899F-2DFAD329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3968496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20"/>
          </a:solidFill>
          <a:ln xmlns:a="http://schemas.openxmlformats.org/drawingml/2006/main" w="12700">
            <a:solidFill>
              <a:srgbClr val="B33A2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B37BD10-E625-4F6B-89B8-0772F11C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3922776"/>
            <a:ext cx="55778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Visibility creates more review work, or users still will not trust the system.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DC155E4-F3C2-4279-9F93-E0D8ECD1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663440"/>
            <a:ext cx="11082528" cy="768096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A404DF1-57CC-4A21-A3D9-BA99756C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45736"/>
            <a:ext cx="4846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Small legal teams will try it before enterprise controls exist.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85D7A18-36E4-4E01-8E2F-E9BDFB5A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47488"/>
            <a:ext cx="4846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>
                <a:solidFill>
                  <a:srgbClr val="5F5B54"/>
                </a:solidFill>
                <a:latin typeface="Calibri"/>
                <a:ea typeface="Calibri"/>
                <a:cs typeface="Calibri"/>
              </a:rPr>
              <a:t>One real matter can prove value without migration or a broad rollout.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88D2F29-230A-47DA-9735-F8F6B276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4791456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20"/>
          </a:solidFill>
          <a:ln xmlns:a="http://schemas.openxmlformats.org/drawingml/2006/main" w="12700">
            <a:solidFill>
              <a:srgbClr val="B33A2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69798EB-218E-4236-8807-64FBB72B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4745736"/>
            <a:ext cx="55778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Confidentiality and approved deployment block every meaningful trial.</a:t>
            </a:r>
            <a:endParaRPr sz="11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DD4DE44-560D-4B08-90AA-22853A86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5486400"/>
            <a:ext cx="11082528" cy="768096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3AF8105-A128-41CE-AC5C-5C91B688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68696"/>
            <a:ext cx="4846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00" b="1">
                <a:solidFill>
                  <a:srgbClr val="1B1A17"/>
                </a:solidFill>
                <a:latin typeface="Cambria"/>
                <a:ea typeface="Cambria"/>
                <a:cs typeface="Cambria"/>
              </a:rPr>
              <a:t>The measure is what the lawyer can now see.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1ADCD21-D13E-4817-9F7D-4BEAC3F3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70448"/>
            <a:ext cx="4846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>
                <a:solidFill>
                  <a:srgbClr val="5F5B54"/>
                </a:solidFill>
                <a:latin typeface="Calibri"/>
                <a:ea typeface="Calibri"/>
                <a:cs typeface="Calibri"/>
              </a:rPr>
              <a:t>Success: “It helped me see what I was missing. I still made the call.”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F44106B-0CC8-4BAC-ABFE-AD7249A8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5614416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20"/>
          </a:solidFill>
          <a:ln xmlns:a="http://schemas.openxmlformats.org/drawingml/2006/main" w="12700">
            <a:solidFill>
              <a:srgbClr val="B33A2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0B0BC4F-104A-44FA-9E69-9D2EB6E4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568696"/>
            <a:ext cx="55778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3A3733"/>
                </a:solidFill>
                <a:latin typeface="Calibri"/>
                <a:ea typeface="Calibri"/>
                <a:cs typeface="Calibri"/>
              </a:rPr>
              <a:t>Themis improves drafting speed but does not change judgment, return use, or willingness to pay.</a:t>
            </a:r>
            <a:endParaRPr sz="11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1FB3B5E-D9F9-4899-A3E1-B93553F7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415" y="6355080"/>
            <a:ext cx="457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8A298"/>
                </a:solidFill>
                <a:latin typeface="Courier New"/>
                <a:ea typeface="Courier New"/>
                <a:cs typeface="Courier New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405841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2026-09-03T17:12:15.7540000Z</dcterms:created>
  <dcterms:modified xsi:type="dcterms:W3CDTF">2026-09-03T17:12:15.7540000Z</dcterms:modified>
</coreProperties>
</file>