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906000"/>
  <p:notesSz cx="6858000" cy="9144000"/>
  <p:embeddedFontLst>
    <p:embeddedFont>
      <p:font typeface="Figtree"/>
      <p:regular r:id="rId7"/>
      <p:bold r:id="rId8"/>
      <p:italic r:id="rId9"/>
      <p:boldItalic r:id="rId10"/>
    </p:embeddedFont>
    <p:embeddedFont>
      <p:font typeface="Libre Baskerville"/>
      <p:regular r:id="rId11"/>
      <p:bold r:id="rId12"/>
      <p:italic r:id="rId13"/>
    </p:embeddedFon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kw45JGsj99nnM8ao8mZ9trYps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Baskerville-regular.fntdata"/><Relationship Id="rId10" Type="http://schemas.openxmlformats.org/officeDocument/2006/relationships/font" Target="fonts/Figtree-boldItalic.fntdata"/><Relationship Id="rId13" Type="http://schemas.openxmlformats.org/officeDocument/2006/relationships/font" Target="fonts/LibreBaskerville-italic.fntdata"/><Relationship Id="rId12" Type="http://schemas.openxmlformats.org/officeDocument/2006/relationships/font" Target="fonts/LibreBaskervill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gtree-italic.fntdata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font" Target="fonts/Figtree-regular.fntdata"/><Relationship Id="rId8" Type="http://schemas.openxmlformats.org/officeDocument/2006/relationships/font" Target="fonts/Figtre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52500" y="685800"/>
            <a:ext cx="495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n Canvas">
  <p:cSld name="Lean Canva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>
            <p:ph idx="1" type="body"/>
          </p:nvPr>
        </p:nvSpPr>
        <p:spPr>
          <a:xfrm>
            <a:off x="4696022" y="381000"/>
            <a:ext cx="1403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2" type="body"/>
          </p:nvPr>
        </p:nvSpPr>
        <p:spPr>
          <a:xfrm>
            <a:off x="6418823" y="381000"/>
            <a:ext cx="1403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3" type="body"/>
          </p:nvPr>
        </p:nvSpPr>
        <p:spPr>
          <a:xfrm>
            <a:off x="8493322" y="381000"/>
            <a:ext cx="11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4" type="body"/>
          </p:nvPr>
        </p:nvSpPr>
        <p:spPr>
          <a:xfrm>
            <a:off x="309424" y="1066800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5" type="body"/>
          </p:nvPr>
        </p:nvSpPr>
        <p:spPr>
          <a:xfrm>
            <a:off x="2185335" y="1066800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6" type="body"/>
          </p:nvPr>
        </p:nvSpPr>
        <p:spPr>
          <a:xfrm>
            <a:off x="4067689" y="1066800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7" type="body"/>
          </p:nvPr>
        </p:nvSpPr>
        <p:spPr>
          <a:xfrm>
            <a:off x="5948526" y="1056067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8" type="body"/>
          </p:nvPr>
        </p:nvSpPr>
        <p:spPr>
          <a:xfrm>
            <a:off x="7835806" y="1056067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3" name="Google Shape;43;p3"/>
          <p:cNvSpPr txBox="1"/>
          <p:nvPr>
            <p:ph idx="9" type="body"/>
          </p:nvPr>
        </p:nvSpPr>
        <p:spPr>
          <a:xfrm>
            <a:off x="309424" y="2965800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4" name="Google Shape;44;p3"/>
          <p:cNvSpPr txBox="1"/>
          <p:nvPr>
            <p:ph idx="13" type="body"/>
          </p:nvPr>
        </p:nvSpPr>
        <p:spPr>
          <a:xfrm>
            <a:off x="2196704" y="2965800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5" name="Google Shape;45;p3"/>
          <p:cNvSpPr txBox="1"/>
          <p:nvPr>
            <p:ph idx="14" type="body"/>
          </p:nvPr>
        </p:nvSpPr>
        <p:spPr>
          <a:xfrm>
            <a:off x="4072615" y="2965800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6" name="Google Shape;46;p3"/>
          <p:cNvSpPr txBox="1"/>
          <p:nvPr>
            <p:ph idx="15" type="body"/>
          </p:nvPr>
        </p:nvSpPr>
        <p:spPr>
          <a:xfrm>
            <a:off x="5952078" y="2965800"/>
            <a:ext cx="1754326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16" type="body"/>
          </p:nvPr>
        </p:nvSpPr>
        <p:spPr>
          <a:xfrm>
            <a:off x="7835806" y="2965563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7" type="body"/>
          </p:nvPr>
        </p:nvSpPr>
        <p:spPr>
          <a:xfrm>
            <a:off x="309424" y="4876800"/>
            <a:ext cx="4561026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18" type="body"/>
          </p:nvPr>
        </p:nvSpPr>
        <p:spPr>
          <a:xfrm>
            <a:off x="5056350" y="4876800"/>
            <a:ext cx="453378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–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»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•"/>
              <a:defRPr b="0" i="0" sz="9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www.builtdifferent.vc" TargetMode="External"/><Relationship Id="rId2" Type="http://schemas.openxmlformats.org/officeDocument/2006/relationships/hyperlink" Target="https://www.amazon.com/Running-Lean-Ash-Maurya-ebook/dp/B09T95R99G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244475" y="762000"/>
            <a:ext cx="9407400" cy="563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244475" y="762000"/>
            <a:ext cx="1879500" cy="38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2124075" y="760413"/>
            <a:ext cx="1881188" cy="1882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"/>
          <p:cNvSpPr/>
          <p:nvPr/>
        </p:nvSpPr>
        <p:spPr>
          <a:xfrm>
            <a:off x="2124075" y="2643188"/>
            <a:ext cx="1881188" cy="19288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4005263" y="762000"/>
            <a:ext cx="1879600" cy="38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5884863" y="762000"/>
            <a:ext cx="1879600" cy="1882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84863" y="2643188"/>
            <a:ext cx="1879600" cy="19288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770813" y="762000"/>
            <a:ext cx="1881187" cy="38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244475" y="4579938"/>
            <a:ext cx="4713288" cy="18208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4957763" y="4579938"/>
            <a:ext cx="4692650" cy="18208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4632375" y="184150"/>
            <a:ext cx="1403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Project / Company Name: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6357988" y="180975"/>
            <a:ext cx="1403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Owner: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8436025" y="180975"/>
            <a:ext cx="12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Date: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244475" y="78898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Problem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244475" y="264953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Existing Alternatives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244475" y="4572000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Cost Structure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2124075" y="788988"/>
            <a:ext cx="175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Solution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2124075" y="2649538"/>
            <a:ext cx="175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Key Metrics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4025900" y="78898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Unique Value Proposition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4025900" y="264953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High-Level Concept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5919788" y="78263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Unfair Advantage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5919788" y="264318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Channels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7818438" y="78898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Customer Segments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7818438" y="2649538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Early Adopters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973638" y="4572000"/>
            <a:ext cx="174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Revenue Streams</a:t>
            </a:r>
            <a:endParaRPr b="0" i="0" sz="1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60775" y="122419"/>
            <a:ext cx="240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1" lang="en-GB" sz="1600">
                <a:solidFill>
                  <a:srgbClr val="44444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b="1" i="0" lang="en-GB" sz="1300" u="none" cap="none" strike="noStrike">
                <a:solidFill>
                  <a:srgbClr val="444444"/>
                </a:solidFill>
                <a:latin typeface="Figtree"/>
                <a:ea typeface="Figtree"/>
                <a:cs typeface="Figtree"/>
                <a:sym typeface="Figtree"/>
              </a:rPr>
              <a:t>Lean Canvas</a:t>
            </a:r>
            <a:endParaRPr b="1" i="0" sz="11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47650" y="6457950"/>
            <a:ext cx="94107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700" u="sng">
                <a:solidFill>
                  <a:srgbClr val="787828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www.builtdifferent.vc</a:t>
            </a:r>
            <a:r>
              <a:rPr lang="en-GB" sz="700">
                <a:solidFill>
                  <a:srgbClr val="8080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br>
              <a:rPr lang="en-GB" sz="700">
                <a:solidFill>
                  <a:srgbClr val="8080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GB" sz="700" u="none" cap="none" strike="noStrike">
                <a:solidFill>
                  <a:srgbClr val="8080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Lean Canvas template is adapted from Running Lean, by Ash Maurya. (</a:t>
            </a:r>
            <a:r>
              <a:rPr b="0" i="0" lang="en-GB" sz="700" u="sng" cap="none" strike="noStrike">
                <a:solidFill>
                  <a:srgbClr val="787828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Book</a:t>
            </a:r>
            <a:r>
              <a:rPr b="0" i="0" lang="en-GB" sz="700" u="none" cap="none" strike="noStrike">
                <a:solidFill>
                  <a:srgbClr val="8080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b="0" i="0" sz="700" u="none" cap="none" strike="noStrike">
              <a:solidFill>
                <a:srgbClr val="44444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3" name="Google Shape;3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5" y="152400"/>
            <a:ext cx="1327675" cy="3514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4" type="body"/>
          </p:nvPr>
        </p:nvSpPr>
        <p:spPr>
          <a:xfrm>
            <a:off x="309563" y="1066800"/>
            <a:ext cx="1754187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999999"/>
                </a:solidFill>
              </a:rPr>
              <a:t>Top 3 problems</a:t>
            </a:r>
            <a:endParaRPr>
              <a:solidFill>
                <a:srgbClr val="999999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</a:pPr>
            <a:r>
              <a:rPr lang="en-GB"/>
              <a:t>Problem 1</a:t>
            </a:r>
            <a:endParaRPr/>
          </a:p>
        </p:txBody>
      </p:sp>
      <p:sp>
        <p:nvSpPr>
          <p:cNvPr id="55" name="Google Shape;55;p1"/>
          <p:cNvSpPr txBox="1"/>
          <p:nvPr>
            <p:ph idx="5" type="body"/>
          </p:nvPr>
        </p:nvSpPr>
        <p:spPr>
          <a:xfrm>
            <a:off x="2185988" y="1066800"/>
            <a:ext cx="1754100" cy="153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Top 3 features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Feature 1</a:t>
            </a:r>
            <a:endParaRPr/>
          </a:p>
          <a:p>
            <a:pPr indent="-6032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 txBox="1"/>
          <p:nvPr>
            <p:ph idx="6" type="body"/>
          </p:nvPr>
        </p:nvSpPr>
        <p:spPr>
          <a:xfrm>
            <a:off x="4067175" y="1066800"/>
            <a:ext cx="1754188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Single, clear and compelling message that states why you are different and worth buying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57" name="Google Shape;57;p1"/>
          <p:cNvSpPr txBox="1"/>
          <p:nvPr>
            <p:ph idx="7" type="body"/>
          </p:nvPr>
        </p:nvSpPr>
        <p:spPr>
          <a:xfrm>
            <a:off x="5948363" y="1055688"/>
            <a:ext cx="1754187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Can’t be easily copied or bought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58" name="Google Shape;58;p1"/>
          <p:cNvSpPr txBox="1"/>
          <p:nvPr>
            <p:ph idx="8" type="body"/>
          </p:nvPr>
        </p:nvSpPr>
        <p:spPr>
          <a:xfrm>
            <a:off x="7835900" y="1055688"/>
            <a:ext cx="1754188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Target Customers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</a:pPr>
            <a:r>
              <a:rPr lang="en-GB"/>
              <a:t>Segment 1</a:t>
            </a:r>
            <a:endParaRPr/>
          </a:p>
        </p:txBody>
      </p:sp>
      <p:sp>
        <p:nvSpPr>
          <p:cNvPr id="59" name="Google Shape;59;p1"/>
          <p:cNvSpPr txBox="1"/>
          <p:nvPr>
            <p:ph idx="13" type="body"/>
          </p:nvPr>
        </p:nvSpPr>
        <p:spPr>
          <a:xfrm>
            <a:off x="2197100" y="2965450"/>
            <a:ext cx="1754188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Key activities you measure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Metric 1</a:t>
            </a:r>
            <a:endParaRPr/>
          </a:p>
          <a:p>
            <a:pPr indent="-6032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 txBox="1"/>
          <p:nvPr>
            <p:ph idx="14" type="body"/>
          </p:nvPr>
        </p:nvSpPr>
        <p:spPr>
          <a:xfrm>
            <a:off x="4071938" y="2965450"/>
            <a:ext cx="1755775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/>
              <a:t>Write down, briefly and clearly, how you would </a:t>
            </a:r>
            <a:r>
              <a:rPr lang="en-GB"/>
              <a:t>describe</a:t>
            </a:r>
            <a:r>
              <a:rPr lang="en-GB"/>
              <a:t> this idea to your friends. (e.g. Uber for boats).</a:t>
            </a:r>
            <a:endParaRPr/>
          </a:p>
        </p:txBody>
      </p:sp>
      <p:sp>
        <p:nvSpPr>
          <p:cNvPr id="61" name="Google Shape;61;p1"/>
          <p:cNvSpPr txBox="1"/>
          <p:nvPr>
            <p:ph idx="15" type="body"/>
          </p:nvPr>
        </p:nvSpPr>
        <p:spPr>
          <a:xfrm>
            <a:off x="5951538" y="2965450"/>
            <a:ext cx="1754187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GB">
                <a:solidFill>
                  <a:srgbClr val="808080"/>
                </a:solidFill>
              </a:rPr>
              <a:t>Path to customers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Channel 1</a:t>
            </a:r>
            <a:endParaRPr/>
          </a:p>
          <a:p>
            <a:pPr indent="-6032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/>
          </a:p>
          <a:p>
            <a:pPr indent="-6032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 txBox="1"/>
          <p:nvPr>
            <p:ph idx="16" type="body"/>
          </p:nvPr>
        </p:nvSpPr>
        <p:spPr>
          <a:xfrm>
            <a:off x="7835900" y="2965450"/>
            <a:ext cx="1754188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List the characteristics of your ideal customers.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</a:pPr>
            <a:r>
              <a:rPr lang="en-GB"/>
              <a:t>Characteristic 1</a:t>
            </a:r>
            <a:endParaRPr/>
          </a:p>
        </p:txBody>
      </p:sp>
      <p:sp>
        <p:nvSpPr>
          <p:cNvPr id="63" name="Google Shape;63;p1"/>
          <p:cNvSpPr txBox="1"/>
          <p:nvPr>
            <p:ph idx="18" type="body"/>
          </p:nvPr>
        </p:nvSpPr>
        <p:spPr>
          <a:xfrm>
            <a:off x="5056188" y="4876800"/>
            <a:ext cx="45339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List your sources of revenue.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▪"/>
            </a:pPr>
            <a:r>
              <a:rPr lang="en-GB"/>
              <a:t>Revenue Model (separate one-time vs recurring and include pricing)</a:t>
            </a:r>
            <a:endParaRPr/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Life Time Value (LTV)</a:t>
            </a:r>
            <a:endParaRPr/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Gross Margin</a:t>
            </a:r>
            <a:endParaRPr/>
          </a:p>
        </p:txBody>
      </p:sp>
      <p:sp>
        <p:nvSpPr>
          <p:cNvPr id="64" name="Google Shape;64;p1"/>
          <p:cNvSpPr txBox="1"/>
          <p:nvPr>
            <p:ph idx="17" type="body"/>
          </p:nvPr>
        </p:nvSpPr>
        <p:spPr>
          <a:xfrm>
            <a:off x="309563" y="4876800"/>
            <a:ext cx="4560887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List your fixed and variable costs.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Customer acquisition costs</a:t>
            </a:r>
            <a:endParaRPr/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Distribution costs</a:t>
            </a:r>
            <a:endParaRPr/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Hosting</a:t>
            </a:r>
            <a:endParaRPr/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People</a:t>
            </a:r>
            <a:endParaRPr/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Etc.</a:t>
            </a:r>
            <a:endParaRPr/>
          </a:p>
        </p:txBody>
      </p:sp>
      <p:sp>
        <p:nvSpPr>
          <p:cNvPr id="65" name="Google Shape;65;p1"/>
          <p:cNvSpPr txBox="1"/>
          <p:nvPr>
            <p:ph idx="1" type="body"/>
          </p:nvPr>
        </p:nvSpPr>
        <p:spPr>
          <a:xfrm>
            <a:off x="4696022" y="381000"/>
            <a:ext cx="1403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Startup Name</a:t>
            </a:r>
            <a:endParaRPr/>
          </a:p>
        </p:txBody>
      </p:sp>
      <p:sp>
        <p:nvSpPr>
          <p:cNvPr id="66" name="Google Shape;66;p1"/>
          <p:cNvSpPr txBox="1"/>
          <p:nvPr>
            <p:ph idx="2" type="body"/>
          </p:nvPr>
        </p:nvSpPr>
        <p:spPr>
          <a:xfrm>
            <a:off x="6432538" y="381000"/>
            <a:ext cx="1403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Name1, Name2, …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>
            <p:ph idx="3" type="body"/>
          </p:nvPr>
        </p:nvSpPr>
        <p:spPr>
          <a:xfrm>
            <a:off x="8493322" y="381000"/>
            <a:ext cx="11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DD/MM/YYYY</a:t>
            </a:r>
            <a:endParaRPr/>
          </a:p>
        </p:txBody>
      </p:sp>
      <p:sp>
        <p:nvSpPr>
          <p:cNvPr id="68" name="Google Shape;68;p1"/>
          <p:cNvSpPr txBox="1"/>
          <p:nvPr>
            <p:ph idx="9" type="body"/>
          </p:nvPr>
        </p:nvSpPr>
        <p:spPr>
          <a:xfrm>
            <a:off x="309563" y="2965450"/>
            <a:ext cx="1754187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GB">
                <a:solidFill>
                  <a:srgbClr val="808080"/>
                </a:solidFill>
              </a:rPr>
              <a:t>List how these problems are solved today (include internal).</a:t>
            </a:r>
            <a:endParaRPr>
              <a:solidFill>
                <a:srgbClr val="808080"/>
              </a:solidFill>
            </a:endParaRPr>
          </a:p>
          <a:p>
            <a:pPr indent="-11747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▪"/>
            </a:pPr>
            <a:r>
              <a:rPr lang="en-GB"/>
              <a:t>Alternative 1</a:t>
            </a:r>
            <a:endParaRPr/>
          </a:p>
          <a:p>
            <a:pPr indent="-60325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os Chronos">
      <a:dk1>
        <a:srgbClr val="444444"/>
      </a:dk1>
      <a:lt1>
        <a:srgbClr val="FFFFFF"/>
      </a:lt1>
      <a:dk2>
        <a:srgbClr val="222222"/>
      </a:dk2>
      <a:lt2>
        <a:srgbClr val="F3F3F3"/>
      </a:lt2>
      <a:accent1>
        <a:srgbClr val="669933"/>
      </a:accent1>
      <a:accent2>
        <a:srgbClr val="38BEEA"/>
      </a:accent2>
      <a:accent3>
        <a:srgbClr val="EA38C0"/>
      </a:accent3>
      <a:accent4>
        <a:srgbClr val="EABB38"/>
      </a:accent4>
      <a:accent5>
        <a:srgbClr val="788C92"/>
      </a:accent5>
      <a:accent6>
        <a:srgbClr val="EA6238"/>
      </a:accent6>
      <a:hlink>
        <a:srgbClr val="787828"/>
      </a:hlink>
      <a:folHlink>
        <a:srgbClr val="9AA2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2019-04-01T16:49:19Z</dcterms:created>
  <dc:creator>Serge Longiin</dc:creator>
</cp:coreProperties>
</file>