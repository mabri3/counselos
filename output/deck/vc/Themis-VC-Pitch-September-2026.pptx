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803a860098473c" /><Relationship Type="http://schemas.openxmlformats.org/officeDocument/2006/relationships/extended-properties" Target="/docProps/app.xml" Id="R64809ff432ac47c6" /><Relationship Type="http://schemas.openxmlformats.org/officeDocument/2006/relationships/officeDocument" Target="/ppt/presentation.xml" Id="Rf7e43aec6f3d4818" /></Relationships>
</file>

<file path=ppt/presentation.xml><?xml version="1.0" encoding="utf-8"?>
<p:presentation xmlns:p="http://schemas.openxmlformats.org/presentationml/2006/main">
  <p:sldMasterIdLst>
    <p:sldMasterId xmlns:r="http://schemas.openxmlformats.org/officeDocument/2006/relationships" id="2147483648" r:id="R0c5f6b1b05f64629"/>
  </p:sldMasterIdLst>
  <p:notesMasterIdLst>
    <p:notesMasterId xmlns:r="http://schemas.openxmlformats.org/officeDocument/2006/relationships" r:id="Rc34cb148314a403d"/>
  </p:notesMasterIdLst>
  <p:sldIdLst>
    <p:sldId xmlns:r="http://schemas.openxmlformats.org/officeDocument/2006/relationships" id="256" r:id="Rd999daf56a604797"/>
    <p:sldId xmlns:r="http://schemas.openxmlformats.org/officeDocument/2006/relationships" id="257" r:id="R1e1d75eddb6d48f0"/>
    <p:sldId xmlns:r="http://schemas.openxmlformats.org/officeDocument/2006/relationships" id="258" r:id="R82c794a0a9804bcb"/>
    <p:sldId xmlns:r="http://schemas.openxmlformats.org/officeDocument/2006/relationships" id="259" r:id="R3eab44b9a4a34311"/>
    <p:sldId xmlns:r="http://schemas.openxmlformats.org/officeDocument/2006/relationships" id="260" r:id="R5b2e20b2ef11484b"/>
    <p:sldId xmlns:r="http://schemas.openxmlformats.org/officeDocument/2006/relationships" id="261" r:id="Refbf5c80e4a54690"/>
    <p:sldId xmlns:r="http://schemas.openxmlformats.org/officeDocument/2006/relationships" id="262" r:id="R6f9a4077a8ad4a26"/>
    <p:sldId xmlns:r="http://schemas.openxmlformats.org/officeDocument/2006/relationships" id="263" r:id="R0c7edf4fdd3a4b2c"/>
    <p:sldId xmlns:r="http://schemas.openxmlformats.org/officeDocument/2006/relationships" id="264" r:id="Rea0a3fefc3f8400a"/>
    <p:sldId xmlns:r="http://schemas.openxmlformats.org/officeDocument/2006/relationships" id="265" r:id="Re1c20c2cd9da4094"/>
    <p:sldId xmlns:r="http://schemas.openxmlformats.org/officeDocument/2006/relationships" id="266" r:id="Rb6e489373df04c20"/>
    <p:sldId xmlns:r="http://schemas.openxmlformats.org/officeDocument/2006/relationships" id="267" r:id="R01c1c3e1ed114cea"/>
    <p:sldId xmlns:r="http://schemas.openxmlformats.org/officeDocument/2006/relationships" id="268" r:id="Rb49d6a4f8a614566"/>
    <p:sldId xmlns:r="http://schemas.openxmlformats.org/officeDocument/2006/relationships" id="269" r:id="Rf471be9dedea48bf"/>
    <p:sldId xmlns:r="http://schemas.openxmlformats.org/officeDocument/2006/relationships" id="270" r:id="Ra94e278594af4d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9779916c604a20" /><Relationship Type="http://schemas.openxmlformats.org/officeDocument/2006/relationships/slideMaster" Target="/ppt/slideMasters/slideMaster1.xml" Id="R0c5f6b1b05f64629" /><Relationship Type="http://schemas.openxmlformats.org/officeDocument/2006/relationships/notesMaster" Target="/ppt/notesMasters/notesMaster1.xml" Id="Rc34cb148314a403d" /><Relationship Type="http://schemas.openxmlformats.org/officeDocument/2006/relationships/presProps" Target="/ppt/presProps.xml" Id="R7fde9335defd49f2" /><Relationship Type="http://schemas.openxmlformats.org/officeDocument/2006/relationships/tableStyles" Target="/ppt/tableStyles.xml" Id="Rc615687879f94eb9" /><Relationship Type="http://schemas.openxmlformats.org/officeDocument/2006/relationships/slide" Target="/ppt/slides/slide1.xml" Id="Rd999daf56a604797" /><Relationship Type="http://schemas.openxmlformats.org/officeDocument/2006/relationships/slide" Target="/ppt/slides/slide2.xml" Id="R1e1d75eddb6d48f0" /><Relationship Type="http://schemas.openxmlformats.org/officeDocument/2006/relationships/slide" Target="/ppt/slides/slide3.xml" Id="R82c794a0a9804bcb" /><Relationship Type="http://schemas.openxmlformats.org/officeDocument/2006/relationships/slide" Target="/ppt/slides/slide4.xml" Id="R3eab44b9a4a34311" /><Relationship Type="http://schemas.openxmlformats.org/officeDocument/2006/relationships/slide" Target="/ppt/slides/slide5.xml" Id="R5b2e20b2ef11484b" /><Relationship Type="http://schemas.openxmlformats.org/officeDocument/2006/relationships/slide" Target="/ppt/slides/slide6.xml" Id="Refbf5c80e4a54690" /><Relationship Type="http://schemas.openxmlformats.org/officeDocument/2006/relationships/slide" Target="/ppt/slides/slide7.xml" Id="R6f9a4077a8ad4a26" /><Relationship Type="http://schemas.openxmlformats.org/officeDocument/2006/relationships/slide" Target="/ppt/slides/slide8.xml" Id="R0c7edf4fdd3a4b2c" /><Relationship Type="http://schemas.openxmlformats.org/officeDocument/2006/relationships/slide" Target="/ppt/slides/slide9.xml" Id="Rea0a3fefc3f8400a" /><Relationship Type="http://schemas.openxmlformats.org/officeDocument/2006/relationships/slide" Target="/ppt/slides/slide10.xml" Id="Re1c20c2cd9da4094" /><Relationship Type="http://schemas.openxmlformats.org/officeDocument/2006/relationships/slide" Target="/ppt/slides/slide11.xml" Id="Rb6e489373df04c20" /><Relationship Type="http://schemas.openxmlformats.org/officeDocument/2006/relationships/slide" Target="/ppt/slides/slide12.xml" Id="R01c1c3e1ed114cea" /><Relationship Type="http://schemas.openxmlformats.org/officeDocument/2006/relationships/slide" Target="/ppt/slides/slide13.xml" Id="Rb49d6a4f8a614566" /><Relationship Type="http://schemas.openxmlformats.org/officeDocument/2006/relationships/slide" Target="/ppt/slides/slide14.xml" Id="Rf471be9dedea48bf" /><Relationship Type="http://schemas.openxmlformats.org/officeDocument/2006/relationships/slide" Target="/ppt/slides/slide15.xml" Id="Ra94e278594af4d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075a38094346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c052341ec14aec" /><Relationship Type="http://schemas.openxmlformats.org/officeDocument/2006/relationships/notesMaster" Target="/ppt/notesMasters/notesMaster1.xml" Id="R4a668765a4124e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e8f0ca84b04aa6" /><Relationship Type="http://schemas.openxmlformats.org/officeDocument/2006/relationships/notesMaster" Target="/ppt/notesMasters/notesMaster1.xml" Id="Ra2bdc0a04bca41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69a835007d4e9e" /><Relationship Type="http://schemas.openxmlformats.org/officeDocument/2006/relationships/notesMaster" Target="/ppt/notesMasters/notesMaster1.xml" Id="R2d5d4c524eaa47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a416613f61439f" /><Relationship Type="http://schemas.openxmlformats.org/officeDocument/2006/relationships/notesMaster" Target="/ppt/notesMasters/notesMaster1.xml" Id="Rf25755320f424d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81932b8eb64ee9" /><Relationship Type="http://schemas.openxmlformats.org/officeDocument/2006/relationships/notesMaster" Target="/ppt/notesMasters/notesMaster1.xml" Id="Rc2fad11e610a48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5984947d1c44c7" /><Relationship Type="http://schemas.openxmlformats.org/officeDocument/2006/relationships/notesMaster" Target="/ppt/notesMasters/notesMaster1.xml" Id="Rf5722d413ebf48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c19c5eb6e84bb8" /><Relationship Type="http://schemas.openxmlformats.org/officeDocument/2006/relationships/notesMaster" Target="/ppt/notesMasters/notesMaster1.xml" Id="R75528e3861d74f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718d0b0dcb4a92" /><Relationship Type="http://schemas.openxmlformats.org/officeDocument/2006/relationships/notesMaster" Target="/ppt/notesMasters/notesMaster1.xml" Id="R19ae58e63a9a41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9e19648a484093" /><Relationship Type="http://schemas.openxmlformats.org/officeDocument/2006/relationships/notesMaster" Target="/ppt/notesMasters/notesMaster1.xml" Id="R32bf5261673241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2d9914e01d4502" /><Relationship Type="http://schemas.openxmlformats.org/officeDocument/2006/relationships/notesMaster" Target="/ppt/notesMasters/notesMaster1.xml" Id="R624f8de1a09749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51c89e49a242a7" /><Relationship Type="http://schemas.openxmlformats.org/officeDocument/2006/relationships/notesMaster" Target="/ppt/notesMasters/notesMaster1.xml" Id="Rbe61b5a9e1da40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1da0da66d44c85" /><Relationship Type="http://schemas.openxmlformats.org/officeDocument/2006/relationships/notesMaster" Target="/ppt/notesMasters/notesMaster1.xml" Id="R51e5052776384a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82dbd367754c6b" /><Relationship Type="http://schemas.openxmlformats.org/officeDocument/2006/relationships/notesMaster" Target="/ppt/notesMasters/notesMaster1.xml" Id="R9d4af68f65f549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96661f7af44f05" /><Relationship Type="http://schemas.openxmlformats.org/officeDocument/2006/relationships/notesMaster" Target="/ppt/notesMasters/notesMaster1.xml" Id="Rbdfe4a87bf9b42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0158d5340840bc" /><Relationship Type="http://schemas.openxmlformats.org/officeDocument/2006/relationships/notesMaster" Target="/ppt/notesMasters/notesMaster1.xml" Id="R3dedd4de8f0744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Artwork: existing project asset cover-flashlight-bw.png.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Founder observation from 17 years of legal work and direct use of AI tools. Not a measured customer time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Intended complete experience. The local prototype already supports matter records, research, drafting, and decisions. The visual issue map and hypothetical comparison are proposed next work. Brand Essence follows the user’s exact supplied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User-approved headline and all five comparison rows preserved. Scale is a capacity thesis, not measured throughput. The lawyer also brings intelligence. Themis uses the context the lawyer supplies.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THEMIS THESIS / 08 slide. All six principle headings are verbatim. Descriptions on this slide are short summaries. The complete original slide appears in the appendix. These are behavioral requirements, not a guarantee of legal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Business hypothesis. Stored files alone are not a moat. Pricing, willingness to pay, market size, and acquisition economics remain unvalidated. No claim that alternatives lack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interview in this task and Brian Resume 01_21_26.docx (1).pdf, supplied January 2026 résumé. Seventeen years is founder-reported; résumé states 15+. Roles describe experience, not employer endorsement. Current employment is not inferred from the résumé. The capacity statement summarizes the founder’s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September 2, 2026 project screenshot output/deck/screenshots/matter.png, repository implementation, and brand_pitch.md. Screenshot is historical prototype evidence, not a live customer. Current review could not reach the local backend. Pilot participation, dates, access setup, and performance are not confirmed. Pilot measures: total lawyer effort, source correctness, useful issue discovery, and return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Investment amount, instrument, runway, founder salary budget, hiring sequence, and dates remain open. Founder salary is included in intended founder runway. CTO and business leadership roles are open, not appointed. This is an early investment discussion, not a representation of committed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Original user-supplied brand slide retained unchanged, including all wording and the investor implication. Its text is source material, not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User-approved alternative headlines from brand_pitch.md. Appendix discussion options. Slide 6 retains the accepted current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0302fa53c84c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765b5ad39d4e1d" /><Relationship Type="http://schemas.openxmlformats.org/officeDocument/2006/relationships/slideLayout" Target="/ppt/slideLayouts/slideLayout1.xml" Id="Rd4bb255f10934e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bb255f10934e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dc9c114db54101" /><Relationship Type="http://schemas.openxmlformats.org/officeDocument/2006/relationships/image" Target="/ppt/media/image.png" Id="Rf7843e15fcea4214" /><Relationship Type="http://schemas.openxmlformats.org/officeDocument/2006/relationships/notesSlide" Target="/ppt/notesSlides/notesSlide1.xml" Id="Rf48206a2adc443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6c8da10d2147df" /><Relationship Type="http://schemas.openxmlformats.org/officeDocument/2006/relationships/notesSlide" Target="/ppt/notesSlides/notesSlide2.xml" Id="R16c6c2a5501647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62f9c869f34835" /><Relationship Type="http://schemas.openxmlformats.org/officeDocument/2006/relationships/notesSlide" Target="/ppt/notesSlides/notesSlide3.xml" Id="Rceb163f3864e45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2ad3c1f05d4ab4" /><Relationship Type="http://schemas.openxmlformats.org/officeDocument/2006/relationships/notesSlide" Target="/ppt/notesSlides/notesSlide4.xml" Id="Rc4bd389c260241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bdd6146b804d41" /><Relationship Type="http://schemas.openxmlformats.org/officeDocument/2006/relationships/notesSlide" Target="/ppt/notesSlides/notesSlide5.xml" Id="R876bc905f0f249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6a1fb3784f408f" /><Relationship Type="http://schemas.openxmlformats.org/officeDocument/2006/relationships/notesSlide" Target="/ppt/notesSlides/notesSlide6.xml" Id="R8c16be82dd7445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2149a095bb4be3" /><Relationship Type="http://schemas.openxmlformats.org/officeDocument/2006/relationships/notesSlide" Target="/ppt/notesSlides/notesSlide7.xml" Id="Rd26a42d7a7214b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0a31a4316c4825" /><Relationship Type="http://schemas.openxmlformats.org/officeDocument/2006/relationships/notesSlide" Target="/ppt/notesSlides/notesSlide8.xml" Id="Rec1a57a8fbbf45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7c8bd67a454431" /><Relationship Type="http://schemas.openxmlformats.org/officeDocument/2006/relationships/notesSlide" Target="/ppt/notesSlides/notesSlide9.xml" Id="Rd18b4f83e6884a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f25d40265874d2b" /><Relationship Type="http://schemas.openxmlformats.org/officeDocument/2006/relationships/notesSlide" Target="/ppt/notesSlides/notesSlide10.xml" Id="Rf0e407d38ea547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7504aa8461947e9" /><Relationship Type="http://schemas.openxmlformats.org/officeDocument/2006/relationships/notesSlide" Target="/ppt/notesSlides/notesSlide11.xml" Id="R39d5d1d5ffd143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bdd301ac1745a6" /><Relationship Type="http://schemas.openxmlformats.org/officeDocument/2006/relationships/image" Target="/ppt/media/image2.png" Id="R20db489c1ecb4b5b" /><Relationship Type="http://schemas.openxmlformats.org/officeDocument/2006/relationships/notesSlide" Target="/ppt/notesSlides/notesSlide12.xml" Id="Rcd5ff298d5934e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301961f12f4581" /><Relationship Type="http://schemas.openxmlformats.org/officeDocument/2006/relationships/notesSlide" Target="/ppt/notesSlides/notesSlide13.xml" Id="R44a4999c779848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aa50274fd74015" /><Relationship Type="http://schemas.openxmlformats.org/officeDocument/2006/relationships/image" Target="/ppt/media/image3.png" Id="R73ceb32fcb9849f8" /><Relationship Type="http://schemas.openxmlformats.org/officeDocument/2006/relationships/notesSlide" Target="/ppt/notesSlides/notesSlide14.xml" Id="Rd41abfe1f9f54f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9e99b473d9944c2" /><Relationship Type="http://schemas.openxmlformats.org/officeDocument/2006/relationships/notesSlide" Target="/ppt/notesSlides/notesSlide15.xml" Id="R2194a688fee0427c"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7843e15fcea421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520059-47DE-4B76-B7CA-4F30273E14B0}"/>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2D4EFB89-AB9A-48F4-BA0F-5DABAB3A8202}"/>
              </a:ext>
            </a:extLst>
          </p:cNvPr>
          <p:cNvSpPr>
            <a:spLocks xmlns:a="http://schemas.openxmlformats.org/drawingml/2006/main" noGrp="1"/>
          </p:cNvSpPr>
          <p:nvPr/>
        </p:nvSpPr>
        <p:spPr>
          <a:xfrm xmlns:a="http://schemas.openxmlformats.org/drawingml/2006/main">
            <a:off x="609600" y="523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1">
                <a:solidFill>
                  <a:srgbClr val="FAF8F2"/>
                </a:solidFill>
                <a:latin typeface="Arial"/>
                <a:ea typeface="Arial"/>
                <a:cs typeface="Arial"/>
              </a:defRPr>
            </a:pPr>
            <a:r>
              <a:rPr sz="2325"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9AAB23B-09E7-40A6-94BC-2C7D3FA34096}"/>
              </a:ext>
            </a:extLst>
          </p:cNvPr>
          <p:cNvSpPr>
            <a:spLocks xmlns:a="http://schemas.openxmlformats.org/drawingml/2006/main" noGrp="1"/>
          </p:cNvSpPr>
          <p:nvPr/>
        </p:nvSpPr>
        <p:spPr>
          <a:xfrm xmlns:a="http://schemas.openxmlformats.org/drawingml/2006/main">
            <a:off x="609600" y="1809750"/>
            <a:ext cx="6381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More capacity for</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the work only the</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lawyer can do.</a:t>
            </a:r>
          </a:p>
        </p:txBody>
      </p:sp>
      <p:sp>
        <p:nvSpPr>
          <p:cNvPr id="5" name="">
            <a:extLst xmlns:a="http://schemas.openxmlformats.org/drawingml/2006/main">
              <a:ext uri="{FF2B5EF4-FFF2-40B4-BE49-F238E27FC236}">
                <a16:creationId xmlns:a16="http://schemas.microsoft.com/office/drawing/2014/main" id="{C8BE2B77-4121-4678-A52D-4034BB4ADE4F}"/>
              </a:ext>
            </a:extLst>
          </p:cNvPr>
          <p:cNvSpPr>
            <a:spLocks xmlns:a="http://schemas.openxmlformats.org/drawingml/2006/main" noGrp="1"/>
          </p:cNvSpPr>
          <p:nvPr/>
        </p:nvSpPr>
        <p:spPr>
          <a:xfrm xmlns:a="http://schemas.openxmlformats.org/drawingml/2006/main">
            <a:off x="647700" y="4876800"/>
            <a:ext cx="5667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DBE1EB"/>
                </a:solidFill>
                <a:latin typeface="Arial"/>
                <a:ea typeface="Arial"/>
                <a:cs typeface="Arial"/>
              </a:defRPr>
            </a:pPr>
            <a:r>
              <a:rPr sz="2025" b="0">
                <a:solidFill>
                  <a:srgbClr val="DBE1EB"/>
                </a:solidFill>
                <a:latin typeface="Arial"/>
                <a:ea typeface="Arial"/>
                <a:cs typeface="Arial"/>
              </a:rPr>
              <a:t>A legal workspace for consequential</a:t>
            </a:r>
          </a:p>
          <a:p xmlns:a="http://schemas.openxmlformats.org/drawingml/2006/main">
            <a:pPr>
              <a:lnSpc>
                <a:spcPct val="110000"/>
              </a:lnSpc>
              <a:buNone/>
              <a:defRPr sz="2025" b="0">
                <a:solidFill>
                  <a:srgbClr val="DBE1EB"/>
                </a:solidFill>
                <a:latin typeface="Arial"/>
                <a:ea typeface="Arial"/>
                <a:cs typeface="Arial"/>
              </a:defRPr>
            </a:pPr>
            <a:r>
              <a:rPr sz="2025" b="0">
                <a:solidFill>
                  <a:srgbClr val="DBE1EB"/>
                </a:solidFill>
                <a:latin typeface="Arial"/>
                <a:ea typeface="Arial"/>
                <a:cs typeface="Arial"/>
              </a:rPr>
              <a:t>questions and small teams</a:t>
            </a:r>
          </a:p>
        </p:txBody>
      </p:sp>
      <p:sp>
        <p:nvSpPr>
          <p:cNvPr id="6" name="">
            <a:extLst xmlns:a="http://schemas.openxmlformats.org/drawingml/2006/main">
              <a:ext uri="{FF2B5EF4-FFF2-40B4-BE49-F238E27FC236}">
                <a16:creationId xmlns:a16="http://schemas.microsoft.com/office/drawing/2014/main" id="{826006F8-8224-4F5E-96CB-36CC185D05E6}"/>
              </a:ext>
            </a:extLst>
          </p:cNvPr>
          <p:cNvSpPr>
            <a:spLocks xmlns:a="http://schemas.openxmlformats.org/drawingml/2006/main" noGrp="1"/>
          </p:cNvSpPr>
          <p:nvPr/>
        </p:nvSpPr>
        <p:spPr>
          <a:xfrm xmlns:a="http://schemas.openxmlformats.org/drawingml/2006/main">
            <a:off x="647700" y="61531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DBE1EB"/>
                </a:solidFill>
                <a:latin typeface="Arial"/>
                <a:ea typeface="Arial"/>
                <a:cs typeface="Arial"/>
              </a:defRPr>
            </a:pPr>
            <a:r>
              <a:rPr sz="1350" b="0">
                <a:solidFill>
                  <a:srgbClr val="DBE1EB"/>
                </a:solidFill>
                <a:latin typeface="Arial"/>
                <a:ea typeface="Arial"/>
                <a:cs typeface="Arial"/>
              </a:rPr>
              <a:t>Brian Harris, Founder</a:t>
            </a:r>
          </a:p>
        </p:txBody>
      </p:sp>
    </p:spTree>
    <p:extLst>
      <p:ext uri="{BB962C8B-B14F-4D97-AF65-F5344CB8AC3E}">
        <p14:creationId xmlns:p14="http://schemas.microsoft.com/office/powerpoint/2010/main" val="1673566448"/>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8B3872-9E91-478D-83B9-853806A2C21C}"/>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CAPACITY PROBLEM</a:t>
            </a:r>
          </a:p>
        </p:txBody>
      </p:sp>
      <p:sp>
        <p:nvSpPr>
          <p:cNvPr id="2" name="">
            <a:extLst xmlns:a="http://schemas.openxmlformats.org/drawingml/2006/main">
              <a:ext uri="{FF2B5EF4-FFF2-40B4-BE49-F238E27FC236}">
                <a16:creationId xmlns:a16="http://schemas.microsoft.com/office/drawing/2014/main" id="{CE4BFDD7-F02C-496D-9AA9-39E156DBE897}"/>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Judgment is scarce. Preparation consumes it.</a:t>
            </a:r>
          </a:p>
        </p:txBody>
      </p:sp>
      <p:sp>
        <p:nvSpPr>
          <p:cNvPr id="3" name="">
            <a:extLst xmlns:a="http://schemas.openxmlformats.org/drawingml/2006/main">
              <a:ext uri="{FF2B5EF4-FFF2-40B4-BE49-F238E27FC236}">
                <a16:creationId xmlns:a16="http://schemas.microsoft.com/office/drawing/2014/main" id="{8F68E12C-EEE7-4649-AC3A-DB23F568CAA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C50AB75-165F-40D5-A172-12CA637607F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F91958F-3066-4099-95C8-5D8E370FFEC7}"/>
              </a:ext>
            </a:extLst>
          </p:cNvPr>
          <p:cNvSpPr>
            <a:spLocks xmlns:a="http://schemas.openxmlformats.org/drawingml/2006/main" noGrp="1"/>
          </p:cNvSpPr>
          <p:nvPr/>
        </p:nvSpPr>
        <p:spPr>
          <a:xfrm xmlns:a="http://schemas.openxmlformats.org/drawingml/2006/main">
            <a:off x="609600" y="23336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89242D6-1AFF-4DAE-AAB9-DFD69B456C9E}"/>
              </a:ext>
            </a:extLst>
          </p:cNvPr>
          <p:cNvSpPr>
            <a:spLocks xmlns:a="http://schemas.openxmlformats.org/drawingml/2006/main" noGrp="1"/>
          </p:cNvSpPr>
          <p:nvPr/>
        </p:nvSpPr>
        <p:spPr>
          <a:xfrm xmlns:a="http://schemas.openxmlformats.org/drawingml/2006/main">
            <a:off x="1181100" y="233362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Rebuild the context</a:t>
            </a:r>
          </a:p>
        </p:txBody>
      </p:sp>
      <p:sp>
        <p:nvSpPr>
          <p:cNvPr id="7" name="">
            <a:extLst xmlns:a="http://schemas.openxmlformats.org/drawingml/2006/main">
              <a:ext uri="{FF2B5EF4-FFF2-40B4-BE49-F238E27FC236}">
                <a16:creationId xmlns:a16="http://schemas.microsoft.com/office/drawing/2014/main" id="{59A5EA0F-3AB4-4728-9FB6-9DDE973AA425}"/>
              </a:ext>
            </a:extLst>
          </p:cNvPr>
          <p:cNvSpPr>
            <a:spLocks xmlns:a="http://schemas.openxmlformats.org/drawingml/2006/main" noGrp="1"/>
          </p:cNvSpPr>
          <p:nvPr/>
        </p:nvSpPr>
        <p:spPr>
          <a:xfrm xmlns:a="http://schemas.openxmlformats.org/drawingml/2006/main">
            <a:off x="1181100" y="2838450"/>
            <a:ext cx="452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Collect documents, explain the business, and reconstruct what happened.</a:t>
            </a:r>
          </a:p>
        </p:txBody>
      </p:sp>
      <p:sp>
        <p:nvSpPr>
          <p:cNvPr id="8" name="">
            <a:extLst xmlns:a="http://schemas.openxmlformats.org/drawingml/2006/main">
              <a:ext uri="{FF2B5EF4-FFF2-40B4-BE49-F238E27FC236}">
                <a16:creationId xmlns:a16="http://schemas.microsoft.com/office/drawing/2014/main" id="{8D688E42-5F0F-4819-9391-D11445B330F9}"/>
              </a:ext>
            </a:extLst>
          </p:cNvPr>
          <p:cNvSpPr>
            <a:spLocks xmlns:a="http://schemas.openxmlformats.org/drawingml/2006/main" noGrp="1"/>
          </p:cNvSpPr>
          <p:nvPr/>
        </p:nvSpPr>
        <p:spPr>
          <a:xfrm xmlns:a="http://schemas.openxmlformats.org/drawingml/2006/main">
            <a:off x="6381750" y="23336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11522CD-22BA-428C-ACF4-C723A14D867D}"/>
              </a:ext>
            </a:extLst>
          </p:cNvPr>
          <p:cNvSpPr>
            <a:spLocks xmlns:a="http://schemas.openxmlformats.org/drawingml/2006/main" noGrp="1"/>
          </p:cNvSpPr>
          <p:nvPr/>
        </p:nvSpPr>
        <p:spPr>
          <a:xfrm xmlns:a="http://schemas.openxmlformats.org/drawingml/2006/main">
            <a:off x="6953250" y="233362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Challenge the answer</a:t>
            </a:r>
          </a:p>
        </p:txBody>
      </p:sp>
      <p:sp>
        <p:nvSpPr>
          <p:cNvPr id="10" name="">
            <a:extLst xmlns:a="http://schemas.openxmlformats.org/drawingml/2006/main">
              <a:ext uri="{FF2B5EF4-FFF2-40B4-BE49-F238E27FC236}">
                <a16:creationId xmlns:a16="http://schemas.microsoft.com/office/drawing/2014/main" id="{C3BD7E9A-FCBB-447F-BAA4-68E11D2F19AA}"/>
              </a:ext>
            </a:extLst>
          </p:cNvPr>
          <p:cNvSpPr>
            <a:spLocks xmlns:a="http://schemas.openxmlformats.org/drawingml/2006/main" noGrp="1"/>
          </p:cNvSpPr>
          <p:nvPr/>
        </p:nvSpPr>
        <p:spPr>
          <a:xfrm xmlns:a="http://schemas.openxmlformats.org/drawingml/2006/main">
            <a:off x="6953250" y="2838450"/>
            <a:ext cx="452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Find hidden assumptions. Check sources. Correct unwarranted certainty.</a:t>
            </a:r>
          </a:p>
        </p:txBody>
      </p:sp>
      <p:sp>
        <p:nvSpPr>
          <p:cNvPr id="11" name="">
            <a:extLst xmlns:a="http://schemas.openxmlformats.org/drawingml/2006/main">
              <a:ext uri="{FF2B5EF4-FFF2-40B4-BE49-F238E27FC236}">
                <a16:creationId xmlns:a16="http://schemas.microsoft.com/office/drawing/2014/main" id="{C89A8166-4A61-475D-AE37-40D8E76D41A5}"/>
              </a:ext>
            </a:extLst>
          </p:cNvPr>
          <p:cNvSpPr>
            <a:spLocks xmlns:a="http://schemas.openxmlformats.org/drawingml/2006/main" noGrp="1"/>
          </p:cNvSpPr>
          <p:nvPr/>
        </p:nvSpPr>
        <p:spPr>
          <a:xfrm xmlns:a="http://schemas.openxmlformats.org/drawingml/2006/main">
            <a:off x="1181100" y="47053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0">
                <a:solidFill>
                  <a:srgbClr val="17243E"/>
                </a:solidFill>
                <a:latin typeface="Georgia"/>
                <a:ea typeface="Georgia"/>
                <a:cs typeface="Georgia"/>
              </a:defRPr>
            </a:pPr>
            <a:r>
              <a:rPr sz="2850" b="0">
                <a:solidFill>
                  <a:srgbClr val="17243E"/>
                </a:solidFill>
                <a:latin typeface="Georgia"/>
                <a:ea typeface="Georgia"/>
                <a:cs typeface="Georgia"/>
              </a:rPr>
              <a:t>A fast answer can still leave the lawyer with most of the work.</a:t>
            </a:r>
          </a:p>
        </p:txBody>
      </p:sp>
    </p:spTree>
    <p:extLst>
      <p:ext uri="{BB962C8B-B14F-4D97-AF65-F5344CB8AC3E}">
        <p14:creationId xmlns:p14="http://schemas.microsoft.com/office/powerpoint/2010/main" val="315966737"/>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D0E90D-DCB5-4008-BA3E-105BAC59BBC9}"/>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THE INSIGHT</a:t>
            </a:r>
          </a:p>
        </p:txBody>
      </p:sp>
      <p:sp>
        <p:nvSpPr>
          <p:cNvPr id="2" name="">
            <a:extLst xmlns:a="http://schemas.openxmlformats.org/drawingml/2006/main">
              <a:ext uri="{FF2B5EF4-FFF2-40B4-BE49-F238E27FC236}">
                <a16:creationId xmlns:a16="http://schemas.microsoft.com/office/drawing/2014/main" id="{6D174B70-F85A-4E3A-B376-C872C75AFE87}"/>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The lawyer needs to know</a:t>
            </a:r>
          </a:p>
          <a:p xmlns:a="http://schemas.openxmlformats.org/drawingml/2006/main">
            <a:pPr>
              <a:lnSpc>
                <a:spcPct val="110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what the answer depends on.</a:t>
            </a:r>
          </a:p>
        </p:txBody>
      </p:sp>
      <p:sp>
        <p:nvSpPr>
          <p:cNvPr id="3" name="">
            <a:extLst xmlns:a="http://schemas.openxmlformats.org/drawingml/2006/main">
              <a:ext uri="{FF2B5EF4-FFF2-40B4-BE49-F238E27FC236}">
                <a16:creationId xmlns:a16="http://schemas.microsoft.com/office/drawing/2014/main" id="{98BA0274-5F80-4836-9614-9B29AE63A980}"/>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2DBDFCD-8EC3-4EE2-8118-8A5DAD5C2D7A}"/>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9F67ED5-F84E-4331-8B2B-DA06589A67D4}"/>
              </a:ext>
            </a:extLst>
          </p:cNvPr>
          <p:cNvSpPr>
            <a:spLocks xmlns:a="http://schemas.openxmlformats.org/drawingml/2006/main" noGrp="1"/>
          </p:cNvSpPr>
          <p:nvPr/>
        </p:nvSpPr>
        <p:spPr>
          <a:xfrm xmlns:a="http://schemas.openxmlformats.org/drawingml/2006/main">
            <a:off x="609600" y="24669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1">
                <a:solidFill>
                  <a:srgbClr val="D8B66A"/>
                </a:solidFill>
                <a:latin typeface="Arial"/>
                <a:ea typeface="Arial"/>
                <a:cs typeface="Arial"/>
              </a:defRPr>
            </a:pPr>
            <a:r>
              <a:rPr sz="1500" b="1">
                <a:solidFill>
                  <a:srgbClr val="D8B66A"/>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63CC09B0-D727-4DEB-B6C3-63B4869737BE}"/>
              </a:ext>
            </a:extLst>
          </p:cNvPr>
          <p:cNvSpPr>
            <a:spLocks xmlns:a="http://schemas.openxmlformats.org/drawingml/2006/main" noGrp="1"/>
          </p:cNvSpPr>
          <p:nvPr/>
        </p:nvSpPr>
        <p:spPr>
          <a:xfrm xmlns:a="http://schemas.openxmlformats.org/drawingml/2006/main">
            <a:off x="609600" y="2981325"/>
            <a:ext cx="4191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75" b="0">
                <a:solidFill>
                  <a:srgbClr val="FAF8F2"/>
                </a:solidFill>
                <a:latin typeface="Georgia"/>
                <a:ea typeface="Georgia"/>
                <a:cs typeface="Georgia"/>
              </a:defRPr>
            </a:pPr>
            <a:r>
              <a:rPr sz="3675" b="0">
                <a:solidFill>
                  <a:srgbClr val="FAF8F2"/>
                </a:solidFill>
                <a:latin typeface="Georgia"/>
                <a:ea typeface="Georgia"/>
                <a:cs typeface="Georgia"/>
              </a:rPr>
              <a:t>“Can we do this?”</a:t>
            </a:r>
          </a:p>
        </p:txBody>
      </p:sp>
      <p:sp>
        <p:nvSpPr>
          <p:cNvPr id="7" name="">
            <a:extLst xmlns:a="http://schemas.openxmlformats.org/drawingml/2006/main">
              <a:ext uri="{FF2B5EF4-FFF2-40B4-BE49-F238E27FC236}">
                <a16:creationId xmlns:a16="http://schemas.microsoft.com/office/drawing/2014/main" id="{BE8255F6-6A6C-4942-B087-CEB5C60780EC}"/>
              </a:ext>
            </a:extLst>
          </p:cNvPr>
          <p:cNvSpPr>
            <a:spLocks xmlns:a="http://schemas.openxmlformats.org/drawingml/2006/main" noGrp="1"/>
          </p:cNvSpPr>
          <p:nvPr/>
        </p:nvSpPr>
        <p:spPr>
          <a:xfrm xmlns:a="http://schemas.openxmlformats.org/drawingml/2006/main">
            <a:off x="5810250" y="24669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1">
                <a:solidFill>
                  <a:srgbClr val="D8B66A"/>
                </a:solidFill>
                <a:latin typeface="Arial"/>
                <a:ea typeface="Arial"/>
                <a:cs typeface="Arial"/>
              </a:defRPr>
            </a:pPr>
            <a:r>
              <a:rPr sz="1500" b="1">
                <a:solidFill>
                  <a:srgbClr val="D8B66A"/>
                </a:solidFill>
                <a:latin typeface="Arial"/>
                <a:ea typeface="Arial"/>
                <a:cs typeface="Arial"/>
              </a:rPr>
              <a:t>The work behind it</a:t>
            </a:r>
          </a:p>
        </p:txBody>
      </p:sp>
      <p:sp>
        <p:nvSpPr>
          <p:cNvPr id="8" name="">
            <a:extLst xmlns:a="http://schemas.openxmlformats.org/drawingml/2006/main">
              <a:ext uri="{FF2B5EF4-FFF2-40B4-BE49-F238E27FC236}">
                <a16:creationId xmlns:a16="http://schemas.microsoft.com/office/drawing/2014/main" id="{6B3E629B-ED67-4837-A899-8CFFF534A2AF}"/>
              </a:ext>
            </a:extLst>
          </p:cNvPr>
          <p:cNvSpPr>
            <a:spLocks xmlns:a="http://schemas.openxmlformats.org/drawingml/2006/main" noGrp="1"/>
          </p:cNvSpPr>
          <p:nvPr/>
        </p:nvSpPr>
        <p:spPr>
          <a:xfrm xmlns:a="http://schemas.openxmlformats.org/drawingml/2006/main">
            <a:off x="5810250" y="3019425"/>
            <a:ext cx="5667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Which facts matter?</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Which assumptions carry the answer?</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What changes if a fact is wrong?</a:t>
            </a:r>
          </a:p>
          <a:p xmlns:a="http://schemas.openxmlformats.org/drawingml/2006/main">
            <a:pPr>
              <a:lnSpc>
                <a:spcPct val="110000"/>
              </a:lnSpc>
              <a:buNone/>
              <a:defRPr sz="2250" b="0">
                <a:solidFill>
                  <a:srgbClr val="FAF8F2"/>
                </a:solidFill>
                <a:latin typeface="Arial"/>
                <a:ea typeface="Arial"/>
                <a:cs typeface="Arial"/>
              </a:defRPr>
            </a:pPr>
            <a:r>
              <a:rPr sz="2250" b="0">
                <a:solidFill>
                  <a:srgbClr val="FAF8F2"/>
                </a:solidFill>
                <a:latin typeface="Arial"/>
                <a:ea typeface="Arial"/>
                <a:cs typeface="Arial"/>
              </a:rPr>
              <a:t>What else is around the corner?</a:t>
            </a:r>
          </a:p>
        </p:txBody>
      </p:sp>
      <p:sp>
        <p:nvSpPr>
          <p:cNvPr id="9" name="">
            <a:extLst xmlns:a="http://schemas.openxmlformats.org/drawingml/2006/main">
              <a:ext uri="{FF2B5EF4-FFF2-40B4-BE49-F238E27FC236}">
                <a16:creationId xmlns:a16="http://schemas.microsoft.com/office/drawing/2014/main" id="{4C29BB19-C42D-4882-ABE7-3238DF9CACF6}"/>
              </a:ext>
            </a:extLst>
          </p:cNvPr>
          <p:cNvSpPr>
            <a:spLocks xmlns:a="http://schemas.openxmlformats.org/drawingml/2006/main" noGrp="1"/>
          </p:cNvSpPr>
          <p:nvPr/>
        </p:nvSpPr>
        <p:spPr>
          <a:xfrm xmlns:a="http://schemas.openxmlformats.org/drawingml/2006/main">
            <a:off x="609600" y="57721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DCE1EA"/>
                </a:solidFill>
                <a:latin typeface="Arial"/>
                <a:ea typeface="Arial"/>
                <a:cs typeface="Arial"/>
              </a:defRPr>
            </a:pPr>
            <a:r>
              <a:rPr sz="1800" b="0">
                <a:solidFill>
                  <a:srgbClr val="DCE1EA"/>
                </a:solidFill>
                <a:latin typeface="Arial"/>
                <a:ea typeface="Arial"/>
                <a:cs typeface="Arial"/>
              </a:rPr>
              <a:t>A useful answer includes enough of the surrounding legal terrain to act.</a:t>
            </a:r>
          </a:p>
        </p:txBody>
      </p:sp>
    </p:spTree>
    <p:extLst>
      <p:ext uri="{BB962C8B-B14F-4D97-AF65-F5344CB8AC3E}">
        <p14:creationId xmlns:p14="http://schemas.microsoft.com/office/powerpoint/2010/main" val="1893668098"/>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4A089D-865D-407B-8257-447A1CD1C703}"/>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E4B1CDAE-B331-4A3B-B09C-9B0ED6D310FD}"/>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Model capability creates an opening.</a:t>
            </a:r>
          </a:p>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legal work needs a better fit.</a:t>
            </a:r>
          </a:p>
        </p:txBody>
      </p:sp>
      <p:sp>
        <p:nvSpPr>
          <p:cNvPr id="3" name="">
            <a:extLst xmlns:a="http://schemas.openxmlformats.org/drawingml/2006/main">
              <a:ext uri="{FF2B5EF4-FFF2-40B4-BE49-F238E27FC236}">
                <a16:creationId xmlns:a16="http://schemas.microsoft.com/office/drawing/2014/main" id="{2247E13C-F13E-4074-9961-CD83773029D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33ACDF4-A6A6-4E6F-B157-65611164DE8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08243F8-5BE5-485E-AAFC-8F75B77D1E72}"/>
              </a:ext>
            </a:extLst>
          </p:cNvPr>
          <p:cNvSpPr>
            <a:spLocks xmlns:a="http://schemas.openxmlformats.org/drawingml/2006/main" noGrp="1"/>
          </p:cNvSpPr>
          <p:nvPr/>
        </p:nvSpPr>
        <p:spPr>
          <a:xfrm xmlns:a="http://schemas.openxmlformats.org/drawingml/2006/main">
            <a:off x="609600" y="2476500"/>
            <a:ext cx="4953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Brian began building Themis when AI became useful enough in his own work to take on substantial research and drafting.</a:t>
            </a:r>
          </a:p>
        </p:txBody>
      </p:sp>
      <p:sp>
        <p:nvSpPr>
          <p:cNvPr id="6" name="">
            <a:extLst xmlns:a="http://schemas.openxmlformats.org/drawingml/2006/main">
              <a:ext uri="{FF2B5EF4-FFF2-40B4-BE49-F238E27FC236}">
                <a16:creationId xmlns:a16="http://schemas.microsoft.com/office/drawing/2014/main" id="{97401366-0A14-4D07-BDD7-13779B21378E}"/>
              </a:ext>
            </a:extLst>
          </p:cNvPr>
          <p:cNvSpPr>
            <a:spLocks xmlns:a="http://schemas.openxmlformats.org/drawingml/2006/main" noGrp="1"/>
          </p:cNvSpPr>
          <p:nvPr/>
        </p:nvSpPr>
        <p:spPr>
          <a:xfrm xmlns:a="http://schemas.openxmlformats.org/drawingml/2006/main">
            <a:off x="6667500" y="24574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1">
                <a:solidFill>
                  <a:srgbClr val="4169A4"/>
                </a:solidFill>
                <a:latin typeface="Arial"/>
                <a:ea typeface="Arial"/>
                <a:cs typeface="Arial"/>
              </a:defRPr>
            </a:pPr>
            <a:r>
              <a:rPr sz="1725" b="1">
                <a:solidFill>
                  <a:srgbClr val="4169A4"/>
                </a:solidFill>
                <a:latin typeface="Arial"/>
                <a:ea typeface="Arial"/>
                <a:cs typeface="Arial"/>
              </a:rPr>
              <a:t>The remaining burden</a:t>
            </a:r>
          </a:p>
        </p:txBody>
      </p:sp>
      <p:sp>
        <p:nvSpPr>
          <p:cNvPr id="7" name="">
            <a:extLst xmlns:a="http://schemas.openxmlformats.org/drawingml/2006/main">
              <a:ext uri="{FF2B5EF4-FFF2-40B4-BE49-F238E27FC236}">
                <a16:creationId xmlns:a16="http://schemas.microsoft.com/office/drawing/2014/main" id="{EE174F71-C013-43FF-AF8C-3F9ACF2F18DC}"/>
              </a:ext>
            </a:extLst>
          </p:cNvPr>
          <p:cNvSpPr>
            <a:spLocks xmlns:a="http://schemas.openxmlformats.org/drawingml/2006/main" noGrp="1"/>
          </p:cNvSpPr>
          <p:nvPr/>
        </p:nvSpPr>
        <p:spPr>
          <a:xfrm xmlns:a="http://schemas.openxmlformats.org/drawingml/2006/main">
            <a:off x="6667500" y="3028950"/>
            <a:ext cx="4667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Repeated context-setting</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Steering the research</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Testing the assumptions</a:t>
            </a:r>
          </a:p>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Assembling a usable result</a:t>
            </a:r>
          </a:p>
        </p:txBody>
      </p:sp>
      <p:sp>
        <p:nvSpPr>
          <p:cNvPr id="8" name="">
            <a:extLst xmlns:a="http://schemas.openxmlformats.org/drawingml/2006/main">
              <a:ext uri="{FF2B5EF4-FFF2-40B4-BE49-F238E27FC236}">
                <a16:creationId xmlns:a16="http://schemas.microsoft.com/office/drawing/2014/main" id="{BED2CEC5-352D-4B9E-855D-39F5BCF4C5D6}"/>
              </a:ext>
            </a:extLst>
          </p:cNvPr>
          <p:cNvSpPr>
            <a:spLocks xmlns:a="http://schemas.openxmlformats.org/drawingml/2006/main" noGrp="1"/>
          </p:cNvSpPr>
          <p:nvPr/>
        </p:nvSpPr>
        <p:spPr>
          <a:xfrm xmlns:a="http://schemas.openxmlformats.org/drawingml/2006/main">
            <a:off x="609600" y="57245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17243E"/>
                </a:solidFill>
                <a:latin typeface="Arial"/>
                <a:ea typeface="Arial"/>
                <a:cs typeface="Arial"/>
              </a:defRPr>
            </a:pPr>
            <a:r>
              <a:rPr sz="1800" b="0">
                <a:solidFill>
                  <a:srgbClr val="17243E"/>
                </a:solidFill>
                <a:latin typeface="Arial"/>
                <a:ea typeface="Arial"/>
                <a:cs typeface="Arial"/>
              </a:rPr>
              <a:t>Founder thesis: better fit to legal work can turn capability into capacity.</a:t>
            </a:r>
          </a:p>
        </p:txBody>
      </p:sp>
    </p:spTree>
    <p:extLst>
      <p:ext uri="{BB962C8B-B14F-4D97-AF65-F5344CB8AC3E}">
        <p14:creationId xmlns:p14="http://schemas.microsoft.com/office/powerpoint/2010/main" val="202389724"/>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A5EDC5-C2DF-409F-95E5-9E799B19FF5B}"/>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3E663D0B-EE26-4655-B4DD-41904B74FCC4}"/>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Understand the issue quickly.</a:t>
            </a:r>
          </a:p>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Explore the parts that matter.</a:t>
            </a:r>
          </a:p>
        </p:txBody>
      </p:sp>
      <p:sp>
        <p:nvSpPr>
          <p:cNvPr id="3" name="">
            <a:extLst xmlns:a="http://schemas.openxmlformats.org/drawingml/2006/main">
              <a:ext uri="{FF2B5EF4-FFF2-40B4-BE49-F238E27FC236}">
                <a16:creationId xmlns:a16="http://schemas.microsoft.com/office/drawing/2014/main" id="{99A85EAF-124F-40CB-BE61-DC56796557FD}"/>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D3B8EC5-3534-4AAF-A413-D1CD4ED1422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BB91F41-72FB-4B02-9C9D-23963E74E570}"/>
              </a:ext>
            </a:extLst>
          </p:cNvPr>
          <p:cNvSpPr>
            <a:spLocks xmlns:a="http://schemas.openxmlformats.org/drawingml/2006/main" noGrp="1"/>
          </p:cNvSpPr>
          <p:nvPr/>
        </p:nvSpPr>
        <p:spPr>
          <a:xfrm xmlns:a="http://schemas.openxmlformats.org/drawingml/2006/main">
            <a:off x="609600" y="2390775"/>
            <a:ext cx="5048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17243E"/>
                </a:solidFill>
                <a:latin typeface="Georgia"/>
                <a:ea typeface="Georgia"/>
                <a:cs typeface="Georgia"/>
              </a:defRPr>
            </a:pPr>
            <a:r>
              <a:rPr sz="2175" b="0">
                <a:solidFill>
                  <a:srgbClr val="17243E"/>
                </a:solidFill>
                <a:latin typeface="Georgia"/>
                <a:ea typeface="Georgia"/>
                <a:cs typeface="Georgia"/>
              </a:rPr>
              <a:t>A matter-centered workspace that connects the business question with facts, research, work product, and recorded decisions.</a:t>
            </a:r>
          </a:p>
        </p:txBody>
      </p:sp>
      <p:sp>
        <p:nvSpPr>
          <p:cNvPr id="6" name="">
            <a:extLst xmlns:a="http://schemas.openxmlformats.org/drawingml/2006/main">
              <a:ext uri="{FF2B5EF4-FFF2-40B4-BE49-F238E27FC236}">
                <a16:creationId xmlns:a16="http://schemas.microsoft.com/office/drawing/2014/main" id="{73197190-2640-4E4D-9D7B-7813C1F8C3D7}"/>
              </a:ext>
            </a:extLst>
          </p:cNvPr>
          <p:cNvSpPr>
            <a:spLocks xmlns:a="http://schemas.openxmlformats.org/drawingml/2006/main" noGrp="1"/>
          </p:cNvSpPr>
          <p:nvPr/>
        </p:nvSpPr>
        <p:spPr>
          <a:xfrm xmlns:a="http://schemas.openxmlformats.org/drawingml/2006/main">
            <a:off x="6667500" y="239077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A concise, supported answer</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Visible assumptions and alternatives</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Room to expand the inquiry</a:t>
            </a:r>
          </a:p>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Context that carries forward</a:t>
            </a:r>
          </a:p>
        </p:txBody>
      </p:sp>
      <p:sp>
        <p:nvSpPr>
          <p:cNvPr id="7" name="">
            <a:extLst xmlns:a="http://schemas.openxmlformats.org/drawingml/2006/main">
              <a:ext uri="{FF2B5EF4-FFF2-40B4-BE49-F238E27FC236}">
                <a16:creationId xmlns:a16="http://schemas.microsoft.com/office/drawing/2014/main" id="{F54BC317-4D5A-477E-868B-0AEACC4B4FBA}"/>
              </a:ext>
            </a:extLst>
          </p:cNvPr>
          <p:cNvSpPr>
            <a:spLocks xmlns:a="http://schemas.openxmlformats.org/drawingml/2006/main" noGrp="1"/>
          </p:cNvSpPr>
          <p:nvPr/>
        </p:nvSpPr>
        <p:spPr>
          <a:xfrm xmlns:a="http://schemas.openxmlformats.org/drawingml/2006/main">
            <a:off x="609600" y="51054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625" b="0">
                <a:solidFill>
                  <a:srgbClr val="4169A4"/>
                </a:solidFill>
                <a:latin typeface="Georgia"/>
                <a:ea typeface="Georgia"/>
                <a:cs typeface="Georgia"/>
              </a:defRPr>
            </a:pPr>
            <a:r>
              <a:rPr sz="2625" b="0">
                <a:solidFill>
                  <a:srgbClr val="4169A4"/>
                </a:solidFill>
                <a:latin typeface="Georgia"/>
                <a:ea typeface="Georgia"/>
                <a:cs typeface="Georgia"/>
              </a:rPr>
              <a:t>Themis helps lawyers feel clear, capable, and supported when the judgment matters most.</a:t>
            </a:r>
          </a:p>
        </p:txBody>
      </p:sp>
    </p:spTree>
    <p:extLst>
      <p:ext uri="{BB962C8B-B14F-4D97-AF65-F5344CB8AC3E}">
        <p14:creationId xmlns:p14="http://schemas.microsoft.com/office/powerpoint/2010/main" val="339530705"/>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2C30FF-91D2-407E-B89B-8F670D3AF7DC}"/>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DIVISION OF LABOR</a:t>
            </a:r>
          </a:p>
        </p:txBody>
      </p:sp>
      <p:sp>
        <p:nvSpPr>
          <p:cNvPr id="2" name="">
            <a:extLst xmlns:a="http://schemas.openxmlformats.org/drawingml/2006/main">
              <a:ext uri="{FF2B5EF4-FFF2-40B4-BE49-F238E27FC236}">
                <a16:creationId xmlns:a16="http://schemas.microsoft.com/office/drawing/2014/main" id="{9AFE5E89-84CA-4467-AD32-7BBA0389A6B1}"/>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21C412C8-FA23-4847-8214-7C418257ABA2}"/>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A2D55BE-6756-49B8-AA62-5E0E11FC99C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graphicFrame>
        <p:nvGraphicFramePr>
          <p:cNvPr id="11" name=""/>
          <p:cNvGraphicFramePr/>
          <p:nvPr/>
        </p:nvGraphicFramePr>
        <p:xfrm>
          <a:off xmlns:a="http://schemas.openxmlformats.org/drawingml/2006/main" x="609600" y="2447925"/>
          <a:ext xmlns:a="http://schemas.openxmlformats.org/drawingml/2006/main" cx="10972800" cy="2905125"/>
        </p:xfrm>
        <a:graphic xmlns:a="http://schemas.openxmlformats.org/drawingml/2006/main">
          <a:graphicData uri="http://schemas.openxmlformats.org/drawingml/2006/table">
            <a:tbl>
              <a:tblPr/>
              <a:tblGrid>
                <a:gridCol w="5486400"/>
                <a:gridCol w="5486400"/>
              </a:tblGrid>
              <a:tr h="523875">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7625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031AFFCD-6279-426D-B953-6F5BCA788BAA}"/>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75" b="1">
                <a:solidFill>
                  <a:srgbClr val="4169A4"/>
                </a:solidFill>
                <a:latin typeface="Georgia"/>
                <a:ea typeface="Georgia"/>
                <a:cs typeface="Georgia"/>
              </a:defRPr>
            </a:pPr>
            <a:r>
              <a:rPr sz="247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558982002"/>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1A72FD9-BE87-43DB-97F2-02CB022E4B22}"/>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PROPOSED PRODUCT INTERACTION</a:t>
            </a:r>
          </a:p>
        </p:txBody>
      </p:sp>
      <p:sp>
        <p:nvSpPr>
          <p:cNvPr id="2" name="">
            <a:extLst xmlns:a="http://schemas.openxmlformats.org/drawingml/2006/main">
              <a:ext uri="{FF2B5EF4-FFF2-40B4-BE49-F238E27FC236}">
                <a16:creationId xmlns:a16="http://schemas.microsoft.com/office/drawing/2014/main" id="{67946EDA-1720-4AB9-8961-CE78452BA0E7}"/>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changed fact. A clearer legal picture.</a:t>
            </a:r>
          </a:p>
        </p:txBody>
      </p:sp>
      <p:sp>
        <p:nvSpPr>
          <p:cNvPr id="3" name="">
            <a:extLst xmlns:a="http://schemas.openxmlformats.org/drawingml/2006/main">
              <a:ext uri="{FF2B5EF4-FFF2-40B4-BE49-F238E27FC236}">
                <a16:creationId xmlns:a16="http://schemas.microsoft.com/office/drawing/2014/main" id="{24BF3308-1F7A-4F22-BDD4-F6585D234CF2}"/>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F9887A4-AC50-4B38-913F-F5CB8218B69C}"/>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47491F83-9F4F-43D2-96F3-CCA451C7C01E}"/>
              </a:ext>
            </a:extLst>
          </p:cNvPr>
          <p:cNvSpPr>
            <a:spLocks xmlns:a="http://schemas.openxmlformats.org/drawingml/2006/main" noGrp="1"/>
          </p:cNvSpPr>
          <p:nvPr/>
        </p:nvSpPr>
        <p:spPr>
          <a:xfrm xmlns:a="http://schemas.openxmlformats.org/drawingml/2006/main">
            <a:off x="609600" y="205740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596273"/>
                </a:solidFill>
                <a:latin typeface="Arial"/>
                <a:ea typeface="Arial"/>
                <a:cs typeface="Arial"/>
              </a:defRPr>
            </a:pPr>
            <a:r>
              <a:rPr sz="2025" b="0">
                <a:solidFill>
                  <a:srgbClr val="596273"/>
                </a:solidFill>
                <a:latin typeface="Arial"/>
                <a:ea typeface="Arial"/>
                <a:cs typeface="Arial"/>
              </a:rPr>
              <a:t>A payments business wants to change how funds move between two parties.</a:t>
            </a:r>
          </a:p>
        </p:txBody>
      </p:sp>
      <p:sp>
        <p:nvSpPr>
          <p:cNvPr id="6" name="">
            <a:extLst xmlns:a="http://schemas.openxmlformats.org/drawingml/2006/main">
              <a:ext uri="{FF2B5EF4-FFF2-40B4-BE49-F238E27FC236}">
                <a16:creationId xmlns:a16="http://schemas.microsoft.com/office/drawing/2014/main" id="{05601586-2489-42D9-A76E-208EACD91137}"/>
              </a:ext>
            </a:extLst>
          </p:cNvPr>
          <p:cNvSpPr>
            <a:spLocks xmlns:a="http://schemas.openxmlformats.org/drawingml/2006/main" noGrp="1"/>
          </p:cNvSpPr>
          <p:nvPr/>
        </p:nvSpPr>
        <p:spPr>
          <a:xfrm xmlns:a="http://schemas.openxmlformats.org/drawingml/2006/main">
            <a:off x="6096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4A28E58-8401-444E-896A-A027B7A1958A}"/>
              </a:ext>
            </a:extLst>
          </p:cNvPr>
          <p:cNvSpPr>
            <a:spLocks xmlns:a="http://schemas.openxmlformats.org/drawingml/2006/main" noGrp="1"/>
          </p:cNvSpPr>
          <p:nvPr/>
        </p:nvSpPr>
        <p:spPr>
          <a:xfrm xmlns:a="http://schemas.openxmlformats.org/drawingml/2006/main">
            <a:off x="1181100" y="3114675"/>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Understand</a:t>
            </a:r>
          </a:p>
        </p:txBody>
      </p:sp>
      <p:sp>
        <p:nvSpPr>
          <p:cNvPr id="8" name="">
            <a:extLst xmlns:a="http://schemas.openxmlformats.org/drawingml/2006/main">
              <a:ext uri="{FF2B5EF4-FFF2-40B4-BE49-F238E27FC236}">
                <a16:creationId xmlns:a16="http://schemas.microsoft.com/office/drawing/2014/main" id="{F7652F01-7CD9-4C31-B00F-48E5B26BBE66}"/>
              </a:ext>
            </a:extLst>
          </p:cNvPr>
          <p:cNvSpPr>
            <a:spLocks xmlns:a="http://schemas.openxmlformats.org/drawingml/2006/main" noGrp="1"/>
          </p:cNvSpPr>
          <p:nvPr/>
        </p:nvSpPr>
        <p:spPr>
          <a:xfrm xmlns:a="http://schemas.openxmlformats.org/drawingml/2006/main">
            <a:off x="1181100" y="3619500"/>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See the question, parties, timing, and current analysis.</a:t>
            </a:r>
          </a:p>
        </p:txBody>
      </p:sp>
      <p:sp>
        <p:nvSpPr>
          <p:cNvPr id="9" name="">
            <a:extLst xmlns:a="http://schemas.openxmlformats.org/drawingml/2006/main">
              <a:ext uri="{FF2B5EF4-FFF2-40B4-BE49-F238E27FC236}">
                <a16:creationId xmlns:a16="http://schemas.microsoft.com/office/drawing/2014/main" id="{BECD78B0-2B0A-4C53-977B-3728799FE7DE}"/>
              </a:ext>
            </a:extLst>
          </p:cNvPr>
          <p:cNvSpPr>
            <a:spLocks xmlns:a="http://schemas.openxmlformats.org/drawingml/2006/main" noGrp="1"/>
          </p:cNvSpPr>
          <p:nvPr/>
        </p:nvSpPr>
        <p:spPr>
          <a:xfrm xmlns:a="http://schemas.openxmlformats.org/drawingml/2006/main">
            <a:off x="43434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6B26D9E-E95B-4C1D-BCE9-980197B0A09D}"/>
              </a:ext>
            </a:extLst>
          </p:cNvPr>
          <p:cNvSpPr>
            <a:spLocks xmlns:a="http://schemas.openxmlformats.org/drawingml/2006/main" noGrp="1"/>
          </p:cNvSpPr>
          <p:nvPr/>
        </p:nvSpPr>
        <p:spPr>
          <a:xfrm xmlns:a="http://schemas.openxmlformats.org/drawingml/2006/main">
            <a:off x="4914900" y="3114675"/>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Explore</a:t>
            </a:r>
          </a:p>
        </p:txBody>
      </p:sp>
      <p:sp>
        <p:nvSpPr>
          <p:cNvPr id="11" name="">
            <a:extLst xmlns:a="http://schemas.openxmlformats.org/drawingml/2006/main">
              <a:ext uri="{FF2B5EF4-FFF2-40B4-BE49-F238E27FC236}">
                <a16:creationId xmlns:a16="http://schemas.microsoft.com/office/drawing/2014/main" id="{EE07E35D-1657-4921-BE25-CE54E0055918}"/>
              </a:ext>
            </a:extLst>
          </p:cNvPr>
          <p:cNvSpPr>
            <a:spLocks xmlns:a="http://schemas.openxmlformats.org/drawingml/2006/main" noGrp="1"/>
          </p:cNvSpPr>
          <p:nvPr/>
        </p:nvSpPr>
        <p:spPr>
          <a:xfrm xmlns:a="http://schemas.openxmlformats.org/drawingml/2006/main">
            <a:off x="4914900" y="3619500"/>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Ask whether funds enter a company-controlled account, even briefly.</a:t>
            </a:r>
          </a:p>
        </p:txBody>
      </p:sp>
      <p:sp>
        <p:nvSpPr>
          <p:cNvPr id="12" name="">
            <a:extLst xmlns:a="http://schemas.openxmlformats.org/drawingml/2006/main">
              <a:ext uri="{FF2B5EF4-FFF2-40B4-BE49-F238E27FC236}">
                <a16:creationId xmlns:a16="http://schemas.microsoft.com/office/drawing/2014/main" id="{C947C0FE-FCAD-4674-B374-1A5215F25ADD}"/>
              </a:ext>
            </a:extLst>
          </p:cNvPr>
          <p:cNvSpPr>
            <a:spLocks xmlns:a="http://schemas.openxmlformats.org/drawingml/2006/main" noGrp="1"/>
          </p:cNvSpPr>
          <p:nvPr/>
        </p:nvSpPr>
        <p:spPr>
          <a:xfrm xmlns:a="http://schemas.openxmlformats.org/drawingml/2006/main">
            <a:off x="8077200" y="3114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1A267C7F-E7B8-469C-8516-7489B940DBCF}"/>
              </a:ext>
            </a:extLst>
          </p:cNvPr>
          <p:cNvSpPr>
            <a:spLocks xmlns:a="http://schemas.openxmlformats.org/drawingml/2006/main" noGrp="1"/>
          </p:cNvSpPr>
          <p:nvPr/>
        </p:nvSpPr>
        <p:spPr>
          <a:xfrm xmlns:a="http://schemas.openxmlformats.org/drawingml/2006/main">
            <a:off x="8648700" y="31146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Compare</a:t>
            </a:r>
          </a:p>
        </p:txBody>
      </p:sp>
      <p:sp>
        <p:nvSpPr>
          <p:cNvPr id="14" name="">
            <a:extLst xmlns:a="http://schemas.openxmlformats.org/drawingml/2006/main">
              <a:ext uri="{FF2B5EF4-FFF2-40B4-BE49-F238E27FC236}">
                <a16:creationId xmlns:a16="http://schemas.microsoft.com/office/drawing/2014/main" id="{7C84AC3C-6993-4F07-960B-99B60EC19E42}"/>
              </a:ext>
            </a:extLst>
          </p:cNvPr>
          <p:cNvSpPr>
            <a:spLocks xmlns:a="http://schemas.openxmlformats.org/drawingml/2006/main" noGrp="1"/>
          </p:cNvSpPr>
          <p:nvPr/>
        </p:nvSpPr>
        <p:spPr>
          <a:xfrm xmlns:a="http://schemas.openxmlformats.org/drawingml/2006/main">
            <a:off x="8648700" y="3619500"/>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Explore that fact pattern and see which analysis may change.</a:t>
            </a:r>
          </a:p>
        </p:txBody>
      </p:sp>
      <p:sp>
        <p:nvSpPr>
          <p:cNvPr id="15" name="">
            <a:extLst xmlns:a="http://schemas.openxmlformats.org/drawingml/2006/main">
              <a:ext uri="{FF2B5EF4-FFF2-40B4-BE49-F238E27FC236}">
                <a16:creationId xmlns:a16="http://schemas.microsoft.com/office/drawing/2014/main" id="{C6292E29-F1CE-48BE-8875-B031B928F706}"/>
              </a:ext>
            </a:extLst>
          </p:cNvPr>
          <p:cNvSpPr>
            <a:spLocks xmlns:a="http://schemas.openxmlformats.org/drawingml/2006/main" noGrp="1"/>
          </p:cNvSpPr>
          <p:nvPr/>
        </p:nvSpPr>
        <p:spPr>
          <a:xfrm xmlns:a="http://schemas.openxmlformats.org/drawingml/2006/main">
            <a:off x="609600" y="5562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0">
                <a:solidFill>
                  <a:srgbClr val="4169A4"/>
                </a:solidFill>
                <a:latin typeface="Georgia"/>
                <a:ea typeface="Georgia"/>
                <a:cs typeface="Georgia"/>
              </a:defRPr>
            </a:pPr>
            <a:r>
              <a:rPr sz="2550" b="0">
                <a:solidFill>
                  <a:srgbClr val="4169A4"/>
                </a:solidFill>
                <a:latin typeface="Georgia"/>
                <a:ea typeface="Georgia"/>
                <a:cs typeface="Georgia"/>
              </a:rPr>
              <a:t>The lawyer chooses the branch and owns the decision.</a:t>
            </a:r>
          </a:p>
        </p:txBody>
      </p:sp>
      <p:sp>
        <p:nvSpPr>
          <p:cNvPr id="16" name="">
            <a:extLst xmlns:a="http://schemas.openxmlformats.org/drawingml/2006/main">
              <a:ext uri="{FF2B5EF4-FFF2-40B4-BE49-F238E27FC236}">
                <a16:creationId xmlns:a16="http://schemas.microsoft.com/office/drawing/2014/main" id="{9780B9B7-7C0E-4D94-BE28-247ED6A7CF9E}"/>
              </a:ext>
            </a:extLst>
          </p:cNvPr>
          <p:cNvSpPr>
            <a:spLocks xmlns:a="http://schemas.openxmlformats.org/drawingml/2006/main" noGrp="1"/>
          </p:cNvSpPr>
          <p:nvPr/>
        </p:nvSpPr>
        <p:spPr>
          <a:xfrm xmlns:a="http://schemas.openxmlformats.org/drawingml/2006/main">
            <a:off x="609600" y="61150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Concept illustration. This is not a licensing conclusion or a shipped interactive feature.</a:t>
            </a:r>
          </a:p>
        </p:txBody>
      </p:sp>
    </p:spTree>
    <p:extLst>
      <p:ext uri="{BB962C8B-B14F-4D97-AF65-F5344CB8AC3E}">
        <p14:creationId xmlns:p14="http://schemas.microsoft.com/office/powerpoint/2010/main" val="1014555921"/>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325775-934F-469B-82FF-3C133903A0E5}"/>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INITIAL CUSTOMER</a:t>
            </a:r>
          </a:p>
        </p:txBody>
      </p:sp>
      <p:sp>
        <p:nvSpPr>
          <p:cNvPr id="2" name="">
            <a:extLst xmlns:a="http://schemas.openxmlformats.org/drawingml/2006/main">
              <a:ext uri="{FF2B5EF4-FFF2-40B4-BE49-F238E27FC236}">
                <a16:creationId xmlns:a16="http://schemas.microsoft.com/office/drawing/2014/main" id="{93AE3BF1-759C-4E6E-90A4-650650C7AAA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Solo GCs and legal teams under ten</a:t>
            </a:r>
          </a:p>
        </p:txBody>
      </p:sp>
      <p:sp>
        <p:nvSpPr>
          <p:cNvPr id="3" name="">
            <a:extLst xmlns:a="http://schemas.openxmlformats.org/drawingml/2006/main">
              <a:ext uri="{FF2B5EF4-FFF2-40B4-BE49-F238E27FC236}">
                <a16:creationId xmlns:a16="http://schemas.microsoft.com/office/drawing/2014/main" id="{231DEC03-801D-4432-9D64-93C882533DCB}"/>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713FCC0-A099-4F89-896B-819C14149637}"/>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87CA3FA6-8F5B-4531-8389-A715AAA96A2B}"/>
              </a:ext>
            </a:extLst>
          </p:cNvPr>
          <p:cNvSpPr>
            <a:spLocks xmlns:a="http://schemas.openxmlformats.org/drawingml/2006/main" noGrp="1"/>
          </p:cNvSpPr>
          <p:nvPr/>
        </p:nvSpPr>
        <p:spPr>
          <a:xfrm xmlns:a="http://schemas.openxmlformats.org/drawingml/2006/main">
            <a:off x="609600" y="22860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0050" b="0">
                <a:solidFill>
                  <a:srgbClr val="4169A4"/>
                </a:solidFill>
                <a:latin typeface="Georgia"/>
                <a:ea typeface="Georgia"/>
                <a:cs typeface="Georgia"/>
              </a:defRPr>
            </a:pPr>
            <a:r>
              <a:rPr sz="10050" b="0">
                <a:solidFill>
                  <a:srgbClr val="4169A4"/>
                </a:solidFill>
                <a:latin typeface="Georgia"/>
                <a:ea typeface="Georgia"/>
                <a:cs typeface="Georgia"/>
              </a:rPr>
              <a:t>1</a:t>
            </a:r>
          </a:p>
        </p:txBody>
      </p:sp>
      <p:sp>
        <p:nvSpPr>
          <p:cNvPr id="6" name="">
            <a:extLst xmlns:a="http://schemas.openxmlformats.org/drawingml/2006/main">
              <a:ext uri="{FF2B5EF4-FFF2-40B4-BE49-F238E27FC236}">
                <a16:creationId xmlns:a16="http://schemas.microsoft.com/office/drawing/2014/main" id="{0C016252-4EB6-4580-99E8-C887C03DC9CF}"/>
              </a:ext>
            </a:extLst>
          </p:cNvPr>
          <p:cNvSpPr>
            <a:spLocks xmlns:a="http://schemas.openxmlformats.org/drawingml/2006/main" noGrp="1"/>
          </p:cNvSpPr>
          <p:nvPr/>
        </p:nvSpPr>
        <p:spPr>
          <a:xfrm xmlns:a="http://schemas.openxmlformats.org/drawingml/2006/main">
            <a:off x="609600" y="403860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775" b="1">
                <a:solidFill>
                  <a:srgbClr val="17243E"/>
                </a:solidFill>
                <a:latin typeface="Georgia"/>
                <a:ea typeface="Georgia"/>
                <a:cs typeface="Georgia"/>
              </a:defRPr>
            </a:pPr>
            <a:r>
              <a:rPr sz="2775" b="1">
                <a:solidFill>
                  <a:srgbClr val="17243E"/>
                </a:solidFill>
                <a:latin typeface="Georgia"/>
                <a:ea typeface="Georgia"/>
                <a:cs typeface="Georgia"/>
              </a:rPr>
              <a:t>Lawyer first</a:t>
            </a:r>
          </a:p>
        </p:txBody>
      </p:sp>
      <p:sp>
        <p:nvSpPr>
          <p:cNvPr id="7" name="">
            <a:extLst xmlns:a="http://schemas.openxmlformats.org/drawingml/2006/main">
              <a:ext uri="{FF2B5EF4-FFF2-40B4-BE49-F238E27FC236}">
                <a16:creationId xmlns:a16="http://schemas.microsoft.com/office/drawing/2014/main" id="{32399402-E309-47F7-AA7B-FE7F261B52A0}"/>
              </a:ext>
            </a:extLst>
          </p:cNvPr>
          <p:cNvSpPr>
            <a:spLocks xmlns:a="http://schemas.openxmlformats.org/drawingml/2006/main" noGrp="1"/>
          </p:cNvSpPr>
          <p:nvPr/>
        </p:nvSpPr>
        <p:spPr>
          <a:xfrm xmlns:a="http://schemas.openxmlformats.org/drawingml/2006/main">
            <a:off x="609600" y="46958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Earn repeat use on consequential product and business questions.</a:t>
            </a:r>
          </a:p>
        </p:txBody>
      </p:sp>
      <p:sp>
        <p:nvSpPr>
          <p:cNvPr id="8" name="">
            <a:extLst xmlns:a="http://schemas.openxmlformats.org/drawingml/2006/main">
              <a:ext uri="{FF2B5EF4-FFF2-40B4-BE49-F238E27FC236}">
                <a16:creationId xmlns:a16="http://schemas.microsoft.com/office/drawing/2014/main" id="{D14AF650-C8D7-4D52-8C40-05431FDA04CE}"/>
              </a:ext>
            </a:extLst>
          </p:cNvPr>
          <p:cNvSpPr>
            <a:spLocks xmlns:a="http://schemas.openxmlformats.org/drawingml/2006/main" noGrp="1"/>
          </p:cNvSpPr>
          <p:nvPr/>
        </p:nvSpPr>
        <p:spPr>
          <a:xfrm xmlns:a="http://schemas.openxmlformats.org/drawingml/2006/main">
            <a:off x="6705600" y="2286000"/>
            <a:ext cx="4000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0050" b="0">
                <a:solidFill>
                  <a:srgbClr val="17243E"/>
                </a:solidFill>
                <a:latin typeface="Georgia"/>
                <a:ea typeface="Georgia"/>
                <a:cs typeface="Georgia"/>
              </a:defRPr>
            </a:pPr>
            <a:r>
              <a:rPr sz="10050" b="0">
                <a:solidFill>
                  <a:srgbClr val="17243E"/>
                </a:solidFill>
                <a:latin typeface="Georgia"/>
                <a:ea typeface="Georgia"/>
                <a:cs typeface="Georgia"/>
              </a:rPr>
              <a:t>&lt;10</a:t>
            </a:r>
          </a:p>
        </p:txBody>
      </p:sp>
      <p:sp>
        <p:nvSpPr>
          <p:cNvPr id="9" name="">
            <a:extLst xmlns:a="http://schemas.openxmlformats.org/drawingml/2006/main">
              <a:ext uri="{FF2B5EF4-FFF2-40B4-BE49-F238E27FC236}">
                <a16:creationId xmlns:a16="http://schemas.microsoft.com/office/drawing/2014/main" id="{E1E6CAAE-848B-4268-9E18-DAFD2B72ABDE}"/>
              </a:ext>
            </a:extLst>
          </p:cNvPr>
          <p:cNvSpPr>
            <a:spLocks xmlns:a="http://schemas.openxmlformats.org/drawingml/2006/main" noGrp="1"/>
          </p:cNvSpPr>
          <p:nvPr/>
        </p:nvSpPr>
        <p:spPr>
          <a:xfrm xmlns:a="http://schemas.openxmlformats.org/drawingml/2006/main">
            <a:off x="6705600" y="4038600"/>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775" b="1">
                <a:solidFill>
                  <a:srgbClr val="17243E"/>
                </a:solidFill>
                <a:latin typeface="Georgia"/>
                <a:ea typeface="Georgia"/>
                <a:cs typeface="Georgia"/>
              </a:defRPr>
            </a:pPr>
            <a:r>
              <a:rPr sz="2775" b="1">
                <a:solidFill>
                  <a:srgbClr val="17243E"/>
                </a:solidFill>
                <a:latin typeface="Georgia"/>
                <a:ea typeface="Georgia"/>
                <a:cs typeface="Georgia"/>
              </a:rPr>
              <a:t>Team expansion</a:t>
            </a:r>
          </a:p>
        </p:txBody>
      </p:sp>
      <p:sp>
        <p:nvSpPr>
          <p:cNvPr id="10" name="">
            <a:extLst xmlns:a="http://schemas.openxmlformats.org/drawingml/2006/main">
              <a:ext uri="{FF2B5EF4-FFF2-40B4-BE49-F238E27FC236}">
                <a16:creationId xmlns:a16="http://schemas.microsoft.com/office/drawing/2014/main" id="{C0BB2C57-15B1-4A5D-9EA7-780CAA89C4E7}"/>
              </a:ext>
            </a:extLst>
          </p:cNvPr>
          <p:cNvSpPr>
            <a:spLocks xmlns:a="http://schemas.openxmlformats.org/drawingml/2006/main" noGrp="1"/>
          </p:cNvSpPr>
          <p:nvPr/>
        </p:nvSpPr>
        <p:spPr>
          <a:xfrm xmlns:a="http://schemas.openxmlformats.org/drawingml/2006/main">
            <a:off x="6705600" y="46958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Carry context to the next lawyer so the team can share the work.</a:t>
            </a:r>
          </a:p>
        </p:txBody>
      </p:sp>
      <p:sp>
        <p:nvSpPr>
          <p:cNvPr id="11" name="">
            <a:extLst xmlns:a="http://schemas.openxmlformats.org/drawingml/2006/main">
              <a:ext uri="{FF2B5EF4-FFF2-40B4-BE49-F238E27FC236}">
                <a16:creationId xmlns:a16="http://schemas.microsoft.com/office/drawing/2014/main" id="{D76B4193-B16E-4982-954B-B40508EDBFC1}"/>
              </a:ext>
            </a:extLst>
          </p:cNvPr>
          <p:cNvSpPr>
            <a:spLocks xmlns:a="http://schemas.openxmlformats.org/drawingml/2006/main" noGrp="1"/>
          </p:cNvSpPr>
          <p:nvPr/>
        </p:nvSpPr>
        <p:spPr>
          <a:xfrm xmlns:a="http://schemas.openxmlformats.org/drawingml/2006/main">
            <a:off x="609600" y="60579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596273"/>
                </a:solidFill>
                <a:latin typeface="Arial"/>
                <a:ea typeface="Arial"/>
                <a:cs typeface="Arial"/>
              </a:defRPr>
            </a:pPr>
            <a:r>
              <a:rPr sz="1350" b="0">
                <a:solidFill>
                  <a:srgbClr val="596273"/>
                </a:solidFill>
                <a:latin typeface="Arial"/>
                <a:ea typeface="Arial"/>
                <a:cs typeface="Arial"/>
              </a:rPr>
              <a:t>Shared matters are a proposed expansion after individual value is demonstrated.</a:t>
            </a:r>
          </a:p>
        </p:txBody>
      </p:sp>
    </p:spTree>
    <p:extLst>
      <p:ext uri="{BB962C8B-B14F-4D97-AF65-F5344CB8AC3E}">
        <p14:creationId xmlns:p14="http://schemas.microsoft.com/office/powerpoint/2010/main" val="1627742711"/>
      </p:ext>
    </p:extLst>
  </p:cSld>
</p:sld>
</file>

<file path=ppt/slides/slide9.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625FD6-89D1-4ED0-A805-6C0F3759B00E}"/>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TRUST THROUGH BEHAVIOR</a:t>
            </a:r>
          </a:p>
        </p:txBody>
      </p:sp>
      <p:sp>
        <p:nvSpPr>
          <p:cNvPr id="2" name="">
            <a:extLst xmlns:a="http://schemas.openxmlformats.org/drawingml/2006/main">
              <a:ext uri="{FF2B5EF4-FFF2-40B4-BE49-F238E27FC236}">
                <a16:creationId xmlns:a16="http://schemas.microsoft.com/office/drawing/2014/main" id="{7F311A3E-0F1E-4D25-84A4-8031145E393D}"/>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FAF8F2"/>
                </a:solidFill>
                <a:latin typeface="Georgia"/>
                <a:ea typeface="Georgia"/>
                <a:cs typeface="Georgia"/>
              </a:defRPr>
            </a:pPr>
            <a:r>
              <a:rPr sz="3300" b="1">
                <a:solidFill>
                  <a:srgbClr val="FAF8F2"/>
                </a:solidFill>
                <a:latin typeface="Georgia"/>
                <a:ea typeface="Georgia"/>
                <a:cs typeface="Georgia"/>
              </a:rPr>
              <a:t>Trust is earned by how the product behaves.</a:t>
            </a:r>
          </a:p>
        </p:txBody>
      </p:sp>
      <p:sp>
        <p:nvSpPr>
          <p:cNvPr id="3" name="">
            <a:extLst xmlns:a="http://schemas.openxmlformats.org/drawingml/2006/main">
              <a:ext uri="{FF2B5EF4-FFF2-40B4-BE49-F238E27FC236}">
                <a16:creationId xmlns:a16="http://schemas.microsoft.com/office/drawing/2014/main" id="{ED00DD44-4765-4BEA-BA78-B295D51B3E6E}"/>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E80EA5B-FEF9-47F7-9060-E53290B4A0D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1392220-9718-4A0C-B2BC-4858B8D14DF3}"/>
              </a:ext>
            </a:extLst>
          </p:cNvPr>
          <p:cNvSpPr>
            <a:spLocks xmlns:a="http://schemas.openxmlformats.org/drawingml/2006/main" noGrp="1"/>
          </p:cNvSpPr>
          <p:nvPr/>
        </p:nvSpPr>
        <p:spPr>
          <a:xfrm xmlns:a="http://schemas.openxmlformats.org/drawingml/2006/main">
            <a:off x="609600" y="22574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Humble, not performative.</a:t>
            </a:r>
          </a:p>
        </p:txBody>
      </p:sp>
      <p:sp>
        <p:nvSpPr>
          <p:cNvPr id="6" name="">
            <a:extLst xmlns:a="http://schemas.openxmlformats.org/drawingml/2006/main">
              <a:ext uri="{FF2B5EF4-FFF2-40B4-BE49-F238E27FC236}">
                <a16:creationId xmlns:a16="http://schemas.microsoft.com/office/drawing/2014/main" id="{EF254D87-9898-4842-91D9-9E7E560AE5BB}"/>
              </a:ext>
            </a:extLst>
          </p:cNvPr>
          <p:cNvSpPr>
            <a:spLocks xmlns:a="http://schemas.openxmlformats.org/drawingml/2006/main" noGrp="1"/>
          </p:cNvSpPr>
          <p:nvPr/>
        </p:nvSpPr>
        <p:spPr>
          <a:xfrm xmlns:a="http://schemas.openxmlformats.org/drawingml/2006/main">
            <a:off x="609600" y="2771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Shows uncertainty.</a:t>
            </a:r>
          </a:p>
        </p:txBody>
      </p:sp>
      <p:sp>
        <p:nvSpPr>
          <p:cNvPr id="7" name="">
            <a:extLst xmlns:a="http://schemas.openxmlformats.org/drawingml/2006/main">
              <a:ext uri="{FF2B5EF4-FFF2-40B4-BE49-F238E27FC236}">
                <a16:creationId xmlns:a16="http://schemas.microsoft.com/office/drawing/2014/main" id="{1D639466-5019-494A-9289-43E72E0FD332}"/>
              </a:ext>
            </a:extLst>
          </p:cNvPr>
          <p:cNvSpPr>
            <a:spLocks xmlns:a="http://schemas.openxmlformats.org/drawingml/2006/main" noGrp="1"/>
          </p:cNvSpPr>
          <p:nvPr/>
        </p:nvSpPr>
        <p:spPr>
          <a:xfrm xmlns:a="http://schemas.openxmlformats.org/drawingml/2006/main">
            <a:off x="6553200" y="22574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Curious, not merely declarative.</a:t>
            </a:r>
          </a:p>
        </p:txBody>
      </p:sp>
      <p:sp>
        <p:nvSpPr>
          <p:cNvPr id="8" name="">
            <a:extLst xmlns:a="http://schemas.openxmlformats.org/drawingml/2006/main">
              <a:ext uri="{FF2B5EF4-FFF2-40B4-BE49-F238E27FC236}">
                <a16:creationId xmlns:a16="http://schemas.microsoft.com/office/drawing/2014/main" id="{373C0493-E936-4DF8-9323-D5CF9E7E6540}"/>
              </a:ext>
            </a:extLst>
          </p:cNvPr>
          <p:cNvSpPr>
            <a:spLocks xmlns:a="http://schemas.openxmlformats.org/drawingml/2006/main" noGrp="1"/>
          </p:cNvSpPr>
          <p:nvPr/>
        </p:nvSpPr>
        <p:spPr>
          <a:xfrm xmlns:a="http://schemas.openxmlformats.org/drawingml/2006/main">
            <a:off x="6553200" y="2771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Surfaces the missing fact.</a:t>
            </a:r>
          </a:p>
        </p:txBody>
      </p:sp>
      <p:sp>
        <p:nvSpPr>
          <p:cNvPr id="9" name="">
            <a:extLst xmlns:a="http://schemas.openxmlformats.org/drawingml/2006/main">
              <a:ext uri="{FF2B5EF4-FFF2-40B4-BE49-F238E27FC236}">
                <a16:creationId xmlns:a16="http://schemas.microsoft.com/office/drawing/2014/main" id="{1A61F03E-D388-45CE-BFEC-424AF4DDA915}"/>
              </a:ext>
            </a:extLst>
          </p:cNvPr>
          <p:cNvSpPr>
            <a:spLocks xmlns:a="http://schemas.openxmlformats.org/drawingml/2006/main" noGrp="1"/>
          </p:cNvSpPr>
          <p:nvPr/>
        </p:nvSpPr>
        <p:spPr>
          <a:xfrm xmlns:a="http://schemas.openxmlformats.org/drawingml/2006/main">
            <a:off x="609600" y="34671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Present, not intrusive.</a:t>
            </a:r>
          </a:p>
        </p:txBody>
      </p:sp>
      <p:sp>
        <p:nvSpPr>
          <p:cNvPr id="10" name="">
            <a:extLst xmlns:a="http://schemas.openxmlformats.org/drawingml/2006/main">
              <a:ext uri="{FF2B5EF4-FFF2-40B4-BE49-F238E27FC236}">
                <a16:creationId xmlns:a16="http://schemas.microsoft.com/office/drawing/2014/main" id="{0FFB9A8A-8B4E-40C8-A4AB-AB10DE8B06B8}"/>
              </a:ext>
            </a:extLst>
          </p:cNvPr>
          <p:cNvSpPr>
            <a:spLocks xmlns:a="http://schemas.openxmlformats.org/drawingml/2006/main" noGrp="1"/>
          </p:cNvSpPr>
          <p:nvPr/>
        </p:nvSpPr>
        <p:spPr>
          <a:xfrm xmlns:a="http://schemas.openxmlformats.org/drawingml/2006/main">
            <a:off x="609600" y="39814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Stays available.</a:t>
            </a:r>
          </a:p>
        </p:txBody>
      </p:sp>
      <p:sp>
        <p:nvSpPr>
          <p:cNvPr id="11" name="">
            <a:extLst xmlns:a="http://schemas.openxmlformats.org/drawingml/2006/main">
              <a:ext uri="{FF2B5EF4-FFF2-40B4-BE49-F238E27FC236}">
                <a16:creationId xmlns:a16="http://schemas.microsoft.com/office/drawing/2014/main" id="{B7630B94-99A0-49CF-BAC8-C6EFE2871F8B}"/>
              </a:ext>
            </a:extLst>
          </p:cNvPr>
          <p:cNvSpPr>
            <a:spLocks xmlns:a="http://schemas.openxmlformats.org/drawingml/2006/main" noGrp="1"/>
          </p:cNvSpPr>
          <p:nvPr/>
        </p:nvSpPr>
        <p:spPr>
          <a:xfrm xmlns:a="http://schemas.openxmlformats.org/drawingml/2006/main">
            <a:off x="6553200" y="34671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Persistent, not forgetful.</a:t>
            </a:r>
          </a:p>
        </p:txBody>
      </p:sp>
      <p:sp>
        <p:nvSpPr>
          <p:cNvPr id="12" name="">
            <a:extLst xmlns:a="http://schemas.openxmlformats.org/drawingml/2006/main">
              <a:ext uri="{FF2B5EF4-FFF2-40B4-BE49-F238E27FC236}">
                <a16:creationId xmlns:a16="http://schemas.microsoft.com/office/drawing/2014/main" id="{197AA2B0-54B7-49C7-9B62-43759AA4F910}"/>
              </a:ext>
            </a:extLst>
          </p:cNvPr>
          <p:cNvSpPr>
            <a:spLocks xmlns:a="http://schemas.openxmlformats.org/drawingml/2006/main" noGrp="1"/>
          </p:cNvSpPr>
          <p:nvPr/>
        </p:nvSpPr>
        <p:spPr>
          <a:xfrm xmlns:a="http://schemas.openxmlformats.org/drawingml/2006/main">
            <a:off x="6553200" y="39814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Carries context forward.</a:t>
            </a:r>
          </a:p>
        </p:txBody>
      </p:sp>
      <p:sp>
        <p:nvSpPr>
          <p:cNvPr id="13" name="">
            <a:extLst xmlns:a="http://schemas.openxmlformats.org/drawingml/2006/main">
              <a:ext uri="{FF2B5EF4-FFF2-40B4-BE49-F238E27FC236}">
                <a16:creationId xmlns:a16="http://schemas.microsoft.com/office/drawing/2014/main" id="{72D5069A-6653-4A05-A83E-77FB02CF92CD}"/>
              </a:ext>
            </a:extLst>
          </p:cNvPr>
          <p:cNvSpPr>
            <a:spLocks xmlns:a="http://schemas.openxmlformats.org/drawingml/2006/main" noGrp="1"/>
          </p:cNvSpPr>
          <p:nvPr/>
        </p:nvSpPr>
        <p:spPr>
          <a:xfrm xmlns:a="http://schemas.openxmlformats.org/drawingml/2006/main">
            <a:off x="609600" y="46767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Supportive, not substitutive.</a:t>
            </a:r>
          </a:p>
        </p:txBody>
      </p:sp>
      <p:sp>
        <p:nvSpPr>
          <p:cNvPr id="14" name="">
            <a:extLst xmlns:a="http://schemas.openxmlformats.org/drawingml/2006/main">
              <a:ext uri="{FF2B5EF4-FFF2-40B4-BE49-F238E27FC236}">
                <a16:creationId xmlns:a16="http://schemas.microsoft.com/office/drawing/2014/main" id="{0C99A3DE-3C6F-409D-AF4B-2AD72BFA23E8}"/>
              </a:ext>
            </a:extLst>
          </p:cNvPr>
          <p:cNvSpPr>
            <a:spLocks xmlns:a="http://schemas.openxmlformats.org/drawingml/2006/main" noGrp="1"/>
          </p:cNvSpPr>
          <p:nvPr/>
        </p:nvSpPr>
        <p:spPr>
          <a:xfrm xmlns:a="http://schemas.openxmlformats.org/drawingml/2006/main">
            <a:off x="609600" y="51911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Strengthens the lawyer’s judgment.</a:t>
            </a:r>
          </a:p>
        </p:txBody>
      </p:sp>
      <p:sp>
        <p:nvSpPr>
          <p:cNvPr id="15" name="">
            <a:extLst xmlns:a="http://schemas.openxmlformats.org/drawingml/2006/main">
              <a:ext uri="{FF2B5EF4-FFF2-40B4-BE49-F238E27FC236}">
                <a16:creationId xmlns:a16="http://schemas.microsoft.com/office/drawing/2014/main" id="{98A9D670-0130-411F-9E84-364EF5CA774F}"/>
              </a:ext>
            </a:extLst>
          </p:cNvPr>
          <p:cNvSpPr>
            <a:spLocks xmlns:a="http://schemas.openxmlformats.org/drawingml/2006/main" noGrp="1"/>
          </p:cNvSpPr>
          <p:nvPr/>
        </p:nvSpPr>
        <p:spPr>
          <a:xfrm xmlns:a="http://schemas.openxmlformats.org/drawingml/2006/main">
            <a:off x="6553200" y="46767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FAF8F2"/>
                </a:solidFill>
                <a:latin typeface="Georgia"/>
                <a:ea typeface="Georgia"/>
                <a:cs typeface="Georgia"/>
              </a:defRPr>
            </a:pPr>
            <a:r>
              <a:rPr sz="2175" b="1">
                <a:solidFill>
                  <a:srgbClr val="FAF8F2"/>
                </a:solidFill>
                <a:latin typeface="Georgia"/>
                <a:ea typeface="Georgia"/>
                <a:cs typeface="Georgia"/>
              </a:rPr>
              <a:t>Faithful, not revisionist.</a:t>
            </a:r>
          </a:p>
        </p:txBody>
      </p:sp>
      <p:sp>
        <p:nvSpPr>
          <p:cNvPr id="16" name="">
            <a:extLst xmlns:a="http://schemas.openxmlformats.org/drawingml/2006/main">
              <a:ext uri="{FF2B5EF4-FFF2-40B4-BE49-F238E27FC236}">
                <a16:creationId xmlns:a16="http://schemas.microsoft.com/office/drawing/2014/main" id="{4DC970C3-F14C-4FA0-9430-9DBB210648E2}"/>
              </a:ext>
            </a:extLst>
          </p:cNvPr>
          <p:cNvSpPr>
            <a:spLocks xmlns:a="http://schemas.openxmlformats.org/drawingml/2006/main" noGrp="1"/>
          </p:cNvSpPr>
          <p:nvPr/>
        </p:nvSpPr>
        <p:spPr>
          <a:xfrm xmlns:a="http://schemas.openxmlformats.org/drawingml/2006/main">
            <a:off x="6553200" y="51911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Preserves the lawyer’s decision.</a:t>
            </a:r>
          </a:p>
        </p:txBody>
      </p:sp>
    </p:spTree>
    <p:extLst>
      <p:ext uri="{BB962C8B-B14F-4D97-AF65-F5344CB8AC3E}">
        <p14:creationId xmlns:p14="http://schemas.microsoft.com/office/powerpoint/2010/main" val="2115982149"/>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2B53B5-9207-41C5-95B1-663DBF4E2E80}"/>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ADOPTION THESIS</a:t>
            </a:r>
          </a:p>
        </p:txBody>
      </p:sp>
      <p:sp>
        <p:nvSpPr>
          <p:cNvPr id="2" name="">
            <a:extLst xmlns:a="http://schemas.openxmlformats.org/drawingml/2006/main">
              <a:ext uri="{FF2B5EF4-FFF2-40B4-BE49-F238E27FC236}">
                <a16:creationId xmlns:a16="http://schemas.microsoft.com/office/drawing/2014/main" id="{B35DBDC8-D35D-42FF-ACC5-58D4D32F9B2F}"/>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Useful work earns the next matter.</a:t>
            </a:r>
          </a:p>
        </p:txBody>
      </p:sp>
      <p:sp>
        <p:nvSpPr>
          <p:cNvPr id="3" name="">
            <a:extLst xmlns:a="http://schemas.openxmlformats.org/drawingml/2006/main">
              <a:ext uri="{FF2B5EF4-FFF2-40B4-BE49-F238E27FC236}">
                <a16:creationId xmlns:a16="http://schemas.microsoft.com/office/drawing/2014/main" id="{D824E043-FE72-4570-A8C8-223958D3741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D07DBDB-A323-4094-91B6-79FAE82DEF9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9BEF1B8-8375-40B9-A1F5-B98BF529F266}"/>
              </a:ext>
            </a:extLst>
          </p:cNvPr>
          <p:cNvSpPr>
            <a:spLocks xmlns:a="http://schemas.openxmlformats.org/drawingml/2006/main" noGrp="1"/>
          </p:cNvSpPr>
          <p:nvPr/>
        </p:nvSpPr>
        <p:spPr>
          <a:xfrm xmlns:a="http://schemas.openxmlformats.org/drawingml/2006/main">
            <a:off x="609600" y="2266950"/>
            <a:ext cx="571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4169A4"/>
                </a:solidFill>
                <a:latin typeface="Georgia"/>
                <a:ea typeface="Georgia"/>
                <a:cs typeface="Georgia"/>
              </a:defRPr>
            </a:pPr>
            <a:r>
              <a:rPr sz="3300" b="1">
                <a:solidFill>
                  <a:srgbClr val="4169A4"/>
                </a:solidFill>
                <a:latin typeface="Georgia"/>
                <a:ea typeface="Georgia"/>
                <a:cs typeface="Georgia"/>
              </a:rPr>
              <a:t>Relevant context</a:t>
            </a:r>
          </a:p>
          <a:p xmlns:a="http://schemas.openxmlformats.org/drawingml/2006/main">
            <a:pPr>
              <a:lnSpc>
                <a:spcPct val="110000"/>
              </a:lnSpc>
              <a:buNone/>
              <a:defRPr sz="3300" b="1">
                <a:solidFill>
                  <a:srgbClr val="4169A4"/>
                </a:solidFill>
                <a:latin typeface="Georgia"/>
                <a:ea typeface="Georgia"/>
                <a:cs typeface="Georgia"/>
              </a:defRPr>
            </a:pPr>
            <a:r>
              <a:rPr sz="3300" b="1">
                <a:solidFill>
                  <a:srgbClr val="4169A4"/>
                </a:solidFill>
                <a:latin typeface="Georgia"/>
                <a:ea typeface="Georgia"/>
                <a:cs typeface="Georgia"/>
              </a:rPr>
              <a:t>can earn a lasting place.</a:t>
            </a:r>
          </a:p>
        </p:txBody>
      </p:sp>
      <p:sp>
        <p:nvSpPr>
          <p:cNvPr id="6" name="">
            <a:extLst xmlns:a="http://schemas.openxmlformats.org/drawingml/2006/main">
              <a:ext uri="{FF2B5EF4-FFF2-40B4-BE49-F238E27FC236}">
                <a16:creationId xmlns:a16="http://schemas.microsoft.com/office/drawing/2014/main" id="{80E74AD3-0E81-4001-BB9E-E0239D1CBC9C}"/>
              </a:ext>
            </a:extLst>
          </p:cNvPr>
          <p:cNvSpPr>
            <a:spLocks xmlns:a="http://schemas.openxmlformats.org/drawingml/2006/main" noGrp="1"/>
          </p:cNvSpPr>
          <p:nvPr/>
        </p:nvSpPr>
        <p:spPr>
          <a:xfrm xmlns:a="http://schemas.openxmlformats.org/drawingml/2006/main">
            <a:off x="6991350" y="2343150"/>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The alternative today</a:t>
            </a:r>
          </a:p>
        </p:txBody>
      </p:sp>
      <p:sp>
        <p:nvSpPr>
          <p:cNvPr id="7" name="">
            <a:extLst xmlns:a="http://schemas.openxmlformats.org/drawingml/2006/main">
              <a:ext uri="{FF2B5EF4-FFF2-40B4-BE49-F238E27FC236}">
                <a16:creationId xmlns:a16="http://schemas.microsoft.com/office/drawing/2014/main" id="{A43D66B7-ED60-46BE-ACAE-A328452714D2}"/>
              </a:ext>
            </a:extLst>
          </p:cNvPr>
          <p:cNvSpPr>
            <a:spLocks xmlns:a="http://schemas.openxmlformats.org/drawingml/2006/main" noGrp="1"/>
          </p:cNvSpPr>
          <p:nvPr/>
        </p:nvSpPr>
        <p:spPr>
          <a:xfrm xmlns:a="http://schemas.openxmlformats.org/drawingml/2006/main">
            <a:off x="6991350" y="2886075"/>
            <a:ext cx="4381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596273"/>
                </a:solidFill>
                <a:latin typeface="Arial"/>
                <a:ea typeface="Arial"/>
                <a:cs typeface="Arial"/>
              </a:defRPr>
            </a:pPr>
            <a:r>
              <a:rPr sz="2175" b="0">
                <a:solidFill>
                  <a:srgbClr val="596273"/>
                </a:solidFill>
                <a:latin typeface="Arial"/>
                <a:ea typeface="Arial"/>
                <a:cs typeface="Arial"/>
              </a:rPr>
              <a:t>General AI, research sources, documents, colleagues, and manual tracking.</a:t>
            </a:r>
          </a:p>
        </p:txBody>
      </p:sp>
      <p:sp>
        <p:nvSpPr>
          <p:cNvPr id="8" name="">
            <a:extLst xmlns:a="http://schemas.openxmlformats.org/drawingml/2006/main">
              <a:ext uri="{FF2B5EF4-FFF2-40B4-BE49-F238E27FC236}">
                <a16:creationId xmlns:a16="http://schemas.microsoft.com/office/drawing/2014/main" id="{12C8B65E-B27D-41B1-94C4-B02660DB5410}"/>
              </a:ext>
            </a:extLst>
          </p:cNvPr>
          <p:cNvSpPr>
            <a:spLocks xmlns:a="http://schemas.openxmlformats.org/drawingml/2006/main" noGrp="1"/>
          </p:cNvSpPr>
          <p:nvPr/>
        </p:nvSpPr>
        <p:spPr>
          <a:xfrm xmlns:a="http://schemas.openxmlformats.org/drawingml/2006/main">
            <a:off x="609600" y="46005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1">
                <a:solidFill>
                  <a:srgbClr val="17243E"/>
                </a:solidFill>
                <a:latin typeface="Georgia"/>
                <a:ea typeface="Georgia"/>
                <a:cs typeface="Georgia"/>
              </a:defRPr>
            </a:pPr>
            <a:r>
              <a:rPr sz="2550" b="1">
                <a:solidFill>
                  <a:srgbClr val="17243E"/>
                </a:solidFill>
                <a:latin typeface="Georgia"/>
                <a:ea typeface="Georgia"/>
                <a:cs typeface="Georgia"/>
              </a:rPr>
              <a:t>Themis must reduce total effort</a:t>
            </a:r>
          </a:p>
        </p:txBody>
      </p:sp>
      <p:sp>
        <p:nvSpPr>
          <p:cNvPr id="9" name="">
            <a:extLst xmlns:a="http://schemas.openxmlformats.org/drawingml/2006/main">
              <a:ext uri="{FF2B5EF4-FFF2-40B4-BE49-F238E27FC236}">
                <a16:creationId xmlns:a16="http://schemas.microsoft.com/office/drawing/2014/main" id="{BC4B00A5-E266-48A9-A7D5-125661FAA363}"/>
              </a:ext>
            </a:extLst>
          </p:cNvPr>
          <p:cNvSpPr>
            <a:spLocks xmlns:a="http://schemas.openxmlformats.org/drawingml/2006/main" noGrp="1"/>
          </p:cNvSpPr>
          <p:nvPr/>
        </p:nvSpPr>
        <p:spPr>
          <a:xfrm xmlns:a="http://schemas.openxmlformats.org/drawingml/2006/main">
            <a:off x="609600" y="52101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596273"/>
                </a:solidFill>
                <a:latin typeface="Arial"/>
                <a:ea typeface="Arial"/>
                <a:cs typeface="Arial"/>
              </a:defRPr>
            </a:pPr>
            <a:r>
              <a:rPr sz="2100" b="0">
                <a:solidFill>
                  <a:srgbClr val="596273"/>
                </a:solidFill>
                <a:latin typeface="Arial"/>
                <a:ea typeface="Arial"/>
                <a:cs typeface="Arial"/>
              </a:rPr>
              <a:t>Including prompting, checking, correction, and finding prior context.</a:t>
            </a:r>
          </a:p>
        </p:txBody>
      </p:sp>
    </p:spTree>
    <p:extLst>
      <p:ext uri="{BB962C8B-B14F-4D97-AF65-F5344CB8AC3E}">
        <p14:creationId xmlns:p14="http://schemas.microsoft.com/office/powerpoint/2010/main" val="962653260"/>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D66BB0-8696-4A9E-A2C8-01B07F8FD45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2187CDA0-3AAF-4428-8920-E8BA185AADD4}"/>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350" b="1">
                <a:solidFill>
                  <a:srgbClr val="17243E"/>
                </a:solidFill>
                <a:latin typeface="Georgia"/>
                <a:ea typeface="Georgia"/>
                <a:cs typeface="Georgia"/>
              </a:defRPr>
            </a:pPr>
            <a:r>
              <a:rPr sz="4350" b="1">
                <a:solidFill>
                  <a:srgbClr val="17243E"/>
                </a:solidFill>
                <a:latin typeface="Georgia"/>
                <a:ea typeface="Georgia"/>
                <a:cs typeface="Georgia"/>
              </a:rPr>
              <a:t>Brian Harris</a:t>
            </a:r>
          </a:p>
        </p:txBody>
      </p:sp>
      <p:sp>
        <p:nvSpPr>
          <p:cNvPr id="3" name="">
            <a:extLst xmlns:a="http://schemas.openxmlformats.org/drawingml/2006/main">
              <a:ext uri="{FF2B5EF4-FFF2-40B4-BE49-F238E27FC236}">
                <a16:creationId xmlns:a16="http://schemas.microsoft.com/office/drawing/2014/main" id="{DC9B1CBF-E893-40C2-B785-3E60724F109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3BBB5A1-A45F-4095-9188-B5FF834AF04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CDAD54BF-A4FB-4468-B4FF-E4E52444D77B}"/>
              </a:ext>
            </a:extLst>
          </p:cNvPr>
          <p:cNvSpPr>
            <a:spLocks xmlns:a="http://schemas.openxmlformats.org/drawingml/2006/main" noGrp="1"/>
          </p:cNvSpPr>
          <p:nvPr/>
        </p:nvSpPr>
        <p:spPr>
          <a:xfrm xmlns:a="http://schemas.openxmlformats.org/drawingml/2006/main">
            <a:off x="609600" y="19240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1">
                <a:solidFill>
                  <a:srgbClr val="4169A4"/>
                </a:solidFill>
                <a:latin typeface="Arial"/>
                <a:ea typeface="Arial"/>
                <a:cs typeface="Arial"/>
              </a:defRPr>
            </a:pPr>
            <a:r>
              <a:rPr sz="1950" b="1">
                <a:solidFill>
                  <a:srgbClr val="4169A4"/>
                </a:solidFill>
                <a:latin typeface="Arial"/>
                <a:ea typeface="Arial"/>
                <a:cs typeface="Arial"/>
              </a:rPr>
              <a:t>Sole founder</a:t>
            </a:r>
          </a:p>
        </p:txBody>
      </p:sp>
      <p:sp>
        <p:nvSpPr>
          <p:cNvPr id="6" name="">
            <a:extLst xmlns:a="http://schemas.openxmlformats.org/drawingml/2006/main">
              <a:ext uri="{FF2B5EF4-FFF2-40B4-BE49-F238E27FC236}">
                <a16:creationId xmlns:a16="http://schemas.microsoft.com/office/drawing/2014/main" id="{06A25E5A-F1E6-4C56-86F1-04C43E12C79E}"/>
              </a:ext>
            </a:extLst>
          </p:cNvPr>
          <p:cNvSpPr>
            <a:spLocks xmlns:a="http://schemas.openxmlformats.org/drawingml/2006/main" noGrp="1"/>
          </p:cNvSpPr>
          <p:nvPr/>
        </p:nvSpPr>
        <p:spPr>
          <a:xfrm xmlns:a="http://schemas.openxmlformats.org/drawingml/2006/main">
            <a:off x="609600" y="2743200"/>
            <a:ext cx="266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450" b="0">
                <a:solidFill>
                  <a:srgbClr val="17243E"/>
                </a:solidFill>
                <a:latin typeface="Georgia"/>
                <a:ea typeface="Georgia"/>
                <a:cs typeface="Georgia"/>
              </a:defRPr>
            </a:pPr>
            <a:r>
              <a:rPr sz="9450" b="0">
                <a:solidFill>
                  <a:srgbClr val="17243E"/>
                </a:solidFill>
                <a:latin typeface="Georgia"/>
                <a:ea typeface="Georgia"/>
                <a:cs typeface="Georgia"/>
              </a:rPr>
              <a:t>17</a:t>
            </a:r>
          </a:p>
        </p:txBody>
      </p:sp>
      <p:sp>
        <p:nvSpPr>
          <p:cNvPr id="7" name="">
            <a:extLst xmlns:a="http://schemas.openxmlformats.org/drawingml/2006/main">
              <a:ext uri="{FF2B5EF4-FFF2-40B4-BE49-F238E27FC236}">
                <a16:creationId xmlns:a16="http://schemas.microsoft.com/office/drawing/2014/main" id="{E12067EF-E137-419B-87A4-E86E94C13F42}"/>
              </a:ext>
            </a:extLst>
          </p:cNvPr>
          <p:cNvSpPr>
            <a:spLocks xmlns:a="http://schemas.openxmlformats.org/drawingml/2006/main" noGrp="1"/>
          </p:cNvSpPr>
          <p:nvPr/>
        </p:nvSpPr>
        <p:spPr>
          <a:xfrm xmlns:a="http://schemas.openxmlformats.org/drawingml/2006/main">
            <a:off x="609600" y="44005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years in legal practice</a:t>
            </a:r>
          </a:p>
        </p:txBody>
      </p:sp>
      <p:sp>
        <p:nvSpPr>
          <p:cNvPr id="8" name="">
            <a:extLst xmlns:a="http://schemas.openxmlformats.org/drawingml/2006/main">
              <a:ext uri="{FF2B5EF4-FFF2-40B4-BE49-F238E27FC236}">
                <a16:creationId xmlns:a16="http://schemas.microsoft.com/office/drawing/2014/main" id="{B630EDB1-E656-4110-AB58-BD08DEAAA78C}"/>
              </a:ext>
            </a:extLst>
          </p:cNvPr>
          <p:cNvSpPr>
            <a:spLocks xmlns:a="http://schemas.openxmlformats.org/drawingml/2006/main" noGrp="1"/>
          </p:cNvSpPr>
          <p:nvPr/>
        </p:nvSpPr>
        <p:spPr>
          <a:xfrm xmlns:a="http://schemas.openxmlformats.org/drawingml/2006/main">
            <a:off x="609600" y="5143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00" b="0">
                <a:solidFill>
                  <a:srgbClr val="4169A4"/>
                </a:solidFill>
                <a:latin typeface="Georgia"/>
                <a:ea typeface="Georgia"/>
                <a:cs typeface="Georgia"/>
              </a:defRPr>
            </a:pPr>
            <a:r>
              <a:rPr sz="2400" b="0">
                <a:solidFill>
                  <a:srgbClr val="4169A4"/>
                </a:solidFill>
                <a:latin typeface="Georgia"/>
                <a:ea typeface="Georgia"/>
                <a:cs typeface="Georgia"/>
              </a:rPr>
              <a:t>A product built to</a:t>
            </a:r>
          </a:p>
          <a:p xmlns:a="http://schemas.openxmlformats.org/drawingml/2006/main">
            <a:pPr>
              <a:lnSpc>
                <a:spcPct val="110000"/>
              </a:lnSpc>
              <a:buNone/>
              <a:defRPr sz="2400" b="0">
                <a:solidFill>
                  <a:srgbClr val="4169A4"/>
                </a:solidFill>
                <a:latin typeface="Georgia"/>
                <a:ea typeface="Georgia"/>
                <a:cs typeface="Georgia"/>
              </a:defRPr>
            </a:pPr>
            <a:r>
              <a:rPr sz="2400" b="0">
                <a:solidFill>
                  <a:srgbClr val="4169A4"/>
                </a:solidFill>
                <a:latin typeface="Georgia"/>
                <a:ea typeface="Georgia"/>
                <a:cs typeface="Georgia"/>
              </a:rPr>
              <a:t>multiply a lawyer’s capacity</a:t>
            </a:r>
          </a:p>
        </p:txBody>
      </p:sp>
      <p:sp>
        <p:nvSpPr>
          <p:cNvPr id="9" name="">
            <a:extLst xmlns:a="http://schemas.openxmlformats.org/drawingml/2006/main">
              <a:ext uri="{FF2B5EF4-FFF2-40B4-BE49-F238E27FC236}">
                <a16:creationId xmlns:a16="http://schemas.microsoft.com/office/drawing/2014/main" id="{B9C95085-FE7B-4558-8865-84980EAF8ACD}"/>
              </a:ext>
            </a:extLst>
          </p:cNvPr>
          <p:cNvSpPr>
            <a:spLocks xmlns:a="http://schemas.openxmlformats.org/drawingml/2006/main" noGrp="1"/>
          </p:cNvSpPr>
          <p:nvPr/>
        </p:nvSpPr>
        <p:spPr>
          <a:xfrm xmlns:a="http://schemas.openxmlformats.org/drawingml/2006/main">
            <a:off x="6305550" y="22574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Built and led legal teams</a:t>
            </a:r>
          </a:p>
        </p:txBody>
      </p:sp>
      <p:sp>
        <p:nvSpPr>
          <p:cNvPr id="10" name="">
            <a:extLst xmlns:a="http://schemas.openxmlformats.org/drawingml/2006/main">
              <a:ext uri="{FF2B5EF4-FFF2-40B4-BE49-F238E27FC236}">
                <a16:creationId xmlns:a16="http://schemas.microsoft.com/office/drawing/2014/main" id="{72C67E95-16C3-4924-A284-0CA9C696DE6E}"/>
              </a:ext>
            </a:extLst>
          </p:cNvPr>
          <p:cNvSpPr>
            <a:spLocks xmlns:a="http://schemas.openxmlformats.org/drawingml/2006/main" noGrp="1"/>
          </p:cNvSpPr>
          <p:nvPr/>
        </p:nvSpPr>
        <p:spPr>
          <a:xfrm xmlns:a="http://schemas.openxmlformats.org/drawingml/2006/main">
            <a:off x="6305550" y="280035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Founding legal leadership at Settle and Manifest. Product and regulatory counsel at Affirm. Associate GC at Facebook.</a:t>
            </a:r>
          </a:p>
        </p:txBody>
      </p:sp>
      <p:sp>
        <p:nvSpPr>
          <p:cNvPr id="11" name="">
            <a:extLst xmlns:a="http://schemas.openxmlformats.org/drawingml/2006/main">
              <a:ext uri="{FF2B5EF4-FFF2-40B4-BE49-F238E27FC236}">
                <a16:creationId xmlns:a16="http://schemas.microsoft.com/office/drawing/2014/main" id="{99F3AD46-42F4-4375-89B2-2BA42FF82DF8}"/>
              </a:ext>
            </a:extLst>
          </p:cNvPr>
          <p:cNvSpPr>
            <a:spLocks xmlns:a="http://schemas.openxmlformats.org/drawingml/2006/main" noGrp="1"/>
          </p:cNvSpPr>
          <p:nvPr/>
        </p:nvSpPr>
        <p:spPr>
          <a:xfrm xmlns:a="http://schemas.openxmlformats.org/drawingml/2006/main">
            <a:off x="6305550" y="43434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Legal and technical depth</a:t>
            </a:r>
          </a:p>
        </p:txBody>
      </p:sp>
      <p:sp>
        <p:nvSpPr>
          <p:cNvPr id="12" name="">
            <a:extLst xmlns:a="http://schemas.openxmlformats.org/drawingml/2006/main">
              <a:ext uri="{FF2B5EF4-FFF2-40B4-BE49-F238E27FC236}">
                <a16:creationId xmlns:a16="http://schemas.microsoft.com/office/drawing/2014/main" id="{7DD1A194-562E-40A8-951F-641FBF3151EC}"/>
              </a:ext>
            </a:extLst>
          </p:cNvPr>
          <p:cNvSpPr>
            <a:spLocks xmlns:a="http://schemas.openxmlformats.org/drawingml/2006/main" noGrp="1"/>
          </p:cNvSpPr>
          <p:nvPr/>
        </p:nvSpPr>
        <p:spPr>
          <a:xfrm xmlns:a="http://schemas.openxmlformats.org/drawingml/2006/main">
            <a:off x="6305550" y="4943475"/>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Earlier AI and language-processing research at Georgia Tech. Northwestern J.D. and Georgia Tech M.S. in Computer Science.</a:t>
            </a:r>
          </a:p>
        </p:txBody>
      </p:sp>
    </p:spTree>
    <p:extLst>
      <p:ext uri="{BB962C8B-B14F-4D97-AF65-F5344CB8AC3E}">
        <p14:creationId xmlns:p14="http://schemas.microsoft.com/office/powerpoint/2010/main" val="533465009"/>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1294F7-A4D9-4016-B281-CEE873B22CDA}"/>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PROTOTYPE AND NEXT MILESTONE</a:t>
            </a:r>
          </a:p>
        </p:txBody>
      </p:sp>
      <p:sp>
        <p:nvSpPr>
          <p:cNvPr id="2" name="">
            <a:extLst xmlns:a="http://schemas.openxmlformats.org/drawingml/2006/main">
              <a:ext uri="{FF2B5EF4-FFF2-40B4-BE49-F238E27FC236}">
                <a16:creationId xmlns:a16="http://schemas.microsoft.com/office/drawing/2014/main" id="{8C37E117-CF15-4524-B16C-2BD124C2722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proof is real attorney use.</a:t>
            </a:r>
          </a:p>
        </p:txBody>
      </p:sp>
      <p:sp>
        <p:nvSpPr>
          <p:cNvPr id="3" name="">
            <a:extLst xmlns:a="http://schemas.openxmlformats.org/drawingml/2006/main">
              <a:ext uri="{FF2B5EF4-FFF2-40B4-BE49-F238E27FC236}">
                <a16:creationId xmlns:a16="http://schemas.microsoft.com/office/drawing/2014/main" id="{BB6F061A-7896-4D59-B4C9-DF8C03FF912C}"/>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E66EADF-2589-4E5F-AF80-FBE5C924B8CE}"/>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db489c1ecb4b5b"/>
          <a:stretch xmlns:a="http://schemas.openxmlformats.org/drawingml/2006/main"/>
        </p:blipFill>
        <p:spPr>
          <a:xfrm xmlns:a="http://schemas.openxmlformats.org/drawingml/2006/main">
            <a:off x="695325" y="2257425"/>
            <a:ext cx="6019800"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7F93F85-D604-47A6-B9E0-3543B1077B4F}"/>
              </a:ext>
            </a:extLst>
          </p:cNvPr>
          <p:cNvSpPr>
            <a:spLocks xmlns:a="http://schemas.openxmlformats.org/drawingml/2006/main" noGrp="1"/>
          </p:cNvSpPr>
          <p:nvPr/>
        </p:nvSpPr>
        <p:spPr>
          <a:xfrm xmlns:a="http://schemas.openxmlformats.org/drawingml/2006/main">
            <a:off x="7696200" y="228600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Local prototype</a:t>
            </a:r>
          </a:p>
        </p:txBody>
      </p:sp>
      <p:sp>
        <p:nvSpPr>
          <p:cNvPr id="7" name="">
            <a:extLst xmlns:a="http://schemas.openxmlformats.org/drawingml/2006/main">
              <a:ext uri="{FF2B5EF4-FFF2-40B4-BE49-F238E27FC236}">
                <a16:creationId xmlns:a16="http://schemas.microsoft.com/office/drawing/2014/main" id="{F349E891-22AC-4C5B-9A7C-1BF559D61ED2}"/>
              </a:ext>
            </a:extLst>
          </p:cNvPr>
          <p:cNvSpPr>
            <a:spLocks xmlns:a="http://schemas.openxmlformats.org/drawingml/2006/main" noGrp="1"/>
          </p:cNvSpPr>
          <p:nvPr/>
        </p:nvSpPr>
        <p:spPr>
          <a:xfrm xmlns:a="http://schemas.openxmlformats.org/drawingml/2006/main">
            <a:off x="7696200" y="2847975"/>
            <a:ext cx="3857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Matter records, research, editable drafts, persistent context, and explicit decisions.</a:t>
            </a:r>
          </a:p>
        </p:txBody>
      </p:sp>
      <p:sp>
        <p:nvSpPr>
          <p:cNvPr id="8" name="">
            <a:extLst xmlns:a="http://schemas.openxmlformats.org/drawingml/2006/main">
              <a:ext uri="{FF2B5EF4-FFF2-40B4-BE49-F238E27FC236}">
                <a16:creationId xmlns:a16="http://schemas.microsoft.com/office/drawing/2014/main" id="{68F049B8-E459-4E1C-BB68-5068B978DA41}"/>
              </a:ext>
            </a:extLst>
          </p:cNvPr>
          <p:cNvSpPr>
            <a:spLocks xmlns:a="http://schemas.openxmlformats.org/drawingml/2006/main" noGrp="1"/>
          </p:cNvSpPr>
          <p:nvPr/>
        </p:nvSpPr>
        <p:spPr>
          <a:xfrm xmlns:a="http://schemas.openxmlformats.org/drawingml/2006/main">
            <a:off x="7696200" y="44005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Next milestone</a:t>
            </a:r>
          </a:p>
        </p:txBody>
      </p:sp>
      <p:sp>
        <p:nvSpPr>
          <p:cNvPr id="9" name="">
            <a:extLst xmlns:a="http://schemas.openxmlformats.org/drawingml/2006/main">
              <a:ext uri="{FF2B5EF4-FFF2-40B4-BE49-F238E27FC236}">
                <a16:creationId xmlns:a16="http://schemas.microsoft.com/office/drawing/2014/main" id="{693B1A22-5C95-4D81-8546-8209385AD24A}"/>
              </a:ext>
            </a:extLst>
          </p:cNvPr>
          <p:cNvSpPr>
            <a:spLocks xmlns:a="http://schemas.openxmlformats.org/drawingml/2006/main" noGrp="1"/>
          </p:cNvSpPr>
          <p:nvPr/>
        </p:nvSpPr>
        <p:spPr>
          <a:xfrm xmlns:a="http://schemas.openxmlformats.org/drawingml/2006/main">
            <a:off x="7696200" y="4962525"/>
            <a:ext cx="3857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A focused attorney pilot with a concise answer, clear sources, and room to explore.</a:t>
            </a:r>
          </a:p>
        </p:txBody>
      </p:sp>
      <p:sp>
        <p:nvSpPr>
          <p:cNvPr id="10" name="">
            <a:extLst xmlns:a="http://schemas.openxmlformats.org/drawingml/2006/main">
              <a:ext uri="{FF2B5EF4-FFF2-40B4-BE49-F238E27FC236}">
                <a16:creationId xmlns:a16="http://schemas.microsoft.com/office/drawing/2014/main" id="{EDA24B9D-763C-41CB-BB99-FBFB20B13A79}"/>
              </a:ext>
            </a:extLst>
          </p:cNvPr>
          <p:cNvSpPr>
            <a:spLocks xmlns:a="http://schemas.openxmlformats.org/drawingml/2006/main" noGrp="1"/>
          </p:cNvSpPr>
          <p:nvPr/>
        </p:nvSpPr>
        <p:spPr>
          <a:xfrm xmlns:a="http://schemas.openxmlformats.org/drawingml/2006/main">
            <a:off x="609600" y="6105525"/>
            <a:ext cx="657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Prototype capture, September 2026. Fictional matter.</a:t>
            </a:r>
          </a:p>
        </p:txBody>
      </p:sp>
    </p:spTree>
    <p:extLst>
      <p:ext uri="{BB962C8B-B14F-4D97-AF65-F5344CB8AC3E}">
        <p14:creationId xmlns:p14="http://schemas.microsoft.com/office/powerpoint/2010/main" val="1024784694"/>
      </p:ext>
    </p:extLst>
  </p:cSld>
</p:sld>
</file>

<file path=ppt/slides/slide1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C314FE-6747-4543-B788-494B324AAD6B}"/>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INVITATION</a:t>
            </a:r>
          </a:p>
        </p:txBody>
      </p:sp>
      <p:sp>
        <p:nvSpPr>
          <p:cNvPr id="2" name="">
            <a:extLst xmlns:a="http://schemas.openxmlformats.org/drawingml/2006/main">
              <a:ext uri="{FF2B5EF4-FFF2-40B4-BE49-F238E27FC236}">
                <a16:creationId xmlns:a16="http://schemas.microsoft.com/office/drawing/2014/main" id="{EB668340-0366-4154-A4B7-6237A621445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050" b="1">
                <a:solidFill>
                  <a:srgbClr val="FAF8F2"/>
                </a:solidFill>
                <a:latin typeface="Georgia"/>
                <a:ea typeface="Georgia"/>
                <a:cs typeface="Georgia"/>
              </a:defRPr>
            </a:pPr>
            <a:r>
              <a:rPr sz="4050" b="1">
                <a:solidFill>
                  <a:srgbClr val="FAF8F2"/>
                </a:solidFill>
                <a:latin typeface="Georgia"/>
                <a:ea typeface="Georgia"/>
                <a:cs typeface="Georgia"/>
              </a:rPr>
              <a:t>More capacity for the work</a:t>
            </a:r>
          </a:p>
          <a:p xmlns:a="http://schemas.openxmlformats.org/drawingml/2006/main">
            <a:pPr>
              <a:lnSpc>
                <a:spcPct val="110000"/>
              </a:lnSpc>
              <a:buNone/>
              <a:defRPr sz="4050" b="1">
                <a:solidFill>
                  <a:srgbClr val="FAF8F2"/>
                </a:solidFill>
                <a:latin typeface="Georgia"/>
                <a:ea typeface="Georgia"/>
                <a:cs typeface="Georgia"/>
              </a:defRPr>
            </a:pPr>
            <a:r>
              <a:rPr sz="4050" b="1">
                <a:solidFill>
                  <a:srgbClr val="FAF8F2"/>
                </a:solidFill>
                <a:latin typeface="Georgia"/>
                <a:ea typeface="Georgia"/>
                <a:cs typeface="Georgia"/>
              </a:rPr>
              <a:t>only the lawyer can do.</a:t>
            </a:r>
          </a:p>
        </p:txBody>
      </p:sp>
      <p:sp>
        <p:nvSpPr>
          <p:cNvPr id="3" name="">
            <a:extLst xmlns:a="http://schemas.openxmlformats.org/drawingml/2006/main">
              <a:ext uri="{FF2B5EF4-FFF2-40B4-BE49-F238E27FC236}">
                <a16:creationId xmlns:a16="http://schemas.microsoft.com/office/drawing/2014/main" id="{75DA3D2E-C90B-431E-9EFF-7EACF36C9721}"/>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B0EB11C-43B5-4714-91FF-8ED0B24C524C}"/>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F892823-9134-45AC-B172-DC0372A53A4A}"/>
              </a:ext>
            </a:extLst>
          </p:cNvPr>
          <p:cNvSpPr>
            <a:spLocks xmlns:a="http://schemas.openxmlformats.org/drawingml/2006/main" noGrp="1"/>
          </p:cNvSpPr>
          <p:nvPr/>
        </p:nvSpPr>
        <p:spPr>
          <a:xfrm xmlns:a="http://schemas.openxmlformats.org/drawingml/2006/main">
            <a:off x="609600" y="26860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1">
                <a:solidFill>
                  <a:srgbClr val="D8B66A"/>
                </a:solidFill>
                <a:latin typeface="Arial"/>
                <a:ea typeface="Arial"/>
                <a:cs typeface="Arial"/>
              </a:defRPr>
            </a:pPr>
            <a:r>
              <a:rPr sz="2025" b="1">
                <a:solidFill>
                  <a:srgbClr val="D8B66A"/>
                </a:solidFill>
                <a:latin typeface="Arial"/>
                <a:ea typeface="Arial"/>
                <a:cs typeface="Arial"/>
              </a:rPr>
              <a:t>Seeking early investment to fund</a:t>
            </a:r>
          </a:p>
        </p:txBody>
      </p:sp>
      <p:sp>
        <p:nvSpPr>
          <p:cNvPr id="6" name="">
            <a:extLst xmlns:a="http://schemas.openxmlformats.org/drawingml/2006/main">
              <a:ext uri="{FF2B5EF4-FFF2-40B4-BE49-F238E27FC236}">
                <a16:creationId xmlns:a16="http://schemas.microsoft.com/office/drawing/2014/main" id="{28B8DA8A-3C97-4412-98DD-F9EEFFB5A958}"/>
              </a:ext>
            </a:extLst>
          </p:cNvPr>
          <p:cNvSpPr>
            <a:spLocks xmlns:a="http://schemas.openxmlformats.org/drawingml/2006/main" noGrp="1"/>
          </p:cNvSpPr>
          <p:nvPr/>
        </p:nvSpPr>
        <p:spPr>
          <a:xfrm xmlns:a="http://schemas.openxmlformats.org/drawingml/2006/main">
            <a:off x="609600" y="34099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Full-time founder focus</a:t>
            </a:r>
          </a:p>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Founding technical and business leaders</a:t>
            </a:r>
          </a:p>
          <a:p xmlns:a="http://schemas.openxmlformats.org/drawingml/2006/main">
            <a:pPr>
              <a:lnSpc>
                <a:spcPct val="110000"/>
              </a:lnSpc>
              <a:buNone/>
              <a:defRPr sz="2550" b="0">
                <a:solidFill>
                  <a:srgbClr val="FAF8F2"/>
                </a:solidFill>
                <a:latin typeface="Arial"/>
                <a:ea typeface="Arial"/>
                <a:cs typeface="Arial"/>
              </a:defRPr>
            </a:pPr>
            <a:r>
              <a:rPr sz="2550" b="0">
                <a:solidFill>
                  <a:srgbClr val="FAF8F2"/>
                </a:solidFill>
                <a:latin typeface="Arial"/>
                <a:ea typeface="Arial"/>
                <a:cs typeface="Arial"/>
              </a:rPr>
              <a:t>Attorney pilots and rapid product improvement</a:t>
            </a:r>
          </a:p>
        </p:txBody>
      </p:sp>
      <p:sp>
        <p:nvSpPr>
          <p:cNvPr id="7" name="">
            <a:extLst xmlns:a="http://schemas.openxmlformats.org/drawingml/2006/main">
              <a:ext uri="{FF2B5EF4-FFF2-40B4-BE49-F238E27FC236}">
                <a16:creationId xmlns:a16="http://schemas.microsoft.com/office/drawing/2014/main" id="{5272E42B-CC9B-4BDE-9BEC-0ACC07786DAC}"/>
              </a:ext>
            </a:extLst>
          </p:cNvPr>
          <p:cNvSpPr>
            <a:spLocks xmlns:a="http://schemas.openxmlformats.org/drawingml/2006/main" noGrp="1"/>
          </p:cNvSpPr>
          <p:nvPr/>
        </p:nvSpPr>
        <p:spPr>
          <a:xfrm xmlns:a="http://schemas.openxmlformats.org/drawingml/2006/main">
            <a:off x="609600" y="53054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DCE1EA"/>
                </a:solidFill>
                <a:latin typeface="Georgia"/>
                <a:ea typeface="Georgia"/>
                <a:cs typeface="Georgia"/>
              </a:defRPr>
            </a:pPr>
            <a:r>
              <a:rPr sz="2250" b="0">
                <a:solidFill>
                  <a:srgbClr val="DCE1EA"/>
                </a:solidFill>
                <a:latin typeface="Georgia"/>
                <a:ea typeface="Georgia"/>
                <a:cs typeface="Georgia"/>
              </a:rPr>
              <a:t>The milestone: lawyers find enough value to return with the next matter.</a:t>
            </a:r>
          </a:p>
        </p:txBody>
      </p:sp>
    </p:spTree>
    <p:extLst>
      <p:ext uri="{BB962C8B-B14F-4D97-AF65-F5344CB8AC3E}">
        <p14:creationId xmlns:p14="http://schemas.microsoft.com/office/powerpoint/2010/main" val="794055450"/>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3ceb32fcb9849f8"/>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863505401"/>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24077D-1B14-4135-B155-9641FC3ADAE4}"/>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HEADLINE ALTERNATIVES</a:t>
            </a:r>
          </a:p>
        </p:txBody>
      </p:sp>
      <p:sp>
        <p:nvSpPr>
          <p:cNvPr id="2" name="">
            <a:extLst xmlns:a="http://schemas.openxmlformats.org/drawingml/2006/main">
              <a:ext uri="{FF2B5EF4-FFF2-40B4-BE49-F238E27FC236}">
                <a16:creationId xmlns:a16="http://schemas.microsoft.com/office/drawing/2014/main" id="{32E297A5-2D3E-4ADC-9BD6-C7736FF3A003}"/>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17243E"/>
                </a:solidFill>
                <a:latin typeface="Georgia"/>
                <a:ea typeface="Georgia"/>
                <a:cs typeface="Georgia"/>
              </a:defRPr>
            </a:pPr>
            <a:r>
              <a:rPr sz="3300" b="1">
                <a:solidFill>
                  <a:srgbClr val="17243E"/>
                </a:solidFill>
                <a:latin typeface="Georgia"/>
                <a:ea typeface="Georgia"/>
                <a:cs typeface="Georgia"/>
              </a:rPr>
              <a:t>Four ways to express the partnership</a:t>
            </a:r>
          </a:p>
        </p:txBody>
      </p:sp>
      <p:sp>
        <p:nvSpPr>
          <p:cNvPr id="3" name="">
            <a:extLst xmlns:a="http://schemas.openxmlformats.org/drawingml/2006/main">
              <a:ext uri="{FF2B5EF4-FFF2-40B4-BE49-F238E27FC236}">
                <a16:creationId xmlns:a16="http://schemas.microsoft.com/office/drawing/2014/main" id="{E440F3EE-BA18-4D6C-994E-DB83C9749C35}"/>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950B2D7-3C36-4DF6-8F4F-F4B6C32A0DBA}"/>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BA86C21E-C79A-4B0D-858D-70B1C91F1314}"/>
              </a:ext>
            </a:extLst>
          </p:cNvPr>
          <p:cNvSpPr>
            <a:spLocks xmlns:a="http://schemas.openxmlformats.org/drawingml/2006/main" noGrp="1"/>
          </p:cNvSpPr>
          <p:nvPr/>
        </p:nvSpPr>
        <p:spPr>
          <a:xfrm xmlns:a="http://schemas.openxmlformats.org/drawingml/2006/main">
            <a:off x="609600" y="21907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Closest to Brand Essence</a:t>
            </a:r>
          </a:p>
        </p:txBody>
      </p:sp>
      <p:sp>
        <p:nvSpPr>
          <p:cNvPr id="6" name="">
            <a:extLst xmlns:a="http://schemas.openxmlformats.org/drawingml/2006/main">
              <a:ext uri="{FF2B5EF4-FFF2-40B4-BE49-F238E27FC236}">
                <a16:creationId xmlns:a16="http://schemas.microsoft.com/office/drawing/2014/main" id="{3D1DEFBA-5805-4C99-BBD7-06EE1B478A9B}"/>
              </a:ext>
            </a:extLst>
          </p:cNvPr>
          <p:cNvSpPr>
            <a:spLocks xmlns:a="http://schemas.openxmlformats.org/drawingml/2006/main" noGrp="1"/>
          </p:cNvSpPr>
          <p:nvPr/>
        </p:nvSpPr>
        <p:spPr>
          <a:xfrm xmlns:a="http://schemas.openxmlformats.org/drawingml/2006/main">
            <a:off x="4000500" y="2190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intelligence at scale so the lawyer can bring their best judgment.</a:t>
            </a:r>
          </a:p>
        </p:txBody>
      </p:sp>
      <p:sp>
        <p:nvSpPr>
          <p:cNvPr id="7" name="">
            <a:extLst xmlns:a="http://schemas.openxmlformats.org/drawingml/2006/main">
              <a:ext uri="{FF2B5EF4-FFF2-40B4-BE49-F238E27FC236}">
                <a16:creationId xmlns:a16="http://schemas.microsoft.com/office/drawing/2014/main" id="{2182CF40-0BA4-4177-A724-505A8C409177}"/>
              </a:ext>
            </a:extLst>
          </p:cNvPr>
          <p:cNvSpPr>
            <a:spLocks xmlns:a="http://schemas.openxmlformats.org/drawingml/2006/main" noGrp="1"/>
          </p:cNvSpPr>
          <p:nvPr/>
        </p:nvSpPr>
        <p:spPr>
          <a:xfrm xmlns:a="http://schemas.openxmlformats.org/drawingml/2006/main">
            <a:off x="609600" y="31908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investor version</a:t>
            </a:r>
          </a:p>
        </p:txBody>
      </p:sp>
      <p:sp>
        <p:nvSpPr>
          <p:cNvPr id="8" name="">
            <a:extLst xmlns:a="http://schemas.openxmlformats.org/drawingml/2006/main">
              <a:ext uri="{FF2B5EF4-FFF2-40B4-BE49-F238E27FC236}">
                <a16:creationId xmlns:a16="http://schemas.microsoft.com/office/drawing/2014/main" id="{A3F287BB-92D1-4885-9120-676AED6B798B}"/>
              </a:ext>
            </a:extLst>
          </p:cNvPr>
          <p:cNvSpPr>
            <a:spLocks xmlns:a="http://schemas.openxmlformats.org/drawingml/2006/main" noGrp="1"/>
          </p:cNvSpPr>
          <p:nvPr/>
        </p:nvSpPr>
        <p:spPr>
          <a:xfrm xmlns:a="http://schemas.openxmlformats.org/drawingml/2006/main">
            <a:off x="4000500" y="31908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Scale the intelligence. Preserve the judgment.</a:t>
            </a:r>
          </a:p>
        </p:txBody>
      </p:sp>
      <p:sp>
        <p:nvSpPr>
          <p:cNvPr id="9" name="">
            <a:extLst xmlns:a="http://schemas.openxmlformats.org/drawingml/2006/main">
              <a:ext uri="{FF2B5EF4-FFF2-40B4-BE49-F238E27FC236}">
                <a16:creationId xmlns:a16="http://schemas.microsoft.com/office/drawing/2014/main" id="{BBCA14D0-C1F2-4457-AC82-5A242605F247}"/>
              </a:ext>
            </a:extLst>
          </p:cNvPr>
          <p:cNvSpPr>
            <a:spLocks xmlns:a="http://schemas.openxmlformats.org/drawingml/2006/main" noGrp="1"/>
          </p:cNvSpPr>
          <p:nvPr/>
        </p:nvSpPr>
        <p:spPr>
          <a:xfrm xmlns:a="http://schemas.openxmlformats.org/drawingml/2006/main">
            <a:off x="609600" y="419100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efficiency message</a:t>
            </a:r>
          </a:p>
        </p:txBody>
      </p:sp>
      <p:sp>
        <p:nvSpPr>
          <p:cNvPr id="10" name="">
            <a:extLst xmlns:a="http://schemas.openxmlformats.org/drawingml/2006/main">
              <a:ext uri="{FF2B5EF4-FFF2-40B4-BE49-F238E27FC236}">
                <a16:creationId xmlns:a16="http://schemas.microsoft.com/office/drawing/2014/main" id="{44D2208C-91C7-4118-A0C2-FFC7FE66838E}"/>
              </a:ext>
            </a:extLst>
          </p:cNvPr>
          <p:cNvSpPr>
            <a:spLocks xmlns:a="http://schemas.openxmlformats.org/drawingml/2006/main" noGrp="1"/>
          </p:cNvSpPr>
          <p:nvPr/>
        </p:nvSpPr>
        <p:spPr>
          <a:xfrm xmlns:a="http://schemas.openxmlformats.org/drawingml/2006/main">
            <a:off x="4000500" y="41910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scales the work that informs the decision. The lawyer makes the decision.</a:t>
            </a:r>
          </a:p>
        </p:txBody>
      </p:sp>
      <p:sp>
        <p:nvSpPr>
          <p:cNvPr id="11" name="">
            <a:extLst xmlns:a="http://schemas.openxmlformats.org/drawingml/2006/main">
              <a:ext uri="{FF2B5EF4-FFF2-40B4-BE49-F238E27FC236}">
                <a16:creationId xmlns:a16="http://schemas.microsoft.com/office/drawing/2014/main" id="{F5BF41AF-EAB4-4891-9E09-30303D525EC3}"/>
              </a:ext>
            </a:extLst>
          </p:cNvPr>
          <p:cNvSpPr>
            <a:spLocks xmlns:a="http://schemas.openxmlformats.org/drawingml/2006/main" noGrp="1"/>
          </p:cNvSpPr>
          <p:nvPr/>
        </p:nvSpPr>
        <p:spPr>
          <a:xfrm xmlns:a="http://schemas.openxmlformats.org/drawingml/2006/main">
            <a:off x="609600" y="51911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More complete and human</a:t>
            </a:r>
          </a:p>
        </p:txBody>
      </p:sp>
      <p:sp>
        <p:nvSpPr>
          <p:cNvPr id="12" name="">
            <a:extLst xmlns:a="http://schemas.openxmlformats.org/drawingml/2006/main">
              <a:ext uri="{FF2B5EF4-FFF2-40B4-BE49-F238E27FC236}">
                <a16:creationId xmlns:a16="http://schemas.microsoft.com/office/drawing/2014/main" id="{99E0744F-A0F8-4D21-BDA5-8F93E583C54B}"/>
              </a:ext>
            </a:extLst>
          </p:cNvPr>
          <p:cNvSpPr>
            <a:spLocks xmlns:a="http://schemas.openxmlformats.org/drawingml/2006/main" noGrp="1"/>
          </p:cNvSpPr>
          <p:nvPr/>
        </p:nvSpPr>
        <p:spPr>
          <a:xfrm xmlns:a="http://schemas.openxmlformats.org/drawingml/2006/main">
            <a:off x="4000500" y="51911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speed, intelligence, and memory. The lawyer brings context, wisdom, and judgment.</a:t>
            </a:r>
          </a:p>
        </p:txBody>
      </p:sp>
    </p:spTree>
    <p:extLst>
      <p:ext uri="{BB962C8B-B14F-4D97-AF65-F5344CB8AC3E}">
        <p14:creationId xmlns:p14="http://schemas.microsoft.com/office/powerpoint/2010/main" val="14687027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2026-09-04T22:49:42.1490000Z</dcterms:created>
  <dcterms:modified xsi:type="dcterms:W3CDTF">2026-09-04T22:49:42.1490000Z</dcterms:modified>
</coreProperties>
</file>